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csv-json-theme1.xml" ContentType="application/vnd.openxmlformats-officedocument.theme+xml"/>
  <Override PartName="/ppt/slideMasters/csv-json-slideMaster1.xml" ContentType="application/vnd.openxmlformats-officedocument.presentationml.slideMaster+xml"/>
  <Override PartName="/ppt/slideMasters/theme/csv-json-theme2.xml" ContentType="application/vnd.openxmlformats-officedocument.theme+xml"/>
  <Override PartName="/ppt/slideLayouts/csv-json-slideLayout1.xml" ContentType="application/vnd.openxmlformats-officedocument.presentationml.slideLayout+xml"/>
  <Override PartName="/ppt/csv-json-presProps.xml" ContentType="application/vnd.openxmlformats-officedocument.presentationml.presProps+xml"/>
  <Override PartName="/ppt/csv-json-tableStyles.xml" ContentType="application/vnd.openxmlformats-officedocument.presentationml.tableStyles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Default Extension="xlsx" ContentType="application/vnd.openxmlformats-officedocument.spreadsheetml.sheet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ns2="http://schemas.openxmlformats.org/drawingml/2006/main" xmlns:ns3="http://schemas.microsoft.com/office/powerpoint/2012/main" xmlns:p="http://schemas.openxmlformats.org/presentationml/2006/main" xmlns:r="http://schemas.openxmlformats.org/officeDocument/2006/relationships">
  <p:sldMasterIdLst>
    <p:sldMasterId id="2147483648" r:id="rId1"/>
    <p:sldMasterId id="2147483649" r:id="rId175"/>
  </p:sldMasterIdLst>
  <p:sldIdLst>
    <p:sldId id="369" r:id="rId2"/>
    <p:sldId id="410" r:id="rId3"/>
    <p:sldId id="257" r:id="rId4"/>
    <p:sldId id="262" r:id="rId5"/>
    <p:sldId id="263" r:id="rId6"/>
    <p:sldId id="392" r:id="rId7"/>
    <p:sldId id="265" r:id="rId8"/>
    <p:sldId id="266" r:id="rId9"/>
    <p:sldId id="267" r:id="rId10"/>
    <p:sldId id="268" r:id="rId11"/>
    <p:sldId id="270" r:id="rId12"/>
    <p:sldId id="278" r:id="rId13"/>
    <p:sldId id="280" r:id="rId14"/>
    <p:sldId id="394" r:id="rId15"/>
    <p:sldId id="281" r:id="rId16"/>
    <p:sldId id="371" r:id="rId17"/>
    <p:sldId id="282" r:id="rId18"/>
    <p:sldId id="283" r:id="rId19"/>
    <p:sldId id="284" r:id="rId20"/>
    <p:sldId id="366" r:id="rId21"/>
    <p:sldId id="286" r:id="rId22"/>
    <p:sldId id="287" r:id="rId23"/>
    <p:sldId id="288" r:id="rId24"/>
    <p:sldId id="289" r:id="rId25"/>
    <p:sldId id="290" r:id="rId26"/>
    <p:sldId id="291" r:id="rId27"/>
    <p:sldId id="413" r:id="rId28"/>
    <p:sldId id="293" r:id="rId29"/>
    <p:sldId id="294" r:id="rId30"/>
    <p:sldId id="414" r:id="rId31"/>
    <p:sldId id="408" r:id="rId32"/>
    <p:sldId id="372" r:id="rId33"/>
    <p:sldId id="373" r:id="rId34"/>
    <p:sldId id="296" r:id="rId35"/>
    <p:sldId id="374" r:id="rId36"/>
    <p:sldId id="298" r:id="rId37"/>
    <p:sldId id="299" r:id="rId38"/>
    <p:sldId id="300" r:id="rId39"/>
    <p:sldId id="302" r:id="rId40"/>
    <p:sldId id="303" r:id="rId41"/>
    <p:sldId id="305" r:id="rId42"/>
    <p:sldId id="306" r:id="rId43"/>
    <p:sldId id="307" r:id="rId44"/>
    <p:sldId id="308" r:id="rId45"/>
    <p:sldId id="407" r:id="rId46"/>
    <p:sldId id="375" r:id="rId47"/>
    <p:sldId id="376" r:id="rId48"/>
    <p:sldId id="309" r:id="rId49"/>
    <p:sldId id="377" r:id="rId50"/>
    <p:sldId id="310" r:id="rId51"/>
    <p:sldId id="312" r:id="rId52"/>
    <p:sldId id="313" r:id="rId53"/>
    <p:sldId id="314" r:id="rId54"/>
    <p:sldId id="315" r:id="rId55"/>
    <p:sldId id="316" r:id="rId56"/>
    <p:sldId id="317" r:id="rId57"/>
    <p:sldId id="318" r:id="rId58"/>
    <p:sldId id="319" r:id="rId59"/>
    <p:sldId id="320" r:id="rId60"/>
    <p:sldId id="406" r:id="rId61"/>
    <p:sldId id="378" r:id="rId62"/>
    <p:sldId id="379" r:id="rId63"/>
    <p:sldId id="321" r:id="rId64"/>
    <p:sldId id="415" r:id="rId125"/>
    <p:sldId id="416" r:id="rId126"/>
    <p:sldId id="417" r:id="rId127"/>
    <p:sldId id="380" r:id="rId65"/>
    <p:sldId id="322" r:id="rId66"/>
    <p:sldId id="323" r:id="rId67"/>
    <p:sldId id="325" r:id="rId68"/>
    <p:sldId id="326" r:id="rId69"/>
    <p:sldId id="328" r:id="rId70"/>
    <p:sldId id="329" r:id="rId71"/>
    <p:sldId id="331" r:id="rId72"/>
    <p:sldId id="332" r:id="rId73"/>
    <p:sldId id="405" r:id="rId74"/>
    <p:sldId id="418" r:id="rId128"/>
    <p:sldId id="419" r:id="rId129"/>
    <p:sldId id="420" r:id="rId130"/>
    <p:sldId id="421" r:id="rId131"/>
    <p:sldId id="422" r:id="rId132"/>
    <p:sldId id="423" r:id="rId133"/>
    <p:sldId id="424" r:id="rId134"/>
    <p:sldId id="425" r:id="rId135"/>
    <p:sldId id="426" r:id="rId136"/>
    <p:sldId id="427" r:id="rId137"/>
    <p:sldId id="428" r:id="rId138"/>
    <p:sldId id="429" r:id="rId139"/>
    <p:sldId id="430" r:id="rId140"/>
    <p:sldId id="431" r:id="rId141"/>
    <p:sldId id="432" r:id="rId142"/>
    <p:sldId id="433" r:id="rId143"/>
    <p:sldId id="434" r:id="rId144"/>
    <p:sldId id="435" r:id="rId145"/>
    <p:sldId id="436" r:id="rId146"/>
    <p:sldId id="437" r:id="rId147"/>
    <p:sldId id="381" r:id="rId75"/>
    <p:sldId id="382" r:id="rId76"/>
    <p:sldId id="333" r:id="rId77"/>
    <p:sldId id="383" r:id="rId78"/>
    <p:sldId id="335" r:id="rId79"/>
    <p:sldId id="336" r:id="rId80"/>
    <p:sldId id="338" r:id="rId81"/>
    <p:sldId id="339" r:id="rId82"/>
    <p:sldId id="340" r:id="rId83"/>
    <p:sldId id="399" r:id="rId84"/>
    <p:sldId id="341" r:id="rId85"/>
    <p:sldId id="342" r:id="rId86"/>
    <p:sldId id="367" r:id="rId87"/>
    <p:sldId id="345" r:id="rId88"/>
    <p:sldId id="404" r:id="rId89"/>
    <p:sldId id="438" r:id="rId148"/>
    <p:sldId id="439" r:id="rId149"/>
    <p:sldId id="440" r:id="rId150"/>
    <p:sldId id="441" r:id="rId151"/>
    <p:sldId id="442" r:id="rId152"/>
    <p:sldId id="443" r:id="rId153"/>
    <p:sldId id="444" r:id="rId154"/>
    <p:sldId id="445" r:id="rId155"/>
    <p:sldId id="446" r:id="rId156"/>
    <p:sldId id="447" r:id="rId157"/>
    <p:sldId id="448" r:id="rId158"/>
    <p:sldId id="449" r:id="rId159"/>
    <p:sldId id="450" r:id="rId160"/>
    <p:sldId id="451" r:id="rId161"/>
    <p:sldId id="452" r:id="rId162"/>
    <p:sldId id="453" r:id="rId163"/>
    <p:sldId id="454" r:id="rId164"/>
    <p:sldId id="455" r:id="rId165"/>
    <p:sldId id="456" r:id="rId166"/>
    <p:sldId id="457" r:id="rId167"/>
    <p:sldId id="458" r:id="rId168"/>
    <p:sldId id="384" r:id="rId90"/>
    <p:sldId id="385" r:id="rId91"/>
    <p:sldId id="346" r:id="rId92"/>
    <p:sldId id="386" r:id="rId93"/>
    <p:sldId id="347" r:id="rId94"/>
    <p:sldId id="349" r:id="rId95"/>
    <p:sldId id="350" r:id="rId96"/>
    <p:sldId id="353" r:id="rId97"/>
    <p:sldId id="354" r:id="rId98"/>
    <p:sldId id="401" r:id="rId99"/>
    <p:sldId id="368" r:id="rId100"/>
    <p:sldId id="357" r:id="rId101"/>
    <p:sldId id="459" r:id="rId169"/>
    <p:sldId id="460" r:id="rId170"/>
    <p:sldId id="461" r:id="rId171"/>
    <p:sldId id="462" r:id="rId172"/>
    <p:sldId id="463" r:id="rId173"/>
    <p:sldId id="464" r:id="rId174"/>
    <p:sldId id="358" r:id="rId102"/>
    <p:sldId id="359" r:id="rId103"/>
    <p:sldId id="403" r:id="rId104"/>
    <p:sldId id="387" r:id="rId105"/>
    <p:sldId id="388" r:id="rId106"/>
    <p:sldId id="402" r:id="rId107"/>
    <p:sldId id="389" r:id="rId108"/>
    <p:sldId id="393" r:id="rId109"/>
    <p:sldId id="360" r:id="rId110"/>
    <p:sldId id="361" r:id="rId111"/>
    <p:sldId id="362" r:id="rId112"/>
    <p:sldId id="363" r:id="rId113"/>
    <p:sldId id="364" r:id="rId114"/>
    <p:sldId id="274" r:id="rId115"/>
    <p:sldId id="275" r:id="rId116"/>
    <p:sldId id="276" r:id="rId117"/>
    <p:sldId id="365" r:id="rId118"/>
  </p:sldIdLst>
  <p:sldSz cx="12192000" cy="6858000"/>
  <p:notesSz cx="6858000" cy="9144000"/>
  <p:defaultTextStyle>
    <ns2:defPPr>
      <ns2:defRPr lang="ko-KR"/>
    </ns2:defPPr>
    <ns2:lvl1pPr marL="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p:defaultTextStyle>
  <p:extLst>
    <p:ext uri="{EFAFB233-063F-42B5-8137-9DF3F51BA10A}">
      <ns3:sldGuideLst/>
    </p:ext>
  </p:extLst>
</p:presentation>
</file>

<file path=ppt/csv-json-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csv-json-tableStyles.xml><?xml version="1.0" encoding="utf-8"?>
<a:tblStyleLst xmlns:a="http://schemas.openxmlformats.org/drawingml/2006/main" def="{5C22544A-7EE6-4342-B048-85BDC9FD1C3A}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3D7E59-1378-48A8-9AE6-9A1FCFCA09A6}" v="1" dt="2026-10-05T14:36:14.9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9" autoAdjust="0"/>
    <p:restoredTop sz="94660"/>
  </p:normalViewPr>
  <p:slideViewPr>
    <p:cSldViewPr snapToGrid="0">
      <p:cViewPr varScale="1">
        <p:scale>
          <a:sx n="85" d="100"/>
          <a:sy n="85" d="100"/>
        </p:scale>
        <p:origin x="68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?>
<Relationships xmlns="http://schemas.openxmlformats.org/package/2006/relationships"><Relationship Id="rId26" Type="http://schemas.openxmlformats.org/officeDocument/2006/relationships/slide" Target="slides/slide25.xml" /><Relationship Id="rId117" Type="http://schemas.openxmlformats.org/officeDocument/2006/relationships/slide" Target="slides/slide116.xml" /><Relationship Id="rId21" Type="http://schemas.openxmlformats.org/officeDocument/2006/relationships/slide" Target="slides/slide20.xml" /><Relationship Id="rId42" Type="http://schemas.openxmlformats.org/officeDocument/2006/relationships/slide" Target="slides/slide41.xml" /><Relationship Id="rId47" Type="http://schemas.openxmlformats.org/officeDocument/2006/relationships/slide" Target="slides/slide46.xml" /><Relationship Id="rId63" Type="http://schemas.openxmlformats.org/officeDocument/2006/relationships/slide" Target="slides/slide62.xml" /><Relationship Id="rId68" Type="http://schemas.openxmlformats.org/officeDocument/2006/relationships/slide" Target="slides/slide67.xml" /><Relationship Id="rId84" Type="http://schemas.openxmlformats.org/officeDocument/2006/relationships/slide" Target="slides/slide83.xml" /><Relationship Id="rId89" Type="http://schemas.openxmlformats.org/officeDocument/2006/relationships/slide" Target="slides/slide88.xml" /><Relationship Id="rId112" Type="http://schemas.openxmlformats.org/officeDocument/2006/relationships/slide" Target="slides/slide111.xml" /><Relationship Id="rId16" Type="http://schemas.openxmlformats.org/officeDocument/2006/relationships/slide" Target="slides/slide15.xml" /><Relationship Id="rId107" Type="http://schemas.openxmlformats.org/officeDocument/2006/relationships/slide" Target="slides/slide106.xml" /><Relationship Id="rId11" Type="http://schemas.openxmlformats.org/officeDocument/2006/relationships/slide" Target="slides/slide10.xml" /><Relationship Id="rId32" Type="http://schemas.openxmlformats.org/officeDocument/2006/relationships/slide" Target="slides/slide31.xml" /><Relationship Id="rId37" Type="http://schemas.openxmlformats.org/officeDocument/2006/relationships/slide" Target="slides/slide36.xml" /><Relationship Id="rId53" Type="http://schemas.openxmlformats.org/officeDocument/2006/relationships/slide" Target="slides/slide52.xml" /><Relationship Id="rId58" Type="http://schemas.openxmlformats.org/officeDocument/2006/relationships/slide" Target="slides/slide57.xml" /><Relationship Id="rId74" Type="http://schemas.openxmlformats.org/officeDocument/2006/relationships/slide" Target="slides/slide73.xml" /><Relationship Id="rId79" Type="http://schemas.openxmlformats.org/officeDocument/2006/relationships/slide" Target="slides/slide78.xml" /><Relationship Id="rId102" Type="http://schemas.openxmlformats.org/officeDocument/2006/relationships/slide" Target="slides/slide101.xml" /><Relationship Id="rId123" Type="http://schemas.microsoft.com/office/2016/11/relationships/changesInfo" Target="changesInfos/changesInfo1.xml" /><Relationship Id="rId5" Type="http://schemas.openxmlformats.org/officeDocument/2006/relationships/slide" Target="slides/slide4.xml" /><Relationship Id="rId90" Type="http://schemas.openxmlformats.org/officeDocument/2006/relationships/slide" Target="slides/slide89.xml" /><Relationship Id="rId95" Type="http://schemas.openxmlformats.org/officeDocument/2006/relationships/slide" Target="slides/slide94.xml" /><Relationship Id="rId22" Type="http://schemas.openxmlformats.org/officeDocument/2006/relationships/slide" Target="slides/slide21.xml" /><Relationship Id="rId27" Type="http://schemas.openxmlformats.org/officeDocument/2006/relationships/slide" Target="slides/slide26.xml" /><Relationship Id="rId43" Type="http://schemas.openxmlformats.org/officeDocument/2006/relationships/slide" Target="slides/slide42.xml" /><Relationship Id="rId48" Type="http://schemas.openxmlformats.org/officeDocument/2006/relationships/slide" Target="slides/slide47.xml" /><Relationship Id="rId64" Type="http://schemas.openxmlformats.org/officeDocument/2006/relationships/slide" Target="slides/slide63.xml" /><Relationship Id="rId69" Type="http://schemas.openxmlformats.org/officeDocument/2006/relationships/slide" Target="slides/slide68.xml" /><Relationship Id="rId113" Type="http://schemas.openxmlformats.org/officeDocument/2006/relationships/slide" Target="slides/slide112.xml" /><Relationship Id="rId118" Type="http://schemas.openxmlformats.org/officeDocument/2006/relationships/slide" Target="slides/slide117.xml" /><Relationship Id="rId80" Type="http://schemas.openxmlformats.org/officeDocument/2006/relationships/slide" Target="slides/slide79.xml" /><Relationship Id="rId85" Type="http://schemas.openxmlformats.org/officeDocument/2006/relationships/slide" Target="slides/slide84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33" Type="http://schemas.openxmlformats.org/officeDocument/2006/relationships/slide" Target="slides/slide32.xml" /><Relationship Id="rId38" Type="http://schemas.openxmlformats.org/officeDocument/2006/relationships/slide" Target="slides/slide37.xml" /><Relationship Id="rId59" Type="http://schemas.openxmlformats.org/officeDocument/2006/relationships/slide" Target="slides/slide58.xml" /><Relationship Id="rId103" Type="http://schemas.openxmlformats.org/officeDocument/2006/relationships/slide" Target="slides/slide102.xml" /><Relationship Id="rId108" Type="http://schemas.openxmlformats.org/officeDocument/2006/relationships/slide" Target="slides/slide107.xml" /><Relationship Id="rId124" Type="http://schemas.microsoft.com/office/2015/10/relationships/revisionInfo" Target="revisionInfo.xml" /><Relationship Id="rId54" Type="http://schemas.openxmlformats.org/officeDocument/2006/relationships/slide" Target="slides/slide53.xml" /><Relationship Id="rId70" Type="http://schemas.openxmlformats.org/officeDocument/2006/relationships/slide" Target="slides/slide69.xml" /><Relationship Id="rId75" Type="http://schemas.openxmlformats.org/officeDocument/2006/relationships/slide" Target="slides/slide74.xml" /><Relationship Id="rId91" Type="http://schemas.openxmlformats.org/officeDocument/2006/relationships/slide" Target="slides/slide90.xml" /><Relationship Id="rId96" Type="http://schemas.openxmlformats.org/officeDocument/2006/relationships/slide" Target="slides/slide95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23" Type="http://schemas.openxmlformats.org/officeDocument/2006/relationships/slide" Target="slides/slide22.xml" /><Relationship Id="rId28" Type="http://schemas.openxmlformats.org/officeDocument/2006/relationships/slide" Target="slides/slide27.xml" /><Relationship Id="rId49" Type="http://schemas.openxmlformats.org/officeDocument/2006/relationships/slide" Target="slides/slide48.xml" /><Relationship Id="rId114" Type="http://schemas.openxmlformats.org/officeDocument/2006/relationships/slide" Target="slides/slide113.xml" /><Relationship Id="rId119" Type="http://schemas.openxmlformats.org/officeDocument/2006/relationships/presProps" Target="presProps.xml" /><Relationship Id="rId44" Type="http://schemas.openxmlformats.org/officeDocument/2006/relationships/slide" Target="slides/slide43.xml" /><Relationship Id="rId60" Type="http://schemas.openxmlformats.org/officeDocument/2006/relationships/slide" Target="slides/slide59.xml" /><Relationship Id="rId65" Type="http://schemas.openxmlformats.org/officeDocument/2006/relationships/slide" Target="slides/slide64.xml" /><Relationship Id="rId81" Type="http://schemas.openxmlformats.org/officeDocument/2006/relationships/slide" Target="slides/slide80.xml" /><Relationship Id="rId86" Type="http://schemas.openxmlformats.org/officeDocument/2006/relationships/slide" Target="slides/slide85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3" Type="http://schemas.openxmlformats.org/officeDocument/2006/relationships/slide" Target="slides/slide12.xml" /><Relationship Id="rId18" Type="http://schemas.openxmlformats.org/officeDocument/2006/relationships/slide" Target="slides/slide17.xml" /><Relationship Id="rId39" Type="http://schemas.openxmlformats.org/officeDocument/2006/relationships/slide" Target="slides/slide38.xml" /><Relationship Id="rId109" Type="http://schemas.openxmlformats.org/officeDocument/2006/relationships/slide" Target="slides/slide108.xml" /><Relationship Id="rId34" Type="http://schemas.openxmlformats.org/officeDocument/2006/relationships/slide" Target="slides/slide33.xml" /><Relationship Id="rId50" Type="http://schemas.openxmlformats.org/officeDocument/2006/relationships/slide" Target="slides/slide49.xml" /><Relationship Id="rId55" Type="http://schemas.openxmlformats.org/officeDocument/2006/relationships/slide" Target="slides/slide54.xml" /><Relationship Id="rId76" Type="http://schemas.openxmlformats.org/officeDocument/2006/relationships/slide" Target="slides/slide75.xml" /><Relationship Id="rId97" Type="http://schemas.openxmlformats.org/officeDocument/2006/relationships/slide" Target="slides/slide96.xml" /><Relationship Id="rId104" Type="http://schemas.openxmlformats.org/officeDocument/2006/relationships/slide" Target="slides/slide103.xml" /><Relationship Id="rId120" Type="http://schemas.openxmlformats.org/officeDocument/2006/relationships/viewProps" Target="viewProps.xml" /><Relationship Id="rId7" Type="http://schemas.openxmlformats.org/officeDocument/2006/relationships/slide" Target="slides/slide6.xml" /><Relationship Id="rId71" Type="http://schemas.openxmlformats.org/officeDocument/2006/relationships/slide" Target="slides/slide70.xml" /><Relationship Id="rId92" Type="http://schemas.openxmlformats.org/officeDocument/2006/relationships/slide" Target="slides/slide91.xml" /><Relationship Id="rId2" Type="http://schemas.openxmlformats.org/officeDocument/2006/relationships/slide" Target="slides/slide1.xml" /><Relationship Id="rId29" Type="http://schemas.openxmlformats.org/officeDocument/2006/relationships/slide" Target="slides/slide28.xml" /><Relationship Id="rId24" Type="http://schemas.openxmlformats.org/officeDocument/2006/relationships/slide" Target="slides/slide23.xml" /><Relationship Id="rId40" Type="http://schemas.openxmlformats.org/officeDocument/2006/relationships/slide" Target="slides/slide39.xml" /><Relationship Id="rId45" Type="http://schemas.openxmlformats.org/officeDocument/2006/relationships/slide" Target="slides/slide44.xml" /><Relationship Id="rId66" Type="http://schemas.openxmlformats.org/officeDocument/2006/relationships/slide" Target="slides/slide65.xml" /><Relationship Id="rId87" Type="http://schemas.openxmlformats.org/officeDocument/2006/relationships/slide" Target="slides/slide86.xml" /><Relationship Id="rId110" Type="http://schemas.openxmlformats.org/officeDocument/2006/relationships/slide" Target="slides/slide109.xml" /><Relationship Id="rId115" Type="http://schemas.openxmlformats.org/officeDocument/2006/relationships/slide" Target="slides/slide114.xml" /><Relationship Id="rId61" Type="http://schemas.openxmlformats.org/officeDocument/2006/relationships/slide" Target="slides/slide60.xml" /><Relationship Id="rId82" Type="http://schemas.openxmlformats.org/officeDocument/2006/relationships/slide" Target="slides/slide81.xml" /><Relationship Id="rId19" Type="http://schemas.openxmlformats.org/officeDocument/2006/relationships/slide" Target="slides/slide18.xml" /><Relationship Id="rId14" Type="http://schemas.openxmlformats.org/officeDocument/2006/relationships/slide" Target="slides/slide13.xml" /><Relationship Id="rId30" Type="http://schemas.openxmlformats.org/officeDocument/2006/relationships/slide" Target="slides/slide29.xml" /><Relationship Id="rId35" Type="http://schemas.openxmlformats.org/officeDocument/2006/relationships/slide" Target="slides/slide34.xml" /><Relationship Id="rId56" Type="http://schemas.openxmlformats.org/officeDocument/2006/relationships/slide" Target="slides/slide55.xml" /><Relationship Id="rId77" Type="http://schemas.openxmlformats.org/officeDocument/2006/relationships/slide" Target="slides/slide76.xml" /><Relationship Id="rId100" Type="http://schemas.openxmlformats.org/officeDocument/2006/relationships/slide" Target="slides/slide99.xml" /><Relationship Id="rId105" Type="http://schemas.openxmlformats.org/officeDocument/2006/relationships/slide" Target="slides/slide104.xml" /><Relationship Id="rId8" Type="http://schemas.openxmlformats.org/officeDocument/2006/relationships/slide" Target="slides/slide7.xml" /><Relationship Id="rId51" Type="http://schemas.openxmlformats.org/officeDocument/2006/relationships/slide" Target="slides/slide50.xml" /><Relationship Id="rId72" Type="http://schemas.openxmlformats.org/officeDocument/2006/relationships/slide" Target="slides/slide71.xml" /><Relationship Id="rId93" Type="http://schemas.openxmlformats.org/officeDocument/2006/relationships/slide" Target="slides/slide92.xml" /><Relationship Id="rId98" Type="http://schemas.openxmlformats.org/officeDocument/2006/relationships/slide" Target="slides/slide97.xml" /><Relationship Id="rId121" Type="http://schemas.openxmlformats.org/officeDocument/2006/relationships/theme" Target="theme/theme1.xml" /><Relationship Id="rId3" Type="http://schemas.openxmlformats.org/officeDocument/2006/relationships/slide" Target="slides/slide2.xml" /><Relationship Id="rId25" Type="http://schemas.openxmlformats.org/officeDocument/2006/relationships/slide" Target="slides/slide24.xml" /><Relationship Id="rId46" Type="http://schemas.openxmlformats.org/officeDocument/2006/relationships/slide" Target="slides/slide45.xml" /><Relationship Id="rId67" Type="http://schemas.openxmlformats.org/officeDocument/2006/relationships/slide" Target="slides/slide66.xml" /><Relationship Id="rId116" Type="http://schemas.openxmlformats.org/officeDocument/2006/relationships/slide" Target="slides/slide115.xml" /><Relationship Id="rId20" Type="http://schemas.openxmlformats.org/officeDocument/2006/relationships/slide" Target="slides/slide19.xml" /><Relationship Id="rId41" Type="http://schemas.openxmlformats.org/officeDocument/2006/relationships/slide" Target="slides/slide40.xml" /><Relationship Id="rId62" Type="http://schemas.openxmlformats.org/officeDocument/2006/relationships/slide" Target="slides/slide61.xml" /><Relationship Id="rId83" Type="http://schemas.openxmlformats.org/officeDocument/2006/relationships/slide" Target="slides/slide82.xml" /><Relationship Id="rId88" Type="http://schemas.openxmlformats.org/officeDocument/2006/relationships/slide" Target="slides/slide87.xml" /><Relationship Id="rId111" Type="http://schemas.openxmlformats.org/officeDocument/2006/relationships/slide" Target="slides/slide110.xml" /><Relationship Id="rId15" Type="http://schemas.openxmlformats.org/officeDocument/2006/relationships/slide" Target="slides/slide14.xml" /><Relationship Id="rId36" Type="http://schemas.openxmlformats.org/officeDocument/2006/relationships/slide" Target="slides/slide35.xml" /><Relationship Id="rId57" Type="http://schemas.openxmlformats.org/officeDocument/2006/relationships/slide" Target="slides/slide56.xml" /><Relationship Id="rId106" Type="http://schemas.openxmlformats.org/officeDocument/2006/relationships/slide" Target="slides/slide105.xml" /><Relationship Id="rId10" Type="http://schemas.openxmlformats.org/officeDocument/2006/relationships/slide" Target="slides/slide9.xml" /><Relationship Id="rId31" Type="http://schemas.openxmlformats.org/officeDocument/2006/relationships/slide" Target="slides/slide30.xml" /><Relationship Id="rId52" Type="http://schemas.openxmlformats.org/officeDocument/2006/relationships/slide" Target="slides/slide51.xml" /><Relationship Id="rId73" Type="http://schemas.openxmlformats.org/officeDocument/2006/relationships/slide" Target="slides/slide72.xml" /><Relationship Id="rId78" Type="http://schemas.openxmlformats.org/officeDocument/2006/relationships/slide" Target="slides/slide77.xml" /><Relationship Id="rId94" Type="http://schemas.openxmlformats.org/officeDocument/2006/relationships/slide" Target="slides/slide93.xml" /><Relationship Id="rId99" Type="http://schemas.openxmlformats.org/officeDocument/2006/relationships/slide" Target="slides/slide98.xml" /><Relationship Id="rId101" Type="http://schemas.openxmlformats.org/officeDocument/2006/relationships/slide" Target="slides/slide100.xml" /><Relationship Id="rId122" Type="http://schemas.openxmlformats.org/officeDocument/2006/relationships/tableStyles" Target="tableStyles.xml" /><Relationship Id="rId125" Type="http://schemas.openxmlformats.org/officeDocument/2006/relationships/slide" Target="slides/slide118.xml" /><Relationship Id="rId126" Type="http://schemas.openxmlformats.org/officeDocument/2006/relationships/slide" Target="slides/slide119.xml" /><Relationship Id="rId127" Type="http://schemas.openxmlformats.org/officeDocument/2006/relationships/slide" Target="slides/slide120.xml" /><Relationship Id="rId128" Type="http://schemas.openxmlformats.org/officeDocument/2006/relationships/slide" Target="slides/slide121.xml" /><Relationship Id="rId129" Type="http://schemas.openxmlformats.org/officeDocument/2006/relationships/slide" Target="slides/slide122.xml" /><Relationship Id="rId130" Type="http://schemas.openxmlformats.org/officeDocument/2006/relationships/slide" Target="slides/slide123.xml" /><Relationship Id="rId131" Type="http://schemas.openxmlformats.org/officeDocument/2006/relationships/slide" Target="slides/slide124.xml" /><Relationship Id="rId132" Type="http://schemas.openxmlformats.org/officeDocument/2006/relationships/slide" Target="slides/slide125.xml" /><Relationship Id="rId133" Type="http://schemas.openxmlformats.org/officeDocument/2006/relationships/slide" Target="slides/slide126.xml" /><Relationship Id="rId134" Type="http://schemas.openxmlformats.org/officeDocument/2006/relationships/slide" Target="slides/slide127.xml" /><Relationship Id="rId135" Type="http://schemas.openxmlformats.org/officeDocument/2006/relationships/slide" Target="slides/slide128.xml" /><Relationship Id="rId136" Type="http://schemas.openxmlformats.org/officeDocument/2006/relationships/slide" Target="slides/slide129.xml" /><Relationship Id="rId137" Type="http://schemas.openxmlformats.org/officeDocument/2006/relationships/slide" Target="slides/slide130.xml" /><Relationship Id="rId138" Type="http://schemas.openxmlformats.org/officeDocument/2006/relationships/slide" Target="slides/slide131.xml" /><Relationship Id="rId139" Type="http://schemas.openxmlformats.org/officeDocument/2006/relationships/slide" Target="slides/slide132.xml" /><Relationship Id="rId140" Type="http://schemas.openxmlformats.org/officeDocument/2006/relationships/slide" Target="slides/slide133.xml" /><Relationship Id="rId141" Type="http://schemas.openxmlformats.org/officeDocument/2006/relationships/slide" Target="slides/slide134.xml" /><Relationship Id="rId142" Type="http://schemas.openxmlformats.org/officeDocument/2006/relationships/slide" Target="slides/slide135.xml" /><Relationship Id="rId143" Type="http://schemas.openxmlformats.org/officeDocument/2006/relationships/slide" Target="slides/slide136.xml" /><Relationship Id="rId144" Type="http://schemas.openxmlformats.org/officeDocument/2006/relationships/slide" Target="slides/slide137.xml" /><Relationship Id="rId145" Type="http://schemas.openxmlformats.org/officeDocument/2006/relationships/slide" Target="slides/slide138.xml" /><Relationship Id="rId146" Type="http://schemas.openxmlformats.org/officeDocument/2006/relationships/slide" Target="slides/slide139.xml" /><Relationship Id="rId147" Type="http://schemas.openxmlformats.org/officeDocument/2006/relationships/slide" Target="slides/slide140.xml" /><Relationship Id="rId148" Type="http://schemas.openxmlformats.org/officeDocument/2006/relationships/slide" Target="slides/slide141.xml" /><Relationship Id="rId149" Type="http://schemas.openxmlformats.org/officeDocument/2006/relationships/slide" Target="slides/slide142.xml" /><Relationship Id="rId150" Type="http://schemas.openxmlformats.org/officeDocument/2006/relationships/slide" Target="slides/slide143.xml" /><Relationship Id="rId151" Type="http://schemas.openxmlformats.org/officeDocument/2006/relationships/slide" Target="slides/slide144.xml" /><Relationship Id="rId152" Type="http://schemas.openxmlformats.org/officeDocument/2006/relationships/slide" Target="slides/slide145.xml" /><Relationship Id="rId153" Type="http://schemas.openxmlformats.org/officeDocument/2006/relationships/slide" Target="slides/slide146.xml" /><Relationship Id="rId154" Type="http://schemas.openxmlformats.org/officeDocument/2006/relationships/slide" Target="slides/slide147.xml" /><Relationship Id="rId155" Type="http://schemas.openxmlformats.org/officeDocument/2006/relationships/slide" Target="slides/slide148.xml" /><Relationship Id="rId156" Type="http://schemas.openxmlformats.org/officeDocument/2006/relationships/slide" Target="slides/slide149.xml" /><Relationship Id="rId157" Type="http://schemas.openxmlformats.org/officeDocument/2006/relationships/slide" Target="slides/slide150.xml" /><Relationship Id="rId158" Type="http://schemas.openxmlformats.org/officeDocument/2006/relationships/slide" Target="slides/slide151.xml" /><Relationship Id="rId159" Type="http://schemas.openxmlformats.org/officeDocument/2006/relationships/slide" Target="slides/slide152.xml" /><Relationship Id="rId160" Type="http://schemas.openxmlformats.org/officeDocument/2006/relationships/slide" Target="slides/slide153.xml" /><Relationship Id="rId161" Type="http://schemas.openxmlformats.org/officeDocument/2006/relationships/slide" Target="slides/slide154.xml" /><Relationship Id="rId162" Type="http://schemas.openxmlformats.org/officeDocument/2006/relationships/slide" Target="slides/slide155.xml" /><Relationship Id="rId163" Type="http://schemas.openxmlformats.org/officeDocument/2006/relationships/slide" Target="slides/slide156.xml" /><Relationship Id="rId164" Type="http://schemas.openxmlformats.org/officeDocument/2006/relationships/slide" Target="slides/slide157.xml" /><Relationship Id="rId165" Type="http://schemas.openxmlformats.org/officeDocument/2006/relationships/slide" Target="slides/slide158.xml" /><Relationship Id="rId166" Type="http://schemas.openxmlformats.org/officeDocument/2006/relationships/slide" Target="slides/slide159.xml" /><Relationship Id="rId167" Type="http://schemas.openxmlformats.org/officeDocument/2006/relationships/slide" Target="slides/slide160.xml" /><Relationship Id="rId168" Type="http://schemas.openxmlformats.org/officeDocument/2006/relationships/slide" Target="slides/slide161.xml" /><Relationship Id="rId169" Type="http://schemas.openxmlformats.org/officeDocument/2006/relationships/slide" Target="slides/slide162.xml" /><Relationship Id="rId170" Type="http://schemas.openxmlformats.org/officeDocument/2006/relationships/slide" Target="slides/slide163.xml" /><Relationship Id="rId171" Type="http://schemas.openxmlformats.org/officeDocument/2006/relationships/slide" Target="slides/slide164.xml" /><Relationship Id="rId172" Type="http://schemas.openxmlformats.org/officeDocument/2006/relationships/slide" Target="slides/slide165.xml" /><Relationship Id="rId173" Type="http://schemas.openxmlformats.org/officeDocument/2006/relationships/slide" Target="slides/slide166.xml" /><Relationship Id="rId174" Type="http://schemas.openxmlformats.org/officeDocument/2006/relationships/slide" Target="slides/slide167.xml" /><Relationship Id="rId175" Type="http://schemas.openxmlformats.org/officeDocument/2006/relationships/slideMaster" Target="slideMasters/csv-json-slideMaster1.xml" 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young Kim" userId="e4fcb54a64e52274" providerId="LiveId" clId="{693C97E9-6675-4EC3-B70B-A51A05D65E0D}"/>
    <pc:docChg chg="modSld">
      <pc:chgData name="seyoung Kim" userId="e4fcb54a64e52274" providerId="LiveId" clId="{693C97E9-6675-4EC3-B70B-A51A05D65E0D}" dt="2026-10-05T14:36:14.955" v="0"/>
      <pc:docMkLst>
        <pc:docMk/>
      </pc:docMkLst>
      <pc:sldChg chg="addSp modSp">
        <pc:chgData name="seyoung Kim" userId="e4fcb54a64e52274" providerId="LiveId" clId="{693C97E9-6675-4EC3-B70B-A51A05D65E0D}" dt="2026-10-05T14:36:14.955" v="0"/>
        <pc:sldMkLst>
          <pc:docMk/>
          <pc:sldMk cId="1009396519" sldId="392"/>
        </pc:sldMkLst>
        <pc:picChg chg="add mod">
          <ac:chgData name="seyoung Kim" userId="e4fcb54a64e52274" providerId="LiveId" clId="{693C97E9-6675-4EC3-B70B-A51A05D65E0D}" dt="2026-10-05T14:36:14.955" v="0"/>
          <ac:picMkLst>
            <pc:docMk/>
            <pc:sldMk cId="1009396519" sldId="392"/>
            <ac:picMk id="12" creationId="{CD60BF8A-AE8D-142E-C7F3-A00A02FE6D1D}"/>
          </ac:picMkLst>
        </pc:picChg>
      </pc:sldChg>
    </pc:docChg>
  </pc:docChgLst>
</pc:chgInfo>
</file>

<file path=ppt/charts/_rels/chart1.xml.rels><Relationships xmlns="http://schemas.openxmlformats.org/package/2006/relationships"><Relationship Id="rIdChartSnapshot1" Type="http://schemas.openxmlformats.org/officeDocument/2006/relationships/package" Target="../embeddings/chart-data-snapshot-001.xlsx"/></Relationships>
</file>

<file path=ppt/charts/_rels/chart2.xml.rels><Relationships xmlns="http://schemas.openxmlformats.org/package/2006/relationships"><Relationship Id="rIdChartSnapshot1" Type="http://schemas.openxmlformats.org/officeDocument/2006/relationships/package" Target="../embeddings/chart-data-snapshot-002.xlsx"/></Relationships>
</file>

<file path=ppt/charts/_rels/chart3.xml.rels><Relationships xmlns="http://schemas.openxmlformats.org/package/2006/relationships"><Relationship Id="rIdChartSnapshot1" Type="http://schemas.openxmlformats.org/officeDocument/2006/relationships/package" Target="../embeddings/chart-data-snapshot-00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05"/>
          <c:y val="0.1"/>
          <c:w val="0.9"/>
          <c:h val="0.75"/>
        </c:manualLayout>
      </c:layout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9AA7AE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C2571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45A-4FAF-9602-50BC4B4A56FF}"/>
              </c:ext>
            </c:extLst>
          </c:dPt>
          <c:dLbls>
            <c:numFmt formatCode="0&quot;℃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FFFFFF"/>
                    </a:solidFill>
                    <a:latin typeface="Noto Sans KR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Ref>
              <c:f>'Chart Data'!$A$2:$A$4</c:f>
              <c:strCache>
                <c:ptCount val="3"/>
                <c:pt idx="0">
                  <c:v>문 앞</c:v>
                </c:pt>
                <c:pt idx="1">
                  <c:v>선반 안</c:v>
                </c:pt>
                <c:pt idx="2">
                  <c:v>평균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8</c:v>
                </c:pt>
                <c:pt idx="1">
                  <c:v>4</c:v>
                </c:pt>
                <c:pt idx="2">
                  <c:v>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E45A-4FAF-9602-50BC4B4A56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DC0BE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172E3A"/>
                </a:solidFill>
                <a:latin typeface="Noto Sans KR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ChartSnapshot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05"/>
          <c:y val="0.1"/>
          <c:w val="0.9"/>
          <c:h val="0.75"/>
        </c:manualLayout>
      </c:layout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9AA7AE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C2571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AC88-4CF9-839B-1461DED63121}"/>
              </c:ext>
            </c:extLst>
          </c:dPt>
          <c:dLbls>
            <c:numFmt formatCode="0&quot;dB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FFFFFF"/>
                    </a:solidFill>
                    <a:latin typeface="Noto Sans KR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Ref>
              <c:f>'Chart Data'!$A$2:$A$4</c:f>
              <c:strCache>
                <c:ptCount val="3"/>
                <c:pt idx="0">
                  <c:v>A구역</c:v>
                </c:pt>
                <c:pt idx="1">
                  <c:v>B구역</c:v>
                </c:pt>
                <c:pt idx="2">
                  <c:v>평균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70</c:v>
                </c:pt>
                <c:pt idx="1">
                  <c:v>40</c:v>
                </c:pt>
                <c:pt idx="2">
                  <c:v>55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AC88-4CF9-839B-1461DED631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DC0BE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172E3A"/>
                </a:solidFill>
                <a:latin typeface="Noto Sans KR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ChartSnapshot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05"/>
          <c:y val="0.1"/>
          <c:w val="0.9"/>
          <c:h val="0.75"/>
        </c:manualLayout>
      </c:layout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9AA7AE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C2571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291D-4873-AF7B-45A7D5A06EB2}"/>
              </c:ext>
            </c:extLst>
          </c:dPt>
          <c:dLbls>
            <c:numFmt formatCode="0&quot;개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172E3A"/>
                    </a:solidFill>
                    <a:latin typeface="Noto Sans KR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A구역</c:v>
                </c:pt>
                <c:pt idx="1">
                  <c:v>B구역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6</c:v>
                </c:pt>
                <c:pt idx="1">
                  <c:v>10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91D-4873-AF7B-45A7D5A06E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DC0BE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172E3A"/>
                </a:solidFill>
                <a:latin typeface="Noto Sans KR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2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ChartSnapshot1">
    <c:autoUpdate val="0"/>
  </c:externalData>
</c:chartSpace>
</file>

<file path=ppt/slideLayouts/_rels/csv-json-slideLayout1.xml.rels><?xml version='1.0' encoding='utf-8'?>
<Relationships xmlns="http://schemas.openxmlformats.org/package/2006/relationships"><Relationship Type="http://schemas.openxmlformats.org/officeDocument/2006/relationships/slideMaster" Target="../slideMasters/csv-json-slideMaster1.xml" Id="Rfa09336bf5d64703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csv-json-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csv-json-slideMaster1.xml.rels><?xml version='1.0' encoding='utf-8'?>
<Relationships xmlns="http://schemas.openxmlformats.org/package/2006/relationships"><Relationship Type="http://schemas.openxmlformats.org/officeDocument/2006/relationships/theme" Target="theme/csv-json-theme2.xml" Id="R7b9411d9451548c0" /><Relationship Type="http://schemas.openxmlformats.org/officeDocument/2006/relationships/slideLayout" Target="../slideLayouts/csv-json-slideLayout1.xml" Id="R744f23b3195a4e4a" /></Relationships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csv-json-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4f23b3195a4e4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csv-json-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bs.gov.au/statistics/understanding-statistics/statistical-terms-and-concepts/variables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csv.htm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json.htm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F_7IPm7f1vI" TargetMode="Externa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iubgWPHsuWM" TargetMode="Externa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eforum.org/publications/physical-ai-powering-the-new-age-of-industrial-operations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boutamazon.com/news/operations/amazon-million-robots-ai-foundation-mode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hyperlink" Target="https://apnews.com/article/8de7b2470c23f5f22441ad1ad7555136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gwW8GKwHB3I&amp;t=647s" TargetMode="External"/></Relationships>
</file>

<file path=ppt/slides/_rels/slide118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dfe3ad54a1644be6" /><Relationship Type="http://schemas.openxmlformats.org/officeDocument/2006/relationships/image" Target="../media/csv-json-image.png" Id="Re33017541fe24c28" /></Relationships>
</file>

<file path=ppt/slides/_rels/slide119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42ac7c1752e64c41" /><Relationship Type="http://schemas.openxmlformats.org/officeDocument/2006/relationships/image" Target="../media/csv-json-image2.png" Id="R0c7069086ae2413b" /></Relationships>
</file>

<file path=ppt/slides/_rels/slide120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18f114a5715d4a00" /><Relationship Type="http://schemas.openxmlformats.org/officeDocument/2006/relationships/image" Target="../media/csv-json-image2.png" Id="Re93effd8f1c34606" /></Relationships>
</file>

<file path=ppt/slides/_rels/slide121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0bcfbbd9ad504b4a" /><Relationship Type="http://schemas.openxmlformats.org/officeDocument/2006/relationships/image" Target="../media/csv-json-image2.png" Id="R8443dba392e44b23" /></Relationships>
</file>

<file path=ppt/slides/_rels/slide122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02fe742191044bff" /><Relationship Type="http://schemas.openxmlformats.org/officeDocument/2006/relationships/image" Target="../media/csv-json-image2.png" Id="R9447d14139ca43ca" /></Relationships>
</file>

<file path=ppt/slides/_rels/slide123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3d3fab06a6f84c9e" /><Relationship Type="http://schemas.openxmlformats.org/officeDocument/2006/relationships/image" Target="../media/csv-json-image2.png" Id="Rde045d8775aa404c" /></Relationships>
</file>

<file path=ppt/slides/_rels/slide124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02ecc2df86b641a3" /><Relationship Type="http://schemas.openxmlformats.org/officeDocument/2006/relationships/image" Target="../media/csv-json-image.png" Id="Re9cb9522afc54972" /><Relationship Id="rIdLink1" Type="http://schemas.openxmlformats.org/officeDocument/2006/relationships/hyperlink" Target="https://zeusk302-png.github.io/kdigital-physical-ai/#/sessions/2026-10-08/activity-A13" TargetMode="External" /></Relationships>
</file>

<file path=ppt/slides/_rels/slide125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3a4e89dcb6374ea5" /><Relationship Type="http://schemas.openxmlformats.org/officeDocument/2006/relationships/image" Target="../media/csv-json-image2.png" Id="R9f670805f2bf4dc6" /></Relationships>
</file>

<file path=ppt/slides/_rels/slide126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8c641e13406a40af" /><Relationship Type="http://schemas.openxmlformats.org/officeDocument/2006/relationships/image" Target="../media/csv-json-image2.png" Id="R0bea580eea864ec6" /></Relationships>
</file>

<file path=ppt/slides/_rels/slide127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40caa7e726414f33" /><Relationship Type="http://schemas.openxmlformats.org/officeDocument/2006/relationships/image" Target="../media/csv-json-image2.png" Id="Rce0a077ec29f45ac" /></Relationships>
</file>

<file path=ppt/slides/_rels/slide128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460a4bbb96604601" /><Relationship Type="http://schemas.openxmlformats.org/officeDocument/2006/relationships/image" Target="../media/csv-json-image2.png" Id="R01c83001b9c845d5" /></Relationships>
</file>

<file path=ppt/slides/_rels/slide129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cd11f4d88db4485d" /><Relationship Type="http://schemas.openxmlformats.org/officeDocument/2006/relationships/image" Target="../media/csv-json-image.png" Id="Re545eda7a6c44249" /><Relationship Id="rIdLink1" Type="http://schemas.openxmlformats.org/officeDocument/2006/relationships/hyperlink" Target="https://zeusk302-png.github.io/kdigital-physical-ai/#/sessions/2026-10-08/activity-A14" TargetMode="External" /></Relationships>
</file>

<file path=ppt/slides/_rels/slide130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0ccf77598d77471f" /><Relationship Type="http://schemas.openxmlformats.org/officeDocument/2006/relationships/image" Target="../media/csv-json-image2.png" Id="Ra552e3027e0d4c41" /></Relationships>
</file>

<file path=ppt/slides/_rels/slide131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61407e023b68479d" /><Relationship Type="http://schemas.openxmlformats.org/officeDocument/2006/relationships/image" Target="../media/csv-json-image2.png" Id="R3e6292841bd84128" /></Relationships>
</file>

<file path=ppt/slides/_rels/slide132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6e4e4f82151f4866" /><Relationship Type="http://schemas.openxmlformats.org/officeDocument/2006/relationships/image" Target="../media/csv-json-image2.png" Id="R2fc6b50ef5e84a69" /></Relationships>
</file>

<file path=ppt/slides/_rels/slide133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4930f1d944db4766" /><Relationship Type="http://schemas.openxmlformats.org/officeDocument/2006/relationships/image" Target="../media/csv-json-image2.png" Id="R1db684cf667b4173" /></Relationships>
</file>

<file path=ppt/slides/_rels/slide134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3399309c4fb4461d" /><Relationship Type="http://schemas.openxmlformats.org/officeDocument/2006/relationships/image" Target="../media/csv-json-image.png" Id="R1677eaf1415e4735" /><Relationship Id="rIdLink1" Type="http://schemas.openxmlformats.org/officeDocument/2006/relationships/hyperlink" Target="https://zeusk302-png.github.io/kdigital-physical-ai/#/sessions/2026-10-08/activity-A15" TargetMode="External" /></Relationships>
</file>

<file path=ppt/slides/_rels/slide135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6ddfb90ee63d4bfd" /><Relationship Type="http://schemas.openxmlformats.org/officeDocument/2006/relationships/image" Target="../media/csv-json-image2.png" Id="R0c33f30dc73949ec" /></Relationships>
</file>

<file path=ppt/slides/_rels/slide136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5dfc624bba8a41ad" /><Relationship Type="http://schemas.openxmlformats.org/officeDocument/2006/relationships/image" Target="../media/csv-json-image2.png" Id="R14cc7b263f464c77" /></Relationships>
</file>

<file path=ppt/slides/_rels/slide137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e2df9ad614d347a3" /><Relationship Type="http://schemas.openxmlformats.org/officeDocument/2006/relationships/image" Target="../media/csv-json-image2.png" Id="R2294f8b887a047da" /></Relationships>
</file>

<file path=ppt/slides/_rels/slide138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60367c51b74f4b94" /><Relationship Type="http://schemas.openxmlformats.org/officeDocument/2006/relationships/image" Target="../media/csv-json-image2.png" Id="R18f2717a4b504cc6" /></Relationships>
</file>

<file path=ppt/slides/_rels/slide139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0593a29abd314efc" /><Relationship Type="http://schemas.openxmlformats.org/officeDocument/2006/relationships/image" Target="../media/csv-json-image.png" Id="Rbd2b0953a0e640d2" /><Relationship Id="rIdLink1" Type="http://schemas.openxmlformats.org/officeDocument/2006/relationships/hyperlink" Target="https://zeusk302-png.github.io/kdigital-physical-ai/#/sessions/2026-10-08/activity-A16" TargetMode="External" /></Relationships>
</file>

<file path=ppt/slides/_rels/slide140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3a9a64311b9e416e" /><Relationship Type="http://schemas.openxmlformats.org/officeDocument/2006/relationships/image" Target="../media/csv-json-image2.png" Id="R42726766ede54725" /></Relationships>
</file>

<file path=ppt/slides/_rels/slide141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6387b25d6c374fb1" /><Relationship Type="http://schemas.openxmlformats.org/officeDocument/2006/relationships/image" Target="../media/csv-json-image2.png" Id="R93b4808df5b5405f" /></Relationships>
</file>

<file path=ppt/slides/_rels/slide142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6f7b1402d3834d65" /><Relationship Type="http://schemas.openxmlformats.org/officeDocument/2006/relationships/image" Target="../media/csv-json-image2.png" Id="R9d65e759fd904147" /></Relationships>
</file>

<file path=ppt/slides/_rels/slide143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bc3aa2d7e7db493f" /><Relationship Type="http://schemas.openxmlformats.org/officeDocument/2006/relationships/image" Target="../media/csv-json-image2.png" Id="Re00cf3b97bd741b7" /></Relationships>
</file>

<file path=ppt/slides/_rels/slide144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165c6b8afba442ff" /><Relationship Type="http://schemas.openxmlformats.org/officeDocument/2006/relationships/image" Target="../media/csv-json-image.png" Id="Ref37ba1a9d1f4717" /><Relationship Id="rIdLink1" Type="http://schemas.openxmlformats.org/officeDocument/2006/relationships/hyperlink" Target="https://zeusk302-png.github.io/kdigital-physical-ai/#/sessions/2026-10-08/activity-A17" TargetMode="External" /></Relationships>
</file>

<file path=ppt/slides/_rels/slide145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59c0cdf2f7954644" /><Relationship Type="http://schemas.openxmlformats.org/officeDocument/2006/relationships/image" Target="../media/csv-json-image2.png" Id="R66fb9ce646344476" /></Relationships>
</file>

<file path=ppt/slides/_rels/slide146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3bd15914014b4506" /><Relationship Type="http://schemas.openxmlformats.org/officeDocument/2006/relationships/image" Target="../media/csv-json-image2.png" Id="R3cb6167f0abf41e0" /></Relationships>
</file>

<file path=ppt/slides/_rels/slide147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217ec68dfbe34844" /><Relationship Type="http://schemas.openxmlformats.org/officeDocument/2006/relationships/image" Target="../media/csv-json-image2.png" Id="R8c2c2161d3924761" /></Relationships>
</file>

<file path=ppt/slides/_rels/slide148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0867b13290934071" /><Relationship Type="http://schemas.openxmlformats.org/officeDocument/2006/relationships/image" Target="../media/csv-json-image2.png" Id="R8bfe92323c1d4c0a" /></Relationships>
</file>

<file path=ppt/slides/_rels/slide149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527f27b4b2314c6e" /><Relationship Type="http://schemas.openxmlformats.org/officeDocument/2006/relationships/image" Target="../media/csv-json-image.png" Id="R4cbb53081b874f9d" /><Relationship Id="rIdLink1" Type="http://schemas.openxmlformats.org/officeDocument/2006/relationships/hyperlink" Target="https://zeusk302-png.github.io/kdigital-physical-ai/#/sessions/2026-10-08/activity-A18" TargetMode="External" /></Relationships>
</file>

<file path=ppt/slides/_rels/slide150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39b2e9936a4f4a5f" /><Relationship Type="http://schemas.openxmlformats.org/officeDocument/2006/relationships/image" Target="../media/csv-json-image2.png" Id="Re64cbff5a9594081" /></Relationships>
</file>

<file path=ppt/slides/_rels/slide151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b1582a83ca64492a" /><Relationship Type="http://schemas.openxmlformats.org/officeDocument/2006/relationships/image" Target="../media/csv-json-image2.png" Id="Ra9800b7233c64fa2" /></Relationships>
</file>

<file path=ppt/slides/_rels/slide152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a8f4d353d10c43b5" /><Relationship Type="http://schemas.openxmlformats.org/officeDocument/2006/relationships/image" Target="../media/csv-json-image2.png" Id="R7211605a92b343bd" /></Relationships>
</file>

<file path=ppt/slides/_rels/slide153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63d84455634049a3" /><Relationship Type="http://schemas.openxmlformats.org/officeDocument/2006/relationships/image" Target="../media/csv-json-image2.png" Id="Rfb33b8188def47e0" /></Relationships>
</file>

<file path=ppt/slides/_rels/slide154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36ceb2adce064ae4" /><Relationship Type="http://schemas.openxmlformats.org/officeDocument/2006/relationships/image" Target="../media/csv-json-image2.png" Id="Rc595b1b480a14855" /></Relationships>
</file>

<file path=ppt/slides/_rels/slide155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45bdafff31054191" /><Relationship Type="http://schemas.openxmlformats.org/officeDocument/2006/relationships/image" Target="../media/csv-json-image.png" Id="R4547613905dd47b8" /><Relationship Id="rIdLink1" Type="http://schemas.openxmlformats.org/officeDocument/2006/relationships/hyperlink" Target="https://zeusk302-png.github.io/kdigital-physical-ai/#/sessions/2026-10-08/activity-A19" TargetMode="External" /></Relationships>
</file>

<file path=ppt/slides/_rels/slide156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5826422396ec4817" /><Relationship Type="http://schemas.openxmlformats.org/officeDocument/2006/relationships/image" Target="../media/csv-json-image2.png" Id="Redcda4487afe4385" /></Relationships>
</file>

<file path=ppt/slides/_rels/slide157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7a8f55c14e0b4320" /><Relationship Type="http://schemas.openxmlformats.org/officeDocument/2006/relationships/image" Target="../media/csv-json-image2.png" Id="Rd3bc66ce802e4bab" /></Relationships>
</file>

<file path=ppt/slides/_rels/slide158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d8776706a78f49d5" /><Relationship Type="http://schemas.openxmlformats.org/officeDocument/2006/relationships/image" Target="../media/csv-json-image2.png" Id="Rcf0c5fb81d394e6e" /></Relationships>
</file>

<file path=ppt/slides/_rels/slide159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3024a5584cdf4b1b" /><Relationship Type="http://schemas.openxmlformats.org/officeDocument/2006/relationships/image" Target="../media/csv-json-image2.png" Id="Rf936013b095a47cb" /></Relationships>
</file>

<file path=ppt/slides/_rels/slide160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d91d7d6c027e4ea4" /><Relationship Type="http://schemas.openxmlformats.org/officeDocument/2006/relationships/image" Target="../media/csv-json-image.png" Id="R3f4503db0b344b1b" /><Relationship Id="rIdLink1" Type="http://schemas.openxmlformats.org/officeDocument/2006/relationships/hyperlink" Target="https://zeusk302-png.github.io/kdigital-physical-ai/#/sessions/2026-10-08/activity-A20" TargetMode="External" /></Relationships>
</file>

<file path=ppt/slides/_rels/slide161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dec5cbfe333d4066" /><Relationship Type="http://schemas.openxmlformats.org/officeDocument/2006/relationships/image" Target="../media/csv-json-image2.png" Id="R7eb361475add4609" /></Relationships>
</file>

<file path=ppt/slides/_rels/slide162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3b71be558c434449" /><Relationship Type="http://schemas.openxmlformats.org/officeDocument/2006/relationships/image" Target="../media/csv-json-image2.png" Id="R7f86b5ede85d485c" /></Relationships>
</file>

<file path=ppt/slides/_rels/slide163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a955f014a503409a" /><Relationship Type="http://schemas.openxmlformats.org/officeDocument/2006/relationships/image" Target="../media/csv-json-image2.png" Id="Rf3f80bec544f4560" /></Relationships>
</file>

<file path=ppt/slides/_rels/slide164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958cebb95b4243de" /><Relationship Type="http://schemas.openxmlformats.org/officeDocument/2006/relationships/image" Target="../media/csv-json-image2.png" Id="R4c92495d19d14cd9" /></Relationships>
</file>

<file path=ppt/slides/_rels/slide165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f9f784803a9e4564" /><Relationship Type="http://schemas.openxmlformats.org/officeDocument/2006/relationships/image" Target="../media/csv-json-image2.png" Id="Racb458142f1b4df8" /></Relationships>
</file>

<file path=ppt/slides/_rels/slide166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63671526b5a142d5" /><Relationship Type="http://schemas.openxmlformats.org/officeDocument/2006/relationships/image" Target="../media/csv-json-image.png" Id="R0c0c8de154684213" /><Relationship Id="rIdLink1" Type="http://schemas.openxmlformats.org/officeDocument/2006/relationships/hyperlink" Target="https://zeusk302-png.github.io/kdigital-physical-ai/#/sessions/2026-10-08/activity-A22" TargetMode="External" /></Relationships>
</file>

<file path=ppt/slides/_rels/slide167.xml.rels><?xml version='1.0' encoding='utf-8'?>
<Relationships xmlns="http://schemas.openxmlformats.org/package/2006/relationships"><Relationship Type="http://schemas.openxmlformats.org/officeDocument/2006/relationships/slideLayout" Target="../slideLayouts/csv-json-slideLayout1.xml" Id="Rd37d1a43703f4d83" /><Relationship Type="http://schemas.openxmlformats.org/officeDocument/2006/relationships/image" Target="../media/csv-json-image2.png" Id="Ra90ddd8e0a5e4de7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3E41350-6C40-4473-8825-03A08C95C7C2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1448BBA-90AD-4A2B-A145-778CAB93CA4D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데이터 기초</a:t>
            </a:r>
          </a:p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표에서 CSV와 JSON까지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879C03-A307-44FB-8FD6-6441B6244B48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2026.10.08 (목) · 과정 3일차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8C28D1F-9F66-4306-9380-DFAD8AAAAB2B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처음 배우는 사람을 위한 실무 수업 · 강사 김세영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20E1F89-F80A-4F84-A81A-208113A87D6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6200C29-676B-406C-8302-7BA94917026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001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444195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3E41350-6C40-4473-8825-03A08C95C7C2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8096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강사 소개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1448BBA-90AD-4A2B-A145-778CAB93CA4D}"/>
              </a:ext>
            </a:extLst>
          </p:cNvPr>
          <p:cNvSpPr>
            <a:spLocks noGrp="1"/>
          </p:cNvSpPr>
          <p:nvPr/>
        </p:nvSpPr>
        <p:spPr>
          <a:xfrm>
            <a:off x="685800" y="914400"/>
            <a:ext cx="76200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3600" b="1">
                <a:solidFill>
                  <a:srgbClr val="FFFFFF"/>
                </a:solidFill>
              </a:rPr>
              <a:t>김세영 </a:t>
            </a:r>
            <a:r>
              <a:rPr lang="en-US" sz="3600" b="1">
                <a:solidFill>
                  <a:srgbClr val="FFFFFF"/>
                </a:solidFill>
              </a:rPr>
              <a:t>Hugo Se-Young Kim</a:t>
            </a:r>
            <a:endParaRPr sz="3600" b="1">
              <a:solidFill>
                <a:srgbClr val="FFFFFF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879C03-A307-44FB-8FD6-6441B6244B48}"/>
              </a:ext>
            </a:extLst>
          </p:cNvPr>
          <p:cNvSpPr>
            <a:spLocks noGrp="1"/>
          </p:cNvSpPr>
          <p:nvPr/>
        </p:nvSpPr>
        <p:spPr>
          <a:xfrm>
            <a:off x="685800" y="1727200"/>
            <a:ext cx="787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600" b="1">
                <a:solidFill>
                  <a:srgbClr val="4FD1BC"/>
                </a:solidFill>
              </a:rPr>
              <a:t>㈜파운드리머 기업부설연구소 연구소장 </a:t>
            </a:r>
            <a:r>
              <a:rPr lang="en-US" altLang="ko-KR" sz="1600" b="1">
                <a:solidFill>
                  <a:srgbClr val="4FD1BC"/>
                </a:solidFill>
              </a:rPr>
              <a:t>· Embedded Systems &amp; Edge AI Engineer</a:t>
            </a:r>
            <a:endParaRPr sz="1600" b="1">
              <a:solidFill>
                <a:srgbClr val="4FD1BC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20E1F89-F80A-4F84-A81A-208113A87D6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6200C29-676B-406C-8302-7BA94917026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002</a:t>
            </a:r>
            <a:endParaRPr/>
          </a:p>
        </p:txBody>
      </p:sp>
      <p:sp>
        <p:nvSpPr>
          <p:cNvPr id="9" name="RowCard">
            <a:extLst>
              <a:ext uri="{FF2B5EF4-FFF2-40B4-BE49-F238E27FC236}">
                <a16:creationId xmlns:a16="http://schemas.microsoft.com/office/drawing/2014/main" id="{12CBC1C9-A32E-4E4B-AF19-E281F91DD9FB}"/>
              </a:ext>
            </a:extLst>
          </p:cNvPr>
          <p:cNvSpPr/>
          <p:nvPr/>
        </p:nvSpPr>
        <p:spPr>
          <a:xfrm>
            <a:off x="685800" y="2260600"/>
            <a:ext cx="7620000" cy="787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61C20B-BF79-4405-9399-7337E22ECFBE}"/>
              </a:ext>
            </a:extLst>
          </p:cNvPr>
          <p:cNvSpPr txBox="1"/>
          <p:nvPr/>
        </p:nvSpPr>
        <p:spPr>
          <a:xfrm>
            <a:off x="838200" y="2260600"/>
            <a:ext cx="13970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4FD1BC"/>
                </a:solidFill>
                <a:latin typeface="Noto Sans KR"/>
                <a:ea typeface="Noto Sans KR"/>
              </a:rPr>
              <a:t>현장 경력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02E0F7-15C7-4734-B37E-459B20903D43}"/>
              </a:ext>
            </a:extLst>
          </p:cNvPr>
          <p:cNvSpPr txBox="1"/>
          <p:nvPr/>
        </p:nvSpPr>
        <p:spPr>
          <a:xfrm>
            <a:off x="2235200" y="2260600"/>
            <a:ext cx="60325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ko-KR" sz="1600">
                <a:solidFill>
                  <a:srgbClr val="FFFFFF"/>
                </a:solidFill>
                <a:latin typeface="Noto Sans KR"/>
                <a:ea typeface="Noto Sans KR"/>
              </a:rPr>
              <a:t>EV </a:t>
            </a:r>
            <a:r>
              <a:rPr lang="ko-KR" altLang="en-US" sz="1600">
                <a:solidFill>
                  <a:srgbClr val="FFFFFF"/>
                </a:solidFill>
                <a:latin typeface="Noto Sans KR"/>
                <a:ea typeface="Noto Sans KR"/>
              </a:rPr>
              <a:t>충전기 펌웨어</a:t>
            </a:r>
            <a:r>
              <a:rPr lang="en-US" altLang="ko-KR" sz="1600">
                <a:solidFill>
                  <a:srgbClr val="FFFFFF"/>
                </a:solidFill>
                <a:latin typeface="Noto Sans KR"/>
                <a:ea typeface="Noto Sans KR"/>
              </a:rPr>
              <a:t>, ISO 15118·OCPP </a:t>
            </a:r>
            <a:r>
              <a:rPr lang="ko-KR" altLang="en-US" sz="1600">
                <a:solidFill>
                  <a:srgbClr val="FFFFFF"/>
                </a:solidFill>
                <a:latin typeface="Noto Sans KR"/>
                <a:ea typeface="Noto Sans KR"/>
              </a:rPr>
              <a:t>통신 개발
국내외 완성차 상호운용 시험</a:t>
            </a:r>
          </a:p>
        </p:txBody>
      </p:sp>
      <p:sp>
        <p:nvSpPr>
          <p:cNvPr id="12" name="RowCard">
            <a:extLst>
              <a:ext uri="{FF2B5EF4-FFF2-40B4-BE49-F238E27FC236}">
                <a16:creationId xmlns:a16="http://schemas.microsoft.com/office/drawing/2014/main" id="{04D23194-491C-4921-99ED-0BF1D9FF004C}"/>
              </a:ext>
            </a:extLst>
          </p:cNvPr>
          <p:cNvSpPr/>
          <p:nvPr/>
        </p:nvSpPr>
        <p:spPr>
          <a:xfrm>
            <a:off x="685800" y="3149600"/>
            <a:ext cx="7620000" cy="787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0473E5-A57E-4A56-905C-388440725B26}"/>
              </a:ext>
            </a:extLst>
          </p:cNvPr>
          <p:cNvSpPr txBox="1"/>
          <p:nvPr/>
        </p:nvSpPr>
        <p:spPr>
          <a:xfrm>
            <a:off x="838200" y="3149600"/>
            <a:ext cx="13970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4FD1BC"/>
                </a:solidFill>
                <a:latin typeface="Noto Sans KR"/>
                <a:ea typeface="Noto Sans KR"/>
              </a:rPr>
              <a:t>산업 </a:t>
            </a:r>
            <a:r>
              <a:rPr lang="en-US" altLang="ko-KR" sz="1600" b="1">
                <a:solidFill>
                  <a:srgbClr val="4FD1BC"/>
                </a:solidFill>
                <a:latin typeface="Noto Sans KR"/>
                <a:ea typeface="Noto Sans KR"/>
              </a:rPr>
              <a:t>AI</a:t>
            </a:r>
            <a:endParaRPr lang="ko-KR" altLang="en-US" sz="1600" b="1">
              <a:solidFill>
                <a:srgbClr val="4FD1BC"/>
              </a:solidFill>
              <a:latin typeface="Noto Sans KR"/>
              <a:ea typeface="Noto Sans KR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E912C2-28F0-4F23-81BC-1A30E1F8C734}"/>
              </a:ext>
            </a:extLst>
          </p:cNvPr>
          <p:cNvSpPr txBox="1"/>
          <p:nvPr/>
        </p:nvSpPr>
        <p:spPr>
          <a:xfrm>
            <a:off x="2235200" y="3149600"/>
            <a:ext cx="60325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ko-KR" sz="1600">
                <a:solidFill>
                  <a:srgbClr val="FFFFFF"/>
                </a:solidFill>
                <a:latin typeface="Noto Sans KR"/>
                <a:ea typeface="Noto Sans KR"/>
              </a:rPr>
              <a:t>YOLO </a:t>
            </a:r>
            <a:r>
              <a:rPr lang="ko-KR" altLang="en-US" sz="1600">
                <a:solidFill>
                  <a:srgbClr val="FFFFFF"/>
                </a:solidFill>
                <a:latin typeface="Noto Sans KR"/>
                <a:ea typeface="Noto Sans KR"/>
              </a:rPr>
              <a:t>기반 사출 결함탐지 비전 시스템 설비 통합
최장 </a:t>
            </a:r>
            <a:r>
              <a:rPr lang="en-US" altLang="ko-KR" sz="1600">
                <a:solidFill>
                  <a:srgbClr val="FFFFFF"/>
                </a:solidFill>
                <a:latin typeface="Noto Sans KR"/>
                <a:ea typeface="Noto Sans KR"/>
              </a:rPr>
              <a:t>6</a:t>
            </a:r>
            <a:r>
              <a:rPr lang="ko-KR" altLang="en-US" sz="1600">
                <a:solidFill>
                  <a:srgbClr val="FFFFFF"/>
                </a:solidFill>
                <a:latin typeface="Noto Sans KR"/>
                <a:ea typeface="Noto Sans KR"/>
              </a:rPr>
              <a:t>개월 현장 운영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1F22B989-9BE8-4B47-AC58-2D0829EA2369}"/>
              </a:ext>
            </a:extLst>
          </p:cNvPr>
          <p:cNvSpPr/>
          <p:nvPr/>
        </p:nvSpPr>
        <p:spPr>
          <a:xfrm>
            <a:off x="685800" y="4038600"/>
            <a:ext cx="7620000" cy="787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997346-68DC-459D-A2F1-B56DCC168BE9}"/>
              </a:ext>
            </a:extLst>
          </p:cNvPr>
          <p:cNvSpPr txBox="1"/>
          <p:nvPr/>
        </p:nvSpPr>
        <p:spPr>
          <a:xfrm>
            <a:off x="838200" y="4038600"/>
            <a:ext cx="13970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4FD1BC"/>
                </a:solidFill>
                <a:latin typeface="Noto Sans KR"/>
                <a:ea typeface="Noto Sans KR"/>
              </a:rPr>
              <a:t>교육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87126A-6F4B-4199-BA2C-E9B7855EEB3D}"/>
              </a:ext>
            </a:extLst>
          </p:cNvPr>
          <p:cNvSpPr txBox="1"/>
          <p:nvPr/>
        </p:nvSpPr>
        <p:spPr>
          <a:xfrm>
            <a:off x="2235200" y="4038600"/>
            <a:ext cx="60325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>
                <a:solidFill>
                  <a:srgbClr val="FFFFFF"/>
                </a:solidFill>
                <a:latin typeface="Noto Sans KR"/>
                <a:ea typeface="Noto Sans KR"/>
              </a:rPr>
              <a:t>경남테크노파크 </a:t>
            </a:r>
            <a:r>
              <a:rPr lang="en-US" altLang="ko-KR" sz="1600">
                <a:solidFill>
                  <a:srgbClr val="FFFFFF"/>
                </a:solidFill>
                <a:latin typeface="Noto Sans KR"/>
                <a:ea typeface="Noto Sans KR"/>
              </a:rPr>
              <a:t>AI Agent, KDT Physical AI
</a:t>
            </a:r>
            <a:r>
              <a:rPr lang="ko-KR" altLang="en-US" sz="1600">
                <a:solidFill>
                  <a:srgbClr val="FFFFFF"/>
                </a:solidFill>
                <a:latin typeface="Noto Sans KR"/>
                <a:ea typeface="Noto Sans KR"/>
              </a:rPr>
              <a:t>교육청 교직원 연수 강사</a:t>
            </a:r>
          </a:p>
        </p:txBody>
      </p:sp>
      <p:sp>
        <p:nvSpPr>
          <p:cNvPr id="18" name="RowCard">
            <a:extLst>
              <a:ext uri="{FF2B5EF4-FFF2-40B4-BE49-F238E27FC236}">
                <a16:creationId xmlns:a16="http://schemas.microsoft.com/office/drawing/2014/main" id="{B30AE3FA-998F-4FAC-A7A3-3700B4158D00}"/>
              </a:ext>
            </a:extLst>
          </p:cNvPr>
          <p:cNvSpPr/>
          <p:nvPr/>
        </p:nvSpPr>
        <p:spPr>
          <a:xfrm>
            <a:off x="685800" y="4927600"/>
            <a:ext cx="7620000" cy="787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6E1B72-7CFD-4D90-A36B-3EE3B94568C8}"/>
              </a:ext>
            </a:extLst>
          </p:cNvPr>
          <p:cNvSpPr txBox="1"/>
          <p:nvPr/>
        </p:nvSpPr>
        <p:spPr>
          <a:xfrm>
            <a:off x="838200" y="4927600"/>
            <a:ext cx="13970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4FD1BC"/>
                </a:solidFill>
                <a:latin typeface="Noto Sans KR"/>
                <a:ea typeface="Noto Sans KR"/>
              </a:rPr>
              <a:t>학력</a:t>
            </a:r>
            <a:r>
              <a:rPr lang="en-US" altLang="ko-KR" sz="1600" b="1">
                <a:solidFill>
                  <a:srgbClr val="4FD1BC"/>
                </a:solidFill>
                <a:latin typeface="Noto Sans KR"/>
                <a:ea typeface="Noto Sans KR"/>
              </a:rPr>
              <a:t>·</a:t>
            </a:r>
            <a:r>
              <a:rPr lang="ko-KR" altLang="en-US" sz="1600" b="1">
                <a:solidFill>
                  <a:srgbClr val="4FD1BC"/>
                </a:solidFill>
                <a:latin typeface="Noto Sans KR"/>
                <a:ea typeface="Noto Sans KR"/>
              </a:rPr>
              <a:t>자격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2F120B-CBD1-4A29-8B26-1C9C8BAD03AC}"/>
              </a:ext>
            </a:extLst>
          </p:cNvPr>
          <p:cNvSpPr txBox="1"/>
          <p:nvPr/>
        </p:nvSpPr>
        <p:spPr>
          <a:xfrm>
            <a:off x="2235200" y="4927600"/>
            <a:ext cx="60325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 dirty="0">
                <a:solidFill>
                  <a:srgbClr val="FFFFFF"/>
                </a:solidFill>
                <a:latin typeface="Noto Sans KR"/>
                <a:ea typeface="Noto Sans KR"/>
              </a:rPr>
              <a:t>부산대 정보컴퓨터공학</a:t>
            </a:r>
            <a:r>
              <a:rPr lang="en-US" altLang="ko-KR" sz="1600" dirty="0">
                <a:solidFill>
                  <a:srgbClr val="FFFFFF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 dirty="0">
                <a:solidFill>
                  <a:srgbClr val="FFFFFF"/>
                </a:solidFill>
                <a:latin typeface="Noto Sans KR"/>
                <a:ea typeface="Noto Sans KR"/>
              </a:rPr>
              <a:t>대학원 정보융합학과</a:t>
            </a:r>
            <a:r>
              <a:rPr lang="en-US" altLang="ko-KR" sz="1600" dirty="0">
                <a:solidFill>
                  <a:srgbClr val="FFFFFF"/>
                </a:solidFill>
                <a:latin typeface="Noto Sans KR"/>
                <a:ea typeface="Noto Sans KR"/>
              </a:rPr>
              <a:t>(AI)</a:t>
            </a:r>
            <a:endParaRPr lang="ko-KR" altLang="en-US" sz="1600" dirty="0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3243F5-D289-4734-9F6E-68329EF76D85}"/>
              </a:ext>
            </a:extLst>
          </p:cNvPr>
          <p:cNvSpPr txBox="1"/>
          <p:nvPr/>
        </p:nvSpPr>
        <p:spPr>
          <a:xfrm>
            <a:off x="685800" y="5867400"/>
            <a:ext cx="7620000" cy="254000"/>
          </a:xfrm>
          <a:prstGeom prst="rect">
            <a:avLst/>
          </a:prstGeom>
          <a:noFill/>
          <a:ln w="19050">
            <a:noFill/>
          </a:ln>
        </p:spPr>
        <p:txBody>
          <a:bodyPr vertOverflow="overflow" vert="horz" wrap="square" lIns="0" tIns="0" rtlCol="0" anchor="t">
            <a:spAutoFit/>
          </a:bodyPr>
          <a:lstStyle/>
          <a:p>
            <a:pPr algn="l"/>
            <a:r>
              <a:rPr lang="en-US" altLang="ko-KR" sz="1200">
                <a:solidFill>
                  <a:srgbClr val="A9C6CC"/>
                </a:solidFill>
                <a:latin typeface="Noto Sans KR"/>
                <a:ea typeface="Noto Sans KR"/>
              </a:rPr>
              <a:t>hugo@foundreamer.com · hugoworld.kr</a:t>
            </a:r>
            <a:endParaRPr lang="ko-KR" altLang="en-US" sz="1200">
              <a:solidFill>
                <a:srgbClr val="A9C6CC"/>
              </a:solidFill>
              <a:latin typeface="Noto Sans KR"/>
              <a:ea typeface="Noto Sans KR"/>
            </a:endParaRPr>
          </a:p>
        </p:txBody>
      </p:sp>
      <p:pic>
        <p:nvPicPr>
          <p:cNvPr id="22" name="ProfilePhoto">
            <a:extLst>
              <a:ext uri="{FF2B5EF4-FFF2-40B4-BE49-F238E27FC236}">
                <a16:creationId xmlns:a16="http://schemas.microsoft.com/office/drawing/2014/main" id="{CD60BF8A-AE8D-142E-C7F3-A00A02FE6D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5200" y="876300"/>
            <a:ext cx="3225800" cy="4838700"/>
          </a:xfrm>
          <a:prstGeom prst="rect">
            <a:avLst/>
          </a:prstGeom>
          <a:ln>
            <a:noFill/>
          </a:ln>
          <a:effectLst>
            <a:softEdge rad="635000"/>
          </a:effectLst>
        </p:spPr>
      </p:pic>
    </p:spTree>
    <p:extLst>
      <p:ext uri="{BB962C8B-B14F-4D97-AF65-F5344CB8AC3E}">
        <p14:creationId xmlns:p14="http://schemas.microsoft.com/office/powerpoint/2010/main" val="3619330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F649D6E-71F0-45D7-971F-67E72A1575F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5786829-B4F9-4A61-B21B-EE8FD6841C6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우리가 배우는 전체 과정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05F572B-0259-48A8-9EA4-10E9D3B9B64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38C2BE4-7627-4206-8611-F6194FEF1C1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전체 과정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10/6(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화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)~11/3(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화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),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공휴일을 뺀 평일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20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일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338C5AE-12BD-45FB-8E5D-B65866F166EB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오늘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10/8(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목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)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은 과정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3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데이터 기초 수업입니다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DD6990B-2F82-4A00-8F09-CD299D8D501E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담당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10</a:t>
            </a: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일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데이터 → 프로그램 → 화면과 장비 → 프로젝트 순서로 연결됩니다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DDDE57E-BD30-4C47-BE28-98628C85659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CB37B1A-4564-4565-B47E-E68265A5852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003</a:t>
            </a:r>
            <a:endParaRPr/>
          </a:p>
        </p:txBody>
      </p:sp>
      <p:sp>
        <p:nvSpPr>
          <p:cNvPr id="11" name="AccentBar">
            <a:extLst>
              <a:ext uri="{FF2B5EF4-FFF2-40B4-BE49-F238E27FC236}">
                <a16:creationId xmlns:a16="http://schemas.microsoft.com/office/drawing/2014/main" id="{81363890-7970-4C6A-A7C8-D30DF56C811A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9B7379A0-FC47-40A5-AC3F-042A99B3C9AF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596B82F1-743B-4645-91E3-F8AA20CF0068}"/>
              </a:ext>
            </a:extLst>
          </p:cNvPr>
          <p:cNvSpPr/>
          <p:nvPr/>
        </p:nvSpPr>
        <p:spPr>
          <a:xfrm>
            <a:off x="685800" y="42672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67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D534DA7-1F9C-4AFB-BEAE-AE2EB35BF8B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과정 일정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6E0A347-ECDE-49DF-8440-FD7672CB5EA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10/6(</a:t>
            </a:r>
            <a:r>
              <a:rPr lang="ko-KR" altLang="en-US"/>
              <a:t>화</a:t>
            </a:r>
            <a:r>
              <a:rPr lang="en-US" altLang="ko-KR"/>
              <a:t>) </a:t>
            </a:r>
            <a:r>
              <a:rPr lang="ko-KR" altLang="en-US"/>
              <a:t>첫 수업</a:t>
            </a:r>
            <a:r>
              <a:rPr lang="en-US" altLang="ko-KR"/>
              <a:t>, </a:t>
            </a:r>
            <a:r>
              <a:rPr lang="ko-KR" altLang="en-US"/>
              <a:t>공휴일을 뺀 평일 </a:t>
            </a:r>
            <a:r>
              <a:rPr lang="en-US" altLang="ko-KR"/>
              <a:t>20</a:t>
            </a:r>
            <a:r>
              <a:rPr lang="ko-KR" altLang="en-US"/>
              <a:t>일 과정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3F0EE61-CAFE-4BDC-8E4E-E35C8AE4A1D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C433FA3-FAE3-4DF1-BA53-8B324198D7E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C9B9FC0-9414-4EF4-900E-52B0981FB71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004</a:t>
            </a:r>
            <a:endParaRPr/>
          </a:p>
        </p:txBody>
      </p:sp>
      <p:sp>
        <p:nvSpPr>
          <p:cNvPr id="11" name="CalHead">
            <a:extLst>
              <a:ext uri="{FF2B5EF4-FFF2-40B4-BE49-F238E27FC236}">
                <a16:creationId xmlns:a16="http://schemas.microsoft.com/office/drawing/2014/main" id="{278532DE-D7F5-4FBD-A885-F514D81F9660}"/>
              </a:ext>
            </a:extLst>
          </p:cNvPr>
          <p:cNvSpPr txBox="1"/>
          <p:nvPr/>
        </p:nvSpPr>
        <p:spPr>
          <a:xfrm>
            <a:off x="685800" y="1905000"/>
            <a:ext cx="2082800" cy="304800"/>
          </a:xfrm>
          <a:prstGeom prst="rect">
            <a:avLst/>
          </a:prstGeom>
          <a:noFill/>
        </p:spPr>
        <p:txBody>
          <a:bodyPr vertOverflow="overflow" vert="horz" wrap="square" lIns="127000" rtlCol="0" anchor="ctr" anchorCtr="0">
            <a:spAutoFit/>
          </a:bodyPr>
          <a:lstStyle/>
          <a:p>
            <a:pPr algn="l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월</a:t>
            </a:r>
          </a:p>
        </p:txBody>
      </p:sp>
      <p:sp>
        <p:nvSpPr>
          <p:cNvPr id="12" name="CalHead">
            <a:extLst>
              <a:ext uri="{FF2B5EF4-FFF2-40B4-BE49-F238E27FC236}">
                <a16:creationId xmlns:a16="http://schemas.microsoft.com/office/drawing/2014/main" id="{5E6D4CD9-32C8-4FBB-A8C1-220AE98C53F2}"/>
              </a:ext>
            </a:extLst>
          </p:cNvPr>
          <p:cNvSpPr txBox="1"/>
          <p:nvPr/>
        </p:nvSpPr>
        <p:spPr>
          <a:xfrm>
            <a:off x="2870200" y="1905000"/>
            <a:ext cx="2082800" cy="304800"/>
          </a:xfrm>
          <a:prstGeom prst="rect">
            <a:avLst/>
          </a:prstGeom>
          <a:noFill/>
        </p:spPr>
        <p:txBody>
          <a:bodyPr vertOverflow="overflow" vert="horz" wrap="square" lIns="127000" rtlCol="0" anchor="ctr" anchorCtr="0">
            <a:spAutoFit/>
          </a:bodyPr>
          <a:lstStyle/>
          <a:p>
            <a:pPr algn="l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화</a:t>
            </a:r>
          </a:p>
        </p:txBody>
      </p:sp>
      <p:sp>
        <p:nvSpPr>
          <p:cNvPr id="13" name="CalHead">
            <a:extLst>
              <a:ext uri="{FF2B5EF4-FFF2-40B4-BE49-F238E27FC236}">
                <a16:creationId xmlns:a16="http://schemas.microsoft.com/office/drawing/2014/main" id="{8CDAA091-F860-4190-9073-E57866B0AA26}"/>
              </a:ext>
            </a:extLst>
          </p:cNvPr>
          <p:cNvSpPr txBox="1"/>
          <p:nvPr/>
        </p:nvSpPr>
        <p:spPr>
          <a:xfrm>
            <a:off x="5054600" y="1905000"/>
            <a:ext cx="2082800" cy="304800"/>
          </a:xfrm>
          <a:prstGeom prst="rect">
            <a:avLst/>
          </a:prstGeom>
          <a:noFill/>
        </p:spPr>
        <p:txBody>
          <a:bodyPr vertOverflow="overflow" vert="horz" wrap="square" lIns="127000" rtlCol="0" anchor="ctr" anchorCtr="0">
            <a:spAutoFit/>
          </a:bodyPr>
          <a:lstStyle/>
          <a:p>
            <a:pPr algn="l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수</a:t>
            </a:r>
          </a:p>
        </p:txBody>
      </p:sp>
      <p:sp>
        <p:nvSpPr>
          <p:cNvPr id="14" name="CalHead">
            <a:extLst>
              <a:ext uri="{FF2B5EF4-FFF2-40B4-BE49-F238E27FC236}">
                <a16:creationId xmlns:a16="http://schemas.microsoft.com/office/drawing/2014/main" id="{EF398EBD-B7F7-4FDA-A805-450410067CBA}"/>
              </a:ext>
            </a:extLst>
          </p:cNvPr>
          <p:cNvSpPr txBox="1"/>
          <p:nvPr/>
        </p:nvSpPr>
        <p:spPr>
          <a:xfrm>
            <a:off x="7239000" y="1905000"/>
            <a:ext cx="2082800" cy="304800"/>
          </a:xfrm>
          <a:prstGeom prst="rect">
            <a:avLst/>
          </a:prstGeom>
          <a:noFill/>
        </p:spPr>
        <p:txBody>
          <a:bodyPr vertOverflow="overflow" vert="horz" wrap="square" lIns="127000" rtlCol="0" anchor="ctr" anchorCtr="0">
            <a:spAutoFit/>
          </a:bodyPr>
          <a:lstStyle/>
          <a:p>
            <a:pPr algn="l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목</a:t>
            </a:r>
          </a:p>
        </p:txBody>
      </p:sp>
      <p:sp>
        <p:nvSpPr>
          <p:cNvPr id="15" name="CalHead">
            <a:extLst>
              <a:ext uri="{FF2B5EF4-FFF2-40B4-BE49-F238E27FC236}">
                <a16:creationId xmlns:a16="http://schemas.microsoft.com/office/drawing/2014/main" id="{81C932E9-D356-4733-9557-84552BE92408}"/>
              </a:ext>
            </a:extLst>
          </p:cNvPr>
          <p:cNvSpPr txBox="1"/>
          <p:nvPr/>
        </p:nvSpPr>
        <p:spPr>
          <a:xfrm>
            <a:off x="9423400" y="1905000"/>
            <a:ext cx="2082800" cy="304800"/>
          </a:xfrm>
          <a:prstGeom prst="rect">
            <a:avLst/>
          </a:prstGeom>
          <a:noFill/>
        </p:spPr>
        <p:txBody>
          <a:bodyPr vertOverflow="overflow" vert="horz" wrap="square" lIns="127000" rtlCol="0" anchor="ctr" anchorCtr="0">
            <a:spAutoFit/>
          </a:bodyPr>
          <a:lstStyle/>
          <a:p>
            <a:pPr algn="l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금</a:t>
            </a:r>
          </a:p>
        </p:txBody>
      </p:sp>
      <p:sp>
        <p:nvSpPr>
          <p:cNvPr id="16" name="CalCell">
            <a:extLst>
              <a:ext uri="{FF2B5EF4-FFF2-40B4-BE49-F238E27FC236}">
                <a16:creationId xmlns:a16="http://schemas.microsoft.com/office/drawing/2014/main" id="{AFB9E750-5FA9-4CBA-99DB-CE891A0C6983}"/>
              </a:ext>
            </a:extLst>
          </p:cNvPr>
          <p:cNvSpPr/>
          <p:nvPr/>
        </p:nvSpPr>
        <p:spPr>
          <a:xfrm>
            <a:off x="685800" y="2260600"/>
            <a:ext cx="2082800" cy="635000"/>
          </a:xfrm>
          <a:prstGeom prst="roundRect">
            <a:avLst/>
          </a:prstGeom>
          <a:solidFill>
            <a:srgbClr val="D9DDD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3F4A52"/>
                </a:solidFill>
                <a:latin typeface="Noto Sans KR"/>
                <a:ea typeface="Noto Sans KR"/>
              </a:rPr>
              <a:t>10/5 </a:t>
            </a:r>
            <a:r>
              <a:rPr lang="ko-KR" altLang="en-US" sz="1400" b="1">
                <a:solidFill>
                  <a:srgbClr val="3F4A52"/>
                </a:solidFill>
                <a:latin typeface="Noto Sans KR"/>
                <a:ea typeface="Noto Sans KR"/>
              </a:rPr>
              <a:t>월</a:t>
            </a:r>
            <a:r>
              <a:rPr lang="ko-KR" altLang="en-US" sz="1400">
                <a:solidFill>
                  <a:srgbClr val="3F4A52"/>
                </a:solidFill>
                <a:latin typeface="Noto Sans KR"/>
                <a:ea typeface="Noto Sans KR"/>
              </a:rPr>
              <a:t>
개천절 대체공휴일</a:t>
            </a:r>
          </a:p>
        </p:txBody>
      </p:sp>
      <p:sp>
        <p:nvSpPr>
          <p:cNvPr id="17" name="CalCell">
            <a:extLst>
              <a:ext uri="{FF2B5EF4-FFF2-40B4-BE49-F238E27FC236}">
                <a16:creationId xmlns:a16="http://schemas.microsoft.com/office/drawing/2014/main" id="{43251729-D6D8-4D03-902F-BF6F652EF789}"/>
              </a:ext>
            </a:extLst>
          </p:cNvPr>
          <p:cNvSpPr/>
          <p:nvPr/>
        </p:nvSpPr>
        <p:spPr>
          <a:xfrm>
            <a:off x="2870200" y="22606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3175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10/6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화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1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피지컬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AI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개념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사례</a:t>
            </a:r>
          </a:p>
        </p:txBody>
      </p:sp>
      <p:sp>
        <p:nvSpPr>
          <p:cNvPr id="18" name="CalCell">
            <a:extLst>
              <a:ext uri="{FF2B5EF4-FFF2-40B4-BE49-F238E27FC236}">
                <a16:creationId xmlns:a16="http://schemas.microsoft.com/office/drawing/2014/main" id="{FC2D617F-93DF-41EA-B1D0-2CBEEB6D74B6}"/>
              </a:ext>
            </a:extLst>
          </p:cNvPr>
          <p:cNvSpPr/>
          <p:nvPr/>
        </p:nvSpPr>
        <p:spPr>
          <a:xfrm>
            <a:off x="5054600" y="22606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10/7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수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2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직무와 코드에이전트</a:t>
            </a:r>
          </a:p>
        </p:txBody>
      </p:sp>
      <p:sp>
        <p:nvSpPr>
          <p:cNvPr id="19" name="CalCell">
            <a:extLst>
              <a:ext uri="{FF2B5EF4-FFF2-40B4-BE49-F238E27FC236}">
                <a16:creationId xmlns:a16="http://schemas.microsoft.com/office/drawing/2014/main" id="{FB642C28-202F-4CCA-B154-AAFCF407575C}"/>
              </a:ext>
            </a:extLst>
          </p:cNvPr>
          <p:cNvSpPr/>
          <p:nvPr/>
        </p:nvSpPr>
        <p:spPr>
          <a:xfrm>
            <a:off x="7239000" y="2260600"/>
            <a:ext cx="2082800" cy="635000"/>
          </a:xfrm>
          <a:prstGeom prst="roundRect">
            <a:avLst/>
          </a:prstGeom>
          <a:solidFill>
            <a:srgbClr val="08776D"/>
          </a:solidFill>
          <a:ln w="38100">
            <a:solidFill>
              <a:srgbClr val="172E3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10/8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목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3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FFFFFF"/>
                </a:solidFill>
                <a:latin typeface="Noto Sans KR"/>
                <a:ea typeface="Noto Sans KR"/>
              </a:rPr>
              <a:t>CSV·JSON 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데이터</a:t>
            </a:r>
          </a:p>
        </p:txBody>
      </p:sp>
      <p:sp>
        <p:nvSpPr>
          <p:cNvPr id="20" name="CalCell">
            <a:extLst>
              <a:ext uri="{FF2B5EF4-FFF2-40B4-BE49-F238E27FC236}">
                <a16:creationId xmlns:a16="http://schemas.microsoft.com/office/drawing/2014/main" id="{51F263F5-E475-4C34-A5B5-6C57FB99331D}"/>
              </a:ext>
            </a:extLst>
          </p:cNvPr>
          <p:cNvSpPr/>
          <p:nvPr/>
        </p:nvSpPr>
        <p:spPr>
          <a:xfrm>
            <a:off x="9423400" y="2260600"/>
            <a:ext cx="2082800" cy="635000"/>
          </a:xfrm>
          <a:prstGeom prst="roundRect">
            <a:avLst/>
          </a:prstGeom>
          <a:solidFill>
            <a:srgbClr val="D9DDD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3F4A52"/>
                </a:solidFill>
                <a:latin typeface="Noto Sans KR"/>
                <a:ea typeface="Noto Sans KR"/>
              </a:rPr>
              <a:t>10/9 </a:t>
            </a:r>
            <a:r>
              <a:rPr lang="ko-KR" altLang="en-US" sz="1400" b="1">
                <a:solidFill>
                  <a:srgbClr val="3F4A52"/>
                </a:solidFill>
                <a:latin typeface="Noto Sans KR"/>
                <a:ea typeface="Noto Sans KR"/>
              </a:rPr>
              <a:t>금</a:t>
            </a:r>
            <a:r>
              <a:rPr lang="ko-KR" altLang="en-US" sz="1400">
                <a:solidFill>
                  <a:srgbClr val="3F4A52"/>
                </a:solidFill>
                <a:latin typeface="Noto Sans KR"/>
                <a:ea typeface="Noto Sans KR"/>
              </a:rPr>
              <a:t>
한글날</a:t>
            </a:r>
          </a:p>
        </p:txBody>
      </p:sp>
      <p:sp>
        <p:nvSpPr>
          <p:cNvPr id="21" name="CalCell">
            <a:extLst>
              <a:ext uri="{FF2B5EF4-FFF2-40B4-BE49-F238E27FC236}">
                <a16:creationId xmlns:a16="http://schemas.microsoft.com/office/drawing/2014/main" id="{5F9347B6-E44B-4D43-983C-53917F6DC07D}"/>
              </a:ext>
            </a:extLst>
          </p:cNvPr>
          <p:cNvSpPr/>
          <p:nvPr/>
        </p:nvSpPr>
        <p:spPr>
          <a:xfrm>
            <a:off x="685800" y="29718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10/12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월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4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LLM API·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프롬프트</a:t>
            </a:r>
          </a:p>
        </p:txBody>
      </p:sp>
      <p:sp>
        <p:nvSpPr>
          <p:cNvPr id="22" name="CalCell">
            <a:extLst>
              <a:ext uri="{FF2B5EF4-FFF2-40B4-BE49-F238E27FC236}">
                <a16:creationId xmlns:a16="http://schemas.microsoft.com/office/drawing/2014/main" id="{622E9A6C-9DCA-4C39-B04A-AC1F80AFAF7D}"/>
              </a:ext>
            </a:extLst>
          </p:cNvPr>
          <p:cNvSpPr/>
          <p:nvPr/>
        </p:nvSpPr>
        <p:spPr>
          <a:xfrm>
            <a:off x="2870200" y="29718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10/13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화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5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미니앱 만들기</a:t>
            </a:r>
          </a:p>
        </p:txBody>
      </p:sp>
      <p:sp>
        <p:nvSpPr>
          <p:cNvPr id="23" name="CalCell">
            <a:extLst>
              <a:ext uri="{FF2B5EF4-FFF2-40B4-BE49-F238E27FC236}">
                <a16:creationId xmlns:a16="http://schemas.microsoft.com/office/drawing/2014/main" id="{B34DC86B-22D0-4040-921C-30A07AB5BE99}"/>
              </a:ext>
            </a:extLst>
          </p:cNvPr>
          <p:cNvSpPr/>
          <p:nvPr/>
        </p:nvSpPr>
        <p:spPr>
          <a:xfrm>
            <a:off x="5054600" y="29718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10/14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수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6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FFFFFF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기초</a:t>
            </a:r>
          </a:p>
        </p:txBody>
      </p:sp>
      <p:sp>
        <p:nvSpPr>
          <p:cNvPr id="24" name="CalCell">
            <a:extLst>
              <a:ext uri="{FF2B5EF4-FFF2-40B4-BE49-F238E27FC236}">
                <a16:creationId xmlns:a16="http://schemas.microsoft.com/office/drawing/2014/main" id="{D9C67BEF-DB1D-4DC1-95FA-55B09102B1EB}"/>
              </a:ext>
            </a:extLst>
          </p:cNvPr>
          <p:cNvSpPr/>
          <p:nvPr/>
        </p:nvSpPr>
        <p:spPr>
          <a:xfrm>
            <a:off x="7239000" y="29718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10/15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목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7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FFFFFF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심화</a:t>
            </a:r>
          </a:p>
        </p:txBody>
      </p:sp>
      <p:sp>
        <p:nvSpPr>
          <p:cNvPr id="25" name="CalCell">
            <a:extLst>
              <a:ext uri="{FF2B5EF4-FFF2-40B4-BE49-F238E27FC236}">
                <a16:creationId xmlns:a16="http://schemas.microsoft.com/office/drawing/2014/main" id="{6187EC9D-3825-4618-9D47-B60279078154}"/>
              </a:ext>
            </a:extLst>
          </p:cNvPr>
          <p:cNvSpPr/>
          <p:nvPr/>
        </p:nvSpPr>
        <p:spPr>
          <a:xfrm>
            <a:off x="9423400" y="29718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10/16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금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8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FFFFFF"/>
                </a:solidFill>
                <a:latin typeface="Noto Sans KR"/>
                <a:ea typeface="Noto Sans KR"/>
              </a:rPr>
              <a:t>Git·GitHub</a:t>
            </a:r>
            <a:endParaRPr lang="ko-KR" altLang="en-US" sz="1400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26" name="CalCell">
            <a:extLst>
              <a:ext uri="{FF2B5EF4-FFF2-40B4-BE49-F238E27FC236}">
                <a16:creationId xmlns:a16="http://schemas.microsoft.com/office/drawing/2014/main" id="{0E357FDE-B19E-4215-82E3-009CDB35E7F9}"/>
              </a:ext>
            </a:extLst>
          </p:cNvPr>
          <p:cNvSpPr/>
          <p:nvPr/>
        </p:nvSpPr>
        <p:spPr>
          <a:xfrm>
            <a:off x="685800" y="36830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10/19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월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9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API requests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7" name="CalCell">
            <a:extLst>
              <a:ext uri="{FF2B5EF4-FFF2-40B4-BE49-F238E27FC236}">
                <a16:creationId xmlns:a16="http://schemas.microsoft.com/office/drawing/2014/main" id="{AA4C91F6-0ABC-4EED-8B54-FDDF02703E05}"/>
              </a:ext>
            </a:extLst>
          </p:cNvPr>
          <p:cNvSpPr/>
          <p:nvPr/>
        </p:nvSpPr>
        <p:spPr>
          <a:xfrm>
            <a:off x="2870200" y="36830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10/20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화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10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FFFFFF"/>
                </a:solidFill>
                <a:latin typeface="Noto Sans KR"/>
                <a:ea typeface="Noto Sans KR"/>
              </a:rPr>
              <a:t>AI 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코드에이전트</a:t>
            </a:r>
          </a:p>
        </p:txBody>
      </p:sp>
      <p:sp>
        <p:nvSpPr>
          <p:cNvPr id="28" name="CalCell">
            <a:extLst>
              <a:ext uri="{FF2B5EF4-FFF2-40B4-BE49-F238E27FC236}">
                <a16:creationId xmlns:a16="http://schemas.microsoft.com/office/drawing/2014/main" id="{32AC6AF1-8EE8-4BB4-98F0-DB2016123B9E}"/>
              </a:ext>
            </a:extLst>
          </p:cNvPr>
          <p:cNvSpPr/>
          <p:nvPr/>
        </p:nvSpPr>
        <p:spPr>
          <a:xfrm>
            <a:off x="5054600" y="36830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10/21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수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11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FFFFFF"/>
                </a:solidFill>
                <a:latin typeface="Noto Sans KR"/>
                <a:ea typeface="Noto Sans KR"/>
              </a:rPr>
              <a:t>HTML·React·MCP</a:t>
            </a:r>
            <a:endParaRPr lang="ko-KR" altLang="en-US" sz="1400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29" name="CalCell">
            <a:extLst>
              <a:ext uri="{FF2B5EF4-FFF2-40B4-BE49-F238E27FC236}">
                <a16:creationId xmlns:a16="http://schemas.microsoft.com/office/drawing/2014/main" id="{952FFEA3-0E3A-4968-A7F2-18EFFA6F3CE3}"/>
              </a:ext>
            </a:extLst>
          </p:cNvPr>
          <p:cNvSpPr/>
          <p:nvPr/>
        </p:nvSpPr>
        <p:spPr>
          <a:xfrm>
            <a:off x="7239000" y="36830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10/22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목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12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FFFFFF"/>
                </a:solidFill>
                <a:latin typeface="Noto Sans KR"/>
                <a:ea typeface="Noto Sans KR"/>
              </a:rPr>
              <a:t>OpenCV·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웹캠</a:t>
            </a:r>
          </a:p>
        </p:txBody>
      </p:sp>
      <p:sp>
        <p:nvSpPr>
          <p:cNvPr id="30" name="CalCell">
            <a:extLst>
              <a:ext uri="{FF2B5EF4-FFF2-40B4-BE49-F238E27FC236}">
                <a16:creationId xmlns:a16="http://schemas.microsoft.com/office/drawing/2014/main" id="{C8DAE974-3479-4093-AF8E-D0836E688782}"/>
              </a:ext>
            </a:extLst>
          </p:cNvPr>
          <p:cNvSpPr/>
          <p:nvPr/>
        </p:nvSpPr>
        <p:spPr>
          <a:xfrm>
            <a:off x="9423400" y="36830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10/23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금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13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전자회로</a:t>
            </a:r>
            <a:r>
              <a:rPr lang="en-US" altLang="ko-KR" sz="1400">
                <a:solidFill>
                  <a:srgbClr val="FFFFFF"/>
                </a:solidFill>
                <a:latin typeface="Noto Sans KR"/>
                <a:ea typeface="Noto Sans KR"/>
              </a:rPr>
              <a:t>·ESP32</a:t>
            </a:r>
            <a:endParaRPr lang="ko-KR" altLang="en-US" sz="1400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31" name="CalCell">
            <a:extLst>
              <a:ext uri="{FF2B5EF4-FFF2-40B4-BE49-F238E27FC236}">
                <a16:creationId xmlns:a16="http://schemas.microsoft.com/office/drawing/2014/main" id="{E3C24BB1-A0D6-4A11-BCB9-AE515BF145F6}"/>
              </a:ext>
            </a:extLst>
          </p:cNvPr>
          <p:cNvSpPr/>
          <p:nvPr/>
        </p:nvSpPr>
        <p:spPr>
          <a:xfrm>
            <a:off x="685800" y="43942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10/26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월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14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센서 입력</a:t>
            </a:r>
          </a:p>
        </p:txBody>
      </p:sp>
      <p:sp>
        <p:nvSpPr>
          <p:cNvPr id="32" name="CalCell">
            <a:extLst>
              <a:ext uri="{FF2B5EF4-FFF2-40B4-BE49-F238E27FC236}">
                <a16:creationId xmlns:a16="http://schemas.microsoft.com/office/drawing/2014/main" id="{CB387050-0F02-4199-B5B0-37DD1F6112AB}"/>
              </a:ext>
            </a:extLst>
          </p:cNvPr>
          <p:cNvSpPr/>
          <p:nvPr/>
        </p:nvSpPr>
        <p:spPr>
          <a:xfrm>
            <a:off x="2870200" y="43942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10/27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화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15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액추에이터</a:t>
            </a:r>
          </a:p>
        </p:txBody>
      </p:sp>
      <p:sp>
        <p:nvSpPr>
          <p:cNvPr id="33" name="CalCell">
            <a:extLst>
              <a:ext uri="{FF2B5EF4-FFF2-40B4-BE49-F238E27FC236}">
                <a16:creationId xmlns:a16="http://schemas.microsoft.com/office/drawing/2014/main" id="{0F15F7FC-5318-40C2-B588-21D111F45958}"/>
              </a:ext>
            </a:extLst>
          </p:cNvPr>
          <p:cNvSpPr/>
          <p:nvPr/>
        </p:nvSpPr>
        <p:spPr>
          <a:xfrm>
            <a:off x="5054600" y="43942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10/28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수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16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MQTT·HTTP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4" name="CalCell">
            <a:extLst>
              <a:ext uri="{FF2B5EF4-FFF2-40B4-BE49-F238E27FC236}">
                <a16:creationId xmlns:a16="http://schemas.microsoft.com/office/drawing/2014/main" id="{3872A4FF-E3A9-448D-A833-85158F145519}"/>
              </a:ext>
            </a:extLst>
          </p:cNvPr>
          <p:cNvSpPr/>
          <p:nvPr/>
        </p:nvSpPr>
        <p:spPr>
          <a:xfrm>
            <a:off x="7239000" y="43942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10/29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목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17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웹 대시보드</a:t>
            </a:r>
          </a:p>
        </p:txBody>
      </p:sp>
      <p:sp>
        <p:nvSpPr>
          <p:cNvPr id="35" name="CalCell">
            <a:extLst>
              <a:ext uri="{FF2B5EF4-FFF2-40B4-BE49-F238E27FC236}">
                <a16:creationId xmlns:a16="http://schemas.microsoft.com/office/drawing/2014/main" id="{F81851B8-7AC4-41C6-852D-659B3E18E153}"/>
              </a:ext>
            </a:extLst>
          </p:cNvPr>
          <p:cNvSpPr/>
          <p:nvPr/>
        </p:nvSpPr>
        <p:spPr>
          <a:xfrm>
            <a:off x="9423400" y="4394200"/>
            <a:ext cx="2082800" cy="635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10/30 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금 </a:t>
            </a:r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· 18</a:t>
            </a:r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FFFFFF"/>
                </a:solidFill>
                <a:latin typeface="Noto Sans KR"/>
                <a:ea typeface="Noto Sans KR"/>
              </a:rPr>
              <a:t>
프로젝트 기획</a:t>
            </a:r>
          </a:p>
        </p:txBody>
      </p:sp>
      <p:sp>
        <p:nvSpPr>
          <p:cNvPr id="36" name="CalCell">
            <a:extLst>
              <a:ext uri="{FF2B5EF4-FFF2-40B4-BE49-F238E27FC236}">
                <a16:creationId xmlns:a16="http://schemas.microsoft.com/office/drawing/2014/main" id="{BB656466-A85A-4FA2-9492-83173F400DA1}"/>
              </a:ext>
            </a:extLst>
          </p:cNvPr>
          <p:cNvSpPr/>
          <p:nvPr/>
        </p:nvSpPr>
        <p:spPr>
          <a:xfrm>
            <a:off x="685800" y="51054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11/2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월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19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구현</a:t>
            </a:r>
          </a:p>
        </p:txBody>
      </p:sp>
      <p:sp>
        <p:nvSpPr>
          <p:cNvPr id="37" name="CalCell">
            <a:extLst>
              <a:ext uri="{FF2B5EF4-FFF2-40B4-BE49-F238E27FC236}">
                <a16:creationId xmlns:a16="http://schemas.microsoft.com/office/drawing/2014/main" id="{DAC11A10-1B70-4D32-B5AF-4EF1B435B01D}"/>
              </a:ext>
            </a:extLst>
          </p:cNvPr>
          <p:cNvSpPr/>
          <p:nvPr/>
        </p:nvSpPr>
        <p:spPr>
          <a:xfrm>
            <a:off x="2870200" y="5105400"/>
            <a:ext cx="2082800" cy="6350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38100" rIns="76200" bIns="381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11/3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화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· 20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일차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
발표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시연</a:t>
            </a:r>
          </a:p>
        </p:txBody>
      </p:sp>
      <p:sp>
        <p:nvSpPr>
          <p:cNvPr id="38" name="Legend">
            <a:extLst>
              <a:ext uri="{FF2B5EF4-FFF2-40B4-BE49-F238E27FC236}">
                <a16:creationId xmlns:a16="http://schemas.microsoft.com/office/drawing/2014/main" id="{7CA25D94-D69A-4DD4-ADB5-5DFF65BDA630}"/>
              </a:ext>
            </a:extLst>
          </p:cNvPr>
          <p:cNvSpPr/>
          <p:nvPr/>
        </p:nvSpPr>
        <p:spPr>
          <a:xfrm>
            <a:off x="685800" y="5943600"/>
            <a:ext cx="152400" cy="152400"/>
          </a:xfrm>
          <a:prstGeom prst="rect">
            <a:avLst/>
          </a:prstGeom>
          <a:solidFill>
            <a:srgbClr val="08776D"/>
          </a:solidFill>
          <a:ln w="6350">
            <a:solidFill>
              <a:srgbClr val="9AA5AB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Legend">
            <a:extLst>
              <a:ext uri="{FF2B5EF4-FFF2-40B4-BE49-F238E27FC236}">
                <a16:creationId xmlns:a16="http://schemas.microsoft.com/office/drawing/2014/main" id="{96C4EF40-6202-4A1D-B76F-87C7240A8A97}"/>
              </a:ext>
            </a:extLst>
          </p:cNvPr>
          <p:cNvSpPr txBox="1"/>
          <p:nvPr/>
        </p:nvSpPr>
        <p:spPr>
          <a:xfrm>
            <a:off x="889000" y="58801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lIns="25400" t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4A5A63"/>
                </a:solidFill>
                <a:latin typeface="Noto Sans KR"/>
                <a:ea typeface="Noto Sans KR"/>
              </a:rPr>
              <a:t>담당 수업 </a:t>
            </a:r>
            <a:r>
              <a:rPr lang="en-US" altLang="ko-KR" sz="1300">
                <a:solidFill>
                  <a:srgbClr val="4A5A63"/>
                </a:solidFill>
                <a:latin typeface="Noto Sans KR"/>
                <a:ea typeface="Noto Sans KR"/>
              </a:rPr>
              <a:t>10</a:t>
            </a:r>
            <a:r>
              <a:rPr lang="ko-KR" altLang="en-US" sz="1300">
                <a:solidFill>
                  <a:srgbClr val="4A5A63"/>
                </a:solidFill>
                <a:latin typeface="Noto Sans KR"/>
                <a:ea typeface="Noto Sans KR"/>
              </a:rPr>
              <a:t>일</a:t>
            </a:r>
          </a:p>
        </p:txBody>
      </p:sp>
      <p:sp>
        <p:nvSpPr>
          <p:cNvPr id="40" name="Legend">
            <a:extLst>
              <a:ext uri="{FF2B5EF4-FFF2-40B4-BE49-F238E27FC236}">
                <a16:creationId xmlns:a16="http://schemas.microsoft.com/office/drawing/2014/main" id="{70A19B83-B414-4FD9-A8B8-E3BAACE78690}"/>
              </a:ext>
            </a:extLst>
          </p:cNvPr>
          <p:cNvSpPr/>
          <p:nvPr/>
        </p:nvSpPr>
        <p:spPr>
          <a:xfrm>
            <a:off x="2590800" y="5943600"/>
            <a:ext cx="1524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9AA5AB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1" name="Legend">
            <a:extLst>
              <a:ext uri="{FF2B5EF4-FFF2-40B4-BE49-F238E27FC236}">
                <a16:creationId xmlns:a16="http://schemas.microsoft.com/office/drawing/2014/main" id="{DC2FD130-95CF-4453-AEED-DFDD20E402EC}"/>
              </a:ext>
            </a:extLst>
          </p:cNvPr>
          <p:cNvSpPr txBox="1"/>
          <p:nvPr/>
        </p:nvSpPr>
        <p:spPr>
          <a:xfrm>
            <a:off x="2794000" y="58801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lIns="25400" t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4A5A63"/>
                </a:solidFill>
                <a:latin typeface="Noto Sans KR"/>
                <a:ea typeface="Noto Sans KR"/>
              </a:rPr>
              <a:t>다른 수업일</a:t>
            </a:r>
          </a:p>
        </p:txBody>
      </p:sp>
      <p:sp>
        <p:nvSpPr>
          <p:cNvPr id="42" name="Legend">
            <a:extLst>
              <a:ext uri="{FF2B5EF4-FFF2-40B4-BE49-F238E27FC236}">
                <a16:creationId xmlns:a16="http://schemas.microsoft.com/office/drawing/2014/main" id="{69414592-9EA3-4D9A-9E40-DDC282DB06A2}"/>
              </a:ext>
            </a:extLst>
          </p:cNvPr>
          <p:cNvSpPr/>
          <p:nvPr/>
        </p:nvSpPr>
        <p:spPr>
          <a:xfrm>
            <a:off x="4495800" y="5943600"/>
            <a:ext cx="152400" cy="152400"/>
          </a:xfrm>
          <a:prstGeom prst="rect">
            <a:avLst/>
          </a:prstGeom>
          <a:solidFill>
            <a:srgbClr val="D9DDDF"/>
          </a:solidFill>
          <a:ln w="6350">
            <a:solidFill>
              <a:srgbClr val="9AA5AB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Legend">
            <a:extLst>
              <a:ext uri="{FF2B5EF4-FFF2-40B4-BE49-F238E27FC236}">
                <a16:creationId xmlns:a16="http://schemas.microsoft.com/office/drawing/2014/main" id="{33586F22-CF86-473E-A09C-076D24AEA614}"/>
              </a:ext>
            </a:extLst>
          </p:cNvPr>
          <p:cNvSpPr txBox="1"/>
          <p:nvPr/>
        </p:nvSpPr>
        <p:spPr>
          <a:xfrm>
            <a:off x="4699000" y="5880100"/>
            <a:ext cx="1651000" cy="279400"/>
          </a:xfrm>
          <a:prstGeom prst="rect">
            <a:avLst/>
          </a:prstGeom>
          <a:noFill/>
        </p:spPr>
        <p:txBody>
          <a:bodyPr vertOverflow="overflow" vert="horz" wrap="square" lIns="25400" t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4A5A63"/>
                </a:solidFill>
                <a:latin typeface="Noto Sans KR"/>
                <a:ea typeface="Noto Sans KR"/>
              </a:rPr>
              <a:t>공휴일</a:t>
            </a:r>
          </a:p>
        </p:txBody>
      </p:sp>
      <p:sp>
        <p:nvSpPr>
          <p:cNvPr id="44" name="Legend">
            <a:extLst>
              <a:ext uri="{FF2B5EF4-FFF2-40B4-BE49-F238E27FC236}">
                <a16:creationId xmlns:a16="http://schemas.microsoft.com/office/drawing/2014/main" id="{DD7186C4-EA2C-4DCE-A0BD-9A74F376173E}"/>
              </a:ext>
            </a:extLst>
          </p:cNvPr>
          <p:cNvSpPr txBox="1"/>
          <p:nvPr/>
        </p:nvSpPr>
        <p:spPr>
          <a:xfrm>
            <a:off x="6400800" y="5880100"/>
            <a:ext cx="5105400" cy="279400"/>
          </a:xfrm>
          <a:prstGeom prst="rect">
            <a:avLst/>
          </a:prstGeom>
          <a:noFill/>
        </p:spPr>
        <p:txBody>
          <a:bodyPr vertOverflow="overflow" vert="horz" wrap="square" tIns="0" rtlCol="0" anchor="t">
            <a:spAutoFit/>
          </a:bodyPr>
          <a:lstStyle/>
          <a:p>
            <a:pPr algn="r"/>
            <a:r>
              <a:rPr lang="ko-KR" altLang="en-US" sz="1300">
                <a:solidFill>
                  <a:srgbClr val="4A5A63"/>
                </a:solidFill>
                <a:latin typeface="Noto Sans KR"/>
                <a:ea typeface="Noto Sans KR"/>
              </a:rPr>
              <a:t>굵은 테두리</a:t>
            </a:r>
            <a:r>
              <a:rPr lang="en-US" altLang="ko-KR" sz="1300">
                <a:solidFill>
                  <a:srgbClr val="4A5A63"/>
                </a:solidFill>
                <a:latin typeface="Noto Sans KR"/>
                <a:ea typeface="Noto Sans KR"/>
              </a:rPr>
              <a:t>: </a:t>
            </a:r>
            <a:r>
              <a:rPr lang="ko-KR" altLang="en-US" sz="1300">
                <a:solidFill>
                  <a:srgbClr val="4A5A63"/>
                </a:solidFill>
                <a:latin typeface="Noto Sans KR"/>
                <a:ea typeface="Noto Sans KR"/>
              </a:rPr>
              <a:t>첫 수업</a:t>
            </a:r>
            <a:r>
              <a:rPr lang="en-US" altLang="ko-KR" sz="1300">
                <a:solidFill>
                  <a:srgbClr val="4A5A63"/>
                </a:solidFill>
                <a:latin typeface="Noto Sans KR"/>
                <a:ea typeface="Noto Sans KR"/>
              </a:rPr>
              <a:t>(10/6) · </a:t>
            </a:r>
            <a:r>
              <a:rPr lang="ko-KR" altLang="en-US" sz="1300">
                <a:solidFill>
                  <a:srgbClr val="4A5A63"/>
                </a:solidFill>
                <a:latin typeface="Noto Sans KR"/>
                <a:ea typeface="Noto Sans KR"/>
              </a:rPr>
              <a:t>오늘 수업</a:t>
            </a:r>
            <a:r>
              <a:rPr lang="en-US" altLang="ko-KR" sz="1300">
                <a:solidFill>
                  <a:srgbClr val="4A5A63"/>
                </a:solidFill>
                <a:latin typeface="Noto Sans KR"/>
                <a:ea typeface="Noto Sans KR"/>
              </a:rPr>
              <a:t>(10/8)</a:t>
            </a:r>
            <a:endParaRPr lang="ko-KR" altLang="en-US" sz="13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943305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EC31536-C764-41DD-A422-DBC4A41AB07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1EA6B46-B25E-45D4-825A-464F8956D06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하루 수업의 약속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C69A36C-FBB8-41B7-87E7-DC9108E1ED3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3A87BD3-54DD-461E-8AF1-FD2F765D29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ECDE926-0BE9-4953-A7F1-51EA2304C57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005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6C2ED57D-8934-409F-9FBC-BCEDC9FC3D86}"/>
              </a:ext>
            </a:extLst>
          </p:cNvPr>
          <p:cNvSpPr/>
          <p:nvPr/>
        </p:nvSpPr>
        <p:spPr>
          <a:xfrm>
            <a:off x="698500" y="2413000"/>
            <a:ext cx="1262742" cy="736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1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EC2F8B86-9C8A-4E46-B059-4F53CE41D25A}"/>
              </a:ext>
            </a:extLst>
          </p:cNvPr>
          <p:cNvSpPr/>
          <p:nvPr/>
        </p:nvSpPr>
        <p:spPr>
          <a:xfrm>
            <a:off x="2244271" y="2413000"/>
            <a:ext cx="1262742" cy="736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6891A268-C2CB-4F3B-9718-456934293C60}"/>
              </a:ext>
            </a:extLst>
          </p:cNvPr>
          <p:cNvSpPr/>
          <p:nvPr/>
        </p:nvSpPr>
        <p:spPr>
          <a:xfrm>
            <a:off x="3532414" y="2413000"/>
            <a:ext cx="1777999" cy="736600"/>
          </a:xfrm>
          <a:prstGeom prst="rect">
            <a:avLst/>
          </a:prstGeom>
          <a:solidFill>
            <a:srgbClr val="C9D1D5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점심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9B12D2F8-6EEC-4B78-B442-2E2396772C7D}"/>
              </a:ext>
            </a:extLst>
          </p:cNvPr>
          <p:cNvSpPr/>
          <p:nvPr/>
        </p:nvSpPr>
        <p:spPr>
          <a:xfrm>
            <a:off x="5335814" y="2413000"/>
            <a:ext cx="1262742" cy="736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953D3A76-7DA7-4381-8830-D48C84B2B811}"/>
              </a:ext>
            </a:extLst>
          </p:cNvPr>
          <p:cNvSpPr/>
          <p:nvPr/>
        </p:nvSpPr>
        <p:spPr>
          <a:xfrm>
            <a:off x="6881585" y="2413000"/>
            <a:ext cx="1262742" cy="736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4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75BB86E9-5114-4AA9-A8B8-D5CB5826485F}"/>
              </a:ext>
            </a:extLst>
          </p:cNvPr>
          <p:cNvSpPr/>
          <p:nvPr/>
        </p:nvSpPr>
        <p:spPr>
          <a:xfrm>
            <a:off x="8427357" y="2413000"/>
            <a:ext cx="1262742" cy="736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5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9704B034-5E79-4E20-8FB1-B459BE11E298}"/>
              </a:ext>
            </a:extLst>
          </p:cNvPr>
          <p:cNvSpPr/>
          <p:nvPr/>
        </p:nvSpPr>
        <p:spPr>
          <a:xfrm>
            <a:off x="9973128" y="2413000"/>
            <a:ext cx="1262742" cy="736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6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794B1A67-DA1C-4698-B532-79E9E18E5BCF}"/>
              </a:ext>
            </a:extLst>
          </p:cNvPr>
          <p:cNvSpPr/>
          <p:nvPr/>
        </p:nvSpPr>
        <p:spPr>
          <a:xfrm>
            <a:off x="11261271" y="2413000"/>
            <a:ext cx="232228" cy="736600"/>
          </a:xfrm>
          <a:prstGeom prst="rect">
            <a:avLst/>
          </a:prstGeom>
          <a:solidFill>
            <a:srgbClr val="E9B48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99C2EEA9-A34E-4941-8479-78BAA225B252}"/>
              </a:ext>
            </a:extLst>
          </p:cNvPr>
          <p:cNvSpPr/>
          <p:nvPr/>
        </p:nvSpPr>
        <p:spPr>
          <a:xfrm>
            <a:off x="304800" y="3251200"/>
            <a:ext cx="762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4A5A63"/>
                </a:solidFill>
                <a:latin typeface="Noto Sans KR"/>
                <a:ea typeface="Noto Sans KR"/>
              </a:rPr>
              <a:t>10:00</a:t>
            </a:r>
            <a:endParaRPr lang="ko-KR" altLang="en-US" sz="14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ADE53EDA-BBB1-4FEA-A486-D82DCDD8E452}"/>
              </a:ext>
            </a:extLst>
          </p:cNvPr>
          <p:cNvSpPr/>
          <p:nvPr/>
        </p:nvSpPr>
        <p:spPr>
          <a:xfrm>
            <a:off x="1850571" y="3251200"/>
            <a:ext cx="762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4A5A63"/>
                </a:solidFill>
                <a:latin typeface="Noto Sans KR"/>
                <a:ea typeface="Noto Sans KR"/>
              </a:rPr>
              <a:t>11:00</a:t>
            </a:r>
            <a:endParaRPr lang="ko-KR" altLang="en-US" sz="14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83AF0596-41C3-45CD-9487-5F79799D1C53}"/>
              </a:ext>
            </a:extLst>
          </p:cNvPr>
          <p:cNvSpPr/>
          <p:nvPr/>
        </p:nvSpPr>
        <p:spPr>
          <a:xfrm>
            <a:off x="3396342" y="3251200"/>
            <a:ext cx="762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4A5A63"/>
                </a:solidFill>
                <a:latin typeface="Noto Sans KR"/>
                <a:ea typeface="Noto Sans KR"/>
              </a:rPr>
              <a:t>12:00</a:t>
            </a:r>
            <a:endParaRPr lang="ko-KR" altLang="en-US" sz="14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58CF5979-C04E-4C84-A953-CB1C36F39556}"/>
              </a:ext>
            </a:extLst>
          </p:cNvPr>
          <p:cNvSpPr/>
          <p:nvPr/>
        </p:nvSpPr>
        <p:spPr>
          <a:xfrm>
            <a:off x="4942114" y="3251200"/>
            <a:ext cx="762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4A5A63"/>
                </a:solidFill>
                <a:latin typeface="Noto Sans KR"/>
                <a:ea typeface="Noto Sans KR"/>
              </a:rPr>
              <a:t>13:00</a:t>
            </a:r>
            <a:endParaRPr lang="ko-KR" altLang="en-US" sz="14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EF83C509-B994-4A66-AF38-B0665D05C694}"/>
              </a:ext>
            </a:extLst>
          </p:cNvPr>
          <p:cNvSpPr/>
          <p:nvPr/>
        </p:nvSpPr>
        <p:spPr>
          <a:xfrm>
            <a:off x="6487885" y="3251200"/>
            <a:ext cx="762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4A5A63"/>
                </a:solidFill>
                <a:latin typeface="Noto Sans KR"/>
                <a:ea typeface="Noto Sans KR"/>
              </a:rPr>
              <a:t>14:00</a:t>
            </a:r>
            <a:endParaRPr lang="ko-KR" altLang="en-US" sz="14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928CD619-2D93-47DB-A642-6EEDBA171128}"/>
              </a:ext>
            </a:extLst>
          </p:cNvPr>
          <p:cNvSpPr/>
          <p:nvPr/>
        </p:nvSpPr>
        <p:spPr>
          <a:xfrm>
            <a:off x="8033657" y="3251200"/>
            <a:ext cx="762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4A5A63"/>
                </a:solidFill>
                <a:latin typeface="Noto Sans KR"/>
                <a:ea typeface="Noto Sans KR"/>
              </a:rPr>
              <a:t>15:00</a:t>
            </a:r>
            <a:endParaRPr lang="ko-KR" altLang="en-US" sz="14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0E38624C-8952-430F-8850-02F2E56AD2BD}"/>
              </a:ext>
            </a:extLst>
          </p:cNvPr>
          <p:cNvSpPr/>
          <p:nvPr/>
        </p:nvSpPr>
        <p:spPr>
          <a:xfrm>
            <a:off x="9579428" y="3251200"/>
            <a:ext cx="762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4A5A63"/>
                </a:solidFill>
                <a:latin typeface="Noto Sans KR"/>
                <a:ea typeface="Noto Sans KR"/>
              </a:rPr>
              <a:t>16:00</a:t>
            </a:r>
            <a:endParaRPr lang="ko-KR" altLang="en-US" sz="14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DA4A5F27-8155-4E7B-87BF-EA2C37CCBD82}"/>
              </a:ext>
            </a:extLst>
          </p:cNvPr>
          <p:cNvSpPr/>
          <p:nvPr/>
        </p:nvSpPr>
        <p:spPr>
          <a:xfrm>
            <a:off x="11125200" y="3251200"/>
            <a:ext cx="762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4A5A63"/>
                </a:solidFill>
                <a:latin typeface="Noto Sans KR"/>
                <a:ea typeface="Noto Sans KR"/>
              </a:rPr>
              <a:t>17:00</a:t>
            </a:r>
            <a:endParaRPr lang="ko-KR" altLang="en-US" sz="14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47FE05A3-063E-4461-9044-5AC51F88402F}"/>
              </a:ext>
            </a:extLst>
          </p:cNvPr>
          <p:cNvSpPr/>
          <p:nvPr/>
        </p:nvSpPr>
        <p:spPr>
          <a:xfrm>
            <a:off x="10689771" y="2032000"/>
            <a:ext cx="1143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r>
              <a:rPr lang="ko-KR" altLang="en-US" sz="1300" b="1">
                <a:solidFill>
                  <a:srgbClr val="9A4A16"/>
                </a:solidFill>
                <a:latin typeface="Noto Sans KR"/>
                <a:ea typeface="Noto Sans KR"/>
              </a:rPr>
              <a:t>저장</a:t>
            </a:r>
            <a:r>
              <a:rPr lang="en-US" altLang="ko-KR" sz="1300" b="1">
                <a:solidFill>
                  <a:srgbClr val="9A4A16"/>
                </a:solidFill>
                <a:latin typeface="Noto Sans KR"/>
                <a:ea typeface="Noto Sans KR"/>
              </a:rPr>
              <a:t>·</a:t>
            </a:r>
            <a:r>
              <a:rPr lang="ko-KR" altLang="en-US" sz="1300" b="1">
                <a:solidFill>
                  <a:srgbClr val="9A4A16"/>
                </a:solidFill>
                <a:latin typeface="Noto Sans KR"/>
                <a:ea typeface="Noto Sans KR"/>
              </a:rPr>
              <a:t>종료</a:t>
            </a: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8BB8496D-AC68-4CB2-AB26-FDD9FE79FECF}"/>
              </a:ext>
            </a:extLst>
          </p:cNvPr>
          <p:cNvSpPr/>
          <p:nvPr/>
        </p:nvSpPr>
        <p:spPr>
          <a:xfrm>
            <a:off x="685800" y="3860800"/>
            <a:ext cx="10820400" cy="6604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4" name="AccentBar">
            <a:extLst>
              <a:ext uri="{FF2B5EF4-FFF2-40B4-BE49-F238E27FC236}">
                <a16:creationId xmlns:a16="http://schemas.microsoft.com/office/drawing/2014/main" id="{0FFA2679-D12E-44A9-8B1E-D7202ED7C6EE}"/>
              </a:ext>
            </a:extLst>
          </p:cNvPr>
          <p:cNvSpPr/>
          <p:nvPr/>
        </p:nvSpPr>
        <p:spPr>
          <a:xfrm>
            <a:off x="685800" y="3860800"/>
            <a:ext cx="76200" cy="660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D3139E42-0DAB-45E7-A204-A87BDFAAE91B}"/>
              </a:ext>
            </a:extLst>
          </p:cNvPr>
          <p:cNvSpPr/>
          <p:nvPr/>
        </p:nvSpPr>
        <p:spPr>
          <a:xfrm>
            <a:off x="939800" y="3860800"/>
            <a:ext cx="3048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수업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50</a:t>
            </a:r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분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+ </a:t>
            </a:r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휴식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10</a:t>
            </a:r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분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53A5EFEE-5FE8-42D9-B8B7-EEA3172CDDC5}"/>
              </a:ext>
            </a:extLst>
          </p:cNvPr>
          <p:cNvSpPr/>
          <p:nvPr/>
        </p:nvSpPr>
        <p:spPr>
          <a:xfrm>
            <a:off x="4064000" y="3860800"/>
            <a:ext cx="7366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매시 정각에 시작해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50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분 수업하고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, 10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분 쉽니다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AE97BA1E-4DDA-4448-BF34-5FA06A3ECA39}"/>
              </a:ext>
            </a:extLst>
          </p:cNvPr>
          <p:cNvSpPr/>
          <p:nvPr/>
        </p:nvSpPr>
        <p:spPr>
          <a:xfrm>
            <a:off x="685800" y="4648200"/>
            <a:ext cx="10820400" cy="6604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8" name="AccentBar">
            <a:extLst>
              <a:ext uri="{FF2B5EF4-FFF2-40B4-BE49-F238E27FC236}">
                <a16:creationId xmlns:a16="http://schemas.microsoft.com/office/drawing/2014/main" id="{B80B70FE-DB05-4183-B772-13AC8C0A4190}"/>
              </a:ext>
            </a:extLst>
          </p:cNvPr>
          <p:cNvSpPr/>
          <p:nvPr/>
        </p:nvSpPr>
        <p:spPr>
          <a:xfrm>
            <a:off x="685800" y="4648200"/>
            <a:ext cx="76200" cy="660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382B9316-DCB0-4AAB-AFD6-B2C1ACEAB4B4}"/>
              </a:ext>
            </a:extLst>
          </p:cNvPr>
          <p:cNvSpPr/>
          <p:nvPr/>
        </p:nvSpPr>
        <p:spPr>
          <a:xfrm>
            <a:off x="939800" y="4648200"/>
            <a:ext cx="3048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점심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11:50~13:00</a:t>
            </a:r>
            <a:endParaRPr lang="ko-KR" altLang="en-US" sz="17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C6829CFC-08A4-4D5A-8614-5086FBCD78E6}"/>
              </a:ext>
            </a:extLst>
          </p:cNvPr>
          <p:cNvSpPr/>
          <p:nvPr/>
        </p:nvSpPr>
        <p:spPr>
          <a:xfrm>
            <a:off x="4064000" y="4648200"/>
            <a:ext cx="7366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13:00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에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3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교시를 시작하니 자리로 돌아와 주세요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649EB8D2-5690-4265-9AA9-DC145CF5F362}"/>
              </a:ext>
            </a:extLst>
          </p:cNvPr>
          <p:cNvSpPr/>
          <p:nvPr/>
        </p:nvSpPr>
        <p:spPr>
          <a:xfrm>
            <a:off x="685800" y="5435600"/>
            <a:ext cx="10820400" cy="6604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pPr algn="ctr"/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2" name="AccentBar">
            <a:extLst>
              <a:ext uri="{FF2B5EF4-FFF2-40B4-BE49-F238E27FC236}">
                <a16:creationId xmlns:a16="http://schemas.microsoft.com/office/drawing/2014/main" id="{996A43E5-8A3E-4798-BB1D-6AB20CF12B37}"/>
              </a:ext>
            </a:extLst>
          </p:cNvPr>
          <p:cNvSpPr/>
          <p:nvPr/>
        </p:nvSpPr>
        <p:spPr>
          <a:xfrm>
            <a:off x="685800" y="5435600"/>
            <a:ext cx="76200" cy="660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D6BD86FE-BD5D-4A4A-AC10-FE86E45AF17C}"/>
              </a:ext>
            </a:extLst>
          </p:cNvPr>
          <p:cNvSpPr/>
          <p:nvPr/>
        </p:nvSpPr>
        <p:spPr>
          <a:xfrm>
            <a:off x="939800" y="5435600"/>
            <a:ext cx="3048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마지막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10</a:t>
            </a:r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분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(16:50~17:00)</a:t>
            </a:r>
            <a:endParaRPr lang="ko-KR" altLang="en-US" sz="17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DFABC71F-6C03-41DA-A77F-66F13375A4B0}"/>
              </a:ext>
            </a:extLst>
          </p:cNvPr>
          <p:cNvSpPr/>
          <p:nvPr/>
        </p:nvSpPr>
        <p:spPr>
          <a:xfrm>
            <a:off x="4064000" y="5435600"/>
            <a:ext cx="7366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508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오늘 만든 파일이 저장됐는지 확인하고 마칩니다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2073316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69CEC41-28E7-4FB2-AC22-C0CD36C2E8F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F53C937-6F82-4813-A9CD-96C141C4AD2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파일과 폴더부터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23A8061-333F-4B5A-A43A-7B25DEE237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F14424A-3CBF-47BD-902F-FB37D968DCA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9D7E843-018E-4928-8FA2-16A0C429EB5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006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9DC4E08E-E3CC-4EE2-969C-CBF19F34E018}"/>
              </a:ext>
            </a:extLst>
          </p:cNvPr>
          <p:cNvSpPr/>
          <p:nvPr/>
        </p:nvSpPr>
        <p:spPr>
          <a:xfrm>
            <a:off x="685800" y="1981200"/>
            <a:ext cx="6604000" cy="42672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4C5BFB75-83B2-4B88-8089-121E10C397C4}"/>
              </a:ext>
            </a:extLst>
          </p:cNvPr>
          <p:cNvSpPr/>
          <p:nvPr/>
        </p:nvSpPr>
        <p:spPr>
          <a:xfrm>
            <a:off x="1155700" y="2616200"/>
            <a:ext cx="25400" cy="24130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E610D859-23D3-4213-9294-791776811F3C}"/>
              </a:ext>
            </a:extLst>
          </p:cNvPr>
          <p:cNvSpPr/>
          <p:nvPr/>
        </p:nvSpPr>
        <p:spPr>
          <a:xfrm>
            <a:off x="1155700" y="3327400"/>
            <a:ext cx="5080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1A83F89C-8D26-44F2-920E-120BC36481A7}"/>
              </a:ext>
            </a:extLst>
          </p:cNvPr>
          <p:cNvSpPr/>
          <p:nvPr/>
        </p:nvSpPr>
        <p:spPr>
          <a:xfrm>
            <a:off x="1155700" y="5003800"/>
            <a:ext cx="5080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5B0CDFCD-06C0-4A63-9AE9-3612CFF613DF}"/>
              </a:ext>
            </a:extLst>
          </p:cNvPr>
          <p:cNvSpPr/>
          <p:nvPr/>
        </p:nvSpPr>
        <p:spPr>
          <a:xfrm>
            <a:off x="1498600" y="2184400"/>
            <a:ext cx="381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2000" b="1">
                <a:solidFill>
                  <a:srgbClr val="172E3A"/>
                </a:solidFill>
                <a:latin typeface="Noto Sans KR"/>
                <a:ea typeface="Noto Sans KR"/>
              </a:rPr>
              <a:t>foundations</a:t>
            </a:r>
            <a:endParaRPr lang="ko-KR" altLang="en-US" sz="20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297D56BC-7ECB-49B8-A6AE-5453125F7AE6}"/>
              </a:ext>
            </a:extLst>
          </p:cNvPr>
          <p:cNvSpPr/>
          <p:nvPr/>
        </p:nvSpPr>
        <p:spPr>
          <a:xfrm>
            <a:off x="2260600" y="3124200"/>
            <a:ext cx="1524000" cy="406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2000" b="1">
                <a:solidFill>
                  <a:srgbClr val="172E3A"/>
                </a:solidFill>
                <a:latin typeface="Noto Sans KR"/>
                <a:ea typeface="Noto Sans KR"/>
              </a:rPr>
              <a:t>data</a:t>
            </a:r>
            <a:endParaRPr lang="ko-KR" altLang="en-US" sz="20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21E006F1-14E9-4D04-B00C-4F07DD2CBD9D}"/>
              </a:ext>
            </a:extLst>
          </p:cNvPr>
          <p:cNvSpPr/>
          <p:nvPr/>
        </p:nvSpPr>
        <p:spPr>
          <a:xfrm>
            <a:off x="3810000" y="3149600"/>
            <a:ext cx="3175000" cy="355600"/>
          </a:xfrm>
          <a:prstGeom prst="roundRect">
            <a:avLst/>
          </a:prstGeom>
          <a:solidFill>
            <a:srgbClr val="E4E8E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받은 원본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고치지 않음</a:t>
            </a: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AEB98EE6-1D7D-43A6-9468-BA6C8103172F}"/>
              </a:ext>
            </a:extLst>
          </p:cNvPr>
          <p:cNvSpPr/>
          <p:nvPr/>
        </p:nvSpPr>
        <p:spPr>
          <a:xfrm>
            <a:off x="2260600" y="4800600"/>
            <a:ext cx="1524000" cy="406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2000" b="1">
                <a:solidFill>
                  <a:srgbClr val="08776D"/>
                </a:solidFill>
                <a:latin typeface="Noto Sans KR"/>
                <a:ea typeface="Noto Sans KR"/>
              </a:rPr>
              <a:t>work</a:t>
            </a:r>
            <a:endParaRPr lang="ko-KR" altLang="en-US" sz="20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71FDDAB5-F8F9-4BD0-9218-DC7C07054CCE}"/>
              </a:ext>
            </a:extLst>
          </p:cNvPr>
          <p:cNvSpPr/>
          <p:nvPr/>
        </p:nvSpPr>
        <p:spPr>
          <a:xfrm>
            <a:off x="3810000" y="4826000"/>
            <a:ext cx="3175000" cy="355600"/>
          </a:xfrm>
          <a:prstGeom prst="round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pPr algn="ctr"/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내가 만든 답을 저장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2BF88B6D-1A92-4327-BBD4-52012EA73142}"/>
              </a:ext>
            </a:extLst>
          </p:cNvPr>
          <p:cNvSpPr/>
          <p:nvPr/>
        </p:nvSpPr>
        <p:spPr>
          <a:xfrm>
            <a:off x="2692400" y="5384800"/>
            <a:ext cx="2032000" cy="381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pPr algn="ctr"/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supply.csv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2579429F-26E4-4EC1-936E-9D59DE7AE123}"/>
              </a:ext>
            </a:extLst>
          </p:cNvPr>
          <p:cNvSpPr/>
          <p:nvPr/>
        </p:nvSpPr>
        <p:spPr>
          <a:xfrm>
            <a:off x="4876800" y="5384800"/>
            <a:ext cx="2032000" cy="381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pPr algn="ctr"/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device.json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7B481967-CED7-4CE4-82CE-8EBBA22F11E1}"/>
              </a:ext>
            </a:extLst>
          </p:cNvPr>
          <p:cNvSpPr/>
          <p:nvPr/>
        </p:nvSpPr>
        <p:spPr>
          <a:xfrm>
            <a:off x="2692400" y="3784600"/>
            <a:ext cx="4191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4A5A63"/>
                </a:solidFill>
                <a:latin typeface="Noto Sans KR"/>
                <a:ea typeface="Noto Sans KR"/>
              </a:rPr>
              <a:t>원문 자료 파일들</a:t>
            </a: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2A29D31C-8ED6-4ED9-9B95-5FD006FD6973}"/>
              </a:ext>
            </a:extLst>
          </p:cNvPr>
          <p:cNvSpPr/>
          <p:nvPr/>
        </p:nvSpPr>
        <p:spPr>
          <a:xfrm>
            <a:off x="7543800" y="1981200"/>
            <a:ext cx="3962400" cy="9144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1" name="AccentBar">
            <a:extLst>
              <a:ext uri="{FF2B5EF4-FFF2-40B4-BE49-F238E27FC236}">
                <a16:creationId xmlns:a16="http://schemas.microsoft.com/office/drawing/2014/main" id="{B42B8221-AC31-431B-8182-5CA7EFE4B577}"/>
              </a:ext>
            </a:extLst>
          </p:cNvPr>
          <p:cNvSpPr/>
          <p:nvPr/>
        </p:nvSpPr>
        <p:spPr>
          <a:xfrm>
            <a:off x="7543800" y="1981200"/>
            <a:ext cx="76200" cy="914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BE68994C-7A01-4C5F-B19D-D153B6AAB1D8}"/>
              </a:ext>
            </a:extLst>
          </p:cNvPr>
          <p:cNvSpPr/>
          <p:nvPr/>
        </p:nvSpPr>
        <p:spPr>
          <a:xfrm>
            <a:off x="7772400" y="2057400"/>
            <a:ext cx="3683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파일</a:t>
            </a: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4C43EF8C-03D7-4D0D-AB7C-930FC2561592}"/>
              </a:ext>
            </a:extLst>
          </p:cNvPr>
          <p:cNvSpPr/>
          <p:nvPr/>
        </p:nvSpPr>
        <p:spPr>
          <a:xfrm>
            <a:off x="7772400" y="2362200"/>
            <a:ext cx="3683000" cy="482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저장한 문서 한 개입니다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4F69D569-9BAE-41C4-9220-186A6CEA6819}"/>
              </a:ext>
            </a:extLst>
          </p:cNvPr>
          <p:cNvSpPr/>
          <p:nvPr/>
        </p:nvSpPr>
        <p:spPr>
          <a:xfrm>
            <a:off x="7543800" y="3022600"/>
            <a:ext cx="3962400" cy="9144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AccentBar">
            <a:extLst>
              <a:ext uri="{FF2B5EF4-FFF2-40B4-BE49-F238E27FC236}">
                <a16:creationId xmlns:a16="http://schemas.microsoft.com/office/drawing/2014/main" id="{BDFA0B6C-1064-4113-A039-5EEFC5E7C526}"/>
              </a:ext>
            </a:extLst>
          </p:cNvPr>
          <p:cNvSpPr/>
          <p:nvPr/>
        </p:nvSpPr>
        <p:spPr>
          <a:xfrm>
            <a:off x="7543800" y="3022600"/>
            <a:ext cx="76200" cy="914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3FE9F7C3-0BC2-4825-A466-5AFC89CCDD24}"/>
              </a:ext>
            </a:extLst>
          </p:cNvPr>
          <p:cNvSpPr/>
          <p:nvPr/>
        </p:nvSpPr>
        <p:spPr>
          <a:xfrm>
            <a:off x="7772400" y="3098800"/>
            <a:ext cx="3683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폴더</a:t>
            </a: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64954D51-7346-484C-8002-3AFE8B5F7A46}"/>
              </a:ext>
            </a:extLst>
          </p:cNvPr>
          <p:cNvSpPr/>
          <p:nvPr/>
        </p:nvSpPr>
        <p:spPr>
          <a:xfrm>
            <a:off x="7772400" y="3403600"/>
            <a:ext cx="3683000" cy="482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파일을 모아 둔 위치입니다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E8E77F14-891D-44DA-BDDF-CE3627D686BD}"/>
              </a:ext>
            </a:extLst>
          </p:cNvPr>
          <p:cNvSpPr/>
          <p:nvPr/>
        </p:nvSpPr>
        <p:spPr>
          <a:xfrm>
            <a:off x="7543800" y="4064000"/>
            <a:ext cx="3962400" cy="9144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AccentBar">
            <a:extLst>
              <a:ext uri="{FF2B5EF4-FFF2-40B4-BE49-F238E27FC236}">
                <a16:creationId xmlns:a16="http://schemas.microsoft.com/office/drawing/2014/main" id="{3A167531-BF0D-4EDA-8C9A-84AC664EFA2B}"/>
              </a:ext>
            </a:extLst>
          </p:cNvPr>
          <p:cNvSpPr/>
          <p:nvPr/>
        </p:nvSpPr>
        <p:spPr>
          <a:xfrm>
            <a:off x="7543800" y="4064000"/>
            <a:ext cx="76200" cy="914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7EE7A843-9819-465B-82C7-EBC1E94C67FC}"/>
              </a:ext>
            </a:extLst>
          </p:cNvPr>
          <p:cNvSpPr/>
          <p:nvPr/>
        </p:nvSpPr>
        <p:spPr>
          <a:xfrm>
            <a:off x="7772400" y="4140200"/>
            <a:ext cx="3683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확장자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8CD4C786-089F-4686-BE7F-1690F7A54AF1}"/>
              </a:ext>
            </a:extLst>
          </p:cNvPr>
          <p:cNvSpPr/>
          <p:nvPr/>
        </p:nvSpPr>
        <p:spPr>
          <a:xfrm>
            <a:off x="7772400" y="4445000"/>
            <a:ext cx="3683000" cy="482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이름 끝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.csv, .json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처럼 형식을 알려 줍니다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1B7B18A5-F0D4-4822-93E3-BC2986376A1C}"/>
              </a:ext>
            </a:extLst>
          </p:cNvPr>
          <p:cNvSpPr/>
          <p:nvPr/>
        </p:nvSpPr>
        <p:spPr>
          <a:xfrm>
            <a:off x="7543800" y="5105400"/>
            <a:ext cx="3962400" cy="11430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AccentBar">
            <a:extLst>
              <a:ext uri="{FF2B5EF4-FFF2-40B4-BE49-F238E27FC236}">
                <a16:creationId xmlns:a16="http://schemas.microsoft.com/office/drawing/2014/main" id="{2B3E8D10-B30F-41C1-B948-2BAE07BBE0B5}"/>
              </a:ext>
            </a:extLst>
          </p:cNvPr>
          <p:cNvSpPr/>
          <p:nvPr/>
        </p:nvSpPr>
        <p:spPr>
          <a:xfrm>
            <a:off x="7543800" y="5105400"/>
            <a:ext cx="76200" cy="11430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4E87A293-E3C7-4397-A261-6E0BB3ED1BC0}"/>
              </a:ext>
            </a:extLst>
          </p:cNvPr>
          <p:cNvSpPr/>
          <p:nvPr/>
        </p:nvSpPr>
        <p:spPr>
          <a:xfrm>
            <a:off x="7772400" y="5181600"/>
            <a:ext cx="3683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자주 하는 실수</a:t>
            </a:r>
          </a:p>
        </p:txBody>
      </p:sp>
      <p:sp>
        <p:nvSpPr>
          <p:cNvPr id="45" name="Viz">
            <a:extLst>
              <a:ext uri="{FF2B5EF4-FFF2-40B4-BE49-F238E27FC236}">
                <a16:creationId xmlns:a16="http://schemas.microsoft.com/office/drawing/2014/main" id="{0B10E551-03A7-4CA0-A68F-BC8E7F41532D}"/>
              </a:ext>
            </a:extLst>
          </p:cNvPr>
          <p:cNvSpPr/>
          <p:nvPr/>
        </p:nvSpPr>
        <p:spPr>
          <a:xfrm>
            <a:off x="7772400" y="5486400"/>
            <a:ext cx="3683000" cy="711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원본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(data)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을 직접 고치면 비교할 기준이 사라집니다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답은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work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에 저장합니다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pic>
        <p:nvPicPr>
          <p:cNvPr id="46" name="Graphic 46" descr="foundations 폴더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2133600"/>
            <a:ext cx="508000" cy="482600"/>
          </a:xfrm>
          <a:prstGeom prst="rect">
            <a:avLst/>
          </a:prstGeom>
        </p:spPr>
      </p:pic>
      <p:pic>
        <p:nvPicPr>
          <p:cNvPr id="47" name="Graphic 47" descr="data 폴더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27200" y="3111500"/>
            <a:ext cx="457200" cy="431800"/>
          </a:xfrm>
          <a:prstGeom prst="rect">
            <a:avLst/>
          </a:prstGeom>
        </p:spPr>
      </p:pic>
      <p:pic>
        <p:nvPicPr>
          <p:cNvPr id="48" name="Graphic 48" descr="work 폴더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27200" y="4787900"/>
            <a:ext cx="457200" cy="431800"/>
          </a:xfrm>
          <a:prstGeom prst="rect">
            <a:avLst/>
          </a:prstGeom>
        </p:spPr>
      </p:pic>
      <p:sp>
        <p:nvSpPr>
          <p:cNvPr id="5" name="Viz">
            <a:extLst>
              <a:ext uri="{FF2B5EF4-FFF2-40B4-BE49-F238E27FC236}">
                <a16:creationId xmlns:a16="http://schemas.microsoft.com/office/drawing/2014/main" id="{CF63D4A3-5FD1-43DA-AF9B-4DC28871B03C}"/>
              </a:ext>
            </a:extLst>
          </p:cNvPr>
          <p:cNvSpPr/>
          <p:nvPr/>
        </p:nvSpPr>
        <p:spPr>
          <a:xfrm>
            <a:off x="1955800" y="3568700"/>
            <a:ext cx="25400" cy="3810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Viz">
            <a:extLst>
              <a:ext uri="{FF2B5EF4-FFF2-40B4-BE49-F238E27FC236}">
                <a16:creationId xmlns:a16="http://schemas.microsoft.com/office/drawing/2014/main" id="{7EAB6F40-8D57-4017-B12E-FDE7EF4BD8C9}"/>
              </a:ext>
            </a:extLst>
          </p:cNvPr>
          <p:cNvSpPr/>
          <p:nvPr/>
        </p:nvSpPr>
        <p:spPr>
          <a:xfrm>
            <a:off x="1955800" y="3937000"/>
            <a:ext cx="6858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7" name="Viz">
            <a:extLst>
              <a:ext uri="{FF2B5EF4-FFF2-40B4-BE49-F238E27FC236}">
                <a16:creationId xmlns:a16="http://schemas.microsoft.com/office/drawing/2014/main" id="{840D3C14-7949-4C29-A054-2D5F78B3FEF1}"/>
              </a:ext>
            </a:extLst>
          </p:cNvPr>
          <p:cNvSpPr/>
          <p:nvPr/>
        </p:nvSpPr>
        <p:spPr>
          <a:xfrm>
            <a:off x="1955800" y="5245100"/>
            <a:ext cx="25400" cy="3302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Viz">
            <a:extLst>
              <a:ext uri="{FF2B5EF4-FFF2-40B4-BE49-F238E27FC236}">
                <a16:creationId xmlns:a16="http://schemas.microsoft.com/office/drawing/2014/main" id="{75A74D79-2AFF-4A03-9159-54C8E5E42C9C}"/>
              </a:ext>
            </a:extLst>
          </p:cNvPr>
          <p:cNvSpPr/>
          <p:nvPr/>
        </p:nvSpPr>
        <p:spPr>
          <a:xfrm>
            <a:off x="1955800" y="5562600"/>
            <a:ext cx="7112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9396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54F13E7-6FDB-4DA9-9A3C-4F5F6822E99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89E96F4-68B2-4B6F-9CD4-71ADF3B3B53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메모장에서 </a:t>
            </a:r>
            <a:r>
              <a:rPr lang="en-US" altLang="ko-KR"/>
              <a:t>CSV</a:t>
            </a:r>
            <a:r>
              <a:rPr lang="ko-KR" altLang="en-US"/>
              <a:t>로 저장하는 순서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A488F88-29EB-4DAE-9B98-1A6D760AE31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177C20A-0026-4D4A-B60F-3FEE7ABC036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308DD5-293D-4E50-8B9C-C38EEEB8DC0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007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EFC65DEF-A0D0-456F-84FC-CE6C22BC28E4}"/>
              </a:ext>
            </a:extLst>
          </p:cNvPr>
          <p:cNvSpPr/>
          <p:nvPr/>
        </p:nvSpPr>
        <p:spPr>
          <a:xfrm>
            <a:off x="685800" y="1955800"/>
            <a:ext cx="3327400" cy="5588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C25C09DE-740F-4191-825C-C2A597A47BCC}"/>
              </a:ext>
            </a:extLst>
          </p:cNvPr>
          <p:cNvSpPr/>
          <p:nvPr/>
        </p:nvSpPr>
        <p:spPr>
          <a:xfrm>
            <a:off x="787400" y="2044700"/>
            <a:ext cx="381000" cy="3810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FFFFFF"/>
                </a:solidFill>
                <a:latin typeface="Noto Sans KR"/>
                <a:ea typeface="Noto Sans KR"/>
              </a:rPr>
              <a:t>1</a:t>
            </a:r>
            <a:endParaRPr lang="ko-KR" altLang="en-US" sz="16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22E5B881-D796-4472-B0DA-16B32D4C53EF}"/>
              </a:ext>
            </a:extLst>
          </p:cNvPr>
          <p:cNvSpPr/>
          <p:nvPr/>
        </p:nvSpPr>
        <p:spPr>
          <a:xfrm>
            <a:off x="1244600" y="1955800"/>
            <a:ext cx="27178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압축 파일을 일반 폴더에 풀기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5AF813E4-D5E2-4F8E-9D5B-5CEE903CFA36}"/>
              </a:ext>
            </a:extLst>
          </p:cNvPr>
          <p:cNvSpPr/>
          <p:nvPr/>
        </p:nvSpPr>
        <p:spPr>
          <a:xfrm>
            <a:off x="4064000" y="2108200"/>
            <a:ext cx="254000" cy="2540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C753457A-BFA7-4799-9FC5-D7AC789DB70D}"/>
              </a:ext>
            </a:extLst>
          </p:cNvPr>
          <p:cNvSpPr/>
          <p:nvPr/>
        </p:nvSpPr>
        <p:spPr>
          <a:xfrm>
            <a:off x="4368800" y="1955800"/>
            <a:ext cx="3327400" cy="5588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0880DA8E-19F8-4064-9A15-11CFEE8F384D}"/>
              </a:ext>
            </a:extLst>
          </p:cNvPr>
          <p:cNvSpPr/>
          <p:nvPr/>
        </p:nvSpPr>
        <p:spPr>
          <a:xfrm>
            <a:off x="4470400" y="2044700"/>
            <a:ext cx="381000" cy="3810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  <a:endParaRPr lang="ko-KR" altLang="en-US" sz="16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4E9671CA-C967-46EB-A611-EAE77A6BCAD7}"/>
              </a:ext>
            </a:extLst>
          </p:cNvPr>
          <p:cNvSpPr/>
          <p:nvPr/>
        </p:nvSpPr>
        <p:spPr>
          <a:xfrm>
            <a:off x="4927600" y="1955800"/>
            <a:ext cx="27178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메모장에 내용 입력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BEBE931D-1769-40FE-B85F-AEDC0C9A2C9D}"/>
              </a:ext>
            </a:extLst>
          </p:cNvPr>
          <p:cNvSpPr/>
          <p:nvPr/>
        </p:nvSpPr>
        <p:spPr>
          <a:xfrm>
            <a:off x="7747000" y="2108200"/>
            <a:ext cx="254000" cy="2540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823822E3-1225-4301-AB6E-EDC37C0512DB}"/>
              </a:ext>
            </a:extLst>
          </p:cNvPr>
          <p:cNvSpPr/>
          <p:nvPr/>
        </p:nvSpPr>
        <p:spPr>
          <a:xfrm>
            <a:off x="8051800" y="1955800"/>
            <a:ext cx="3327400" cy="55880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8AE91323-0C00-4769-ABDB-869D06914B35}"/>
              </a:ext>
            </a:extLst>
          </p:cNvPr>
          <p:cNvSpPr/>
          <p:nvPr/>
        </p:nvSpPr>
        <p:spPr>
          <a:xfrm>
            <a:off x="8153400" y="2044700"/>
            <a:ext cx="381000" cy="3810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  <a:endParaRPr lang="ko-KR" altLang="en-US" sz="16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8414C368-0845-4222-854A-404686A2A800}"/>
              </a:ext>
            </a:extLst>
          </p:cNvPr>
          <p:cNvSpPr/>
          <p:nvPr/>
        </p:nvSpPr>
        <p:spPr>
          <a:xfrm>
            <a:off x="8610600" y="1955800"/>
            <a:ext cx="27178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파일 → 다른 이름으로 저장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244DC8B1-1752-4DA6-B92F-ED5210C5B0C2}"/>
              </a:ext>
            </a:extLst>
          </p:cNvPr>
          <p:cNvSpPr/>
          <p:nvPr/>
        </p:nvSpPr>
        <p:spPr>
          <a:xfrm>
            <a:off x="685800" y="2717800"/>
            <a:ext cx="6604000" cy="3505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C7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FF16C2B6-2AD8-4A56-9B38-19DECB835AA7}"/>
              </a:ext>
            </a:extLst>
          </p:cNvPr>
          <p:cNvSpPr/>
          <p:nvPr/>
        </p:nvSpPr>
        <p:spPr>
          <a:xfrm>
            <a:off x="685800" y="2717800"/>
            <a:ext cx="6604000" cy="381000"/>
          </a:xfrm>
          <a:prstGeom prst="rect">
            <a:avLst/>
          </a:prstGeom>
          <a:solidFill>
            <a:srgbClr val="E9EDE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다른 이름으로 저장</a:t>
            </a: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6D503CD2-C989-435C-B51C-45DA3E7C03A8}"/>
              </a:ext>
            </a:extLst>
          </p:cNvPr>
          <p:cNvSpPr/>
          <p:nvPr/>
        </p:nvSpPr>
        <p:spPr>
          <a:xfrm>
            <a:off x="939800" y="3327400"/>
            <a:ext cx="1397000" cy="431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저장 위치</a:t>
            </a: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368A213B-5441-4469-9027-01334144831B}"/>
              </a:ext>
            </a:extLst>
          </p:cNvPr>
          <p:cNvSpPr/>
          <p:nvPr/>
        </p:nvSpPr>
        <p:spPr>
          <a:xfrm>
            <a:off x="2413000" y="3327400"/>
            <a:ext cx="3810000" cy="43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AA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Consolas"/>
              </a:rPr>
              <a:t>foundations › work</a:t>
            </a:r>
            <a:endParaRPr lang="ko-KR" altLang="en-US" sz="16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ED675D7C-3287-4404-A63E-89070A966835}"/>
              </a:ext>
            </a:extLst>
          </p:cNvPr>
          <p:cNvSpPr/>
          <p:nvPr/>
        </p:nvSpPr>
        <p:spPr>
          <a:xfrm>
            <a:off x="6350000" y="3352800"/>
            <a:ext cx="381000" cy="381000"/>
          </a:xfrm>
          <a:prstGeom prst="ellipse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Noto Sans KR"/>
                <a:ea typeface="Noto Sans KR"/>
              </a:rPr>
              <a:t>1</a:t>
            </a:r>
            <a:endParaRPr lang="ko-KR" altLang="en-US" sz="15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2ABB37F8-4352-43D3-82E7-EB7BE79FB507}"/>
              </a:ext>
            </a:extLst>
          </p:cNvPr>
          <p:cNvSpPr/>
          <p:nvPr/>
        </p:nvSpPr>
        <p:spPr>
          <a:xfrm>
            <a:off x="939800" y="3987800"/>
            <a:ext cx="1397000" cy="431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파일 이름</a:t>
            </a: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7663052D-2361-49F2-8DAF-C0E8CB165A05}"/>
              </a:ext>
            </a:extLst>
          </p:cNvPr>
          <p:cNvSpPr/>
          <p:nvPr/>
        </p:nvSpPr>
        <p:spPr>
          <a:xfrm>
            <a:off x="2413000" y="3987800"/>
            <a:ext cx="3810000" cy="43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AA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Consolas"/>
              </a:rPr>
              <a:t>supply.csv</a:t>
            </a:r>
            <a:endParaRPr lang="ko-KR" altLang="en-US" sz="16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21E949A0-4EAA-479D-B821-18450E84A4B6}"/>
              </a:ext>
            </a:extLst>
          </p:cNvPr>
          <p:cNvSpPr/>
          <p:nvPr/>
        </p:nvSpPr>
        <p:spPr>
          <a:xfrm>
            <a:off x="6350000" y="4013200"/>
            <a:ext cx="381000" cy="381000"/>
          </a:xfrm>
          <a:prstGeom prst="ellipse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  <a:endParaRPr lang="ko-KR" altLang="en-US" sz="15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AB22A9DF-7F21-4114-BE60-67FE01E19631}"/>
              </a:ext>
            </a:extLst>
          </p:cNvPr>
          <p:cNvSpPr/>
          <p:nvPr/>
        </p:nvSpPr>
        <p:spPr>
          <a:xfrm>
            <a:off x="939800" y="4648200"/>
            <a:ext cx="1397000" cy="431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파일 형식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4859B520-95E8-41C1-BEED-A548229E0A0D}"/>
              </a:ext>
            </a:extLst>
          </p:cNvPr>
          <p:cNvSpPr/>
          <p:nvPr/>
        </p:nvSpPr>
        <p:spPr>
          <a:xfrm>
            <a:off x="2413000" y="4648200"/>
            <a:ext cx="3810000" cy="43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AA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Consolas"/>
              </a:rPr>
              <a:t>모든 파일 </a:t>
            </a:r>
            <a:r>
              <a:rPr lang="en-US" altLang="ko-KR" sz="1600">
                <a:solidFill>
                  <a:srgbClr val="172E3A"/>
                </a:solidFill>
                <a:latin typeface="Consolas"/>
              </a:rPr>
              <a:t>(*.*)</a:t>
            </a:r>
            <a:endParaRPr lang="ko-KR" altLang="en-US" sz="16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739D98F6-022D-4C3F-859C-7182A0594A81}"/>
              </a:ext>
            </a:extLst>
          </p:cNvPr>
          <p:cNvSpPr/>
          <p:nvPr/>
        </p:nvSpPr>
        <p:spPr>
          <a:xfrm>
            <a:off x="6350000" y="4673600"/>
            <a:ext cx="381000" cy="381000"/>
          </a:xfrm>
          <a:prstGeom prst="ellipse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  <a:endParaRPr lang="ko-KR" altLang="en-US" sz="15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AB280D26-07F3-4400-9003-206EDA6B3396}"/>
              </a:ext>
            </a:extLst>
          </p:cNvPr>
          <p:cNvSpPr/>
          <p:nvPr/>
        </p:nvSpPr>
        <p:spPr>
          <a:xfrm>
            <a:off x="939800" y="5308600"/>
            <a:ext cx="1397000" cy="431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인코딩</a:t>
            </a:r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B1111747-9F14-4C23-AB91-CF428898DFDF}"/>
              </a:ext>
            </a:extLst>
          </p:cNvPr>
          <p:cNvSpPr/>
          <p:nvPr/>
        </p:nvSpPr>
        <p:spPr>
          <a:xfrm>
            <a:off x="2413000" y="5308600"/>
            <a:ext cx="3810000" cy="43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AA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Consolas"/>
              </a:rPr>
              <a:t>UTF-8</a:t>
            </a:r>
            <a:endParaRPr lang="ko-KR" altLang="en-US" sz="16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15A65EFE-E553-49C5-B050-3E356D8BF1B2}"/>
              </a:ext>
            </a:extLst>
          </p:cNvPr>
          <p:cNvSpPr/>
          <p:nvPr/>
        </p:nvSpPr>
        <p:spPr>
          <a:xfrm>
            <a:off x="6350000" y="5334000"/>
            <a:ext cx="381000" cy="381000"/>
          </a:xfrm>
          <a:prstGeom prst="ellipse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Noto Sans KR"/>
                <a:ea typeface="Noto Sans KR"/>
              </a:rPr>
              <a:t>4</a:t>
            </a:r>
            <a:endParaRPr lang="ko-KR" altLang="en-US" sz="15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332AEB03-EBF0-43C5-AD46-7838ADFA91E6}"/>
              </a:ext>
            </a:extLst>
          </p:cNvPr>
          <p:cNvSpPr/>
          <p:nvPr/>
        </p:nvSpPr>
        <p:spPr>
          <a:xfrm>
            <a:off x="7543800" y="2717800"/>
            <a:ext cx="3962400" cy="7874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AccentBar">
            <a:extLst>
              <a:ext uri="{FF2B5EF4-FFF2-40B4-BE49-F238E27FC236}">
                <a16:creationId xmlns:a16="http://schemas.microsoft.com/office/drawing/2014/main" id="{4A1B7551-FB56-4A3D-A1E5-F6F31B0FE559}"/>
              </a:ext>
            </a:extLst>
          </p:cNvPr>
          <p:cNvSpPr/>
          <p:nvPr/>
        </p:nvSpPr>
        <p:spPr>
          <a:xfrm>
            <a:off x="7543800" y="2717800"/>
            <a:ext cx="76200" cy="7874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075FC5BC-32F5-47A8-AC16-DD4E83AB3C6E}"/>
              </a:ext>
            </a:extLst>
          </p:cNvPr>
          <p:cNvSpPr/>
          <p:nvPr/>
        </p:nvSpPr>
        <p:spPr>
          <a:xfrm>
            <a:off x="7747000" y="2768600"/>
            <a:ext cx="37084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A64512"/>
                </a:solidFill>
                <a:latin typeface="Noto Sans KR"/>
                <a:ea typeface="Noto Sans KR"/>
              </a:rPr>
              <a:t>1 </a:t>
            </a:r>
            <a:r>
              <a:rPr lang="ko-KR" altLang="en-US" sz="1500" b="1">
                <a:solidFill>
                  <a:srgbClr val="A64512"/>
                </a:solidFill>
                <a:latin typeface="Noto Sans KR"/>
                <a:ea typeface="Noto Sans KR"/>
              </a:rPr>
              <a:t>저장 위치</a:t>
            </a: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B65B5225-AB21-44CF-B84D-1BE61EE99F2D}"/>
              </a:ext>
            </a:extLst>
          </p:cNvPr>
          <p:cNvSpPr/>
          <p:nvPr/>
        </p:nvSpPr>
        <p:spPr>
          <a:xfrm>
            <a:off x="7747000" y="3048000"/>
            <a:ext cx="3708400" cy="431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work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폴더를 고릅니다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5" name="Viz">
            <a:extLst>
              <a:ext uri="{FF2B5EF4-FFF2-40B4-BE49-F238E27FC236}">
                <a16:creationId xmlns:a16="http://schemas.microsoft.com/office/drawing/2014/main" id="{4A0D377C-E078-430A-A87F-CE7B87FEF2B6}"/>
              </a:ext>
            </a:extLst>
          </p:cNvPr>
          <p:cNvSpPr/>
          <p:nvPr/>
        </p:nvSpPr>
        <p:spPr>
          <a:xfrm>
            <a:off x="7543800" y="3606800"/>
            <a:ext cx="3962400" cy="7874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6" name="AccentBar">
            <a:extLst>
              <a:ext uri="{FF2B5EF4-FFF2-40B4-BE49-F238E27FC236}">
                <a16:creationId xmlns:a16="http://schemas.microsoft.com/office/drawing/2014/main" id="{5AB9904B-8B19-41C5-B071-929FAFA2AEF9}"/>
              </a:ext>
            </a:extLst>
          </p:cNvPr>
          <p:cNvSpPr/>
          <p:nvPr/>
        </p:nvSpPr>
        <p:spPr>
          <a:xfrm>
            <a:off x="7543800" y="3606800"/>
            <a:ext cx="76200" cy="7874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7" name="Viz">
            <a:extLst>
              <a:ext uri="{FF2B5EF4-FFF2-40B4-BE49-F238E27FC236}">
                <a16:creationId xmlns:a16="http://schemas.microsoft.com/office/drawing/2014/main" id="{88604FF1-41A9-4A29-8AD6-41242919B448}"/>
              </a:ext>
            </a:extLst>
          </p:cNvPr>
          <p:cNvSpPr/>
          <p:nvPr/>
        </p:nvSpPr>
        <p:spPr>
          <a:xfrm>
            <a:off x="7747000" y="3657600"/>
            <a:ext cx="37084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A64512"/>
                </a:solidFill>
                <a:latin typeface="Noto Sans KR"/>
                <a:ea typeface="Noto Sans KR"/>
              </a:rPr>
              <a:t>2 </a:t>
            </a:r>
            <a:r>
              <a:rPr lang="ko-KR" altLang="en-US" sz="1500" b="1">
                <a:solidFill>
                  <a:srgbClr val="A64512"/>
                </a:solidFill>
                <a:latin typeface="Noto Sans KR"/>
                <a:ea typeface="Noto Sans KR"/>
              </a:rPr>
              <a:t>파일 이름</a:t>
            </a:r>
          </a:p>
        </p:txBody>
      </p:sp>
      <p:sp>
        <p:nvSpPr>
          <p:cNvPr id="48" name="Viz">
            <a:extLst>
              <a:ext uri="{FF2B5EF4-FFF2-40B4-BE49-F238E27FC236}">
                <a16:creationId xmlns:a16="http://schemas.microsoft.com/office/drawing/2014/main" id="{2DE9B3A6-7C95-4BA1-899B-3A4912B23EDF}"/>
              </a:ext>
            </a:extLst>
          </p:cNvPr>
          <p:cNvSpPr/>
          <p:nvPr/>
        </p:nvSpPr>
        <p:spPr>
          <a:xfrm>
            <a:off x="7747000" y="3937000"/>
            <a:ext cx="3708400" cy="431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끝에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.csv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까지 직접 씁니다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9" name="Viz">
            <a:extLst>
              <a:ext uri="{FF2B5EF4-FFF2-40B4-BE49-F238E27FC236}">
                <a16:creationId xmlns:a16="http://schemas.microsoft.com/office/drawing/2014/main" id="{FC6F1416-C3F2-44BC-AAF8-8ED9F39ADB2A}"/>
              </a:ext>
            </a:extLst>
          </p:cNvPr>
          <p:cNvSpPr/>
          <p:nvPr/>
        </p:nvSpPr>
        <p:spPr>
          <a:xfrm>
            <a:off x="7543800" y="4495800"/>
            <a:ext cx="3962400" cy="7874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0" name="AccentBar">
            <a:extLst>
              <a:ext uri="{FF2B5EF4-FFF2-40B4-BE49-F238E27FC236}">
                <a16:creationId xmlns:a16="http://schemas.microsoft.com/office/drawing/2014/main" id="{021B3068-2251-48D1-8E59-ADDED4DD3CE3}"/>
              </a:ext>
            </a:extLst>
          </p:cNvPr>
          <p:cNvSpPr/>
          <p:nvPr/>
        </p:nvSpPr>
        <p:spPr>
          <a:xfrm>
            <a:off x="7543800" y="4495800"/>
            <a:ext cx="76200" cy="7874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1" name="Viz">
            <a:extLst>
              <a:ext uri="{FF2B5EF4-FFF2-40B4-BE49-F238E27FC236}">
                <a16:creationId xmlns:a16="http://schemas.microsoft.com/office/drawing/2014/main" id="{6B202043-EC9C-483B-A4B0-D29D681EB7F6}"/>
              </a:ext>
            </a:extLst>
          </p:cNvPr>
          <p:cNvSpPr/>
          <p:nvPr/>
        </p:nvSpPr>
        <p:spPr>
          <a:xfrm>
            <a:off x="7747000" y="4546600"/>
            <a:ext cx="37084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A64512"/>
                </a:solidFill>
                <a:latin typeface="Noto Sans KR"/>
                <a:ea typeface="Noto Sans KR"/>
              </a:rPr>
              <a:t>3 </a:t>
            </a:r>
            <a:r>
              <a:rPr lang="ko-KR" altLang="en-US" sz="1500" b="1">
                <a:solidFill>
                  <a:srgbClr val="A64512"/>
                </a:solidFill>
                <a:latin typeface="Noto Sans KR"/>
                <a:ea typeface="Noto Sans KR"/>
              </a:rPr>
              <a:t>파일 형식</a:t>
            </a:r>
          </a:p>
        </p:txBody>
      </p:sp>
      <p:sp>
        <p:nvSpPr>
          <p:cNvPr id="52" name="Viz">
            <a:extLst>
              <a:ext uri="{FF2B5EF4-FFF2-40B4-BE49-F238E27FC236}">
                <a16:creationId xmlns:a16="http://schemas.microsoft.com/office/drawing/2014/main" id="{01FF3719-5573-4789-8714-11625AE0BB40}"/>
              </a:ext>
            </a:extLst>
          </p:cNvPr>
          <p:cNvSpPr/>
          <p:nvPr/>
        </p:nvSpPr>
        <p:spPr>
          <a:xfrm>
            <a:off x="7747000" y="4826000"/>
            <a:ext cx="3708400" cy="431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텍스트 문서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로 두면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supply.csv.txt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가 됩니다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53" name="Viz">
            <a:extLst>
              <a:ext uri="{FF2B5EF4-FFF2-40B4-BE49-F238E27FC236}">
                <a16:creationId xmlns:a16="http://schemas.microsoft.com/office/drawing/2014/main" id="{B6E67F53-2D0D-45F9-B101-58FAC87263CC}"/>
              </a:ext>
            </a:extLst>
          </p:cNvPr>
          <p:cNvSpPr/>
          <p:nvPr/>
        </p:nvSpPr>
        <p:spPr>
          <a:xfrm>
            <a:off x="7543800" y="5384800"/>
            <a:ext cx="3962400" cy="7874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4" name="AccentBar">
            <a:extLst>
              <a:ext uri="{FF2B5EF4-FFF2-40B4-BE49-F238E27FC236}">
                <a16:creationId xmlns:a16="http://schemas.microsoft.com/office/drawing/2014/main" id="{C4E738D2-FF8E-4938-86E7-AD22F38E629C}"/>
              </a:ext>
            </a:extLst>
          </p:cNvPr>
          <p:cNvSpPr/>
          <p:nvPr/>
        </p:nvSpPr>
        <p:spPr>
          <a:xfrm>
            <a:off x="7543800" y="5384800"/>
            <a:ext cx="76200" cy="7874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5" name="Viz">
            <a:extLst>
              <a:ext uri="{FF2B5EF4-FFF2-40B4-BE49-F238E27FC236}">
                <a16:creationId xmlns:a16="http://schemas.microsoft.com/office/drawing/2014/main" id="{B936E521-4208-441A-80F6-060797FADEF3}"/>
              </a:ext>
            </a:extLst>
          </p:cNvPr>
          <p:cNvSpPr/>
          <p:nvPr/>
        </p:nvSpPr>
        <p:spPr>
          <a:xfrm>
            <a:off x="7747000" y="5435600"/>
            <a:ext cx="37084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A64512"/>
                </a:solidFill>
                <a:latin typeface="Noto Sans KR"/>
                <a:ea typeface="Noto Sans KR"/>
              </a:rPr>
              <a:t>4 </a:t>
            </a:r>
            <a:r>
              <a:rPr lang="ko-KR" altLang="en-US" sz="1500" b="1">
                <a:solidFill>
                  <a:srgbClr val="A64512"/>
                </a:solidFill>
                <a:latin typeface="Noto Sans KR"/>
                <a:ea typeface="Noto Sans KR"/>
              </a:rPr>
              <a:t>인코딩</a:t>
            </a:r>
          </a:p>
        </p:txBody>
      </p:sp>
      <p:sp>
        <p:nvSpPr>
          <p:cNvPr id="56" name="Viz">
            <a:extLst>
              <a:ext uri="{FF2B5EF4-FFF2-40B4-BE49-F238E27FC236}">
                <a16:creationId xmlns:a16="http://schemas.microsoft.com/office/drawing/2014/main" id="{ED0B6066-27D0-46CF-882C-E384EF00784D}"/>
              </a:ext>
            </a:extLst>
          </p:cNvPr>
          <p:cNvSpPr/>
          <p:nvPr/>
        </p:nvSpPr>
        <p:spPr>
          <a:xfrm>
            <a:off x="7747000" y="5715000"/>
            <a:ext cx="3708400" cy="431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UTF-8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이어야 한글이 깨지지 않습니다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676935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D659C5BF-DBEE-4D90-B53C-C12A4C32EEF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4C27745-2B23-4F93-9948-5A36855DCAD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확장자와 저장 확인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60AA07B-47E7-4B9C-A73F-AF44B1642F4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4B30B4-FFD5-40A5-86C2-BE2A255F9D5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5104856-663B-413F-8D0C-E410DF4736A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008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5D90A2CD-6947-41E5-BEFF-7938A086B0D7}"/>
              </a:ext>
            </a:extLst>
          </p:cNvPr>
          <p:cNvSpPr/>
          <p:nvPr/>
        </p:nvSpPr>
        <p:spPr>
          <a:xfrm>
            <a:off x="685800" y="1981200"/>
            <a:ext cx="6604000" cy="424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C7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F1070DAD-E65E-4FD4-A202-27A9BAB1FA24}"/>
              </a:ext>
            </a:extLst>
          </p:cNvPr>
          <p:cNvSpPr/>
          <p:nvPr/>
        </p:nvSpPr>
        <p:spPr>
          <a:xfrm>
            <a:off x="685800" y="1981200"/>
            <a:ext cx="6604000" cy="381000"/>
          </a:xfrm>
          <a:prstGeom prst="rect">
            <a:avLst/>
          </a:prstGeom>
          <a:solidFill>
            <a:srgbClr val="E9EDE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work 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폴더  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(</a:t>
            </a:r>
            <a:r>
              <a:rPr lang="ko-KR" altLang="en-US" sz="1400" b="1">
                <a:solidFill>
                  <a:srgbClr val="172E3A"/>
                </a:solidFill>
                <a:latin typeface="Noto Sans KR"/>
                <a:ea typeface="Noto Sans KR"/>
              </a:rPr>
              <a:t>보기 → 파일 확장명 켬</a:t>
            </a:r>
            <a:r>
              <a:rPr lang="en-US" altLang="ko-KR" sz="1400" b="1">
                <a:solidFill>
                  <a:srgbClr val="172E3A"/>
                </a:solidFill>
                <a:latin typeface="Noto Sans KR"/>
                <a:ea typeface="Noto Sans KR"/>
              </a:rPr>
              <a:t>)</a:t>
            </a:r>
            <a:endParaRPr lang="ko-KR" altLang="en-US" sz="14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F468CCB2-774B-4A88-B7AD-47654CE3981A}"/>
              </a:ext>
            </a:extLst>
          </p:cNvPr>
          <p:cNvSpPr/>
          <p:nvPr/>
        </p:nvSpPr>
        <p:spPr>
          <a:xfrm>
            <a:off x="939800" y="2489200"/>
            <a:ext cx="3175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4A5A63"/>
                </a:solidFill>
                <a:latin typeface="Noto Sans KR"/>
                <a:ea typeface="Noto Sans KR"/>
              </a:rPr>
              <a:t>이름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492702DA-FFC9-4408-9E2E-F6487F967B17}"/>
              </a:ext>
            </a:extLst>
          </p:cNvPr>
          <p:cNvSpPr/>
          <p:nvPr/>
        </p:nvSpPr>
        <p:spPr>
          <a:xfrm>
            <a:off x="4191000" y="2489200"/>
            <a:ext cx="1397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4A5A63"/>
                </a:solidFill>
                <a:latin typeface="Noto Sans KR"/>
                <a:ea typeface="Noto Sans KR"/>
              </a:rPr>
              <a:t>종류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F8006FAF-BE1E-491A-A4F0-6C6616B9D8EF}"/>
              </a:ext>
            </a:extLst>
          </p:cNvPr>
          <p:cNvSpPr/>
          <p:nvPr/>
        </p:nvSpPr>
        <p:spPr>
          <a:xfrm>
            <a:off x="838200" y="2870200"/>
            <a:ext cx="6299200" cy="5588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71B2F0C4-09BA-4526-8081-4A6405258501}"/>
              </a:ext>
            </a:extLst>
          </p:cNvPr>
          <p:cNvSpPr/>
          <p:nvPr/>
        </p:nvSpPr>
        <p:spPr>
          <a:xfrm>
            <a:off x="939800" y="2870200"/>
            <a:ext cx="3175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>
                <a:solidFill>
                  <a:srgbClr val="172E3A"/>
                </a:solidFill>
                <a:latin typeface="Consolas"/>
              </a:rPr>
              <a:t>supply.csv</a:t>
            </a:r>
            <a:endParaRPr lang="ko-KR" altLang="en-US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9B2C83ED-5F87-4C0F-8001-D37810CF9613}"/>
              </a:ext>
            </a:extLst>
          </p:cNvPr>
          <p:cNvSpPr/>
          <p:nvPr/>
        </p:nvSpPr>
        <p:spPr>
          <a:xfrm>
            <a:off x="4191000" y="2870200"/>
            <a:ext cx="1524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CSV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파일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64DE6730-F475-44D7-890B-14059E725DD7}"/>
              </a:ext>
            </a:extLst>
          </p:cNvPr>
          <p:cNvSpPr/>
          <p:nvPr/>
        </p:nvSpPr>
        <p:spPr>
          <a:xfrm>
            <a:off x="5842000" y="2959100"/>
            <a:ext cx="1168400" cy="381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맞음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2E620969-38C8-4950-9ACF-6CCA5F16E167}"/>
              </a:ext>
            </a:extLst>
          </p:cNvPr>
          <p:cNvSpPr/>
          <p:nvPr/>
        </p:nvSpPr>
        <p:spPr>
          <a:xfrm>
            <a:off x="838200" y="3530600"/>
            <a:ext cx="6299200" cy="5588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968B5505-4CB3-4F93-AF84-CA267F9271C6}"/>
              </a:ext>
            </a:extLst>
          </p:cNvPr>
          <p:cNvSpPr/>
          <p:nvPr/>
        </p:nvSpPr>
        <p:spPr>
          <a:xfrm>
            <a:off x="939800" y="3530600"/>
            <a:ext cx="3175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>
                <a:solidFill>
                  <a:srgbClr val="172E3A"/>
                </a:solidFill>
                <a:latin typeface="Consolas"/>
              </a:rPr>
              <a:t>device.json</a:t>
            </a:r>
            <a:endParaRPr lang="ko-KR" altLang="en-US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07A44BAF-80B4-412F-B1EE-0D8A9CABFDF8}"/>
              </a:ext>
            </a:extLst>
          </p:cNvPr>
          <p:cNvSpPr/>
          <p:nvPr/>
        </p:nvSpPr>
        <p:spPr>
          <a:xfrm>
            <a:off x="4191000" y="3530600"/>
            <a:ext cx="1524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JSON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파일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C648DBD6-AD56-4715-9662-A4F3F6B6BC04}"/>
              </a:ext>
            </a:extLst>
          </p:cNvPr>
          <p:cNvSpPr/>
          <p:nvPr/>
        </p:nvSpPr>
        <p:spPr>
          <a:xfrm>
            <a:off x="5842000" y="3619500"/>
            <a:ext cx="1168400" cy="381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맞음</a:t>
            </a: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0915FC28-B37A-4101-92BF-B154F17020AE}"/>
              </a:ext>
            </a:extLst>
          </p:cNvPr>
          <p:cNvSpPr/>
          <p:nvPr/>
        </p:nvSpPr>
        <p:spPr>
          <a:xfrm>
            <a:off x="838200" y="4191000"/>
            <a:ext cx="6299200" cy="5588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01E6A548-FF2A-402E-AFB6-D50401897A3D}"/>
              </a:ext>
            </a:extLst>
          </p:cNvPr>
          <p:cNvSpPr/>
          <p:nvPr/>
        </p:nvSpPr>
        <p:spPr>
          <a:xfrm>
            <a:off x="939800" y="4191000"/>
            <a:ext cx="3175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A64512"/>
                </a:solidFill>
                <a:latin typeface="Consolas"/>
              </a:rPr>
              <a:t>supply.csv.txt</a:t>
            </a:r>
            <a:endParaRPr lang="ko-KR" altLang="en-US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CFC13C3C-E0A8-486B-9B87-618CA2751CD2}"/>
              </a:ext>
            </a:extLst>
          </p:cNvPr>
          <p:cNvSpPr/>
          <p:nvPr/>
        </p:nvSpPr>
        <p:spPr>
          <a:xfrm>
            <a:off x="4191000" y="4191000"/>
            <a:ext cx="1524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텍스트 문서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8675FA75-C4D5-4276-90AB-6FE5110ACAA6}"/>
              </a:ext>
            </a:extLst>
          </p:cNvPr>
          <p:cNvSpPr/>
          <p:nvPr/>
        </p:nvSpPr>
        <p:spPr>
          <a:xfrm>
            <a:off x="5842000" y="4279900"/>
            <a:ext cx="1168400" cy="381000"/>
          </a:xfrm>
          <a:prstGeom prst="round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76200" bIns="25400" rtlCol="0" anchor="ctr" anchorCtr="0">
            <a:noAutofit/>
          </a:bodyPr>
          <a:lstStyle/>
          <a:p>
            <a:pPr algn="ctr"/>
            <a:r>
              <a:rPr lang="ko-KR" altLang="en-US" sz="1400" b="1">
                <a:solidFill>
                  <a:srgbClr val="FFFFFF"/>
                </a:solidFill>
                <a:latin typeface="Noto Sans KR"/>
                <a:ea typeface="Noto Sans KR"/>
              </a:rPr>
              <a:t>다시 저장</a:t>
            </a: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C9F8DFA6-B9DE-441B-9292-610A67068A21}"/>
              </a:ext>
            </a:extLst>
          </p:cNvPr>
          <p:cNvSpPr/>
          <p:nvPr/>
        </p:nvSpPr>
        <p:spPr>
          <a:xfrm>
            <a:off x="838200" y="4953000"/>
            <a:ext cx="6299200" cy="1143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끝에 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.txt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가 하나 더 붙으면 메모장이 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텍스트 문서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로 저장한 것입니다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파일 형식을 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모든 파일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로 바꿔 다시 저장합니다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A64512"/>
              </a:solidFill>
              <a:latin typeface="Noto Sans KR"/>
              <a:ea typeface="Noto Sans KR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7AD69F5E-CDC2-40C0-AFE8-21FE60635530}"/>
              </a:ext>
            </a:extLst>
          </p:cNvPr>
          <p:cNvSpPr/>
          <p:nvPr/>
        </p:nvSpPr>
        <p:spPr>
          <a:xfrm>
            <a:off x="7543800" y="1981200"/>
            <a:ext cx="3962400" cy="13208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AccentBar">
            <a:extLst>
              <a:ext uri="{FF2B5EF4-FFF2-40B4-BE49-F238E27FC236}">
                <a16:creationId xmlns:a16="http://schemas.microsoft.com/office/drawing/2014/main" id="{9959019B-0168-4F79-B876-39D496C4EE65}"/>
              </a:ext>
            </a:extLst>
          </p:cNvPr>
          <p:cNvSpPr/>
          <p:nvPr/>
        </p:nvSpPr>
        <p:spPr>
          <a:xfrm>
            <a:off x="7543800" y="1981200"/>
            <a:ext cx="76200" cy="1320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2C5C070B-C206-481E-ADF1-3F433EAB3C57}"/>
              </a:ext>
            </a:extLst>
          </p:cNvPr>
          <p:cNvSpPr/>
          <p:nvPr/>
        </p:nvSpPr>
        <p:spPr>
          <a:xfrm>
            <a:off x="7772400" y="2082800"/>
            <a:ext cx="3683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확장명 표시 켜기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B2995D7E-212B-4F01-B47A-8329AF359720}"/>
              </a:ext>
            </a:extLst>
          </p:cNvPr>
          <p:cNvSpPr/>
          <p:nvPr/>
        </p:nvSpPr>
        <p:spPr>
          <a:xfrm>
            <a:off x="7772400" y="2438400"/>
            <a:ext cx="3683000" cy="812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파일 탐색기 보기 메뉴에서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파일 확장명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을 켭니다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38723A10-994C-455A-8C5F-65E3F7983AF4}"/>
              </a:ext>
            </a:extLst>
          </p:cNvPr>
          <p:cNvSpPr/>
          <p:nvPr/>
        </p:nvSpPr>
        <p:spPr>
          <a:xfrm>
            <a:off x="7543800" y="3429000"/>
            <a:ext cx="3962400" cy="13208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AccentBar">
            <a:extLst>
              <a:ext uri="{FF2B5EF4-FFF2-40B4-BE49-F238E27FC236}">
                <a16:creationId xmlns:a16="http://schemas.microsoft.com/office/drawing/2014/main" id="{9B74C330-FAC5-4B29-88F0-A1925F03A371}"/>
              </a:ext>
            </a:extLst>
          </p:cNvPr>
          <p:cNvSpPr/>
          <p:nvPr/>
        </p:nvSpPr>
        <p:spPr>
          <a:xfrm>
            <a:off x="7543800" y="3429000"/>
            <a:ext cx="76200" cy="1320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17BE5C2A-8952-4745-814D-E020EFF39FD0}"/>
              </a:ext>
            </a:extLst>
          </p:cNvPr>
          <p:cNvSpPr/>
          <p:nvPr/>
        </p:nvSpPr>
        <p:spPr>
          <a:xfrm>
            <a:off x="7772400" y="3530600"/>
            <a:ext cx="3683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다시 열어 보기</a:t>
            </a: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CA6DB388-8D16-4661-BCDF-272ED6580DF8}"/>
              </a:ext>
            </a:extLst>
          </p:cNvPr>
          <p:cNvSpPr/>
          <p:nvPr/>
        </p:nvSpPr>
        <p:spPr>
          <a:xfrm>
            <a:off x="7772400" y="3886200"/>
            <a:ext cx="3683000" cy="812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닫았다 다시 열어 마지막 줄이 남아 있으면 저장된 것입니다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7A29814D-25A1-4126-AA4B-F5B7A7F380B4}"/>
              </a:ext>
            </a:extLst>
          </p:cNvPr>
          <p:cNvSpPr/>
          <p:nvPr/>
        </p:nvSpPr>
        <p:spPr>
          <a:xfrm>
            <a:off x="7543800" y="4876800"/>
            <a:ext cx="3962400" cy="1320800"/>
          </a:xfrm>
          <a:prstGeom prst="rect">
            <a:avLst/>
          </a:prstGeom>
          <a:solidFill>
            <a:srgbClr val="FFFFFF">
              <a:alpha val="9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AccentBar">
            <a:extLst>
              <a:ext uri="{FF2B5EF4-FFF2-40B4-BE49-F238E27FC236}">
                <a16:creationId xmlns:a16="http://schemas.microsoft.com/office/drawing/2014/main" id="{E3CCD04C-9F5E-4804-9E0E-DA7050ED7224}"/>
              </a:ext>
            </a:extLst>
          </p:cNvPr>
          <p:cNvSpPr/>
          <p:nvPr/>
        </p:nvSpPr>
        <p:spPr>
          <a:xfrm>
            <a:off x="7543800" y="4876800"/>
            <a:ext cx="76200" cy="1320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D3B23633-A669-40EC-B65B-8E9228D4167A}"/>
              </a:ext>
            </a:extLst>
          </p:cNvPr>
          <p:cNvSpPr/>
          <p:nvPr/>
        </p:nvSpPr>
        <p:spPr>
          <a:xfrm>
            <a:off x="7772400" y="4978400"/>
            <a:ext cx="3683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저장이 안 될 때</a:t>
            </a: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752EF71B-5293-4609-A558-F3C136194C96}"/>
              </a:ext>
            </a:extLst>
          </p:cNvPr>
          <p:cNvSpPr/>
          <p:nvPr/>
        </p:nvSpPr>
        <p:spPr>
          <a:xfrm>
            <a:off x="7772400" y="5334000"/>
            <a:ext cx="3683000" cy="812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25400" rIns="762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같은 표와 기호를 종이에 써서 이어서 참여합니다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4073193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EDF2BB60-2498-4D79-A0E0-27D995BC063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CEA3ECB-BC8B-4937-86AA-769F3E6151C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피지컬 AI의 흐름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268A53E-C885-494E-9781-B1362430614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74FB754-E77A-4BA5-87A9-8F4D8ACFBDA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E86BB66-CE83-4A67-92EE-1D028D105D0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009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F0E0F14D-5FC5-4381-977C-731FF867E7FC}"/>
              </a:ext>
            </a:extLst>
          </p:cNvPr>
          <p:cNvSpPr/>
          <p:nvPr/>
        </p:nvSpPr>
        <p:spPr>
          <a:xfrm>
            <a:off x="685800" y="2108200"/>
            <a:ext cx="2362200" cy="2159000"/>
          </a:xfrm>
          <a:prstGeom prst="round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32979DBF-821A-44D0-A09E-2B6AA4EC719E}"/>
              </a:ext>
            </a:extLst>
          </p:cNvPr>
          <p:cNvSpPr/>
          <p:nvPr/>
        </p:nvSpPr>
        <p:spPr>
          <a:xfrm>
            <a:off x="685800" y="2108200"/>
            <a:ext cx="2362200" cy="5842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FFFFFF"/>
                </a:solidFill>
                <a:latin typeface="Noto Sans KR"/>
                <a:ea typeface="Noto Sans KR"/>
              </a:rPr>
              <a:t>1 </a:t>
            </a:r>
            <a:r>
              <a:rPr lang="ko-KR" altLang="en-US" sz="2000" b="1">
                <a:solidFill>
                  <a:srgbClr val="FFFFFF"/>
                </a:solidFill>
                <a:latin typeface="Noto Sans KR"/>
                <a:ea typeface="Noto Sans KR"/>
              </a:rPr>
              <a:t>읽기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22A9B529-BB41-4EC0-A396-611186404C9D}"/>
              </a:ext>
            </a:extLst>
          </p:cNvPr>
          <p:cNvSpPr/>
          <p:nvPr/>
        </p:nvSpPr>
        <p:spPr>
          <a:xfrm>
            <a:off x="685800" y="2768600"/>
            <a:ext cx="2362200" cy="787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현실의 상태를 기록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8775C484-1FF4-4617-88EC-3594735D791D}"/>
              </a:ext>
            </a:extLst>
          </p:cNvPr>
          <p:cNvSpPr/>
          <p:nvPr/>
        </p:nvSpPr>
        <p:spPr>
          <a:xfrm>
            <a:off x="838200" y="3632200"/>
            <a:ext cx="2057400" cy="4826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08776D"/>
                </a:solidFill>
                <a:latin typeface="Noto Sans KR"/>
                <a:ea typeface="Noto Sans KR"/>
              </a:rPr>
              <a:t>카메라 </a:t>
            </a:r>
            <a:r>
              <a:rPr lang="en-US" altLang="ko-KR" sz="1400">
                <a:solidFill>
                  <a:srgbClr val="08776D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08776D"/>
                </a:solidFill>
                <a:latin typeface="Noto Sans KR"/>
                <a:ea typeface="Noto Sans KR"/>
              </a:rPr>
              <a:t>온도 센서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9A5EEC0E-5B64-4E83-AAA2-3DBCFB205C8E}"/>
              </a:ext>
            </a:extLst>
          </p:cNvPr>
          <p:cNvSpPr/>
          <p:nvPr/>
        </p:nvSpPr>
        <p:spPr>
          <a:xfrm>
            <a:off x="3124200" y="2997200"/>
            <a:ext cx="304800" cy="330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FEA07132-9A30-44C9-8D00-D59DBCFB8B0A}"/>
              </a:ext>
            </a:extLst>
          </p:cNvPr>
          <p:cNvSpPr/>
          <p:nvPr/>
        </p:nvSpPr>
        <p:spPr>
          <a:xfrm>
            <a:off x="3505200" y="2108200"/>
            <a:ext cx="2362200" cy="2159000"/>
          </a:xfrm>
          <a:prstGeom prst="round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C0048B6D-43EE-4D8A-BBF5-BEBD34257DD3}"/>
              </a:ext>
            </a:extLst>
          </p:cNvPr>
          <p:cNvSpPr/>
          <p:nvPr/>
        </p:nvSpPr>
        <p:spPr>
          <a:xfrm>
            <a:off x="3505200" y="2108200"/>
            <a:ext cx="2362200" cy="5842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FFFFFF"/>
                </a:solidFill>
                <a:latin typeface="Noto Sans KR"/>
                <a:ea typeface="Noto Sans KR"/>
              </a:rPr>
              <a:t>2 </a:t>
            </a:r>
            <a:r>
              <a:rPr lang="ko-KR" altLang="en-US" sz="2000" b="1">
                <a:solidFill>
                  <a:srgbClr val="FFFFFF"/>
                </a:solidFill>
                <a:latin typeface="Noto Sans KR"/>
                <a:ea typeface="Noto Sans KR"/>
              </a:rPr>
              <a:t>판단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52ADBAE4-32D7-428C-A466-4DD758CFC87A}"/>
              </a:ext>
            </a:extLst>
          </p:cNvPr>
          <p:cNvSpPr/>
          <p:nvPr/>
        </p:nvSpPr>
        <p:spPr>
          <a:xfrm>
            <a:off x="3505200" y="2768600"/>
            <a:ext cx="2362200" cy="787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다음 동작을 결정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656FA7D3-9309-4EDC-8F8C-7C42FDFA70F9}"/>
              </a:ext>
            </a:extLst>
          </p:cNvPr>
          <p:cNvSpPr/>
          <p:nvPr/>
        </p:nvSpPr>
        <p:spPr>
          <a:xfrm>
            <a:off x="3657600" y="3632200"/>
            <a:ext cx="2057400" cy="4826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08776D"/>
                </a:solidFill>
                <a:latin typeface="Noto Sans KR"/>
                <a:ea typeface="Noto Sans KR"/>
              </a:rPr>
              <a:t>프로그램 </a:t>
            </a:r>
            <a:r>
              <a:rPr lang="en-US" altLang="ko-KR" sz="1400">
                <a:solidFill>
                  <a:srgbClr val="08776D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08776D"/>
                </a:solidFill>
                <a:latin typeface="Noto Sans KR"/>
                <a:ea typeface="Noto Sans KR"/>
              </a:rPr>
              <a:t>학습 모델</a:t>
            </a: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D2D8E2B0-6A4B-41DB-8FE8-91B0807E66E4}"/>
              </a:ext>
            </a:extLst>
          </p:cNvPr>
          <p:cNvSpPr/>
          <p:nvPr/>
        </p:nvSpPr>
        <p:spPr>
          <a:xfrm>
            <a:off x="5943600" y="2997200"/>
            <a:ext cx="304800" cy="330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E0FCFBCE-A5A7-49C0-8F5E-4C9D82711AA3}"/>
              </a:ext>
            </a:extLst>
          </p:cNvPr>
          <p:cNvSpPr/>
          <p:nvPr/>
        </p:nvSpPr>
        <p:spPr>
          <a:xfrm>
            <a:off x="6324600" y="2108200"/>
            <a:ext cx="2362200" cy="2159000"/>
          </a:xfrm>
          <a:prstGeom prst="round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68A9F7F0-E43E-46C7-ADB2-C4B306BB87BE}"/>
              </a:ext>
            </a:extLst>
          </p:cNvPr>
          <p:cNvSpPr/>
          <p:nvPr/>
        </p:nvSpPr>
        <p:spPr>
          <a:xfrm>
            <a:off x="6324600" y="2108200"/>
            <a:ext cx="2362200" cy="5842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FFFFFF"/>
                </a:solidFill>
                <a:latin typeface="Noto Sans KR"/>
                <a:ea typeface="Noto Sans KR"/>
              </a:rPr>
              <a:t>3 </a:t>
            </a:r>
            <a:r>
              <a:rPr lang="ko-KR" altLang="en-US" sz="2000" b="1">
                <a:solidFill>
                  <a:srgbClr val="FFFFFF"/>
                </a:solidFill>
                <a:latin typeface="Noto Sans KR"/>
                <a:ea typeface="Noto Sans KR"/>
              </a:rPr>
              <a:t>동작</a:t>
            </a: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F9095043-768A-45DB-BAE7-B96BE25D4F16}"/>
              </a:ext>
            </a:extLst>
          </p:cNvPr>
          <p:cNvSpPr/>
          <p:nvPr/>
        </p:nvSpPr>
        <p:spPr>
          <a:xfrm>
            <a:off x="6324600" y="2768600"/>
            <a:ext cx="2362200" cy="787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실제로 움직이거나 알림</a:t>
            </a: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5ED6FF87-4066-445F-8496-977A4F68C974}"/>
              </a:ext>
            </a:extLst>
          </p:cNvPr>
          <p:cNvSpPr/>
          <p:nvPr/>
        </p:nvSpPr>
        <p:spPr>
          <a:xfrm>
            <a:off x="6477000" y="3632200"/>
            <a:ext cx="2057400" cy="4826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08776D"/>
                </a:solidFill>
                <a:latin typeface="Noto Sans KR"/>
                <a:ea typeface="Noto Sans KR"/>
              </a:rPr>
              <a:t>모터 </a:t>
            </a:r>
            <a:r>
              <a:rPr lang="en-US" altLang="ko-KR" sz="1400">
                <a:solidFill>
                  <a:srgbClr val="08776D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08776D"/>
                </a:solidFill>
                <a:latin typeface="Noto Sans KR"/>
                <a:ea typeface="Noto Sans KR"/>
              </a:rPr>
              <a:t>밸브 </a:t>
            </a:r>
            <a:r>
              <a:rPr lang="en-US" altLang="ko-KR" sz="1400">
                <a:solidFill>
                  <a:srgbClr val="08776D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08776D"/>
                </a:solidFill>
                <a:latin typeface="Noto Sans KR"/>
                <a:ea typeface="Noto Sans KR"/>
              </a:rPr>
              <a:t>알림</a:t>
            </a: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88A6681A-3D1D-4B1C-929E-1FC54A2936F9}"/>
              </a:ext>
            </a:extLst>
          </p:cNvPr>
          <p:cNvSpPr/>
          <p:nvPr/>
        </p:nvSpPr>
        <p:spPr>
          <a:xfrm>
            <a:off x="8763000" y="2997200"/>
            <a:ext cx="304800" cy="330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145709EE-1C93-4FB0-955D-8C3A38CD9023}"/>
              </a:ext>
            </a:extLst>
          </p:cNvPr>
          <p:cNvSpPr/>
          <p:nvPr/>
        </p:nvSpPr>
        <p:spPr>
          <a:xfrm>
            <a:off x="9144000" y="2108200"/>
            <a:ext cx="2362200" cy="2159000"/>
          </a:xfrm>
          <a:prstGeom prst="round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08CD9D7A-54EF-44D5-AA00-986C6901E338}"/>
              </a:ext>
            </a:extLst>
          </p:cNvPr>
          <p:cNvSpPr/>
          <p:nvPr/>
        </p:nvSpPr>
        <p:spPr>
          <a:xfrm>
            <a:off x="9144000" y="2108200"/>
            <a:ext cx="2362200" cy="584200"/>
          </a:xfrm>
          <a:prstGeom prst="roundRect">
            <a:avLst/>
          </a:prstGeom>
          <a:solidFill>
            <a:srgbClr val="0E5E57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FFFFFF"/>
                </a:solidFill>
                <a:latin typeface="Noto Sans KR"/>
                <a:ea typeface="Noto Sans KR"/>
              </a:rPr>
              <a:t>4 </a:t>
            </a:r>
            <a:r>
              <a:rPr lang="ko-KR" altLang="en-US" sz="2000" b="1">
                <a:solidFill>
                  <a:srgbClr val="FFFFFF"/>
                </a:solidFill>
                <a:latin typeface="Noto Sans KR"/>
                <a:ea typeface="Noto Sans KR"/>
              </a:rPr>
              <a:t>확인</a:t>
            </a: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5B5F1338-93C8-4DFD-9B0E-BBECF11C5B7F}"/>
              </a:ext>
            </a:extLst>
          </p:cNvPr>
          <p:cNvSpPr/>
          <p:nvPr/>
        </p:nvSpPr>
        <p:spPr>
          <a:xfrm>
            <a:off x="9144000" y="2768600"/>
            <a:ext cx="2362200" cy="787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결과를 다시 측정</a:t>
            </a: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13A5B155-1270-4F04-BD9B-A942E1220CCF}"/>
              </a:ext>
            </a:extLst>
          </p:cNvPr>
          <p:cNvSpPr/>
          <p:nvPr/>
        </p:nvSpPr>
        <p:spPr>
          <a:xfrm>
            <a:off x="9296400" y="3632200"/>
            <a:ext cx="2057400" cy="4826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08776D"/>
                </a:solidFill>
                <a:latin typeface="Noto Sans KR"/>
                <a:ea typeface="Noto Sans KR"/>
              </a:rPr>
              <a:t>같은 센서로 다시 읽기</a:t>
            </a: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CF36C003-29F3-4D8F-A4BB-77E02DC87B88}"/>
              </a:ext>
            </a:extLst>
          </p:cNvPr>
          <p:cNvSpPr/>
          <p:nvPr/>
        </p:nvSpPr>
        <p:spPr>
          <a:xfrm>
            <a:off x="10312400" y="4267200"/>
            <a:ext cx="38100" cy="508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98EE9928-4F8E-4950-B438-CD00B4B9F109}"/>
              </a:ext>
            </a:extLst>
          </p:cNvPr>
          <p:cNvSpPr/>
          <p:nvPr/>
        </p:nvSpPr>
        <p:spPr>
          <a:xfrm>
            <a:off x="1854200" y="4775200"/>
            <a:ext cx="8483600" cy="381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7EE6B2E8-009B-4903-8E04-7131748133E4}"/>
              </a:ext>
            </a:extLst>
          </p:cNvPr>
          <p:cNvSpPr/>
          <p:nvPr/>
        </p:nvSpPr>
        <p:spPr>
          <a:xfrm>
            <a:off x="1854200" y="4394200"/>
            <a:ext cx="38100" cy="406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D355BD9A-8DAA-4F70-BE98-EEC577207516}"/>
              </a:ext>
            </a:extLst>
          </p:cNvPr>
          <p:cNvSpPr/>
          <p:nvPr/>
        </p:nvSpPr>
        <p:spPr>
          <a:xfrm>
            <a:off x="1752600" y="4267200"/>
            <a:ext cx="254000" cy="177800"/>
          </a:xfrm>
          <a:prstGeom prst="triangl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4B14FD50-756D-474C-8F7F-7E44B8F20FCE}"/>
              </a:ext>
            </a:extLst>
          </p:cNvPr>
          <p:cNvSpPr/>
          <p:nvPr/>
        </p:nvSpPr>
        <p:spPr>
          <a:xfrm>
            <a:off x="4191000" y="4622800"/>
            <a:ext cx="3810000" cy="355600"/>
          </a:xfrm>
          <a:prstGeom prst="rect">
            <a:avLst/>
          </a:prstGeom>
          <a:solidFill>
            <a:srgbClr val="F4F1E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결과를 다시 읽고 반복합니다</a:t>
            </a: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D224F758-DEF5-4C1B-892E-941D31AEA858}"/>
              </a:ext>
            </a:extLst>
          </p:cNvPr>
          <p:cNvSpPr/>
          <p:nvPr/>
        </p:nvSpPr>
        <p:spPr>
          <a:xfrm>
            <a:off x="685800" y="5257800"/>
            <a:ext cx="10820400" cy="8890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1" name="AccentBar">
            <a:extLst>
              <a:ext uri="{FF2B5EF4-FFF2-40B4-BE49-F238E27FC236}">
                <a16:creationId xmlns:a16="http://schemas.microsoft.com/office/drawing/2014/main" id="{9A1AA8C1-08C3-418A-81AB-CA36608F1087}"/>
              </a:ext>
            </a:extLst>
          </p:cNvPr>
          <p:cNvSpPr/>
          <p:nvPr/>
        </p:nvSpPr>
        <p:spPr>
          <a:xfrm>
            <a:off x="685800" y="5257800"/>
            <a:ext cx="76200" cy="889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BB47E697-2559-4E05-9A34-68F75B678CB6}"/>
              </a:ext>
            </a:extLst>
          </p:cNvPr>
          <p:cNvSpPr/>
          <p:nvPr/>
        </p:nvSpPr>
        <p:spPr>
          <a:xfrm>
            <a:off x="939800" y="5257800"/>
            <a:ext cx="10414000" cy="889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50800" tIns="25400" rIns="101600" bIns="25400" rtlCol="0" anchor="ctr" anchorCtr="0">
            <a:noAutofit/>
          </a:bodyPr>
          <a:lstStyle/>
          <a:p>
            <a:r>
              <a:rPr lang="ko-KR" altLang="en-US">
                <a:solidFill>
                  <a:srgbClr val="172E3A"/>
                </a:solidFill>
                <a:latin typeface="Noto Sans KR"/>
                <a:ea typeface="Noto Sans KR"/>
              </a:rPr>
              <a:t>한 줄 정리</a:t>
            </a:r>
            <a:r>
              <a:rPr lang="en-US" altLang="ko-KR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>
                <a:solidFill>
                  <a:srgbClr val="172E3A"/>
                </a:solidFill>
                <a:latin typeface="Noto Sans KR"/>
                <a:ea typeface="Noto Sans KR"/>
              </a:rPr>
              <a:t>피지컬 </a:t>
            </a:r>
            <a:r>
              <a:rPr lang="en-US" altLang="ko-KR">
                <a:solidFill>
                  <a:srgbClr val="172E3A"/>
                </a:solidFill>
                <a:latin typeface="Noto Sans KR"/>
                <a:ea typeface="Noto Sans KR"/>
              </a:rPr>
              <a:t>AI</a:t>
            </a:r>
            <a:r>
              <a:rPr lang="ko-KR" altLang="en-US">
                <a:solidFill>
                  <a:srgbClr val="172E3A"/>
                </a:solidFill>
                <a:latin typeface="Noto Sans KR"/>
                <a:ea typeface="Noto Sans KR"/>
              </a:rPr>
              <a:t>는 현실을 데이터로 읽고</a:t>
            </a:r>
            <a:r>
              <a:rPr lang="en-US" altLang="ko-KR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>
                <a:solidFill>
                  <a:srgbClr val="172E3A"/>
                </a:solidFill>
                <a:latin typeface="Noto Sans KR"/>
                <a:ea typeface="Noto Sans KR"/>
              </a:rPr>
              <a:t>판단해</a:t>
            </a:r>
            <a:r>
              <a:rPr lang="en-US" altLang="ko-KR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>
                <a:solidFill>
                  <a:srgbClr val="172E3A"/>
                </a:solidFill>
                <a:latin typeface="Noto Sans KR"/>
                <a:ea typeface="Noto Sans KR"/>
              </a:rPr>
              <a:t>움직이고</a:t>
            </a:r>
            <a:r>
              <a:rPr lang="en-US" altLang="ko-KR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>
                <a:solidFill>
                  <a:srgbClr val="172E3A"/>
                </a:solidFill>
                <a:latin typeface="Noto Sans KR"/>
                <a:ea typeface="Noto Sans KR"/>
              </a:rPr>
              <a:t>결과를 다시 읽는 시스템입니다</a:t>
            </a:r>
            <a:r>
              <a:rPr lang="en-US" altLang="ko-KR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7358230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0B3B9B4-3F47-4A9B-8A1D-F2FDD7F9647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9348BC6-5091-42B5-BAB7-C7D027883EB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센서와 액추에이터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E257F16-0CCD-464A-853B-D4A6E7134D4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표 11"/>
          <p:cNvGraphicFramePr/>
          <p:nvPr>
            <p:extLst>
              <p:ext uri="{D42A27DB-BD31-4B8C-83A1-F6EECF244321}">
                <p14:modId xmlns:p14="http://schemas.microsoft.com/office/powerpoint/2010/main" val="24139427"/>
              </p:ext>
            </p:extLst>
          </p:nvPr>
        </p:nvGraphicFramePr>
        <p:xfrm>
          <a:off x="685800" y="1943100"/>
          <a:ext cx="10820400" cy="2209800"/>
        </p:xfrm>
        <a:graphic>
          <a:graphicData uri="http://schemas.openxmlformats.org/drawingml/2006/table">
            <a:tbl>
              <a:tblPr firstRow="1"/>
              <a:tblGrid>
                <a:gridCol w="29991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5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555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센서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상태를 기록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카메라·온도 센서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액추에이터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작용을 만듦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모터·밸브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C7808FBF-CC8B-4A1B-A86D-AB56BB70AF8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212ED20-DD99-492B-8E6E-919FAF044C7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010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8446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2000F52-51EA-4A13-854A-4CBA2DFF186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0973473-05E1-486F-8100-9B6ACB51470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규칙과 학습 모델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7523827-A94B-418E-9DEB-F6C9E3B221D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465EFA0-CAE1-4CDB-98D1-00C50B76BF2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8244574-5873-4825-8A6B-CAA79D134EB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011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566C874C-2EB8-40DF-A806-321A5F9A139B}"/>
              </a:ext>
            </a:extLst>
          </p:cNvPr>
          <p:cNvSpPr/>
          <p:nvPr/>
        </p:nvSpPr>
        <p:spPr>
          <a:xfrm>
            <a:off x="685800" y="1981200"/>
            <a:ext cx="1905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A84F7187-2EA2-45B0-B4BD-16AE9BAE906C}"/>
              </a:ext>
            </a:extLst>
          </p:cNvPr>
          <p:cNvSpPr/>
          <p:nvPr/>
        </p:nvSpPr>
        <p:spPr>
          <a:xfrm>
            <a:off x="2692400" y="1981200"/>
            <a:ext cx="4318000" cy="5080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FFFFFF"/>
                </a:solidFill>
                <a:latin typeface="Noto Sans KR"/>
                <a:ea typeface="Noto Sans KR"/>
              </a:rPr>
              <a:t>규칙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6E43B4DB-A672-4F6E-93E7-B1B8A81D38DE}"/>
              </a:ext>
            </a:extLst>
          </p:cNvPr>
          <p:cNvSpPr/>
          <p:nvPr/>
        </p:nvSpPr>
        <p:spPr>
          <a:xfrm>
            <a:off x="7188200" y="1981200"/>
            <a:ext cx="4318000" cy="508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FFFFFF"/>
                </a:solidFill>
                <a:latin typeface="Noto Sans KR"/>
                <a:ea typeface="Noto Sans KR"/>
              </a:rPr>
              <a:t>학습 모델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7B32946D-F99C-4104-95EE-32AC07379594}"/>
              </a:ext>
            </a:extLst>
          </p:cNvPr>
          <p:cNvSpPr/>
          <p:nvPr/>
        </p:nvSpPr>
        <p:spPr>
          <a:xfrm>
            <a:off x="685800" y="2590800"/>
            <a:ext cx="1905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5B6B74"/>
                </a:solidFill>
                <a:latin typeface="Noto Sans KR"/>
                <a:ea typeface="Noto Sans KR"/>
              </a:rPr>
              <a:t>누가 정하나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B02CF903-6363-4F89-8E23-19D6484B01A6}"/>
              </a:ext>
            </a:extLst>
          </p:cNvPr>
          <p:cNvSpPr/>
          <p:nvPr/>
        </p:nvSpPr>
        <p:spPr>
          <a:xfrm>
            <a:off x="2692400" y="2590800"/>
            <a:ext cx="4318000" cy="6096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사람이 조건을 정합니다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830CE770-CD47-48EE-9CA2-5DD1A663A638}"/>
              </a:ext>
            </a:extLst>
          </p:cNvPr>
          <p:cNvSpPr/>
          <p:nvPr/>
        </p:nvSpPr>
        <p:spPr>
          <a:xfrm>
            <a:off x="7188200" y="2590800"/>
            <a:ext cx="4318000" cy="6096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데이터에서 관계를 배웁니다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6C782DE4-2846-4A0C-8356-76B9DA3A0A0D}"/>
              </a:ext>
            </a:extLst>
          </p:cNvPr>
          <p:cNvSpPr/>
          <p:nvPr/>
        </p:nvSpPr>
        <p:spPr>
          <a:xfrm>
            <a:off x="685800" y="3302000"/>
            <a:ext cx="1905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5B6B74"/>
                </a:solidFill>
                <a:latin typeface="Noto Sans KR"/>
                <a:ea typeface="Noto Sans KR"/>
              </a:rPr>
              <a:t>예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9243DC82-8BDC-40CC-AD1C-41F6AD17A3C0}"/>
              </a:ext>
            </a:extLst>
          </p:cNvPr>
          <p:cNvSpPr/>
          <p:nvPr/>
        </p:nvSpPr>
        <p:spPr>
          <a:xfrm>
            <a:off x="2692400" y="3302000"/>
            <a:ext cx="4318000" cy="6096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24℃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를 넘으면 확인 알림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06EBA82A-6A2A-4E41-9727-12EC3E8EF68F}"/>
              </a:ext>
            </a:extLst>
          </p:cNvPr>
          <p:cNvSpPr/>
          <p:nvPr/>
        </p:nvSpPr>
        <p:spPr>
          <a:xfrm>
            <a:off x="7188200" y="3302000"/>
            <a:ext cx="4318000" cy="6096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영상에서 상자 위치 추정</a:t>
            </a: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7EB920B2-8A2A-4115-9BB1-4C8FDA2F5F8F}"/>
              </a:ext>
            </a:extLst>
          </p:cNvPr>
          <p:cNvSpPr/>
          <p:nvPr/>
        </p:nvSpPr>
        <p:spPr>
          <a:xfrm>
            <a:off x="685800" y="4013200"/>
            <a:ext cx="1905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5B6B74"/>
                </a:solidFill>
                <a:latin typeface="Noto Sans KR"/>
                <a:ea typeface="Noto Sans KR"/>
              </a:rPr>
              <a:t>잘하는 것</a:t>
            </a: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13C3E3D4-1CD0-4766-A235-3D964638C5EE}"/>
              </a:ext>
            </a:extLst>
          </p:cNvPr>
          <p:cNvSpPr/>
          <p:nvPr/>
        </p:nvSpPr>
        <p:spPr>
          <a:xfrm>
            <a:off x="2692400" y="4013200"/>
            <a:ext cx="4318000" cy="6096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결과를 설명하기 쉽습니다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A40B9328-6BBA-4D22-8201-850B5F3A78E0}"/>
              </a:ext>
            </a:extLst>
          </p:cNvPr>
          <p:cNvSpPr/>
          <p:nvPr/>
        </p:nvSpPr>
        <p:spPr>
          <a:xfrm>
            <a:off x="7188200" y="4013200"/>
            <a:ext cx="4318000" cy="6096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모양이 조금씩 달라도 대응합니다</a:t>
            </a: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3ACE89B9-7642-40E5-9D90-4A9E93455A0A}"/>
              </a:ext>
            </a:extLst>
          </p:cNvPr>
          <p:cNvSpPr/>
          <p:nvPr/>
        </p:nvSpPr>
        <p:spPr>
          <a:xfrm>
            <a:off x="685800" y="4724400"/>
            <a:ext cx="1905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5B6B74"/>
                </a:solidFill>
                <a:latin typeface="Noto Sans KR"/>
                <a:ea typeface="Noto Sans KR"/>
              </a:rPr>
              <a:t>한계</a:t>
            </a: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25CEDFBC-9737-4358-9672-D91C2531AC4B}"/>
              </a:ext>
            </a:extLst>
          </p:cNvPr>
          <p:cNvSpPr/>
          <p:nvPr/>
        </p:nvSpPr>
        <p:spPr>
          <a:xfrm>
            <a:off x="2692400" y="4724400"/>
            <a:ext cx="4318000" cy="6096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정하지 않은 상황은 다루지 못합니다</a:t>
            </a: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C1C780E4-7759-4DFC-9E84-BFE15E61097A}"/>
              </a:ext>
            </a:extLst>
          </p:cNvPr>
          <p:cNvSpPr/>
          <p:nvPr/>
        </p:nvSpPr>
        <p:spPr>
          <a:xfrm>
            <a:off x="7188200" y="4724400"/>
            <a:ext cx="4318000" cy="6096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학습용 데이터가 많이 필요합니다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0A9FBFEF-4D17-4012-8B19-AF91D1259465}"/>
              </a:ext>
            </a:extLst>
          </p:cNvPr>
          <p:cNvSpPr/>
          <p:nvPr/>
        </p:nvSpPr>
        <p:spPr>
          <a:xfrm>
            <a:off x="685800" y="5537200"/>
            <a:ext cx="10820400" cy="6604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AccentBar">
            <a:extLst>
              <a:ext uri="{FF2B5EF4-FFF2-40B4-BE49-F238E27FC236}">
                <a16:creationId xmlns:a16="http://schemas.microsoft.com/office/drawing/2014/main" id="{821AC2AE-D67F-4672-8D4C-8633E3174460}"/>
              </a:ext>
            </a:extLst>
          </p:cNvPr>
          <p:cNvSpPr/>
          <p:nvPr/>
        </p:nvSpPr>
        <p:spPr>
          <a:xfrm>
            <a:off x="685800" y="5537200"/>
            <a:ext cx="76200" cy="6604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25F53F3D-1526-4684-96B9-855E8050C9B1}"/>
              </a:ext>
            </a:extLst>
          </p:cNvPr>
          <p:cNvSpPr/>
          <p:nvPr/>
        </p:nvSpPr>
        <p:spPr>
          <a:xfrm>
            <a:off x="889000" y="5537200"/>
            <a:ext cx="1054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자주 하는 실수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센서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모터가 있다고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AI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는 아닙니다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한 시스템에서 규칙과 학습 모델을 함께 쓰기도 합니다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5515118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A1C0F13-7075-4893-A1FF-FCCBC8C70B7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복습 </a:t>
            </a:r>
            <a:r>
              <a:rPr lang="en-US" altLang="ko-KR"/>
              <a:t>· 1</a:t>
            </a:r>
            <a:r>
              <a:rPr lang="ko-KR" altLang="en-US"/>
              <a:t>일차 사례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BE75323-53FF-4B73-827D-60B56D637D3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네 사례를 읽기 → 판단 → 동작으로 비교하기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5A8FF3-B37B-43DD-B55F-80749AF83F6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9C24823-CFDD-4915-89C7-90114EE24F6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3375F39-8CEC-4FAB-9528-4A486603753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012</a:t>
            </a:r>
            <a:endParaRPr/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759D32A-185C-48EF-ABFF-433B4D4FEA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2166949"/>
              </p:ext>
            </p:extLst>
          </p:nvPr>
        </p:nvGraphicFramePr>
        <p:xfrm>
          <a:off x="685800" y="1981200"/>
          <a:ext cx="1082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0">
                  <a:extLst>
                    <a:ext uri="{9D8B030D-6E8A-4147-A177-3AD203B41FA5}">
                      <a16:colId xmlns:a16="http://schemas.microsoft.com/office/drawing/2014/main" val="4044402162"/>
                    </a:ext>
                  </a:extLst>
                </a:gridCol>
                <a:gridCol w="2717800">
                  <a:extLst>
                    <a:ext uri="{9D8B030D-6E8A-4147-A177-3AD203B41FA5}">
                      <a16:colId xmlns:a16="http://schemas.microsoft.com/office/drawing/2014/main" val="2950935359"/>
                    </a:ext>
                  </a:extLst>
                </a:gridCol>
                <a:gridCol w="2717800">
                  <a:extLst>
                    <a:ext uri="{9D8B030D-6E8A-4147-A177-3AD203B41FA5}">
                      <a16:colId xmlns:a16="http://schemas.microsoft.com/office/drawing/2014/main" val="3022093809"/>
                    </a:ext>
                  </a:extLst>
                </a:gridCol>
                <a:gridCol w="2717800">
                  <a:extLst>
                    <a:ext uri="{9D8B030D-6E8A-4147-A177-3AD203B41FA5}">
                      <a16:colId xmlns:a16="http://schemas.microsoft.com/office/drawing/2014/main" val="1375727490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사례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읽는 것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판단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동작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026804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1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Atlas 작업 영상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부품과 보관함 위치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비전 모델이 위치를 찾음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엔진 커버를 대차로 옮김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3605529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1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Spot 설비 점검</a:t>
                      </a:r>
                    </a:p>
                  </a:txBody>
                  <a:tcPr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점검 구역의 설비 상태</a:t>
                      </a:r>
                    </a:p>
                  </a:txBody>
                  <a:tcPr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정해진 점검 경로를 따름</a:t>
                      </a:r>
                    </a:p>
                  </a:txBody>
                  <a:tcPr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이동하며 설비를 기록</a:t>
                      </a:r>
                    </a:p>
                  </a:txBody>
                  <a:tcPr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016671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1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Amazon DeepFleet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로봇 무리의 위치·이동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AI 모델이 경로를 조정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이동 시간 10% 단축 발표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545699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1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Atlas CES 2026</a:t>
                      </a:r>
                    </a:p>
                  </a:txBody>
                  <a:tcPr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무대 시연</a:t>
                      </a:r>
                    </a:p>
                  </a:txBody>
                  <a:tcPr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엔지니어가 원격 조종</a:t>
                      </a:r>
                    </a:p>
                  </a:txBody>
                  <a:tcPr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2028년 공장 배치 계획</a:t>
                      </a:r>
                    </a:p>
                  </a:txBody>
                  <a:tcPr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219065"/>
                  </a:ext>
                </a:extLst>
              </a:tr>
            </a:tbl>
          </a:graphicData>
        </a:graphic>
      </p:graphicFrame>
      <p:sp>
        <p:nvSpPr>
          <p:cNvPr id="16" name="Viz">
            <a:extLst>
              <a:ext uri="{FF2B5EF4-FFF2-40B4-BE49-F238E27FC236}">
                <a16:creationId xmlns:a16="http://schemas.microsoft.com/office/drawing/2014/main" id="{CFB2FE92-06AD-4E92-8624-9D4003D54BF0}"/>
              </a:ext>
            </a:extLst>
          </p:cNvPr>
          <p:cNvSpPr txBox="1"/>
          <p:nvPr/>
        </p:nvSpPr>
        <p:spPr>
          <a:xfrm>
            <a:off x="685800" y="5461000"/>
            <a:ext cx="10820400" cy="558800"/>
          </a:xfrm>
          <a:prstGeom prst="rect">
            <a:avLst/>
          </a:prstGeom>
          <a:solidFill>
            <a:srgbClr val="FBEDE3"/>
          </a:solidFill>
        </p:spPr>
        <p:txBody>
          <a:bodyPr vertOverflow="overflow" vert="horz" wrap="square" lIns="203200" rtlCol="0" anchor="ctr" anchorCtr="0">
            <a:spAutoFit/>
          </a:bodyPr>
          <a:lstStyle/>
          <a:p>
            <a:pPr algn="l"/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생각해 볼 것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영상과 기사만으로는 실제 성공률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비용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고장 대응을 알 수 없습니다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6027FB42-3176-454A-A5ED-A94AD42D875B}"/>
              </a:ext>
            </a:extLst>
          </p:cNvPr>
          <p:cNvSpPr txBox="1"/>
          <p:nvPr/>
        </p:nvSpPr>
        <p:spPr>
          <a:xfrm>
            <a:off x="685800" y="6070600"/>
            <a:ext cx="108204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100">
                <a:solidFill>
                  <a:srgbClr val="5B6B74"/>
                </a:solidFill>
                <a:latin typeface="Noto Sans KR"/>
                <a:ea typeface="Noto Sans KR"/>
              </a:rPr>
              <a:t>출처</a:t>
            </a:r>
            <a:r>
              <a:rPr lang="en-US" altLang="ko-KR" sz="1100">
                <a:solidFill>
                  <a:srgbClr val="5B6B74"/>
                </a:solidFill>
                <a:latin typeface="Noto Sans KR"/>
                <a:ea typeface="Noto Sans KR"/>
              </a:rPr>
              <a:t>: Boston Dynamics </a:t>
            </a:r>
            <a:r>
              <a:rPr lang="ko-KR" altLang="en-US" sz="1100">
                <a:solidFill>
                  <a:srgbClr val="5B6B74"/>
                </a:solidFill>
                <a:latin typeface="Noto Sans KR"/>
                <a:ea typeface="Noto Sans KR"/>
              </a:rPr>
              <a:t>공식 영상</a:t>
            </a:r>
            <a:r>
              <a:rPr lang="en-US" altLang="ko-KR" sz="1100">
                <a:solidFill>
                  <a:srgbClr val="5B6B74"/>
                </a:solidFill>
                <a:latin typeface="Noto Sans KR"/>
                <a:ea typeface="Noto Sans KR"/>
              </a:rPr>
              <a:t>, Amazon </a:t>
            </a:r>
            <a:r>
              <a:rPr lang="ko-KR" altLang="en-US" sz="1100">
                <a:solidFill>
                  <a:srgbClr val="5B6B74"/>
                </a:solidFill>
                <a:latin typeface="Noto Sans KR"/>
                <a:ea typeface="Noto Sans KR"/>
              </a:rPr>
              <a:t>공식 뉴스</a:t>
            </a:r>
            <a:r>
              <a:rPr lang="en-US" altLang="ko-KR" sz="1100">
                <a:solidFill>
                  <a:srgbClr val="5B6B74"/>
                </a:solidFill>
                <a:latin typeface="Noto Sans KR"/>
                <a:ea typeface="Noto Sans KR"/>
              </a:rPr>
              <a:t>(2025.6), AP </a:t>
            </a:r>
            <a:r>
              <a:rPr lang="ko-KR" altLang="en-US" sz="1100">
                <a:solidFill>
                  <a:srgbClr val="5B6B74"/>
                </a:solidFill>
                <a:latin typeface="Noto Sans KR"/>
                <a:ea typeface="Noto Sans KR"/>
              </a:rPr>
              <a:t>통신</a:t>
            </a:r>
            <a:r>
              <a:rPr lang="en-US" altLang="ko-KR" sz="1100">
                <a:solidFill>
                  <a:srgbClr val="5B6B74"/>
                </a:solidFill>
                <a:latin typeface="Noto Sans KR"/>
                <a:ea typeface="Noto Sans KR"/>
              </a:rPr>
              <a:t>(2026.1). </a:t>
            </a:r>
            <a:r>
              <a:rPr lang="ko-KR" altLang="en-US" sz="1100">
                <a:solidFill>
                  <a:srgbClr val="5B6B74"/>
                </a:solidFill>
                <a:latin typeface="Noto Sans KR"/>
                <a:ea typeface="Noto Sans KR"/>
              </a:rPr>
              <a:t>원문 요약은 부록에 있습니다</a:t>
            </a:r>
            <a:r>
              <a:rPr lang="en-US" altLang="ko-KR" sz="1100">
                <a:solidFill>
                  <a:srgbClr val="5B6B74"/>
                </a:solidFill>
                <a:latin typeface="Noto Sans KR"/>
                <a:ea typeface="Noto Sans KR"/>
              </a:rPr>
              <a:t>.</a:t>
            </a:r>
            <a:endParaRPr lang="ko-KR" altLang="en-US" sz="11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4260756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A3021D4-44B2-42B9-A727-3FDCA6501E2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오늘의 지도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79EA180-42E8-4D83-ADC6-B91B21460A5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여섯 단계를 거쳐 </a:t>
            </a:r>
            <a:r>
              <a:rPr lang="en-US" altLang="ko-KR"/>
              <a:t>CSV</a:t>
            </a:r>
            <a:r>
              <a:rPr lang="ko-KR" altLang="en-US"/>
              <a:t>와 </a:t>
            </a:r>
            <a:r>
              <a:rPr lang="en-US" altLang="ko-KR"/>
              <a:t>JSON </a:t>
            </a:r>
            <a:r>
              <a:rPr lang="ko-KR" altLang="en-US"/>
              <a:t>파일을 직접 만듭니다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B8B142D-C26E-4BC6-A3F3-5925E3B6BD5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67FDE96-5090-40F1-B4A7-78E0925593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5E9717-4648-4E45-A220-99F5044B7C7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013</a:t>
            </a:r>
            <a:endParaRPr/>
          </a:p>
        </p:txBody>
      </p:sp>
      <p:sp>
        <p:nvSpPr>
          <p:cNvPr id="12" name="Viz">
            <a:extLst>
              <a:ext uri="{FF2B5EF4-FFF2-40B4-BE49-F238E27FC236}">
                <a16:creationId xmlns:a16="http://schemas.microsoft.com/office/drawing/2014/main" id="{15835E42-DE67-4B89-B81F-E0C8AC7BC92E}"/>
              </a:ext>
            </a:extLst>
          </p:cNvPr>
          <p:cNvSpPr/>
          <p:nvPr/>
        </p:nvSpPr>
        <p:spPr>
          <a:xfrm>
            <a:off x="685800" y="2032000"/>
            <a:ext cx="1697566" cy="2997200"/>
          </a:xfrm>
          <a:prstGeom prst="round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Viz">
            <a:extLst>
              <a:ext uri="{FF2B5EF4-FFF2-40B4-BE49-F238E27FC236}">
                <a16:creationId xmlns:a16="http://schemas.microsoft.com/office/drawing/2014/main" id="{F71B6C5E-EA94-4FCB-AF97-93FA8FF3CA52}"/>
              </a:ext>
            </a:extLst>
          </p:cNvPr>
          <p:cNvSpPr/>
          <p:nvPr/>
        </p:nvSpPr>
        <p:spPr>
          <a:xfrm>
            <a:off x="685800" y="2032000"/>
            <a:ext cx="1697566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FFFFFF"/>
                </a:solidFill>
                <a:latin typeface="Noto Sans KR"/>
                <a:ea typeface="Noto Sans KR"/>
              </a:rPr>
              <a:t>1</a:t>
            </a:r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693229D6-4822-46C0-B22B-B024E80A8099}"/>
              </a:ext>
            </a:extLst>
          </p:cNvPr>
          <p:cNvSpPr/>
          <p:nvPr/>
        </p:nvSpPr>
        <p:spPr>
          <a:xfrm>
            <a:off x="685800" y="2641600"/>
            <a:ext cx="1697566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10:00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416F4C4E-02F6-41AD-A7D2-49DE9F16A8FE}"/>
              </a:ext>
            </a:extLst>
          </p:cNvPr>
          <p:cNvSpPr/>
          <p:nvPr/>
        </p:nvSpPr>
        <p:spPr>
          <a:xfrm>
            <a:off x="685800" y="2997200"/>
            <a:ext cx="1697566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데이터의
뜻과 형태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4D9DE8DF-1B0B-4243-BA4A-718C3CCD8679}"/>
              </a:ext>
            </a:extLst>
          </p:cNvPr>
          <p:cNvSpPr/>
          <p:nvPr/>
        </p:nvSpPr>
        <p:spPr>
          <a:xfrm>
            <a:off x="812800" y="4343400"/>
            <a:ext cx="1443566" cy="5080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50800" rIns="101600" bIns="50800" rtlCol="0" anchor="ctr" anchorCtr="0">
            <a:noAutofit/>
          </a:bodyPr>
          <a:lstStyle/>
          <a:p>
            <a:pPr algn="ctr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숫자에 설명 붙이기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64FFA513-EEF0-472D-A118-9BD1837588C0}"/>
              </a:ext>
            </a:extLst>
          </p:cNvPr>
          <p:cNvSpPr/>
          <p:nvPr/>
        </p:nvSpPr>
        <p:spPr>
          <a:xfrm>
            <a:off x="2383366" y="3429000"/>
            <a:ext cx="127000" cy="203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DBF6A19F-99F3-47D3-AD96-2C4E0B67E9C9}"/>
              </a:ext>
            </a:extLst>
          </p:cNvPr>
          <p:cNvSpPr/>
          <p:nvPr/>
        </p:nvSpPr>
        <p:spPr>
          <a:xfrm>
            <a:off x="2510366" y="2032000"/>
            <a:ext cx="1697566" cy="2997200"/>
          </a:xfrm>
          <a:prstGeom prst="round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CD0A1E4D-4DEB-4B9C-B20A-C56D9E3ADE28}"/>
              </a:ext>
            </a:extLst>
          </p:cNvPr>
          <p:cNvSpPr/>
          <p:nvPr/>
        </p:nvSpPr>
        <p:spPr>
          <a:xfrm>
            <a:off x="2510366" y="2032000"/>
            <a:ext cx="1697566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FCCCDF45-8EFC-4DD4-BBD4-1F24CB1747D4}"/>
              </a:ext>
            </a:extLst>
          </p:cNvPr>
          <p:cNvSpPr/>
          <p:nvPr/>
        </p:nvSpPr>
        <p:spPr>
          <a:xfrm>
            <a:off x="2510366" y="2641600"/>
            <a:ext cx="1697566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11:00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931316B2-B28B-4984-91D8-C5A331EAD690}"/>
              </a:ext>
            </a:extLst>
          </p:cNvPr>
          <p:cNvSpPr/>
          <p:nvPr/>
        </p:nvSpPr>
        <p:spPr>
          <a:xfrm>
            <a:off x="2510366" y="2997200"/>
            <a:ext cx="1697566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값의 의미와
저장 종류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87C79906-DAF6-4F1C-917A-DD8E1820BF96}"/>
              </a:ext>
            </a:extLst>
          </p:cNvPr>
          <p:cNvSpPr/>
          <p:nvPr/>
        </p:nvSpPr>
        <p:spPr>
          <a:xfrm>
            <a:off x="2637366" y="4343400"/>
            <a:ext cx="1443566" cy="5080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 b="1">
                <a:solidFill>
                  <a:srgbClr val="08776D"/>
                </a:solidFill>
                <a:latin typeface="Noto Sans KR"/>
                <a:ea typeface="Noto Sans KR"/>
              </a:rPr>
              <a:t>0·null </a:t>
            </a:r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구별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BB97F9EA-8B6C-4B85-9816-8A49E3733BEB}"/>
              </a:ext>
            </a:extLst>
          </p:cNvPr>
          <p:cNvSpPr/>
          <p:nvPr/>
        </p:nvSpPr>
        <p:spPr>
          <a:xfrm>
            <a:off x="4207933" y="3429000"/>
            <a:ext cx="127000" cy="203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0C73CD25-2CC4-4CE9-9EC2-A8DBD3007BB7}"/>
              </a:ext>
            </a:extLst>
          </p:cNvPr>
          <p:cNvSpPr/>
          <p:nvPr/>
        </p:nvSpPr>
        <p:spPr>
          <a:xfrm>
            <a:off x="4334933" y="2032000"/>
            <a:ext cx="1697566" cy="2997200"/>
          </a:xfrm>
          <a:prstGeom prst="round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13C65124-E5ED-4502-8A47-91C0C3693801}"/>
              </a:ext>
            </a:extLst>
          </p:cNvPr>
          <p:cNvSpPr/>
          <p:nvPr/>
        </p:nvSpPr>
        <p:spPr>
          <a:xfrm>
            <a:off x="4334933" y="2032000"/>
            <a:ext cx="1697566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884CB2C2-26A1-43CD-A7E6-11028A6E3D26}"/>
              </a:ext>
            </a:extLst>
          </p:cNvPr>
          <p:cNvSpPr/>
          <p:nvPr/>
        </p:nvSpPr>
        <p:spPr>
          <a:xfrm>
            <a:off x="4334933" y="2641600"/>
            <a:ext cx="1697566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13:00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2536C93A-91F4-4430-8263-296A34F7EA4F}"/>
              </a:ext>
            </a:extLst>
          </p:cNvPr>
          <p:cNvSpPr/>
          <p:nvPr/>
        </p:nvSpPr>
        <p:spPr>
          <a:xfrm>
            <a:off x="4334933" y="2997200"/>
            <a:ext cx="1697566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행과 키로
기록 묶기</a:t>
            </a: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88FC3997-FD71-436D-AA23-830780EA8828}"/>
              </a:ext>
            </a:extLst>
          </p:cNvPr>
          <p:cNvSpPr/>
          <p:nvPr/>
        </p:nvSpPr>
        <p:spPr>
          <a:xfrm>
            <a:off x="4461933" y="4343400"/>
            <a:ext cx="1443566" cy="5080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50800" rIns="101600" bIns="50800" rtlCol="0" anchor="ctr" anchorCtr="0">
            <a:noAutofit/>
          </a:bodyPr>
          <a:lstStyle/>
          <a:p>
            <a:pPr algn="ctr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한 행 정하기</a:t>
            </a: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974E3C7D-4668-4833-8670-3CB88D07CEF8}"/>
              </a:ext>
            </a:extLst>
          </p:cNvPr>
          <p:cNvSpPr/>
          <p:nvPr/>
        </p:nvSpPr>
        <p:spPr>
          <a:xfrm>
            <a:off x="6032500" y="3429000"/>
            <a:ext cx="127000" cy="203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8BBF39DD-1FEC-487E-8DB9-5BFA70A52FF1}"/>
              </a:ext>
            </a:extLst>
          </p:cNvPr>
          <p:cNvSpPr/>
          <p:nvPr/>
        </p:nvSpPr>
        <p:spPr>
          <a:xfrm>
            <a:off x="6159500" y="2032000"/>
            <a:ext cx="1697566" cy="2997200"/>
          </a:xfrm>
          <a:prstGeom prst="round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577CB6B9-890F-420E-9C78-1512080631DA}"/>
              </a:ext>
            </a:extLst>
          </p:cNvPr>
          <p:cNvSpPr/>
          <p:nvPr/>
        </p:nvSpPr>
        <p:spPr>
          <a:xfrm>
            <a:off x="6159500" y="2032000"/>
            <a:ext cx="1697566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FFFFFF"/>
                </a:solidFill>
                <a:latin typeface="Noto Sans KR"/>
                <a:ea typeface="Noto Sans KR"/>
              </a:rPr>
              <a:t>4</a:t>
            </a:r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27D417C7-EC27-4053-A375-B57B93DED5F0}"/>
              </a:ext>
            </a:extLst>
          </p:cNvPr>
          <p:cNvSpPr/>
          <p:nvPr/>
        </p:nvSpPr>
        <p:spPr>
          <a:xfrm>
            <a:off x="6159500" y="2641600"/>
            <a:ext cx="1697566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14:00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64F71450-C471-473F-84E6-17CAD5CE6238}"/>
              </a:ext>
            </a:extLst>
          </p:cNvPr>
          <p:cNvSpPr/>
          <p:nvPr/>
        </p:nvSpPr>
        <p:spPr>
          <a:xfrm>
            <a:off x="6159500" y="2997200"/>
            <a:ext cx="1697566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CSV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로
표 표현하기</a:t>
            </a: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A66DF2F4-6F5B-409C-9951-D853CB096172}"/>
              </a:ext>
            </a:extLst>
          </p:cNvPr>
          <p:cNvSpPr/>
          <p:nvPr/>
        </p:nvSpPr>
        <p:spPr>
          <a:xfrm>
            <a:off x="6286500" y="4343400"/>
            <a:ext cx="1443566" cy="508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supply.csv</a:t>
            </a:r>
            <a:endParaRPr lang="ko-KR" altLang="en-US" sz="14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898BA3D8-6F3B-451F-A3F5-427ABC083332}"/>
              </a:ext>
            </a:extLst>
          </p:cNvPr>
          <p:cNvSpPr/>
          <p:nvPr/>
        </p:nvSpPr>
        <p:spPr>
          <a:xfrm>
            <a:off x="7857066" y="3429000"/>
            <a:ext cx="127000" cy="203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99E1B811-9F40-4B53-8295-41896254EA71}"/>
              </a:ext>
            </a:extLst>
          </p:cNvPr>
          <p:cNvSpPr/>
          <p:nvPr/>
        </p:nvSpPr>
        <p:spPr>
          <a:xfrm>
            <a:off x="7984066" y="2032000"/>
            <a:ext cx="1697566" cy="2997200"/>
          </a:xfrm>
          <a:prstGeom prst="round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1AF820B5-32A3-46A8-860D-672B7BA01D11}"/>
              </a:ext>
            </a:extLst>
          </p:cNvPr>
          <p:cNvSpPr/>
          <p:nvPr/>
        </p:nvSpPr>
        <p:spPr>
          <a:xfrm>
            <a:off x="7984066" y="2032000"/>
            <a:ext cx="1697566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FFFFFF"/>
                </a:solidFill>
                <a:latin typeface="Noto Sans KR"/>
                <a:ea typeface="Noto Sans KR"/>
              </a:rPr>
              <a:t>5</a:t>
            </a:r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8A69859E-36FA-490D-98D3-3C9A0D410446}"/>
              </a:ext>
            </a:extLst>
          </p:cNvPr>
          <p:cNvSpPr/>
          <p:nvPr/>
        </p:nvSpPr>
        <p:spPr>
          <a:xfrm>
            <a:off x="7984066" y="2641600"/>
            <a:ext cx="1697566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15:00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56D4A122-048F-43B7-A086-D81A841F3907}"/>
              </a:ext>
            </a:extLst>
          </p:cNvPr>
          <p:cNvSpPr/>
          <p:nvPr/>
        </p:nvSpPr>
        <p:spPr>
          <a:xfrm>
            <a:off x="7984066" y="2997200"/>
            <a:ext cx="1697566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JSON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으로
이름과 계층</a:t>
            </a: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44318169-EF62-4A32-B888-78AE92DCBF88}"/>
              </a:ext>
            </a:extLst>
          </p:cNvPr>
          <p:cNvSpPr/>
          <p:nvPr/>
        </p:nvSpPr>
        <p:spPr>
          <a:xfrm>
            <a:off x="8111066" y="4343400"/>
            <a:ext cx="1443566" cy="5080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 b="1">
                <a:solidFill>
                  <a:srgbClr val="FFFFFF"/>
                </a:solidFill>
                <a:latin typeface="Noto Sans KR"/>
                <a:ea typeface="Noto Sans KR"/>
              </a:rPr>
              <a:t>device.json</a:t>
            </a:r>
            <a:endParaRPr lang="ko-KR" altLang="en-US" sz="14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78E80425-E021-4237-BB68-E8886E51304A}"/>
              </a:ext>
            </a:extLst>
          </p:cNvPr>
          <p:cNvSpPr/>
          <p:nvPr/>
        </p:nvSpPr>
        <p:spPr>
          <a:xfrm>
            <a:off x="9681633" y="3429000"/>
            <a:ext cx="127000" cy="203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3A951FEA-67A7-45E6-AB79-39F684F828AD}"/>
              </a:ext>
            </a:extLst>
          </p:cNvPr>
          <p:cNvSpPr/>
          <p:nvPr/>
        </p:nvSpPr>
        <p:spPr>
          <a:xfrm>
            <a:off x="9808633" y="2032000"/>
            <a:ext cx="1697566" cy="2997200"/>
          </a:xfrm>
          <a:prstGeom prst="round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1C849203-AD7B-4F98-B0A2-4A4CF6EDE522}"/>
              </a:ext>
            </a:extLst>
          </p:cNvPr>
          <p:cNvSpPr/>
          <p:nvPr/>
        </p:nvSpPr>
        <p:spPr>
          <a:xfrm>
            <a:off x="9808633" y="2032000"/>
            <a:ext cx="1697566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FFFFFF"/>
                </a:solidFill>
                <a:latin typeface="Noto Sans KR"/>
                <a:ea typeface="Noto Sans KR"/>
              </a:rPr>
              <a:t>6</a:t>
            </a:r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교시</a:t>
            </a: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4742C76E-CBAD-4DC5-8705-865B0AB00782}"/>
              </a:ext>
            </a:extLst>
          </p:cNvPr>
          <p:cNvSpPr/>
          <p:nvPr/>
        </p:nvSpPr>
        <p:spPr>
          <a:xfrm>
            <a:off x="9808633" y="2641600"/>
            <a:ext cx="1697566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16:00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45" name="Viz">
            <a:extLst>
              <a:ext uri="{FF2B5EF4-FFF2-40B4-BE49-F238E27FC236}">
                <a16:creationId xmlns:a16="http://schemas.microsoft.com/office/drawing/2014/main" id="{69CB9228-A92C-419B-94C2-CA236C06E87E}"/>
              </a:ext>
            </a:extLst>
          </p:cNvPr>
          <p:cNvSpPr/>
          <p:nvPr/>
        </p:nvSpPr>
        <p:spPr>
          <a:xfrm>
            <a:off x="9808633" y="2997200"/>
            <a:ext cx="1697566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새 업무
설계와 검수</a:t>
            </a:r>
          </a:p>
        </p:txBody>
      </p:sp>
      <p:sp>
        <p:nvSpPr>
          <p:cNvPr id="46" name="Viz">
            <a:extLst>
              <a:ext uri="{FF2B5EF4-FFF2-40B4-BE49-F238E27FC236}">
                <a16:creationId xmlns:a16="http://schemas.microsoft.com/office/drawing/2014/main" id="{747BA364-54E1-46D8-A2A0-F7484E0C3151}"/>
              </a:ext>
            </a:extLst>
          </p:cNvPr>
          <p:cNvSpPr/>
          <p:nvPr/>
        </p:nvSpPr>
        <p:spPr>
          <a:xfrm>
            <a:off x="9935633" y="4343400"/>
            <a:ext cx="1443566" cy="5080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50800" rIns="101600" bIns="50800" rtlCol="0" anchor="ctr" anchorCtr="0">
            <a:noAutofit/>
          </a:bodyPr>
          <a:lstStyle/>
          <a:p>
            <a:pPr algn="ctr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부족 물품표</a:t>
            </a:r>
          </a:p>
        </p:txBody>
      </p:sp>
      <p:sp>
        <p:nvSpPr>
          <p:cNvPr id="47" name="Viz">
            <a:extLst>
              <a:ext uri="{FF2B5EF4-FFF2-40B4-BE49-F238E27FC236}">
                <a16:creationId xmlns:a16="http://schemas.microsoft.com/office/drawing/2014/main" id="{BCF39F24-22DC-4C6E-8D55-205CA70ABF60}"/>
              </a:ext>
            </a:extLst>
          </p:cNvPr>
          <p:cNvSpPr/>
          <p:nvPr/>
        </p:nvSpPr>
        <p:spPr>
          <a:xfrm>
            <a:off x="685800" y="5207000"/>
            <a:ext cx="5334000" cy="9652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8" name="AccentBar">
            <a:extLst>
              <a:ext uri="{FF2B5EF4-FFF2-40B4-BE49-F238E27FC236}">
                <a16:creationId xmlns:a16="http://schemas.microsoft.com/office/drawing/2014/main" id="{13B5962D-F05E-4AB9-B082-1B1DF2EBC445}"/>
              </a:ext>
            </a:extLst>
          </p:cNvPr>
          <p:cNvSpPr/>
          <p:nvPr/>
        </p:nvSpPr>
        <p:spPr>
          <a:xfrm>
            <a:off x="685800" y="5207000"/>
            <a:ext cx="76200" cy="9652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9" name="Viz">
            <a:extLst>
              <a:ext uri="{FF2B5EF4-FFF2-40B4-BE49-F238E27FC236}">
                <a16:creationId xmlns:a16="http://schemas.microsoft.com/office/drawing/2014/main" id="{EC4EC3F7-9C0D-4015-895E-5305F8A3648D}"/>
              </a:ext>
            </a:extLst>
          </p:cNvPr>
          <p:cNvSpPr/>
          <p:nvPr/>
        </p:nvSpPr>
        <p:spPr>
          <a:xfrm>
            <a:off x="889000" y="5232400"/>
            <a:ext cx="5080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오늘 하지 않는 것</a:t>
            </a:r>
          </a:p>
        </p:txBody>
      </p:sp>
      <p:sp>
        <p:nvSpPr>
          <p:cNvPr id="50" name="Viz">
            <a:extLst>
              <a:ext uri="{FF2B5EF4-FFF2-40B4-BE49-F238E27FC236}">
                <a16:creationId xmlns:a16="http://schemas.microsoft.com/office/drawing/2014/main" id="{87C89100-4786-410B-8E86-945232B5D38B}"/>
              </a:ext>
            </a:extLst>
          </p:cNvPr>
          <p:cNvSpPr/>
          <p:nvPr/>
        </p:nvSpPr>
        <p:spPr>
          <a:xfrm>
            <a:off x="889000" y="5537200"/>
            <a:ext cx="5080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t" anchorCtr="0">
            <a:noAutofit/>
          </a:bodyPr>
          <a:lstStyle/>
          <a:p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문법은 쓰지 않습니다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표와 기호를 읽고 직접 씁니다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51" name="Viz">
            <a:extLst>
              <a:ext uri="{FF2B5EF4-FFF2-40B4-BE49-F238E27FC236}">
                <a16:creationId xmlns:a16="http://schemas.microsoft.com/office/drawing/2014/main" id="{3F124784-70EA-45F1-8006-912ECBB4F246}"/>
              </a:ext>
            </a:extLst>
          </p:cNvPr>
          <p:cNvSpPr/>
          <p:nvPr/>
        </p:nvSpPr>
        <p:spPr>
          <a:xfrm>
            <a:off x="6172200" y="5207000"/>
            <a:ext cx="5334000" cy="965200"/>
          </a:xfrm>
          <a:prstGeom prst="rect">
            <a:avLst/>
          </a:prstGeom>
          <a:solidFill>
            <a:srgbClr val="FFFFFF">
              <a:alpha val="92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2" name="AccentBar">
            <a:extLst>
              <a:ext uri="{FF2B5EF4-FFF2-40B4-BE49-F238E27FC236}">
                <a16:creationId xmlns:a16="http://schemas.microsoft.com/office/drawing/2014/main" id="{5C3F4BCA-0580-4FF7-B9B1-4688D693A2E5}"/>
              </a:ext>
            </a:extLst>
          </p:cNvPr>
          <p:cNvSpPr/>
          <p:nvPr/>
        </p:nvSpPr>
        <p:spPr>
          <a:xfrm>
            <a:off x="6172200" y="5207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3" name="Viz">
            <a:extLst>
              <a:ext uri="{FF2B5EF4-FFF2-40B4-BE49-F238E27FC236}">
                <a16:creationId xmlns:a16="http://schemas.microsoft.com/office/drawing/2014/main" id="{50EFB5FA-1C61-49FF-80F4-AE820A3CEF3A}"/>
              </a:ext>
            </a:extLst>
          </p:cNvPr>
          <p:cNvSpPr/>
          <p:nvPr/>
        </p:nvSpPr>
        <p:spPr>
          <a:xfrm>
            <a:off x="6375400" y="5232400"/>
            <a:ext cx="5080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다음 수업과 연결</a:t>
            </a:r>
          </a:p>
        </p:txBody>
      </p:sp>
      <p:sp>
        <p:nvSpPr>
          <p:cNvPr id="54" name="Viz">
            <a:extLst>
              <a:ext uri="{FF2B5EF4-FFF2-40B4-BE49-F238E27FC236}">
                <a16:creationId xmlns:a16="http://schemas.microsoft.com/office/drawing/2014/main" id="{7DB4C1E5-3D6E-4E35-AF15-D1AB2BA529D9}"/>
              </a:ext>
            </a:extLst>
          </p:cNvPr>
          <p:cNvSpPr/>
          <p:nvPr/>
        </p:nvSpPr>
        <p:spPr>
          <a:xfrm>
            <a:off x="6375400" y="5537200"/>
            <a:ext cx="5080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50800" rIns="101600" bIns="50800" rtlCol="0" anchor="t" anchorCtr="0">
            <a:noAutofit/>
          </a:bodyPr>
          <a:lstStyle/>
          <a:p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10/14·10/15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수업에서 오늘 만든 두 파일을 코드로 읽습니다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786958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0B3B9B4-3F47-4A9B-8A1D-F2FDD7F9647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용어 사전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9348BC6-5091-42B5-BAB7-C7D027883EB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오늘 나오는 용어 </a:t>
            </a:r>
            <a:r>
              <a:rPr lang="en-US" altLang="ko-KR"/>
              <a:t>12</a:t>
            </a:r>
            <a:r>
              <a:rPr lang="ko-KR" altLang="en-US"/>
              <a:t>개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E257F16-0CCD-464A-853B-D4A6E7134D4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7808FBF-CC8B-4A1B-A86D-AB56BB70AF8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212ED20-DD99-492B-8E6E-919FAF044C7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014</a:t>
            </a:r>
            <a:endParaRPr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02A8645-1B5E-496E-AAB4-1B466FA3A2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782482"/>
              </p:ext>
            </p:extLst>
          </p:nvPr>
        </p:nvGraphicFramePr>
        <p:xfrm>
          <a:off x="685800" y="1955800"/>
          <a:ext cx="10820400" cy="398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519684279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120566657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797120439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4107334309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용어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뜻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용어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뜻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18956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관찰하거나 기록한 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자료형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컴퓨터가 값을 저장하는 종류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52116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기록을 기준에 맞게 해석한 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null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아직 모르는 값, 비어 있음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279770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메타데이터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숫자에 붙는 설명(단위·대상·시각)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표의 가로 한 줄, 기록 한 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8666949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정형 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모든 기록이 같은 칸을 따름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기록 한 건을 구별하는 이름표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19625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범주형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종류를 구별하는 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CSV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쉼표로 칸을 나눈 표 파일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373576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수치형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양을 나타내는 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JSON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키와 값으로 적은 파일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443591"/>
                  </a:ext>
                </a:extLst>
              </a:tr>
            </a:tbl>
          </a:graphicData>
        </a:graphic>
      </p:graphicFrame>
      <p:sp>
        <p:nvSpPr>
          <p:cNvPr id="10" name="Viz">
            <a:extLst>
              <a:ext uri="{FF2B5EF4-FFF2-40B4-BE49-F238E27FC236}">
                <a16:creationId xmlns:a16="http://schemas.microsoft.com/office/drawing/2014/main" id="{AB41BA97-CD02-40FA-8E78-584C158CDD87}"/>
              </a:ext>
            </a:extLst>
          </p:cNvPr>
          <p:cNvSpPr txBox="1"/>
          <p:nvPr/>
        </p:nvSpPr>
        <p:spPr>
          <a:xfrm>
            <a:off x="685800" y="6045200"/>
            <a:ext cx="108204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모르는 단어가 나오면 이 장으로 돌아와 확인합니다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6609608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EA6FAA73-1DF2-4010-A030-C4F281E1457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A18AE16-FF12-40CF-93DA-DF8EEFD3B51C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데이터의 뜻과 형태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344EAA7-FC12-47F4-84CF-E33C8C5C8353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10:00~10:50 · 50분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E563E30-5C5B-4B9F-9EA3-1184F8ED4B7B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A63B48F-E7E4-4BAA-BFEC-DDB8AE7C1C4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0D27A0B-02EF-4FCB-98FE-76161D371CE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015</a:t>
            </a:r>
            <a:endParaRPr/>
          </a:p>
        </p:txBody>
      </p:sp>
      <p:sp>
        <p:nvSpPr>
          <p:cNvPr id="9" name="MiniMap">
            <a:extLst>
              <a:ext uri="{FF2B5EF4-FFF2-40B4-BE49-F238E27FC236}">
                <a16:creationId xmlns:a16="http://schemas.microsoft.com/office/drawing/2014/main" id="{350B7FDB-8C2F-46BE-84D3-B0714C4360C3}"/>
              </a:ext>
            </a:extLst>
          </p:cNvPr>
          <p:cNvSpPr/>
          <p:nvPr/>
        </p:nvSpPr>
        <p:spPr>
          <a:xfrm>
            <a:off x="685800" y="5334000"/>
            <a:ext cx="1219200" cy="660400"/>
          </a:xfrm>
          <a:prstGeom prst="roundRect">
            <a:avLst/>
          </a:prstGeom>
          <a:solidFill>
            <a:srgbClr val="4FD1B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1</a:t>
            </a:r>
            <a:r>
              <a:rPr lang="ko-KR" altLang="en-US" sz="1300" b="1">
                <a:solidFill>
                  <a:srgbClr val="0F2A3A"/>
                </a:solidFill>
                <a:latin typeface="Noto Sans KR"/>
                <a:ea typeface="Noto Sans KR"/>
              </a:rPr>
              <a:t>교시
데이터의 뜻</a:t>
            </a:r>
          </a:p>
        </p:txBody>
      </p:sp>
      <p:sp>
        <p:nvSpPr>
          <p:cNvPr id="10" name="MiniMap">
            <a:extLst>
              <a:ext uri="{FF2B5EF4-FFF2-40B4-BE49-F238E27FC236}">
                <a16:creationId xmlns:a16="http://schemas.microsoft.com/office/drawing/2014/main" id="{9E5CF0F2-BCE8-4824-BEF7-D6E67212358B}"/>
              </a:ext>
            </a:extLst>
          </p:cNvPr>
          <p:cNvSpPr/>
          <p:nvPr/>
        </p:nvSpPr>
        <p:spPr>
          <a:xfrm>
            <a:off x="20066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2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값의 의미</a:t>
            </a:r>
          </a:p>
        </p:txBody>
      </p:sp>
      <p:sp>
        <p:nvSpPr>
          <p:cNvPr id="11" name="MiniMap">
            <a:extLst>
              <a:ext uri="{FF2B5EF4-FFF2-40B4-BE49-F238E27FC236}">
                <a16:creationId xmlns:a16="http://schemas.microsoft.com/office/drawing/2014/main" id="{08B70D04-D556-4616-860B-287E2EA5251A}"/>
              </a:ext>
            </a:extLst>
          </p:cNvPr>
          <p:cNvSpPr/>
          <p:nvPr/>
        </p:nvSpPr>
        <p:spPr>
          <a:xfrm>
            <a:off x="33274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3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행과 키</a:t>
            </a:r>
          </a:p>
        </p:txBody>
      </p:sp>
      <p:sp>
        <p:nvSpPr>
          <p:cNvPr id="12" name="MiniMap">
            <a:extLst>
              <a:ext uri="{FF2B5EF4-FFF2-40B4-BE49-F238E27FC236}">
                <a16:creationId xmlns:a16="http://schemas.microsoft.com/office/drawing/2014/main" id="{36F433CA-520E-4FFA-8FF6-ABA9CD6723BF}"/>
              </a:ext>
            </a:extLst>
          </p:cNvPr>
          <p:cNvSpPr/>
          <p:nvPr/>
        </p:nvSpPr>
        <p:spPr>
          <a:xfrm>
            <a:off x="46482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4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CSV</a:t>
            </a:r>
            <a:endParaRPr lang="ko-KR" altLang="en-US" sz="1300">
              <a:solidFill>
                <a:srgbClr val="D7E1E5"/>
              </a:solidFill>
              <a:latin typeface="Noto Sans KR"/>
              <a:ea typeface="Noto Sans KR"/>
            </a:endParaRPr>
          </a:p>
        </p:txBody>
      </p:sp>
      <p:sp>
        <p:nvSpPr>
          <p:cNvPr id="13" name="MiniMap">
            <a:extLst>
              <a:ext uri="{FF2B5EF4-FFF2-40B4-BE49-F238E27FC236}">
                <a16:creationId xmlns:a16="http://schemas.microsoft.com/office/drawing/2014/main" id="{1BE74BB7-AF4D-41E6-8E52-5E784E0814C4}"/>
              </a:ext>
            </a:extLst>
          </p:cNvPr>
          <p:cNvSpPr/>
          <p:nvPr/>
        </p:nvSpPr>
        <p:spPr>
          <a:xfrm>
            <a:off x="59690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5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JSON</a:t>
            </a:r>
            <a:endParaRPr lang="ko-KR" altLang="en-US" sz="1300">
              <a:solidFill>
                <a:srgbClr val="D7E1E5"/>
              </a:solidFill>
              <a:latin typeface="Noto Sans KR"/>
              <a:ea typeface="Noto Sans KR"/>
            </a:endParaRPr>
          </a:p>
        </p:txBody>
      </p:sp>
      <p:sp>
        <p:nvSpPr>
          <p:cNvPr id="14" name="MiniMap">
            <a:extLst>
              <a:ext uri="{FF2B5EF4-FFF2-40B4-BE49-F238E27FC236}">
                <a16:creationId xmlns:a16="http://schemas.microsoft.com/office/drawing/2014/main" id="{28279131-A94F-4279-A677-ECE3825334C5}"/>
              </a:ext>
            </a:extLst>
          </p:cNvPr>
          <p:cNvSpPr/>
          <p:nvPr/>
        </p:nvSpPr>
        <p:spPr>
          <a:xfrm>
            <a:off x="7289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6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설계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·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검수</a:t>
            </a:r>
          </a:p>
        </p:txBody>
      </p:sp>
      <p:sp>
        <p:nvSpPr>
          <p:cNvPr id="15" name="MiniMap">
            <a:extLst>
              <a:ext uri="{FF2B5EF4-FFF2-40B4-BE49-F238E27FC236}">
                <a16:creationId xmlns:a16="http://schemas.microsoft.com/office/drawing/2014/main" id="{D1E62C87-D996-45CE-A364-73774709A81C}"/>
              </a:ext>
            </a:extLst>
          </p:cNvPr>
          <p:cNvSpPr txBox="1"/>
          <p:nvPr/>
        </p:nvSpPr>
        <p:spPr>
          <a:xfrm>
            <a:off x="685800" y="4978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오늘의 지도</a:t>
            </a:r>
          </a:p>
        </p:txBody>
      </p:sp>
    </p:spTree>
    <p:extLst>
      <p:ext uri="{BB962C8B-B14F-4D97-AF65-F5344CB8AC3E}">
        <p14:creationId xmlns:p14="http://schemas.microsoft.com/office/powerpoint/2010/main" val="578963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1</a:t>
            </a:r>
            <a:r>
              <a:rPr lang="ko-KR" altLang="en-US"/>
              <a:t>교시 목표와 진행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1</a:t>
            </a:r>
            <a:r>
              <a:rPr lang="ko-KR" altLang="en-US"/>
              <a:t>교시 목표 </a:t>
            </a:r>
            <a:r>
              <a:rPr lang="en-US" altLang="ko-KR"/>
              <a:t>· </a:t>
            </a:r>
            <a:r>
              <a:rPr lang="ko-KR" altLang="en-US"/>
              <a:t>데이터의 뜻과 형태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1: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데이터와 정보의 차이를 예로 설명합니다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2: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숫자에 대상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단위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시각을 붙여 읽습니다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3: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정형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반정형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비정형을 구조의 규칙으로 구별합니다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진행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개념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직접 해 보기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20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풀이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퀴즈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016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9716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ABC7AFB-6D58-4169-A3D1-00B63AE7CC3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5FD0CC1-EB25-4CCC-A7DB-C54AFA544C2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데이터와 정보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774454A-FA3F-4A9E-9B59-314D70F8F95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4881460-16F5-48F1-B2EA-7332C2C245B6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데이터는 관찰하거나 기록한 값과 내용입니다.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4E411DD-D52E-4B82-992A-5DD97C05C07F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정보는 그 기록을 업무 질문과 기준에 맞게 해석한 의미입니다.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2BCC521-8402-498F-8210-6995991BDD5A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22.5라는 숫자에 대상·단위·시각을 붙여 읽은 뒤 목적에 맞게 판단합니다.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CA0CF2D-1B18-4D23-8051-F318B677D7B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8FFC3A4-D125-4D2C-B2DA-5978D854244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017</a:t>
            </a:r>
            <a:endParaRPr/>
          </a:p>
        </p:txBody>
      </p:sp>
      <p:sp>
        <p:nvSpPr>
          <p:cNvPr id="11" name="AccentBar">
            <a:extLst>
              <a:ext uri="{FF2B5EF4-FFF2-40B4-BE49-F238E27FC236}">
                <a16:creationId xmlns:a16="http://schemas.microsoft.com/office/drawing/2014/main" id="{A8504849-2199-404D-B051-87CFA8D635D9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A192FA9-0E0B-48D5-B64A-1657EC405C7C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69778925-C86A-4FC8-9BFA-027E304A4CAD}"/>
              </a:ext>
            </a:extLst>
          </p:cNvPr>
          <p:cNvSpPr/>
          <p:nvPr/>
        </p:nvSpPr>
        <p:spPr>
          <a:xfrm>
            <a:off x="685800" y="42672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62239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393BF3A-A9AC-4B6B-9E76-003132FE407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85ED4D0-E400-452B-BCD4-787FED0AAF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22.5에 이름표를 붙이기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F9FCAA-DE05-4A3F-B0DC-A11DA03D1A3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C51A7D6-B45D-4C19-8262-FD2E53E615E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5CD702C-659C-41D9-B0AF-A635FB97EFA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>
                <a:latin typeface="Noto Sans KR"/>
                <a:ea typeface="Noto Sans KR"/>
              </a:rPr>
              <a:t>018</a:t>
            </a:r>
            <a:endParaRPr>
              <a:latin typeface="Noto Sans KR"/>
              <a:ea typeface="Noto Sans KR"/>
            </a:endParaRP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5426E010-5E84-4F90-9DAB-916A3E0F2C1B}"/>
              </a:ext>
            </a:extLst>
          </p:cNvPr>
          <p:cNvSpPr/>
          <p:nvPr/>
        </p:nvSpPr>
        <p:spPr>
          <a:xfrm>
            <a:off x="685800" y="1981200"/>
            <a:ext cx="1397000" cy="6604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숫자만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3111E965-9C78-4E35-8A7E-F4162B4F5D55}"/>
              </a:ext>
            </a:extLst>
          </p:cNvPr>
          <p:cNvSpPr/>
          <p:nvPr/>
        </p:nvSpPr>
        <p:spPr>
          <a:xfrm>
            <a:off x="2235200" y="1981200"/>
            <a:ext cx="41910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2000" b="1">
                <a:solidFill>
                  <a:srgbClr val="172E3A"/>
                </a:solidFill>
                <a:latin typeface="Noto Sans KR"/>
                <a:ea typeface="Noto Sans KR"/>
              </a:rPr>
              <a:t>22.5</a:t>
            </a:r>
            <a:endParaRPr lang="ko-KR" altLang="en-US" sz="20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142CDB4A-AE54-4A14-8BC3-3DED8A42F69D}"/>
              </a:ext>
            </a:extLst>
          </p:cNvPr>
          <p:cNvSpPr/>
          <p:nvPr/>
        </p:nvSpPr>
        <p:spPr>
          <a:xfrm>
            <a:off x="6578600" y="1981200"/>
            <a:ext cx="49276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무엇의 값인지 모릅니다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9D50EB84-3603-49EB-856C-DCD4FAFAB46B}"/>
              </a:ext>
            </a:extLst>
          </p:cNvPr>
          <p:cNvSpPr/>
          <p:nvPr/>
        </p:nvSpPr>
        <p:spPr>
          <a:xfrm>
            <a:off x="685800" y="2768600"/>
            <a:ext cx="1397000" cy="6604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+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단위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9F96E462-2D3F-4B84-9785-B2E7855DBF56}"/>
              </a:ext>
            </a:extLst>
          </p:cNvPr>
          <p:cNvSpPr/>
          <p:nvPr/>
        </p:nvSpPr>
        <p:spPr>
          <a:xfrm>
            <a:off x="2235200" y="2768600"/>
            <a:ext cx="41910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2000" b="1">
                <a:solidFill>
                  <a:srgbClr val="172E3A"/>
                </a:solidFill>
                <a:latin typeface="Noto Sans KR"/>
                <a:ea typeface="Noto Sans KR"/>
              </a:rPr>
              <a:t>22.5 ℃</a:t>
            </a:r>
            <a:endParaRPr lang="ko-KR" altLang="en-US" sz="20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EBAAACBD-0732-433E-9D3A-ECBF53434EF0}"/>
              </a:ext>
            </a:extLst>
          </p:cNvPr>
          <p:cNvSpPr/>
          <p:nvPr/>
        </p:nvSpPr>
        <p:spPr>
          <a:xfrm>
            <a:off x="6578600" y="2768600"/>
            <a:ext cx="49276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온도라는 것을 압니다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EA858362-B3DF-48C6-8D78-24DE42CEDC28}"/>
              </a:ext>
            </a:extLst>
          </p:cNvPr>
          <p:cNvSpPr/>
          <p:nvPr/>
        </p:nvSpPr>
        <p:spPr>
          <a:xfrm>
            <a:off x="685800" y="3556000"/>
            <a:ext cx="1397000" cy="660400"/>
          </a:xfrm>
          <a:prstGeom prst="round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+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대상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4DA98E5A-5F6F-4AAB-B16E-A82E607422AE}"/>
              </a:ext>
            </a:extLst>
          </p:cNvPr>
          <p:cNvSpPr/>
          <p:nvPr/>
        </p:nvSpPr>
        <p:spPr>
          <a:xfrm>
            <a:off x="2235200" y="3556000"/>
            <a:ext cx="41910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2000" b="1">
                <a:solidFill>
                  <a:srgbClr val="172E3A"/>
                </a:solidFill>
                <a:latin typeface="Noto Sans KR"/>
                <a:ea typeface="Noto Sans KR"/>
              </a:rPr>
              <a:t>입구 센서 </a:t>
            </a:r>
            <a:r>
              <a:rPr lang="en-US" altLang="ko-KR" sz="2000" b="1">
                <a:solidFill>
                  <a:srgbClr val="172E3A"/>
                </a:solidFill>
                <a:latin typeface="Noto Sans KR"/>
                <a:ea typeface="Noto Sans KR"/>
              </a:rPr>
              <a:t>S01 · 22.5 ℃</a:t>
            </a:r>
            <a:endParaRPr lang="ko-KR" altLang="en-US" sz="20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6B6A9A7F-6ECE-417E-A6E6-837B75D2A201}"/>
              </a:ext>
            </a:extLst>
          </p:cNvPr>
          <p:cNvSpPr/>
          <p:nvPr/>
        </p:nvSpPr>
        <p:spPr>
          <a:xfrm>
            <a:off x="6578600" y="3556000"/>
            <a:ext cx="49276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어디의 온도인지 압니다</a:t>
            </a: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58605275-646F-4EB5-A7C2-9ADFE6D32880}"/>
              </a:ext>
            </a:extLst>
          </p:cNvPr>
          <p:cNvSpPr/>
          <p:nvPr/>
        </p:nvSpPr>
        <p:spPr>
          <a:xfrm>
            <a:off x="685800" y="4343400"/>
            <a:ext cx="1397000" cy="6604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FFFFFF"/>
                </a:solidFill>
                <a:latin typeface="Noto Sans KR"/>
                <a:ea typeface="Noto Sans KR"/>
              </a:rPr>
              <a:t>+ </a:t>
            </a:r>
            <a:r>
              <a:rPr lang="ko-KR" altLang="en-US" sz="1600" b="1">
                <a:solidFill>
                  <a:srgbClr val="FFFFFF"/>
                </a:solidFill>
                <a:latin typeface="Noto Sans KR"/>
                <a:ea typeface="Noto Sans KR"/>
              </a:rPr>
              <a:t>시각</a:t>
            </a: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1B28F8DA-4E8F-4DBC-9E72-2FF743F335D4}"/>
              </a:ext>
            </a:extLst>
          </p:cNvPr>
          <p:cNvSpPr/>
          <p:nvPr/>
        </p:nvSpPr>
        <p:spPr>
          <a:xfrm>
            <a:off x="2235200" y="4343400"/>
            <a:ext cx="4191000" cy="6604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2000" b="1">
                <a:solidFill>
                  <a:srgbClr val="172E3A"/>
                </a:solidFill>
                <a:latin typeface="Noto Sans KR"/>
                <a:ea typeface="Noto Sans KR"/>
              </a:rPr>
              <a:t>10:00 · </a:t>
            </a:r>
            <a:r>
              <a:rPr lang="ko-KR" altLang="en-US" sz="2000" b="1">
                <a:solidFill>
                  <a:srgbClr val="172E3A"/>
                </a:solidFill>
                <a:latin typeface="Noto Sans KR"/>
                <a:ea typeface="Noto Sans KR"/>
              </a:rPr>
              <a:t>입구 </a:t>
            </a:r>
            <a:r>
              <a:rPr lang="en-US" altLang="ko-KR" sz="2000" b="1">
                <a:solidFill>
                  <a:srgbClr val="172E3A"/>
                </a:solidFill>
                <a:latin typeface="Noto Sans KR"/>
                <a:ea typeface="Noto Sans KR"/>
              </a:rPr>
              <a:t>S01 · 22.5 ℃</a:t>
            </a:r>
            <a:endParaRPr lang="ko-KR" altLang="en-US" sz="20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C4FED3A4-82D6-4674-A315-EB1D446EA07A}"/>
              </a:ext>
            </a:extLst>
          </p:cNvPr>
          <p:cNvSpPr/>
          <p:nvPr/>
        </p:nvSpPr>
        <p:spPr>
          <a:xfrm>
            <a:off x="6578600" y="4343400"/>
            <a:ext cx="49276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언제 잰 값인지 압니다</a:t>
            </a: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8993B99B-10A8-490C-AD7A-DAED9ECC02C8}"/>
              </a:ext>
            </a:extLst>
          </p:cNvPr>
          <p:cNvSpPr/>
          <p:nvPr/>
        </p:nvSpPr>
        <p:spPr>
          <a:xfrm>
            <a:off x="685800" y="5207000"/>
            <a:ext cx="5334000" cy="9906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AccentBar">
            <a:extLst>
              <a:ext uri="{FF2B5EF4-FFF2-40B4-BE49-F238E27FC236}">
                <a16:creationId xmlns:a16="http://schemas.microsoft.com/office/drawing/2014/main" id="{0E3EB75D-F7E7-47D5-A42E-13008B885F4C}"/>
              </a:ext>
            </a:extLst>
          </p:cNvPr>
          <p:cNvSpPr/>
          <p:nvPr/>
        </p:nvSpPr>
        <p:spPr>
          <a:xfrm>
            <a:off x="685800" y="5207000"/>
            <a:ext cx="76200" cy="990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CD60CE3C-3545-41F7-B7E0-AE14A9A4E1A3}"/>
              </a:ext>
            </a:extLst>
          </p:cNvPr>
          <p:cNvSpPr/>
          <p:nvPr/>
        </p:nvSpPr>
        <p:spPr>
          <a:xfrm>
            <a:off x="889000" y="5232400"/>
            <a:ext cx="508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용어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메타데이터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A69C0DB4-C19B-45D4-BBAC-3C9181EE2843}"/>
              </a:ext>
            </a:extLst>
          </p:cNvPr>
          <p:cNvSpPr/>
          <p:nvPr/>
        </p:nvSpPr>
        <p:spPr>
          <a:xfrm>
            <a:off x="889000" y="5562600"/>
            <a:ext cx="5080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단위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대상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시각처럼 숫자에 붙는 설명입니다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4B7A4A12-123A-4581-8D94-8278F7341F4E}"/>
              </a:ext>
            </a:extLst>
          </p:cNvPr>
          <p:cNvSpPr/>
          <p:nvPr/>
        </p:nvSpPr>
        <p:spPr>
          <a:xfrm>
            <a:off x="6172200" y="5207000"/>
            <a:ext cx="5334000" cy="9906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9E8AA7D5-882F-4CF4-BAE4-24F08B234A97}"/>
              </a:ext>
            </a:extLst>
          </p:cNvPr>
          <p:cNvSpPr/>
          <p:nvPr/>
        </p:nvSpPr>
        <p:spPr>
          <a:xfrm>
            <a:off x="6172200" y="5207000"/>
            <a:ext cx="76200" cy="9906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970EB4AD-E3DE-47D1-82CA-1326436E43E2}"/>
              </a:ext>
            </a:extLst>
          </p:cNvPr>
          <p:cNvSpPr/>
          <p:nvPr/>
        </p:nvSpPr>
        <p:spPr>
          <a:xfrm>
            <a:off x="6375400" y="5232400"/>
            <a:ext cx="508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자주 하는 실수</a:t>
            </a: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CC5DB368-DFF5-4FC0-A808-2D524B98766C}"/>
              </a:ext>
            </a:extLst>
          </p:cNvPr>
          <p:cNvSpPr/>
          <p:nvPr/>
        </p:nvSpPr>
        <p:spPr>
          <a:xfrm>
            <a:off x="6375400" y="5562600"/>
            <a:ext cx="5080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이름표가 붙어도 위험한지는 판단 기준이 있어야 압니다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2908215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2AB305-8F64-4980-9FAF-BC360362A9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E29FF8E-C351-466B-B640-7D9B6A5358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D4A9C6E-2943-44BA-A6DB-DCABE3BB6D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22.5만 보면 무엇을 모를까요?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5FAA46-92DA-40F2-8034-3F9D15FA5C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34B94-05FB-4723-BDE2-842C7DC44B91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756AF40-FA5B-4514-980E-36A250D2D30F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무엇을 잰 값인가요?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391FAB-8484-458B-85DF-30B3C473A0FE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DB4828-8F96-4CFE-8217-3A32A78B4FFC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단위·장소·시각은 무엇인가요?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E468B9-6F76-4360-BCC9-6482DD5FEEFC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C3E46D0-B50C-4D1E-A688-081FCB367D94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어떤 기준으로 판단하나요?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6645A2-DAD4-4958-BA5C-867295967A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C4FCE9C4-2373-4846-80E5-CF1BCE20CF5E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01537A45-E21E-448F-A944-92119A7EFB55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A8BA8D4B-D18E-47CE-9D5E-2F9C6B1FB823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B6BF4B3-6AB7-4574-9866-EC5F209644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019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043338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4409CC1-7AE8-433E-8625-AF2C4383B82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E41A1BB-2581-48DA-ACC0-FF480CDB1DC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숫자에 필요한 설명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1420AA5-11A1-498E-A45A-D8E1D705BD7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41229B1-F781-413A-9570-06BCAE8ED2AA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22.5라는 기록은 있지만 무엇의 값인지 아직 모릅니다.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C8250D0-C75B-4D0E-AB3B-AC73ED4E2B7F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대상·단위·장소·시각을 확인한 뒤 같은 조건의 기록을 비교합니다.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6EF46AD-5107-47C9-9CDA-928D319A1F2E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판정하려면 업무 기준도 필요합니다. 숫자 모양만으로 안전·위험을 정하지 않습니다.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8090E41-ACDF-4295-8CB1-5B2281FA186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5EFF4DE-EAD7-4691-9605-26EF34FEE28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020</a:t>
            </a:r>
            <a:endParaRPr/>
          </a:p>
        </p:txBody>
      </p:sp>
      <p:sp>
        <p:nvSpPr>
          <p:cNvPr id="11" name="AccentBar">
            <a:extLst>
              <a:ext uri="{FF2B5EF4-FFF2-40B4-BE49-F238E27FC236}">
                <a16:creationId xmlns:a16="http://schemas.microsoft.com/office/drawing/2014/main" id="{8E190D1F-42F7-4148-BBAE-441EA71FCAF9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2A670DC3-F404-45CD-8C16-61F6461602A6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74936F4A-61E0-482C-B4F5-C4B0CAE74FF1}"/>
              </a:ext>
            </a:extLst>
          </p:cNvPr>
          <p:cNvSpPr/>
          <p:nvPr/>
        </p:nvSpPr>
        <p:spPr>
          <a:xfrm>
            <a:off x="685800" y="42672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87033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F23EE27-6844-40FD-A453-1857B562FD7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11CA2DB-4F08-4D53-BAF9-0A7043CFBDC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자료의 구조를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144B721-2373-46ED-A1A6-B62DE424DE7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표 11"/>
          <p:cNvGraphicFramePr/>
          <p:nvPr>
            <p:extLst>
              <p:ext uri="{D42A27DB-BD31-4B8C-83A1-F6EECF244321}">
                <p14:modId xmlns:p14="http://schemas.microsoft.com/office/powerpoint/2010/main" val="2922893965"/>
              </p:ext>
            </p:extLst>
          </p:nvPr>
        </p:nvGraphicFramePr>
        <p:xfrm>
          <a:off x="685800" y="1943100"/>
          <a:ext cx="10820400" cy="2946400"/>
        </p:xfrm>
        <a:graphic>
          <a:graphicData uri="http://schemas.openxmlformats.org/drawingml/2006/table">
            <a:tbl>
              <a:tblPr firstRow="1"/>
              <a:tblGrid>
                <a:gridCol w="30056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147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 근거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항목과 규칙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반정형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키·계층, 유연한 항목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비정형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칸으로 정리되지 않은 내용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4DC29423-FAC1-4780-A1DB-68521264681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051B0B0-33B9-415D-BD7D-995412BDB48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021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03960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2E4E1024-1A4D-4F86-9660-D8EA6AD0111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2C7721C-CBD2-4F49-B9ED-A77171AA6CA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정형·반정형·비정형의 기준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08174CC-7D93-48FA-8F55-CC1C3CF1674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B1F55A9-1454-4934-9BB6-955F2E5F4F8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8263AED-1FDE-4154-9953-C674B98F507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022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3190413D-DE6A-4C3D-8B53-26040DAFD731}"/>
              </a:ext>
            </a:extLst>
          </p:cNvPr>
          <p:cNvSpPr/>
          <p:nvPr/>
        </p:nvSpPr>
        <p:spPr>
          <a:xfrm>
            <a:off x="685800" y="1981200"/>
            <a:ext cx="3454400" cy="508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FFFFFF"/>
                </a:solidFill>
                <a:latin typeface="Noto Sans KR"/>
                <a:ea typeface="Noto Sans KR"/>
              </a:rPr>
              <a:t>정형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20FE2221-A864-479F-9807-BFC319EDCCD8}"/>
              </a:ext>
            </a:extLst>
          </p:cNvPr>
          <p:cNvSpPr/>
          <p:nvPr/>
        </p:nvSpPr>
        <p:spPr>
          <a:xfrm>
            <a:off x="685800" y="2489200"/>
            <a:ext cx="3454400" cy="1905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4D4DDF6F-C20B-4BBE-B439-6FAEC97C4F8D}"/>
              </a:ext>
            </a:extLst>
          </p:cNvPr>
          <p:cNvSpPr/>
          <p:nvPr/>
        </p:nvSpPr>
        <p:spPr>
          <a:xfrm>
            <a:off x="685800" y="4495800"/>
            <a:ext cx="34544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모든 기록이 같은 칸을 따릅니다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ED197FD4-7151-40DE-89A7-EE38926C24CA}"/>
              </a:ext>
            </a:extLst>
          </p:cNvPr>
          <p:cNvSpPr/>
          <p:nvPr/>
        </p:nvSpPr>
        <p:spPr>
          <a:xfrm>
            <a:off x="685800" y="5130800"/>
            <a:ext cx="34544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예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: 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점검표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출입 기록표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4C6DD2C9-7BA9-46D1-ACD6-9554DE7687B7}"/>
              </a:ext>
            </a:extLst>
          </p:cNvPr>
          <p:cNvSpPr/>
          <p:nvPr/>
        </p:nvSpPr>
        <p:spPr>
          <a:xfrm>
            <a:off x="4368800" y="1981200"/>
            <a:ext cx="3454400" cy="508000"/>
          </a:xfrm>
          <a:prstGeom prst="rect">
            <a:avLst/>
          </a:prstGeom>
          <a:solidFill>
            <a:srgbClr val="2F6A8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FFFFFF"/>
                </a:solidFill>
                <a:latin typeface="Noto Sans KR"/>
                <a:ea typeface="Noto Sans KR"/>
              </a:rPr>
              <a:t>반정형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2E0AD955-7CB5-4AB3-BFCF-3480C1122C5A}"/>
              </a:ext>
            </a:extLst>
          </p:cNvPr>
          <p:cNvSpPr/>
          <p:nvPr/>
        </p:nvSpPr>
        <p:spPr>
          <a:xfrm>
            <a:off x="4368800" y="2489200"/>
            <a:ext cx="3454400" cy="1905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D3DD012B-4FBF-4733-B225-1F13FD5A74B1}"/>
              </a:ext>
            </a:extLst>
          </p:cNvPr>
          <p:cNvSpPr/>
          <p:nvPr/>
        </p:nvSpPr>
        <p:spPr>
          <a:xfrm>
            <a:off x="4368800" y="4495800"/>
            <a:ext cx="34544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키는 있지만 기록마다 항목이 다릅니다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DA42F7BE-A10A-4FD8-AF53-7DB22B17A186}"/>
              </a:ext>
            </a:extLst>
          </p:cNvPr>
          <p:cNvSpPr/>
          <p:nvPr/>
        </p:nvSpPr>
        <p:spPr>
          <a:xfrm>
            <a:off x="4368800" y="5130800"/>
            <a:ext cx="34544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예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: 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장치마다 다른 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JSON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37D78C18-98E5-497F-A5A6-8BFFBBB01581}"/>
              </a:ext>
            </a:extLst>
          </p:cNvPr>
          <p:cNvSpPr/>
          <p:nvPr/>
        </p:nvSpPr>
        <p:spPr>
          <a:xfrm>
            <a:off x="8051800" y="1981200"/>
            <a:ext cx="3454400" cy="5080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FFFFFF"/>
                </a:solidFill>
                <a:latin typeface="Noto Sans KR"/>
                <a:ea typeface="Noto Sans KR"/>
              </a:rPr>
              <a:t>비정형</a:t>
            </a: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FD43C5AF-3466-438A-B301-ABBDC971A30B}"/>
              </a:ext>
            </a:extLst>
          </p:cNvPr>
          <p:cNvSpPr/>
          <p:nvPr/>
        </p:nvSpPr>
        <p:spPr>
          <a:xfrm>
            <a:off x="8051800" y="2489200"/>
            <a:ext cx="3454400" cy="1905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8D5A4C02-6B41-4BBA-B92F-DA690FEDAF7A}"/>
              </a:ext>
            </a:extLst>
          </p:cNvPr>
          <p:cNvSpPr/>
          <p:nvPr/>
        </p:nvSpPr>
        <p:spPr>
          <a:xfrm>
            <a:off x="8051800" y="4495800"/>
            <a:ext cx="34544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항목이 미리 나뉘어 있지 않습니다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5C3CC035-5767-417F-849F-F10B5AE11F31}"/>
              </a:ext>
            </a:extLst>
          </p:cNvPr>
          <p:cNvSpPr/>
          <p:nvPr/>
        </p:nvSpPr>
        <p:spPr>
          <a:xfrm>
            <a:off x="8051800" y="5130800"/>
            <a:ext cx="34544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예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: 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사진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음성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자유 메모</a:t>
            </a:r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533D31D0-21D2-4099-9FFE-6BC07F31BA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279861"/>
              </p:ext>
            </p:extLst>
          </p:nvPr>
        </p:nvGraphicFramePr>
        <p:xfrm>
          <a:off x="838200" y="2692400"/>
          <a:ext cx="3149601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9867">
                  <a:extLst>
                    <a:ext uri="{9D8B030D-6E8A-4147-A177-3AD203B41FA5}">
                      <a16:colId xmlns:a16="http://schemas.microsoft.com/office/drawing/2014/main" val="3794097310"/>
                    </a:ext>
                  </a:extLst>
                </a:gridCol>
                <a:gridCol w="1049867">
                  <a:extLst>
                    <a:ext uri="{9D8B030D-6E8A-4147-A177-3AD203B41FA5}">
                      <a16:colId xmlns:a16="http://schemas.microsoft.com/office/drawing/2014/main" val="1208711318"/>
                    </a:ext>
                  </a:extLst>
                </a:gridCol>
                <a:gridCol w="1049867">
                  <a:extLst>
                    <a:ext uri="{9D8B030D-6E8A-4147-A177-3AD203B41FA5}">
                      <a16:colId xmlns:a16="http://schemas.microsoft.com/office/drawing/2014/main" val="131914485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구역</a:t>
                      </a:r>
                    </a:p>
                  </a:txBody>
                  <a:tcPr anchor="ctr">
                    <a:solidFill>
                      <a:srgbClr val="08776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시각</a:t>
                      </a:r>
                    </a:p>
                  </a:txBody>
                  <a:tcPr anchor="ctr">
                    <a:solidFill>
                      <a:srgbClr val="08776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상태</a:t>
                      </a:r>
                    </a:p>
                  </a:txBody>
                  <a:tcPr anchor="ctr">
                    <a:solidFill>
                      <a:srgbClr val="08776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16962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10:00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완료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6392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10:00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확인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1083818"/>
                  </a:ext>
                </a:extLst>
              </a:tr>
            </a:tbl>
          </a:graphicData>
        </a:graphic>
      </p:graphicFrame>
      <p:sp>
        <p:nvSpPr>
          <p:cNvPr id="30" name="Viz">
            <a:extLst>
              <a:ext uri="{FF2B5EF4-FFF2-40B4-BE49-F238E27FC236}">
                <a16:creationId xmlns:a16="http://schemas.microsoft.com/office/drawing/2014/main" id="{0B40336A-BB18-49AC-8062-3A664E08E2ED}"/>
              </a:ext>
            </a:extLst>
          </p:cNvPr>
          <p:cNvSpPr/>
          <p:nvPr/>
        </p:nvSpPr>
        <p:spPr>
          <a:xfrm>
            <a:off x="4521200" y="2616200"/>
            <a:ext cx="3200400" cy="16510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300">
                <a:solidFill>
                  <a:srgbClr val="E6EEF1"/>
                </a:solidFill>
                <a:latin typeface="Consolas"/>
              </a:rPr>
              <a:t>{"id": "D01", "temp": 22.5}
{"id": "D02", "battery": 80,
 "memo": "</a:t>
            </a:r>
            <a:r>
              <a:rPr lang="ko-KR" altLang="en-US" sz="1300">
                <a:solidFill>
                  <a:srgbClr val="E6EEF1"/>
                </a:solidFill>
                <a:latin typeface="Consolas"/>
              </a:rPr>
              <a:t>점검 필요</a:t>
            </a:r>
            <a:r>
              <a:rPr lang="en-US" altLang="ko-KR" sz="1300">
                <a:solidFill>
                  <a:srgbClr val="E6EEF1"/>
                </a:solidFill>
                <a:latin typeface="Consolas"/>
              </a:rPr>
              <a:t>"}</a:t>
            </a:r>
            <a:endParaRPr lang="ko-KR" altLang="en-US" sz="1300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CE1659B7-A3AE-4471-A445-7E28A1B29B8E}"/>
              </a:ext>
            </a:extLst>
          </p:cNvPr>
          <p:cNvSpPr/>
          <p:nvPr/>
        </p:nvSpPr>
        <p:spPr>
          <a:xfrm>
            <a:off x="8331200" y="2717800"/>
            <a:ext cx="2895600" cy="1422400"/>
          </a:xfrm>
          <a:prstGeom prst="rect">
            <a:avLst/>
          </a:prstGeom>
          <a:solidFill>
            <a:srgbClr val="FFF6C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입구 쪽이 좀 더운 것 같고
문이 자주 열려요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2013B28E-477F-4B8C-8072-9BE0BB690DAB}"/>
              </a:ext>
            </a:extLst>
          </p:cNvPr>
          <p:cNvSpPr/>
          <p:nvPr/>
        </p:nvSpPr>
        <p:spPr>
          <a:xfrm>
            <a:off x="685800" y="5664200"/>
            <a:ext cx="10820400" cy="5588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6FD28D23-B6AB-4B37-9713-D84EAE107070}"/>
              </a:ext>
            </a:extLst>
          </p:cNvPr>
          <p:cNvSpPr/>
          <p:nvPr/>
        </p:nvSpPr>
        <p:spPr>
          <a:xfrm>
            <a:off x="685800" y="5664200"/>
            <a:ext cx="76200" cy="558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DFC60541-53FD-4436-A55F-6E6EB054D982}"/>
              </a:ext>
            </a:extLst>
          </p:cNvPr>
          <p:cNvSpPr/>
          <p:nvPr/>
        </p:nvSpPr>
        <p:spPr>
          <a:xfrm>
            <a:off x="914400" y="5664200"/>
            <a:ext cx="10541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한 줄 정리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확장자가 아니라 실제 항목과 규칙을 보고 분류합니다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1069015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2E3DDFD-CF8D-4DBE-B383-BF2C60F7FD1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BC776CF-F568-4CA2-89A9-D4527A0D25D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JSON이면 언제나 반정형일까요?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E69808C-A376-43DE-8539-C881FCAA1F6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96C6792-368D-4E12-B6B4-709B7C4CF946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JSON은 저장 형식 이름이고, 정형은 구조의 정도를 설명합니다.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26A82CF-E5DE-42B6-A6D2-BD68A410876C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같은 필수 키와 자료형을 모든 기록에 강제하면 정형으로 볼 수 있습니다.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022DB25-7A82-4BD7-A326-1C96ED15D95A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키가 다르거나 자유롭게 추가되는 JSON은 반정형 특징을 가집니다.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DB07F15-8894-42F7-95D4-C1B1F572BE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2A82870-8ABF-418C-9F0D-239118A8B4C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023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4803D50B-E073-4E26-B703-34ED5AAC8A03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5999500D-F801-40EF-B488-66CEB469FDD8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3F72E02D-EC4C-46FC-A061-3208970C4191}"/>
              </a:ext>
            </a:extLst>
          </p:cNvPr>
          <p:cNvSpPr/>
          <p:nvPr/>
        </p:nvSpPr>
        <p:spPr>
          <a:xfrm>
            <a:off x="685800" y="42672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6365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4AB6001-0DCA-440B-A652-33A626482A8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336E295-C9B1-4315-87B3-B373EBE43EC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사진 속 표와 표 파일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68FD365-4273-4B4A-A87F-0351A90950B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6CBA8C5-D128-4B8B-8D0E-9BE475F67010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사진에 표가 보여도 파일은 픽셀로 저장된 이미지입니다.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E9A0DA4-578E-4672-923F-47266246053A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표의 셀값을 계산하려면 이미지에서 글자를 추출하고 값을 확인해야 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5549C03-8DD9-4724-919F-6EC76AECB2EF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셀값이 들어 있는 CSV·스프레드시트와 사진을 같은 자료 구조로 보지 않습니다.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345430-6228-4D9F-BA55-E5D5A3E5D3C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23D9C5A-D374-489B-B1E2-791A7C57E2E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024</a:t>
            </a:r>
            <a:endParaRPr/>
          </a:p>
        </p:txBody>
      </p:sp>
      <p:sp>
        <p:nvSpPr>
          <p:cNvPr id="11" name="AccentBar">
            <a:extLst>
              <a:ext uri="{FF2B5EF4-FFF2-40B4-BE49-F238E27FC236}">
                <a16:creationId xmlns:a16="http://schemas.microsoft.com/office/drawing/2014/main" id="{968EFE24-BAE1-45C7-AD51-CD67E22D9090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26F1DFEF-3A29-4365-8F54-7862C07D2CBF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DDCF080D-EE64-49D1-AD34-B37B18CB3865}"/>
              </a:ext>
            </a:extLst>
          </p:cNvPr>
          <p:cNvSpPr/>
          <p:nvPr/>
        </p:nvSpPr>
        <p:spPr>
          <a:xfrm>
            <a:off x="685800" y="42672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9839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4CE1858-9629-4B24-9D17-61E84688F19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770748C-D01A-4602-9102-22159A0E8D4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기록을 메모·표·키로 쓰기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07FFA4E-D32D-4FDF-A864-95DD73D430A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D156958-B30E-4156-96DE-BF9452C97A2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025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DD26ED72-E982-4904-9FFE-C4FBEF2E4C3A}"/>
              </a:ext>
            </a:extLst>
          </p:cNvPr>
          <p:cNvSpPr/>
          <p:nvPr/>
        </p:nvSpPr>
        <p:spPr>
          <a:xfrm>
            <a:off x="685800" y="1930400"/>
            <a:ext cx="10820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같은 기록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: 10:00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에 입구 센서 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S01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이 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22.5℃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를 기록했습니다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05B0935F-FEAA-49CE-AC8E-609DED5F8522}"/>
              </a:ext>
            </a:extLst>
          </p:cNvPr>
          <p:cNvSpPr/>
          <p:nvPr/>
        </p:nvSpPr>
        <p:spPr>
          <a:xfrm>
            <a:off x="685800" y="2438400"/>
            <a:ext cx="3454400" cy="4826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자유 메모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ED1CE4A9-FE31-4950-AAA2-F47F6A360201}"/>
              </a:ext>
            </a:extLst>
          </p:cNvPr>
          <p:cNvSpPr/>
          <p:nvPr/>
        </p:nvSpPr>
        <p:spPr>
          <a:xfrm>
            <a:off x="685800" y="2921000"/>
            <a:ext cx="3454400" cy="1905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D1B1D057-12CE-420C-AFE5-0BE4448DDF61}"/>
              </a:ext>
            </a:extLst>
          </p:cNvPr>
          <p:cNvSpPr/>
          <p:nvPr/>
        </p:nvSpPr>
        <p:spPr>
          <a:xfrm>
            <a:off x="685800" y="4927600"/>
            <a:ext cx="3454400" cy="711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필요한 항목을 먼저 찾아 읽습니다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C1FEFDFE-ADDE-44D0-B420-15E7C378D672}"/>
              </a:ext>
            </a:extLst>
          </p:cNvPr>
          <p:cNvSpPr/>
          <p:nvPr/>
        </p:nvSpPr>
        <p:spPr>
          <a:xfrm>
            <a:off x="4368800" y="2438400"/>
            <a:ext cx="3454400" cy="482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표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FDC00A53-F5F8-41ED-8479-2A520E849A32}"/>
              </a:ext>
            </a:extLst>
          </p:cNvPr>
          <p:cNvSpPr/>
          <p:nvPr/>
        </p:nvSpPr>
        <p:spPr>
          <a:xfrm>
            <a:off x="4368800" y="2921000"/>
            <a:ext cx="3454400" cy="1905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AA2786DE-CE2D-4700-B526-B3D896D1DB5D}"/>
              </a:ext>
            </a:extLst>
          </p:cNvPr>
          <p:cNvSpPr/>
          <p:nvPr/>
        </p:nvSpPr>
        <p:spPr>
          <a:xfrm>
            <a:off x="4368800" y="4927600"/>
            <a:ext cx="3454400" cy="711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같은 항목을 나란히 비교합니다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F85945B1-7157-43B7-818D-2DAA382CA8C7}"/>
              </a:ext>
            </a:extLst>
          </p:cNvPr>
          <p:cNvSpPr/>
          <p:nvPr/>
        </p:nvSpPr>
        <p:spPr>
          <a:xfrm>
            <a:off x="8051800" y="2438400"/>
            <a:ext cx="3454400" cy="482600"/>
          </a:xfrm>
          <a:prstGeom prst="rect">
            <a:avLst/>
          </a:prstGeom>
          <a:solidFill>
            <a:srgbClr val="2F6A8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키</a:t>
            </a:r>
            <a:r>
              <a:rPr lang="en-US" altLang="ko-KR" b="1">
                <a:solidFill>
                  <a:srgbClr val="FFFFFF"/>
                </a:solidFill>
                <a:latin typeface="Noto Sans KR"/>
                <a:ea typeface="Noto Sans KR"/>
              </a:rPr>
              <a:t>·</a:t>
            </a:r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값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97ED239F-E67A-4905-BF66-556672D2D7C7}"/>
              </a:ext>
            </a:extLst>
          </p:cNvPr>
          <p:cNvSpPr/>
          <p:nvPr/>
        </p:nvSpPr>
        <p:spPr>
          <a:xfrm>
            <a:off x="8051800" y="2921000"/>
            <a:ext cx="3454400" cy="1905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92E67991-3AAB-405C-8087-39E11F544146}"/>
              </a:ext>
            </a:extLst>
          </p:cNvPr>
          <p:cNvSpPr/>
          <p:nvPr/>
        </p:nvSpPr>
        <p:spPr>
          <a:xfrm>
            <a:off x="8051800" y="4927600"/>
            <a:ext cx="3454400" cy="711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이름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(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)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으로 값을 바로 찾습니다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A21C310E-4EE3-4FF5-B8D8-ACA71B5D5F82}"/>
              </a:ext>
            </a:extLst>
          </p:cNvPr>
          <p:cNvSpPr/>
          <p:nvPr/>
        </p:nvSpPr>
        <p:spPr>
          <a:xfrm>
            <a:off x="889000" y="3175000"/>
            <a:ext cx="3048000" cy="1397000"/>
          </a:xfrm>
          <a:prstGeom prst="rect">
            <a:avLst/>
          </a:prstGeom>
          <a:solidFill>
            <a:srgbClr val="FFF6C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10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시쯤 입구
센서 보니까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22.5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도</a:t>
            </a: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67E68893-4D33-4AD1-9537-DEB6801B7F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2667193"/>
              </p:ext>
            </p:extLst>
          </p:nvPr>
        </p:nvGraphicFramePr>
        <p:xfrm>
          <a:off x="4699000" y="3327400"/>
          <a:ext cx="30480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03299207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310865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7481963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시각</a:t>
                      </a:r>
                    </a:p>
                  </a:txBody>
                  <a:tcPr anchor="ctr">
                    <a:solidFill>
                      <a:srgbClr val="08776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센서</a:t>
                      </a:r>
                    </a:p>
                  </a:txBody>
                  <a:tcPr anchor="ctr">
                    <a:solidFill>
                      <a:srgbClr val="08776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온도(℃)</a:t>
                      </a:r>
                    </a:p>
                  </a:txBody>
                  <a:tcPr anchor="ctr">
                    <a:solidFill>
                      <a:srgbClr val="08776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13418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10:00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S01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22.5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634576"/>
                  </a:ext>
                </a:extLst>
              </a:tr>
            </a:tbl>
          </a:graphicData>
        </a:graphic>
      </p:graphicFrame>
      <p:sp>
        <p:nvSpPr>
          <p:cNvPr id="27" name="Viz">
            <a:extLst>
              <a:ext uri="{FF2B5EF4-FFF2-40B4-BE49-F238E27FC236}">
                <a16:creationId xmlns:a16="http://schemas.microsoft.com/office/drawing/2014/main" id="{4A428F53-70FE-49A8-96A9-1D7F39837249}"/>
              </a:ext>
            </a:extLst>
          </p:cNvPr>
          <p:cNvSpPr/>
          <p:nvPr/>
        </p:nvSpPr>
        <p:spPr>
          <a:xfrm>
            <a:off x="8280400" y="3124200"/>
            <a:ext cx="2997200" cy="14986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500">
                <a:solidFill>
                  <a:srgbClr val="E6EEF1"/>
                </a:solidFill>
                <a:latin typeface="Consolas"/>
              </a:rPr>
              <a:t>{
  "time": "10:00",
  "sensor": "S01",
  "temp_c": 22.5
}</a:t>
            </a:r>
            <a:endParaRPr lang="ko-KR" altLang="en-US" sz="1500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6B432FE7-8AA4-4821-9750-5DAD43599608}"/>
              </a:ext>
            </a:extLst>
          </p:cNvPr>
          <p:cNvSpPr/>
          <p:nvPr/>
        </p:nvSpPr>
        <p:spPr>
          <a:xfrm>
            <a:off x="685800" y="5740400"/>
            <a:ext cx="10820400" cy="5080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AccentBar">
            <a:extLst>
              <a:ext uri="{FF2B5EF4-FFF2-40B4-BE49-F238E27FC236}">
                <a16:creationId xmlns:a16="http://schemas.microsoft.com/office/drawing/2014/main" id="{A6D8377C-63D8-4EF5-993F-FD6C57BCDE89}"/>
              </a:ext>
            </a:extLst>
          </p:cNvPr>
          <p:cNvSpPr/>
          <p:nvPr/>
        </p:nvSpPr>
        <p:spPr>
          <a:xfrm>
            <a:off x="685800" y="5740400"/>
            <a:ext cx="76200" cy="508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C35CB7BE-6B2A-4629-B8F2-548D1D502B57}"/>
              </a:ext>
            </a:extLst>
          </p:cNvPr>
          <p:cNvSpPr/>
          <p:nvPr/>
        </p:nvSpPr>
        <p:spPr>
          <a:xfrm>
            <a:off x="914400" y="5740400"/>
            <a:ext cx="10541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한 줄 정리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내용은 같고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찾고 비교하는 방법이 다릅니다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1" name="Footer">
            <a:extLst>
              <a:ext uri="{FF2B5EF4-FFF2-40B4-BE49-F238E27FC236}">
                <a16:creationId xmlns:a16="http://schemas.microsoft.com/office/drawing/2014/main" id="{2B09C3BC-B8FE-4651-A43C-3A54F3F18104}"/>
              </a:ext>
            </a:extLst>
          </p:cNvPr>
          <p:cNvSpPr txBox="1"/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</p:spPr>
        <p:txBody>
          <a:bodyPr vertOverflow="overflow" vert="horz" wrap="square" lIns="0" tIns="0" rtlCol="0" anchor="t" anchorCtr="0">
            <a:spAutoFit/>
          </a:bodyPr>
          <a:lstStyle/>
          <a:p>
            <a:pPr algn="l"/>
            <a:r>
              <a:rPr lang="en-US" altLang="ko-KR" sz="1275">
                <a:solidFill>
                  <a:srgbClr val="4D6068"/>
                </a:solidFill>
                <a:latin typeface="Noto Sans KR"/>
                <a:ea typeface="Noto Sans KR"/>
              </a:rPr>
              <a:t>10/08   </a:t>
            </a:r>
            <a:r>
              <a:rPr lang="ko-KR" altLang="en-US" sz="1275">
                <a:solidFill>
                  <a:srgbClr val="4D6068"/>
                </a:solidFill>
                <a:latin typeface="Noto Sans KR"/>
                <a:ea typeface="Noto Sans KR"/>
              </a:rPr>
              <a:t>데이터 기초 </a:t>
            </a:r>
            <a:r>
              <a:rPr lang="en-US" altLang="ko-KR" sz="1275">
                <a:solidFill>
                  <a:srgbClr val="4D6068"/>
                </a:solidFill>
                <a:latin typeface="Noto Sans KR"/>
                <a:ea typeface="Noto Sans KR"/>
              </a:rPr>
              <a:t>· </a:t>
            </a:r>
            <a:r>
              <a:rPr lang="ko-KR" altLang="en-US" sz="1275">
                <a:solidFill>
                  <a:srgbClr val="4D6068"/>
                </a:solidFill>
                <a:latin typeface="Noto Sans KR"/>
                <a:ea typeface="Noto Sans KR"/>
              </a:rPr>
              <a:t>표에서 </a:t>
            </a:r>
            <a:r>
              <a:rPr lang="en-US" altLang="ko-KR" sz="1275">
                <a:solidFill>
                  <a:srgbClr val="4D6068"/>
                </a:solidFill>
                <a:latin typeface="Noto Sans KR"/>
                <a:ea typeface="Noto Sans KR"/>
              </a:rPr>
              <a:t>CSV</a:t>
            </a:r>
            <a:r>
              <a:rPr lang="ko-KR" altLang="en-US" sz="1275">
                <a:solidFill>
                  <a:srgbClr val="4D6068"/>
                </a:solidFill>
                <a:latin typeface="Noto Sans KR"/>
                <a:ea typeface="Noto Sans KR"/>
              </a:rPr>
              <a:t>와 </a:t>
            </a:r>
            <a:r>
              <a:rPr lang="en-US" altLang="ko-KR" sz="1275">
                <a:solidFill>
                  <a:srgbClr val="4D6068"/>
                </a:solidFill>
                <a:latin typeface="Noto Sans KR"/>
                <a:ea typeface="Noto Sans KR"/>
              </a:rPr>
              <a:t>JSON</a:t>
            </a:r>
            <a:r>
              <a:rPr lang="ko-KR" altLang="en-US" sz="1275">
                <a:solidFill>
                  <a:srgbClr val="4D6068"/>
                </a:solidFill>
                <a:latin typeface="Noto Sans KR"/>
                <a:ea typeface="Noto Sans KR"/>
              </a:rPr>
              <a:t>까지</a:t>
            </a:r>
          </a:p>
        </p:txBody>
      </p:sp>
    </p:spTree>
    <p:extLst>
      <p:ext uri="{BB962C8B-B14F-4D97-AF65-F5344CB8AC3E}">
        <p14:creationId xmlns:p14="http://schemas.microsoft.com/office/powerpoint/2010/main" val="1074197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ECF7917A-334B-4D5C-996C-B5E771D11CD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124275-56E9-402D-80C5-56499DC7448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냉장 창고의 온도 메모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8FB230B-9EC4-4656-8362-94B7DD11FEB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991D92-4833-4B5E-A6C0-D0F9A057F830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받은 메모는 문 앞 8, 선반 안 4입니다. 처음에는 단위와 시각을 모릅니다.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1F69ED7-1B3A-42C5-882A-0B3A48F102B5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확인된 기록은 10:00, 섭씨, 문 앞 8℃·선반 안 4℃입니다.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7CC9A2F-EC2A-4BB9-B56F-9F385B90801E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수업용 기준은 각 위치 5℃ 이하입니다. 실제 안전 기준이 아닙니다.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D11BF99-5705-407A-BFDA-B748A7B625A6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평균보다 먼저 각 위치를 기준과 비교합니다.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D2F6675-7A1E-4605-BCAC-61F2C89C5C1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ABC000B-19AD-48D9-851D-47F93EC00A8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026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01544B56-4BA4-49D5-B9BE-355BAC78D145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103AD6E7-0736-47EE-B5B0-018514EE1F81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4506063A-AE55-4233-AFBB-55B939FF27AB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78477075-17A9-45C3-9DDB-A759E2AE44A0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8296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5B625B3-4617-41A9-8DDB-4CCB709994B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1AC0DB8-F0AB-4026-9A0B-B84DEC4CA0A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위치를 5℃ 기준과 비교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1172DB2-37F5-4E09-BBC6-6EC3BECED89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07AAC4A-19FA-4B68-970F-E5C30B3D88F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6A8492F-4255-4EF2-B8FB-AB34AB5144F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027</a:t>
            </a:r>
            <a:endParaRPr/>
          </a:p>
        </p:txBody>
      </p:sp>
      <p:graphicFrame>
        <p:nvGraphicFramePr>
          <p:cNvPr id="9" name="Chart"/>
          <p:cNvGraphicFramePr/>
          <p:nvPr/>
        </p:nvGraphicFramePr>
        <p:xfrm>
          <a:off x="685800" y="2133600"/>
          <a:ext cx="6096000" cy="3962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Viz">
            <a:extLst>
              <a:ext uri="{FF2B5EF4-FFF2-40B4-BE49-F238E27FC236}">
                <a16:creationId xmlns:a16="http://schemas.microsoft.com/office/drawing/2014/main" id="{735154FC-8630-4A2B-91E1-9D5FB0698C76}"/>
              </a:ext>
            </a:extLst>
          </p:cNvPr>
          <p:cNvSpPr/>
          <p:nvPr/>
        </p:nvSpPr>
        <p:spPr>
          <a:xfrm>
            <a:off x="685800" y="1828800"/>
            <a:ext cx="6096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889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위치별 온도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, 10:00 (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수업용 기준 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5℃ 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이하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)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11" name="Viz">
            <a:extLst>
              <a:ext uri="{FF2B5EF4-FFF2-40B4-BE49-F238E27FC236}">
                <a16:creationId xmlns:a16="http://schemas.microsoft.com/office/drawing/2014/main" id="{EFD44376-2D31-4229-83BE-AED7CEA1493D}"/>
              </a:ext>
            </a:extLst>
          </p:cNvPr>
          <p:cNvSpPr/>
          <p:nvPr/>
        </p:nvSpPr>
        <p:spPr>
          <a:xfrm>
            <a:off x="5461000" y="3710940"/>
            <a:ext cx="1270000" cy="254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r"/>
            <a:r>
              <a:rPr lang="ko-KR" altLang="en-US" sz="1300" b="1">
                <a:solidFill>
                  <a:srgbClr val="08776D"/>
                </a:solidFill>
                <a:latin typeface="Noto Sans KR"/>
                <a:ea typeface="Noto Sans KR"/>
              </a:rPr>
              <a:t>기준 </a:t>
            </a:r>
            <a:r>
              <a:rPr lang="en-US" altLang="ko-KR" sz="1300" b="1">
                <a:solidFill>
                  <a:srgbClr val="08776D"/>
                </a:solidFill>
                <a:latin typeface="Noto Sans KR"/>
                <a:ea typeface="Noto Sans KR"/>
              </a:rPr>
              <a:t>5℃</a:t>
            </a:r>
            <a:endParaRPr lang="ko-KR" altLang="en-US" sz="13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12" name="Viz">
            <a:extLst>
              <a:ext uri="{FF2B5EF4-FFF2-40B4-BE49-F238E27FC236}">
                <a16:creationId xmlns:a16="http://schemas.microsoft.com/office/drawing/2014/main" id="{D07F513C-FD26-4D3E-AC7C-8A2B3C9A2B65}"/>
              </a:ext>
            </a:extLst>
          </p:cNvPr>
          <p:cNvSpPr/>
          <p:nvPr/>
        </p:nvSpPr>
        <p:spPr>
          <a:xfrm>
            <a:off x="7112000" y="21336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4A0FA6B7-2206-45DC-9B8E-99899E304070}"/>
              </a:ext>
            </a:extLst>
          </p:cNvPr>
          <p:cNvSpPr/>
          <p:nvPr/>
        </p:nvSpPr>
        <p:spPr>
          <a:xfrm>
            <a:off x="7112000" y="2133600"/>
            <a:ext cx="76200" cy="11938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5C67EF2E-1CA2-4304-8CCE-B7CD228BE1AD}"/>
              </a:ext>
            </a:extLst>
          </p:cNvPr>
          <p:cNvSpPr/>
          <p:nvPr/>
        </p:nvSpPr>
        <p:spPr>
          <a:xfrm>
            <a:off x="7340600" y="22352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A64512"/>
                </a:solidFill>
                <a:latin typeface="Noto Sans KR"/>
                <a:ea typeface="Noto Sans KR"/>
              </a:rPr>
              <a:t>문 앞 </a:t>
            </a:r>
            <a:r>
              <a:rPr lang="en-US" altLang="ko-KR" b="1">
                <a:solidFill>
                  <a:srgbClr val="A64512"/>
                </a:solidFill>
                <a:latin typeface="Noto Sans KR"/>
                <a:ea typeface="Noto Sans KR"/>
              </a:rPr>
              <a:t>8℃</a:t>
            </a:r>
            <a:endParaRPr lang="ko-KR" altLang="en-US" b="1">
              <a:solidFill>
                <a:srgbClr val="A64512"/>
              </a:solidFill>
              <a:latin typeface="Noto Sans KR"/>
              <a:ea typeface="Noto Sans KR"/>
            </a:endParaRP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018EF3C4-8D79-4B0A-B24E-D6297C42ACB8}"/>
              </a:ext>
            </a:extLst>
          </p:cNvPr>
          <p:cNvSpPr/>
          <p:nvPr/>
        </p:nvSpPr>
        <p:spPr>
          <a:xfrm>
            <a:off x="7340600" y="26162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8 ≤ 5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거짓 → 확인 대상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159DBD2E-1445-4874-B48F-32844F5CA40A}"/>
              </a:ext>
            </a:extLst>
          </p:cNvPr>
          <p:cNvSpPr/>
          <p:nvPr/>
        </p:nvSpPr>
        <p:spPr>
          <a:xfrm>
            <a:off x="7112000" y="34544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AccentBar">
            <a:extLst>
              <a:ext uri="{FF2B5EF4-FFF2-40B4-BE49-F238E27FC236}">
                <a16:creationId xmlns:a16="http://schemas.microsoft.com/office/drawing/2014/main" id="{7E65FD16-CB92-4450-A2D4-F492B8B79C57}"/>
              </a:ext>
            </a:extLst>
          </p:cNvPr>
          <p:cNvSpPr/>
          <p:nvPr/>
        </p:nvSpPr>
        <p:spPr>
          <a:xfrm>
            <a:off x="7112000" y="3454400"/>
            <a:ext cx="76200" cy="1193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0E0B9C39-9D3D-45EA-A6F3-B41A216B35FA}"/>
              </a:ext>
            </a:extLst>
          </p:cNvPr>
          <p:cNvSpPr/>
          <p:nvPr/>
        </p:nvSpPr>
        <p:spPr>
          <a:xfrm>
            <a:off x="7340600" y="35560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선반 안 </a:t>
            </a:r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4℃</a:t>
            </a:r>
            <a:endParaRPr lang="ko-KR" altLang="en-US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9676DB53-5685-40F6-B050-8F2977C7DA34}"/>
              </a:ext>
            </a:extLst>
          </p:cNvPr>
          <p:cNvSpPr/>
          <p:nvPr/>
        </p:nvSpPr>
        <p:spPr>
          <a:xfrm>
            <a:off x="7340600" y="39370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4 ≤ 5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참 → 기준 만족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F0B7FD7C-6DB3-477C-922A-5917B0631A94}"/>
              </a:ext>
            </a:extLst>
          </p:cNvPr>
          <p:cNvSpPr/>
          <p:nvPr/>
        </p:nvSpPr>
        <p:spPr>
          <a:xfrm>
            <a:off x="7112000" y="47752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AccentBar">
            <a:extLst>
              <a:ext uri="{FF2B5EF4-FFF2-40B4-BE49-F238E27FC236}">
                <a16:creationId xmlns:a16="http://schemas.microsoft.com/office/drawing/2014/main" id="{BACC6946-7D67-4E7D-9953-0C5BCDAAE0DF}"/>
              </a:ext>
            </a:extLst>
          </p:cNvPr>
          <p:cNvSpPr/>
          <p:nvPr/>
        </p:nvSpPr>
        <p:spPr>
          <a:xfrm>
            <a:off x="7112000" y="4775200"/>
            <a:ext cx="76200" cy="11938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54D83348-6A36-4530-99E2-5A96295DDA4F}"/>
              </a:ext>
            </a:extLst>
          </p:cNvPr>
          <p:cNvSpPr/>
          <p:nvPr/>
        </p:nvSpPr>
        <p:spPr>
          <a:xfrm>
            <a:off x="7340600" y="48768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5B6B74"/>
                </a:solidFill>
                <a:latin typeface="Noto Sans KR"/>
                <a:ea typeface="Noto Sans KR"/>
              </a:rPr>
              <a:t>평균 </a:t>
            </a:r>
            <a:r>
              <a:rPr lang="en-US" altLang="ko-KR" b="1">
                <a:solidFill>
                  <a:srgbClr val="5B6B74"/>
                </a:solidFill>
                <a:latin typeface="Noto Sans KR"/>
                <a:ea typeface="Noto Sans KR"/>
              </a:rPr>
              <a:t>6℃</a:t>
            </a:r>
            <a:endParaRPr lang="ko-KR" altLang="en-US" b="1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43D91A66-9CB9-4B7C-800C-3C97E7FD4FD7}"/>
              </a:ext>
            </a:extLst>
          </p:cNvPr>
          <p:cNvSpPr/>
          <p:nvPr/>
        </p:nvSpPr>
        <p:spPr>
          <a:xfrm>
            <a:off x="7340600" y="52578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판정에 쓰지 않습니다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문 앞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8℃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가 가려집니다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4" name="Threshold">
            <a:extLst>
              <a:ext uri="{FF2B5EF4-FFF2-40B4-BE49-F238E27FC236}">
                <a16:creationId xmlns:a16="http://schemas.microsoft.com/office/drawing/2014/main" id="{FB7045BC-DA9F-4059-8039-AFA98D22DCAD}"/>
              </a:ext>
            </a:extLst>
          </p:cNvPr>
          <p:cNvSpPr/>
          <p:nvPr/>
        </p:nvSpPr>
        <p:spPr>
          <a:xfrm>
            <a:off x="1016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Threshold">
            <a:extLst>
              <a:ext uri="{FF2B5EF4-FFF2-40B4-BE49-F238E27FC236}">
                <a16:creationId xmlns:a16="http://schemas.microsoft.com/office/drawing/2014/main" id="{9166A699-7F2F-4075-BD75-80DE667412F2}"/>
              </a:ext>
            </a:extLst>
          </p:cNvPr>
          <p:cNvSpPr/>
          <p:nvPr/>
        </p:nvSpPr>
        <p:spPr>
          <a:xfrm>
            <a:off x="1270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Threshold">
            <a:extLst>
              <a:ext uri="{FF2B5EF4-FFF2-40B4-BE49-F238E27FC236}">
                <a16:creationId xmlns:a16="http://schemas.microsoft.com/office/drawing/2014/main" id="{EB6D2179-B387-491F-B10E-4A3479B82763}"/>
              </a:ext>
            </a:extLst>
          </p:cNvPr>
          <p:cNvSpPr/>
          <p:nvPr/>
        </p:nvSpPr>
        <p:spPr>
          <a:xfrm>
            <a:off x="1524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Threshold">
            <a:extLst>
              <a:ext uri="{FF2B5EF4-FFF2-40B4-BE49-F238E27FC236}">
                <a16:creationId xmlns:a16="http://schemas.microsoft.com/office/drawing/2014/main" id="{6398E550-2D8F-4237-98DE-C062EB4A73DD}"/>
              </a:ext>
            </a:extLst>
          </p:cNvPr>
          <p:cNvSpPr/>
          <p:nvPr/>
        </p:nvSpPr>
        <p:spPr>
          <a:xfrm>
            <a:off x="1778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Threshold">
            <a:extLst>
              <a:ext uri="{FF2B5EF4-FFF2-40B4-BE49-F238E27FC236}">
                <a16:creationId xmlns:a16="http://schemas.microsoft.com/office/drawing/2014/main" id="{489EE7BE-F57B-41DA-A49C-21EC56FE56BC}"/>
              </a:ext>
            </a:extLst>
          </p:cNvPr>
          <p:cNvSpPr/>
          <p:nvPr/>
        </p:nvSpPr>
        <p:spPr>
          <a:xfrm>
            <a:off x="2032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Threshold">
            <a:extLst>
              <a:ext uri="{FF2B5EF4-FFF2-40B4-BE49-F238E27FC236}">
                <a16:creationId xmlns:a16="http://schemas.microsoft.com/office/drawing/2014/main" id="{0F41A0A3-CFFE-4805-B114-8184D2794CF3}"/>
              </a:ext>
            </a:extLst>
          </p:cNvPr>
          <p:cNvSpPr/>
          <p:nvPr/>
        </p:nvSpPr>
        <p:spPr>
          <a:xfrm>
            <a:off x="2286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Threshold">
            <a:extLst>
              <a:ext uri="{FF2B5EF4-FFF2-40B4-BE49-F238E27FC236}">
                <a16:creationId xmlns:a16="http://schemas.microsoft.com/office/drawing/2014/main" id="{9D0C21CA-EFBF-40FB-90D0-7A129FEF8E66}"/>
              </a:ext>
            </a:extLst>
          </p:cNvPr>
          <p:cNvSpPr/>
          <p:nvPr/>
        </p:nvSpPr>
        <p:spPr>
          <a:xfrm>
            <a:off x="2540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1" name="Threshold">
            <a:extLst>
              <a:ext uri="{FF2B5EF4-FFF2-40B4-BE49-F238E27FC236}">
                <a16:creationId xmlns:a16="http://schemas.microsoft.com/office/drawing/2014/main" id="{10C93B30-7BAA-4485-8CFE-485612E93D29}"/>
              </a:ext>
            </a:extLst>
          </p:cNvPr>
          <p:cNvSpPr/>
          <p:nvPr/>
        </p:nvSpPr>
        <p:spPr>
          <a:xfrm>
            <a:off x="2794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Threshold">
            <a:extLst>
              <a:ext uri="{FF2B5EF4-FFF2-40B4-BE49-F238E27FC236}">
                <a16:creationId xmlns:a16="http://schemas.microsoft.com/office/drawing/2014/main" id="{96C5C866-051B-4E0F-8E05-E90EB0A5445E}"/>
              </a:ext>
            </a:extLst>
          </p:cNvPr>
          <p:cNvSpPr/>
          <p:nvPr/>
        </p:nvSpPr>
        <p:spPr>
          <a:xfrm>
            <a:off x="3048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Threshold">
            <a:extLst>
              <a:ext uri="{FF2B5EF4-FFF2-40B4-BE49-F238E27FC236}">
                <a16:creationId xmlns:a16="http://schemas.microsoft.com/office/drawing/2014/main" id="{EAA151FB-2696-46B5-8184-AA95B80868CA}"/>
              </a:ext>
            </a:extLst>
          </p:cNvPr>
          <p:cNvSpPr/>
          <p:nvPr/>
        </p:nvSpPr>
        <p:spPr>
          <a:xfrm>
            <a:off x="3302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Threshold">
            <a:extLst>
              <a:ext uri="{FF2B5EF4-FFF2-40B4-BE49-F238E27FC236}">
                <a16:creationId xmlns:a16="http://schemas.microsoft.com/office/drawing/2014/main" id="{3C6B64F3-0D58-47EE-82D8-1694CC3262B7}"/>
              </a:ext>
            </a:extLst>
          </p:cNvPr>
          <p:cNvSpPr/>
          <p:nvPr/>
        </p:nvSpPr>
        <p:spPr>
          <a:xfrm>
            <a:off x="3556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Threshold">
            <a:extLst>
              <a:ext uri="{FF2B5EF4-FFF2-40B4-BE49-F238E27FC236}">
                <a16:creationId xmlns:a16="http://schemas.microsoft.com/office/drawing/2014/main" id="{D9358E86-798B-4711-8449-0646E61DF789}"/>
              </a:ext>
            </a:extLst>
          </p:cNvPr>
          <p:cNvSpPr/>
          <p:nvPr/>
        </p:nvSpPr>
        <p:spPr>
          <a:xfrm>
            <a:off x="3810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6" name="Threshold">
            <a:extLst>
              <a:ext uri="{FF2B5EF4-FFF2-40B4-BE49-F238E27FC236}">
                <a16:creationId xmlns:a16="http://schemas.microsoft.com/office/drawing/2014/main" id="{5875A2D2-16E6-43CB-AB1A-67B97FB2CEB5}"/>
              </a:ext>
            </a:extLst>
          </p:cNvPr>
          <p:cNvSpPr/>
          <p:nvPr/>
        </p:nvSpPr>
        <p:spPr>
          <a:xfrm>
            <a:off x="4064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7" name="Threshold">
            <a:extLst>
              <a:ext uri="{FF2B5EF4-FFF2-40B4-BE49-F238E27FC236}">
                <a16:creationId xmlns:a16="http://schemas.microsoft.com/office/drawing/2014/main" id="{275527EF-5BE5-45C3-8C03-6712E55160BB}"/>
              </a:ext>
            </a:extLst>
          </p:cNvPr>
          <p:cNvSpPr/>
          <p:nvPr/>
        </p:nvSpPr>
        <p:spPr>
          <a:xfrm>
            <a:off x="4318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Threshold">
            <a:extLst>
              <a:ext uri="{FF2B5EF4-FFF2-40B4-BE49-F238E27FC236}">
                <a16:creationId xmlns:a16="http://schemas.microsoft.com/office/drawing/2014/main" id="{C65AE5B4-5F59-4B8B-AB6B-CC48B31D4DF8}"/>
              </a:ext>
            </a:extLst>
          </p:cNvPr>
          <p:cNvSpPr/>
          <p:nvPr/>
        </p:nvSpPr>
        <p:spPr>
          <a:xfrm>
            <a:off x="4572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Threshold">
            <a:extLst>
              <a:ext uri="{FF2B5EF4-FFF2-40B4-BE49-F238E27FC236}">
                <a16:creationId xmlns:a16="http://schemas.microsoft.com/office/drawing/2014/main" id="{CA039715-56D9-456D-ADD9-400929393962}"/>
              </a:ext>
            </a:extLst>
          </p:cNvPr>
          <p:cNvSpPr/>
          <p:nvPr/>
        </p:nvSpPr>
        <p:spPr>
          <a:xfrm>
            <a:off x="4826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0" name="Threshold">
            <a:extLst>
              <a:ext uri="{FF2B5EF4-FFF2-40B4-BE49-F238E27FC236}">
                <a16:creationId xmlns:a16="http://schemas.microsoft.com/office/drawing/2014/main" id="{62C9B414-AA40-4556-B726-E5501A717CBC}"/>
              </a:ext>
            </a:extLst>
          </p:cNvPr>
          <p:cNvSpPr/>
          <p:nvPr/>
        </p:nvSpPr>
        <p:spPr>
          <a:xfrm>
            <a:off x="5080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1" name="Threshold">
            <a:extLst>
              <a:ext uri="{FF2B5EF4-FFF2-40B4-BE49-F238E27FC236}">
                <a16:creationId xmlns:a16="http://schemas.microsoft.com/office/drawing/2014/main" id="{19ADE87B-9C6A-460D-B81E-A31647AF967F}"/>
              </a:ext>
            </a:extLst>
          </p:cNvPr>
          <p:cNvSpPr/>
          <p:nvPr/>
        </p:nvSpPr>
        <p:spPr>
          <a:xfrm>
            <a:off x="5334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Threshold">
            <a:extLst>
              <a:ext uri="{FF2B5EF4-FFF2-40B4-BE49-F238E27FC236}">
                <a16:creationId xmlns:a16="http://schemas.microsoft.com/office/drawing/2014/main" id="{AC8B5E87-0DC0-4971-BD5C-1EF3CCB54C4F}"/>
              </a:ext>
            </a:extLst>
          </p:cNvPr>
          <p:cNvSpPr/>
          <p:nvPr/>
        </p:nvSpPr>
        <p:spPr>
          <a:xfrm>
            <a:off x="5588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Threshold">
            <a:extLst>
              <a:ext uri="{FF2B5EF4-FFF2-40B4-BE49-F238E27FC236}">
                <a16:creationId xmlns:a16="http://schemas.microsoft.com/office/drawing/2014/main" id="{95AB6D8B-6233-4168-B194-FA7B9022D4F9}"/>
              </a:ext>
            </a:extLst>
          </p:cNvPr>
          <p:cNvSpPr/>
          <p:nvPr/>
        </p:nvSpPr>
        <p:spPr>
          <a:xfrm>
            <a:off x="5842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4" name="Threshold">
            <a:extLst>
              <a:ext uri="{FF2B5EF4-FFF2-40B4-BE49-F238E27FC236}">
                <a16:creationId xmlns:a16="http://schemas.microsoft.com/office/drawing/2014/main" id="{745F05B6-1524-4114-8D93-7C80CF4A4F2B}"/>
              </a:ext>
            </a:extLst>
          </p:cNvPr>
          <p:cNvSpPr/>
          <p:nvPr/>
        </p:nvSpPr>
        <p:spPr>
          <a:xfrm>
            <a:off x="6096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5" name="Threshold">
            <a:extLst>
              <a:ext uri="{FF2B5EF4-FFF2-40B4-BE49-F238E27FC236}">
                <a16:creationId xmlns:a16="http://schemas.microsoft.com/office/drawing/2014/main" id="{04ABDFBD-64D7-4D94-904C-00B8A374B6E6}"/>
              </a:ext>
            </a:extLst>
          </p:cNvPr>
          <p:cNvSpPr/>
          <p:nvPr/>
        </p:nvSpPr>
        <p:spPr>
          <a:xfrm>
            <a:off x="6350000" y="400050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20504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C031CB1-16E2-447B-85C0-E59E7C7B97A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CDB9762-9A83-4F82-9322-5DB3B3A130E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평균은 개별 판정을 대신하지 않습니다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F3F7533-011A-4AA3-9A1D-6BA7101542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C6A5076-046A-45CF-8E0C-FD30912D8944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평균은 (8+4)÷2=6℃입니다. 하지만 문 앞 8℃는 그대로 남습니다.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A3CB297-0EA3-4374-87C8-2BBCAA6CE968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문 앞은 8≤5가 거짓이므로 확인, 선반 안은 4≤5가 참입니다.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8E9188A-2F22-4205-80D2-2C096EA7F4A4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평균만 보고 두 위치를 같은 상태로 쓰면 업무 질문이 바뀝니다.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77E5196-A1E2-4B6B-81B9-A67F7F136B13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온도가 오른 원인은 문 개방 기록이나 센서 점검 없이 알 수 없습니다.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23AC5D9-671C-4127-A8B6-0716BA2A7F4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2A6212E-A2EB-4984-8ACA-B69B88B3768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028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21B08CFF-B559-420C-9486-256B5AFDF2C2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DE9D39F0-7736-4314-AEFA-B3D4AAC2921B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C6363D82-DE36-47B5-9773-E8951A9B0766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507FF2C9-9D26-4B5F-8D03-8A0E13F27294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81105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08853C7-96C3-4817-8D0C-213CB8D06C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CA3CF7F-3B45-4DC8-86DB-E5F89A3EC0B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AC4DF69-576C-41D1-A1CB-9B0F715A056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기록과 구역별 판정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EFD9713-6C38-42B3-8889-EC77B49C686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8A73981-5683-428F-AAAF-BB793FC09EA5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63A8F18-18DA-4F63-95A8-897242C253E9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A구역 70, B구역 40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BD86A3A-EF62-402A-9AF4-20B153F5FAA0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6437594-1FBA-455A-BA1A-BAED591ABF45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단위를 확인한 뒤 각 구역을 판단하세요.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472EA2B-15E1-483B-8977-C87A29B28A94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6A03FD2-9175-4ACE-B50C-D720848FF30A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수업 기준은 65데시벨 이하입니다.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8C7CFAB-4ECF-4A04-8206-2CE4208F7F9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54CCEEE5-58EC-4218-8E88-A505A2208AF2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4803DB94-AF4C-4943-88EB-DB59FEF29B21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7C8C9E47-680D-4BE8-B4B9-A5407D457E2C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FBE3DE6-AA98-4680-A644-EF679A36694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029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15903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39AE5B5-59CD-489F-8E87-0F35CEDA9A3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1AE7E0-A353-4516-8637-180DECE0685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구역별로 소음 기준 확인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B1389E-65A2-48CC-BED7-2D4E94ECC33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D981C2E-DB04-43E9-9AA1-66D02492242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5FD0EEB-7C6C-4EFC-9D79-5845CFDD7CF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030</a:t>
            </a:r>
            <a:endParaRPr/>
          </a:p>
        </p:txBody>
      </p:sp>
      <p:graphicFrame>
        <p:nvGraphicFramePr>
          <p:cNvPr id="10" name="Chart"/>
          <p:cNvGraphicFramePr/>
          <p:nvPr/>
        </p:nvGraphicFramePr>
        <p:xfrm>
          <a:off x="685800" y="2133600"/>
          <a:ext cx="6096000" cy="3962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Viz">
            <a:extLst>
              <a:ext uri="{FF2B5EF4-FFF2-40B4-BE49-F238E27FC236}">
                <a16:creationId xmlns:a16="http://schemas.microsoft.com/office/drawing/2014/main" id="{60E116E5-0197-4331-9083-BCD7D6AADD72}"/>
              </a:ext>
            </a:extLst>
          </p:cNvPr>
          <p:cNvSpPr/>
          <p:nvPr/>
        </p:nvSpPr>
        <p:spPr>
          <a:xfrm>
            <a:off x="685800" y="1828800"/>
            <a:ext cx="6096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889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구역별 소음 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(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수업용 기준 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65dB 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이하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)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6" name="Threshold">
            <a:extLst>
              <a:ext uri="{FF2B5EF4-FFF2-40B4-BE49-F238E27FC236}">
                <a16:creationId xmlns:a16="http://schemas.microsoft.com/office/drawing/2014/main" id="{884FEE09-AD95-422B-83C6-DE0EC2652E8D}"/>
              </a:ext>
            </a:extLst>
          </p:cNvPr>
          <p:cNvSpPr/>
          <p:nvPr/>
        </p:nvSpPr>
        <p:spPr>
          <a:xfrm>
            <a:off x="1016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Threshold">
            <a:extLst>
              <a:ext uri="{FF2B5EF4-FFF2-40B4-BE49-F238E27FC236}">
                <a16:creationId xmlns:a16="http://schemas.microsoft.com/office/drawing/2014/main" id="{469B8D7D-1981-4AD5-9481-DD1D5E208499}"/>
              </a:ext>
            </a:extLst>
          </p:cNvPr>
          <p:cNvSpPr/>
          <p:nvPr/>
        </p:nvSpPr>
        <p:spPr>
          <a:xfrm>
            <a:off x="1270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Threshold">
            <a:extLst>
              <a:ext uri="{FF2B5EF4-FFF2-40B4-BE49-F238E27FC236}">
                <a16:creationId xmlns:a16="http://schemas.microsoft.com/office/drawing/2014/main" id="{1865FFAD-784A-4B3B-8DE0-3388D656DDB9}"/>
              </a:ext>
            </a:extLst>
          </p:cNvPr>
          <p:cNvSpPr/>
          <p:nvPr/>
        </p:nvSpPr>
        <p:spPr>
          <a:xfrm>
            <a:off x="1524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Threshold">
            <a:extLst>
              <a:ext uri="{FF2B5EF4-FFF2-40B4-BE49-F238E27FC236}">
                <a16:creationId xmlns:a16="http://schemas.microsoft.com/office/drawing/2014/main" id="{4DF279C3-7043-47AB-A849-448AB672C7DB}"/>
              </a:ext>
            </a:extLst>
          </p:cNvPr>
          <p:cNvSpPr/>
          <p:nvPr/>
        </p:nvSpPr>
        <p:spPr>
          <a:xfrm>
            <a:off x="1778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Threshold">
            <a:extLst>
              <a:ext uri="{FF2B5EF4-FFF2-40B4-BE49-F238E27FC236}">
                <a16:creationId xmlns:a16="http://schemas.microsoft.com/office/drawing/2014/main" id="{702DA663-1579-48D1-98A8-C9A9382EEEA5}"/>
              </a:ext>
            </a:extLst>
          </p:cNvPr>
          <p:cNvSpPr/>
          <p:nvPr/>
        </p:nvSpPr>
        <p:spPr>
          <a:xfrm>
            <a:off x="2032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Threshold">
            <a:extLst>
              <a:ext uri="{FF2B5EF4-FFF2-40B4-BE49-F238E27FC236}">
                <a16:creationId xmlns:a16="http://schemas.microsoft.com/office/drawing/2014/main" id="{67DA4AE2-E367-442E-B28A-CFC9A5A444DD}"/>
              </a:ext>
            </a:extLst>
          </p:cNvPr>
          <p:cNvSpPr/>
          <p:nvPr/>
        </p:nvSpPr>
        <p:spPr>
          <a:xfrm>
            <a:off x="2286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Threshold">
            <a:extLst>
              <a:ext uri="{FF2B5EF4-FFF2-40B4-BE49-F238E27FC236}">
                <a16:creationId xmlns:a16="http://schemas.microsoft.com/office/drawing/2014/main" id="{049F91F7-922D-4CFF-A2D1-99C40601F6E8}"/>
              </a:ext>
            </a:extLst>
          </p:cNvPr>
          <p:cNvSpPr/>
          <p:nvPr/>
        </p:nvSpPr>
        <p:spPr>
          <a:xfrm>
            <a:off x="2540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Threshold">
            <a:extLst>
              <a:ext uri="{FF2B5EF4-FFF2-40B4-BE49-F238E27FC236}">
                <a16:creationId xmlns:a16="http://schemas.microsoft.com/office/drawing/2014/main" id="{2B118902-26C4-4161-9D04-103E160647C5}"/>
              </a:ext>
            </a:extLst>
          </p:cNvPr>
          <p:cNvSpPr/>
          <p:nvPr/>
        </p:nvSpPr>
        <p:spPr>
          <a:xfrm>
            <a:off x="2794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Threshold">
            <a:extLst>
              <a:ext uri="{FF2B5EF4-FFF2-40B4-BE49-F238E27FC236}">
                <a16:creationId xmlns:a16="http://schemas.microsoft.com/office/drawing/2014/main" id="{BA46F8E0-29F5-4C36-944A-7DB5FB0C3F4C}"/>
              </a:ext>
            </a:extLst>
          </p:cNvPr>
          <p:cNvSpPr/>
          <p:nvPr/>
        </p:nvSpPr>
        <p:spPr>
          <a:xfrm>
            <a:off x="3048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Threshold">
            <a:extLst>
              <a:ext uri="{FF2B5EF4-FFF2-40B4-BE49-F238E27FC236}">
                <a16:creationId xmlns:a16="http://schemas.microsoft.com/office/drawing/2014/main" id="{065CDEA1-9590-4722-977E-D52F019F085A}"/>
              </a:ext>
            </a:extLst>
          </p:cNvPr>
          <p:cNvSpPr/>
          <p:nvPr/>
        </p:nvSpPr>
        <p:spPr>
          <a:xfrm>
            <a:off x="3302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Threshold">
            <a:extLst>
              <a:ext uri="{FF2B5EF4-FFF2-40B4-BE49-F238E27FC236}">
                <a16:creationId xmlns:a16="http://schemas.microsoft.com/office/drawing/2014/main" id="{649B2C22-5032-4585-AB14-D1F28FA75ACF}"/>
              </a:ext>
            </a:extLst>
          </p:cNvPr>
          <p:cNvSpPr/>
          <p:nvPr/>
        </p:nvSpPr>
        <p:spPr>
          <a:xfrm>
            <a:off x="3556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Threshold">
            <a:extLst>
              <a:ext uri="{FF2B5EF4-FFF2-40B4-BE49-F238E27FC236}">
                <a16:creationId xmlns:a16="http://schemas.microsoft.com/office/drawing/2014/main" id="{7E4F666D-501F-4D8B-BB96-1E0AC9B328BC}"/>
              </a:ext>
            </a:extLst>
          </p:cNvPr>
          <p:cNvSpPr/>
          <p:nvPr/>
        </p:nvSpPr>
        <p:spPr>
          <a:xfrm>
            <a:off x="3810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Threshold">
            <a:extLst>
              <a:ext uri="{FF2B5EF4-FFF2-40B4-BE49-F238E27FC236}">
                <a16:creationId xmlns:a16="http://schemas.microsoft.com/office/drawing/2014/main" id="{17B3F315-6932-4617-A3B3-93D86E593609}"/>
              </a:ext>
            </a:extLst>
          </p:cNvPr>
          <p:cNvSpPr/>
          <p:nvPr/>
        </p:nvSpPr>
        <p:spPr>
          <a:xfrm>
            <a:off x="4064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Threshold">
            <a:extLst>
              <a:ext uri="{FF2B5EF4-FFF2-40B4-BE49-F238E27FC236}">
                <a16:creationId xmlns:a16="http://schemas.microsoft.com/office/drawing/2014/main" id="{E1094746-68C6-4D41-B3E9-7CB8D7CAF61E}"/>
              </a:ext>
            </a:extLst>
          </p:cNvPr>
          <p:cNvSpPr/>
          <p:nvPr/>
        </p:nvSpPr>
        <p:spPr>
          <a:xfrm>
            <a:off x="4318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Threshold">
            <a:extLst>
              <a:ext uri="{FF2B5EF4-FFF2-40B4-BE49-F238E27FC236}">
                <a16:creationId xmlns:a16="http://schemas.microsoft.com/office/drawing/2014/main" id="{AD7F1E16-09A2-4C5F-9250-15C47EC0713F}"/>
              </a:ext>
            </a:extLst>
          </p:cNvPr>
          <p:cNvSpPr/>
          <p:nvPr/>
        </p:nvSpPr>
        <p:spPr>
          <a:xfrm>
            <a:off x="4572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Threshold">
            <a:extLst>
              <a:ext uri="{FF2B5EF4-FFF2-40B4-BE49-F238E27FC236}">
                <a16:creationId xmlns:a16="http://schemas.microsoft.com/office/drawing/2014/main" id="{6033E298-050F-4348-B6F3-9CE612D2D6C8}"/>
              </a:ext>
            </a:extLst>
          </p:cNvPr>
          <p:cNvSpPr/>
          <p:nvPr/>
        </p:nvSpPr>
        <p:spPr>
          <a:xfrm>
            <a:off x="4826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Threshold">
            <a:extLst>
              <a:ext uri="{FF2B5EF4-FFF2-40B4-BE49-F238E27FC236}">
                <a16:creationId xmlns:a16="http://schemas.microsoft.com/office/drawing/2014/main" id="{4F6CFDA8-B11F-4D4B-8F5F-6FA57589CC95}"/>
              </a:ext>
            </a:extLst>
          </p:cNvPr>
          <p:cNvSpPr/>
          <p:nvPr/>
        </p:nvSpPr>
        <p:spPr>
          <a:xfrm>
            <a:off x="5080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Threshold">
            <a:extLst>
              <a:ext uri="{FF2B5EF4-FFF2-40B4-BE49-F238E27FC236}">
                <a16:creationId xmlns:a16="http://schemas.microsoft.com/office/drawing/2014/main" id="{F3BF82B9-26CE-4E4B-99C1-281C412BD2ED}"/>
              </a:ext>
            </a:extLst>
          </p:cNvPr>
          <p:cNvSpPr/>
          <p:nvPr/>
        </p:nvSpPr>
        <p:spPr>
          <a:xfrm>
            <a:off x="5334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Threshold">
            <a:extLst>
              <a:ext uri="{FF2B5EF4-FFF2-40B4-BE49-F238E27FC236}">
                <a16:creationId xmlns:a16="http://schemas.microsoft.com/office/drawing/2014/main" id="{E74C7121-57AC-4646-B2B9-003F404ACF12}"/>
              </a:ext>
            </a:extLst>
          </p:cNvPr>
          <p:cNvSpPr/>
          <p:nvPr/>
        </p:nvSpPr>
        <p:spPr>
          <a:xfrm>
            <a:off x="5588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Threshold">
            <a:extLst>
              <a:ext uri="{FF2B5EF4-FFF2-40B4-BE49-F238E27FC236}">
                <a16:creationId xmlns:a16="http://schemas.microsoft.com/office/drawing/2014/main" id="{0CD36110-7598-43E3-BB28-9C9029072891}"/>
              </a:ext>
            </a:extLst>
          </p:cNvPr>
          <p:cNvSpPr/>
          <p:nvPr/>
        </p:nvSpPr>
        <p:spPr>
          <a:xfrm>
            <a:off x="5842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Threshold">
            <a:extLst>
              <a:ext uri="{FF2B5EF4-FFF2-40B4-BE49-F238E27FC236}">
                <a16:creationId xmlns:a16="http://schemas.microsoft.com/office/drawing/2014/main" id="{24AA4CA0-2A7C-416C-B863-8E984191B329}"/>
              </a:ext>
            </a:extLst>
          </p:cNvPr>
          <p:cNvSpPr/>
          <p:nvPr/>
        </p:nvSpPr>
        <p:spPr>
          <a:xfrm>
            <a:off x="6096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1" name="Threshold">
            <a:extLst>
              <a:ext uri="{FF2B5EF4-FFF2-40B4-BE49-F238E27FC236}">
                <a16:creationId xmlns:a16="http://schemas.microsoft.com/office/drawing/2014/main" id="{EE31CB79-19F9-4FE3-B1AA-8EC4E15D46FB}"/>
              </a:ext>
            </a:extLst>
          </p:cNvPr>
          <p:cNvSpPr/>
          <p:nvPr/>
        </p:nvSpPr>
        <p:spPr>
          <a:xfrm>
            <a:off x="6350000" y="3557269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A906DD97-AC6B-462B-B247-164E7510D47C}"/>
              </a:ext>
            </a:extLst>
          </p:cNvPr>
          <p:cNvSpPr/>
          <p:nvPr/>
        </p:nvSpPr>
        <p:spPr>
          <a:xfrm>
            <a:off x="5461000" y="3265169"/>
            <a:ext cx="1270000" cy="254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r"/>
            <a:r>
              <a:rPr lang="ko-KR" altLang="en-US" sz="1300" b="1">
                <a:solidFill>
                  <a:srgbClr val="08776D"/>
                </a:solidFill>
                <a:latin typeface="Noto Sans KR"/>
                <a:ea typeface="Noto Sans KR"/>
              </a:rPr>
              <a:t>기준 </a:t>
            </a:r>
            <a:r>
              <a:rPr lang="en-US" altLang="ko-KR" sz="1300" b="1">
                <a:solidFill>
                  <a:srgbClr val="08776D"/>
                </a:solidFill>
                <a:latin typeface="Noto Sans KR"/>
                <a:ea typeface="Noto Sans KR"/>
              </a:rPr>
              <a:t>65dB</a:t>
            </a:r>
            <a:endParaRPr lang="ko-KR" altLang="en-US" sz="13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5C2FFFFA-33C0-482B-A96E-F60318F3A49D}"/>
              </a:ext>
            </a:extLst>
          </p:cNvPr>
          <p:cNvSpPr/>
          <p:nvPr/>
        </p:nvSpPr>
        <p:spPr>
          <a:xfrm>
            <a:off x="7112000" y="21336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AccentBar">
            <a:extLst>
              <a:ext uri="{FF2B5EF4-FFF2-40B4-BE49-F238E27FC236}">
                <a16:creationId xmlns:a16="http://schemas.microsoft.com/office/drawing/2014/main" id="{AEA0BB1B-765D-4E47-9DB2-57827B9DF017}"/>
              </a:ext>
            </a:extLst>
          </p:cNvPr>
          <p:cNvSpPr/>
          <p:nvPr/>
        </p:nvSpPr>
        <p:spPr>
          <a:xfrm>
            <a:off x="7112000" y="2133600"/>
            <a:ext cx="76200" cy="11938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0E1EEF7A-8E0C-434C-81A7-C8156FDE11DF}"/>
              </a:ext>
            </a:extLst>
          </p:cNvPr>
          <p:cNvSpPr/>
          <p:nvPr/>
        </p:nvSpPr>
        <p:spPr>
          <a:xfrm>
            <a:off x="7340600" y="22352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A64512"/>
                </a:solidFill>
                <a:latin typeface="Noto Sans KR"/>
                <a:ea typeface="Noto Sans KR"/>
              </a:rPr>
              <a:t>A</a:t>
            </a:r>
            <a:r>
              <a:rPr lang="ko-KR" altLang="en-US" b="1">
                <a:solidFill>
                  <a:srgbClr val="A64512"/>
                </a:solidFill>
                <a:latin typeface="Noto Sans KR"/>
                <a:ea typeface="Noto Sans KR"/>
              </a:rPr>
              <a:t>구역 </a:t>
            </a:r>
            <a:r>
              <a:rPr lang="en-US" altLang="ko-KR" b="1">
                <a:solidFill>
                  <a:srgbClr val="A64512"/>
                </a:solidFill>
                <a:latin typeface="Noto Sans KR"/>
                <a:ea typeface="Noto Sans KR"/>
              </a:rPr>
              <a:t>70dB</a:t>
            </a:r>
            <a:endParaRPr lang="ko-KR" altLang="en-US" b="1">
              <a:solidFill>
                <a:srgbClr val="A64512"/>
              </a:solidFill>
              <a:latin typeface="Noto Sans KR"/>
              <a:ea typeface="Noto Sans KR"/>
            </a:endParaRP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E54414BF-8D6B-4130-ACEC-F60A558CB8C8}"/>
              </a:ext>
            </a:extLst>
          </p:cNvPr>
          <p:cNvSpPr/>
          <p:nvPr/>
        </p:nvSpPr>
        <p:spPr>
          <a:xfrm>
            <a:off x="7340600" y="26162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기준을 넘었습니다 → 확인 대상</a:t>
            </a: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9F9B3F3E-899B-41CF-A40D-60105066990C}"/>
              </a:ext>
            </a:extLst>
          </p:cNvPr>
          <p:cNvSpPr/>
          <p:nvPr/>
        </p:nvSpPr>
        <p:spPr>
          <a:xfrm>
            <a:off x="7112000" y="34544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AccentBar">
            <a:extLst>
              <a:ext uri="{FF2B5EF4-FFF2-40B4-BE49-F238E27FC236}">
                <a16:creationId xmlns:a16="http://schemas.microsoft.com/office/drawing/2014/main" id="{35FF2397-ADB2-4746-9DB0-A1ACD441FD8B}"/>
              </a:ext>
            </a:extLst>
          </p:cNvPr>
          <p:cNvSpPr/>
          <p:nvPr/>
        </p:nvSpPr>
        <p:spPr>
          <a:xfrm>
            <a:off x="7112000" y="3454400"/>
            <a:ext cx="76200" cy="1193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F71412F6-7829-48E7-B6FD-80E2BA14BA3F}"/>
              </a:ext>
            </a:extLst>
          </p:cNvPr>
          <p:cNvSpPr/>
          <p:nvPr/>
        </p:nvSpPr>
        <p:spPr>
          <a:xfrm>
            <a:off x="7340600" y="35560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B</a:t>
            </a:r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구역 </a:t>
            </a:r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40dB</a:t>
            </a:r>
            <a:endParaRPr lang="ko-KR" altLang="en-US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95DF38E4-FA14-4F86-86D6-E0228C9D5610}"/>
              </a:ext>
            </a:extLst>
          </p:cNvPr>
          <p:cNvSpPr/>
          <p:nvPr/>
        </p:nvSpPr>
        <p:spPr>
          <a:xfrm>
            <a:off x="7340600" y="39370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기준 이내입니다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FD35156C-BA1C-4455-B448-5B454EE565BF}"/>
              </a:ext>
            </a:extLst>
          </p:cNvPr>
          <p:cNvSpPr/>
          <p:nvPr/>
        </p:nvSpPr>
        <p:spPr>
          <a:xfrm>
            <a:off x="7112000" y="47752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AccentBar">
            <a:extLst>
              <a:ext uri="{FF2B5EF4-FFF2-40B4-BE49-F238E27FC236}">
                <a16:creationId xmlns:a16="http://schemas.microsoft.com/office/drawing/2014/main" id="{8BFE7C8A-4A03-4243-8637-DAC0736B2C6E}"/>
              </a:ext>
            </a:extLst>
          </p:cNvPr>
          <p:cNvSpPr/>
          <p:nvPr/>
        </p:nvSpPr>
        <p:spPr>
          <a:xfrm>
            <a:off x="7112000" y="4775200"/>
            <a:ext cx="76200" cy="11938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72F43B1D-09F2-4A2A-B40E-EAE393F89082}"/>
              </a:ext>
            </a:extLst>
          </p:cNvPr>
          <p:cNvSpPr/>
          <p:nvPr/>
        </p:nvSpPr>
        <p:spPr>
          <a:xfrm>
            <a:off x="7340600" y="48768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5B6B74"/>
                </a:solidFill>
                <a:latin typeface="Noto Sans KR"/>
                <a:ea typeface="Noto Sans KR"/>
              </a:rPr>
              <a:t>평균 </a:t>
            </a:r>
            <a:r>
              <a:rPr lang="en-US" altLang="ko-KR" b="1">
                <a:solidFill>
                  <a:srgbClr val="5B6B74"/>
                </a:solidFill>
                <a:latin typeface="Noto Sans KR"/>
                <a:ea typeface="Noto Sans KR"/>
              </a:rPr>
              <a:t>55dB</a:t>
            </a:r>
            <a:endParaRPr lang="ko-KR" altLang="en-US" b="1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38ADD8A0-18C1-4CB9-BE0A-5A5FD1C5973F}"/>
              </a:ext>
            </a:extLst>
          </p:cNvPr>
          <p:cNvSpPr/>
          <p:nvPr/>
        </p:nvSpPr>
        <p:spPr>
          <a:xfrm>
            <a:off x="7340600" y="52578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평균만 보면 둘 다 정상처럼 보입니다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구역별로 판정합니다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37666958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1</a:t>
            </a:r>
            <a:r>
              <a:rPr lang="ko-KR" altLang="en-US"/>
              <a:t>교시   도전 과제 </a:t>
            </a:r>
            <a:r>
              <a:rPr lang="en-US" altLang="ko-KR"/>
              <a:t>· </a:t>
            </a:r>
            <a:r>
              <a:rPr lang="ko-KR" altLang="en-US"/>
              <a:t>빨리 끝낸 분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도전 </a:t>
            </a:r>
            <a:r>
              <a:rPr lang="en-US" altLang="ko-KR"/>
              <a:t>· </a:t>
            </a:r>
            <a:r>
              <a:rPr lang="ko-KR" altLang="en-US"/>
              <a:t>출입 메모를 정형 표로 바꾸기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문제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'9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시 반쯤 김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OO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들어옴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10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시 이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OO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나감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을 표로 바꾸려면 어떤 열이 필요할까요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조건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모든 기록이 같은 열을 따르게 만듭니다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힌트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누가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언제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무엇을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(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입장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/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퇴장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)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00" b="1">
                <a:solidFill>
                  <a:srgbClr val="C2571A"/>
                </a:solidFill>
                <a:latin typeface="Noto Sans KR"/>
                <a:ea typeface="Noto Sans KR"/>
              </a:rPr>
              <a:t>풀이 예</a:t>
            </a:r>
            <a:r>
              <a:rPr lang="en-US" altLang="ko-KR" sz="1700" b="1">
                <a:solidFill>
                  <a:srgbClr val="C2571A"/>
                </a:solidFill>
                <a:latin typeface="Noto Sans KR"/>
                <a:ea typeface="Noto Sans KR"/>
              </a:rPr>
              <a:t>: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이름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·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시각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·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구분 세 열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. '9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시 반쯤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'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처럼 애매한 시각은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'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확인 필요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'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로 표시합니다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.</a:t>
            </a:r>
            <a:endParaRPr sz="17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031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18553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2AB305-8F64-4980-9FAF-BC360362A9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E29FF8E-C351-466B-B640-7D9B6A5358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1</a:t>
            </a:r>
            <a:r>
              <a:rPr lang="ko-KR" altLang="en-US"/>
              <a:t>교시 확인 퀴즈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D4A9C6E-2943-44BA-A6DB-DCABE3BB6D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확인 퀴즈 </a:t>
            </a:r>
            <a:r>
              <a:rPr lang="en-US" altLang="ko-KR"/>
              <a:t>· </a:t>
            </a:r>
            <a:r>
              <a:rPr lang="ko-KR" altLang="en-US"/>
              <a:t>숫자와 구조 읽기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5FAA46-92DA-40F2-8034-3F9D15FA5C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34B94-05FB-4723-BDE2-842C7DC44B91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756AF40-FA5B-4514-980E-36A250D2D30F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2100">
                <a:solidFill>
                  <a:srgbClr val="FFFFFF"/>
                </a:solidFill>
              </a:rPr>
              <a:t>"35"</a:t>
            </a:r>
            <a:r>
              <a:rPr lang="ko-KR" altLang="en-US" sz="2100">
                <a:solidFill>
                  <a:srgbClr val="FFFFFF"/>
                </a:solidFill>
              </a:rPr>
              <a:t>만 적힌 메모를 받았습니다</a:t>
            </a:r>
            <a:r>
              <a:rPr lang="en-US" altLang="ko-KR" sz="2100">
                <a:solidFill>
                  <a:srgbClr val="FFFFFF"/>
                </a:solidFill>
              </a:rPr>
              <a:t>. </a:t>
            </a:r>
            <a:r>
              <a:rPr lang="ko-KR" altLang="en-US" sz="2100">
                <a:solidFill>
                  <a:srgbClr val="FFFFFF"/>
                </a:solidFill>
              </a:rPr>
              <a:t>판단 전에 확인할 것 두 가지는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391FAB-8484-458B-85DF-30B3C473A0FE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DB4828-8F96-4CFE-8217-3A32A78B4FFC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매번 같은 열을 쓰는 출입 기록표는 정형</a:t>
            </a:r>
            <a:r>
              <a:rPr lang="en-US" altLang="ko-KR" sz="2100">
                <a:solidFill>
                  <a:srgbClr val="FFFFFF"/>
                </a:solidFill>
              </a:rPr>
              <a:t>·</a:t>
            </a:r>
            <a:r>
              <a:rPr lang="ko-KR" altLang="en-US" sz="2100">
                <a:solidFill>
                  <a:srgbClr val="FFFFFF"/>
                </a:solidFill>
              </a:rPr>
              <a:t>반정형</a:t>
            </a:r>
            <a:r>
              <a:rPr lang="en-US" altLang="ko-KR" sz="2100">
                <a:solidFill>
                  <a:srgbClr val="FFFFFF"/>
                </a:solidFill>
              </a:rPr>
              <a:t>·</a:t>
            </a:r>
            <a:r>
              <a:rPr lang="ko-KR" altLang="en-US" sz="2100">
                <a:solidFill>
                  <a:srgbClr val="FFFFFF"/>
                </a:solidFill>
              </a:rPr>
              <a:t>비정형 중 무엇인가요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E468B9-6F76-4360-BCC9-6482DD5FEEFC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C3E46D0-B50C-4D1E-A688-081FCB367D94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2100">
                <a:solidFill>
                  <a:srgbClr val="FFFFFF"/>
                </a:solidFill>
              </a:rPr>
              <a:t>A 3℃, B 9℃, </a:t>
            </a:r>
            <a:r>
              <a:rPr lang="ko-KR" altLang="en-US" sz="2100">
                <a:solidFill>
                  <a:srgbClr val="FFFFFF"/>
                </a:solidFill>
              </a:rPr>
              <a:t>기준은 </a:t>
            </a:r>
            <a:r>
              <a:rPr lang="en-US" altLang="ko-KR" sz="2100">
                <a:solidFill>
                  <a:srgbClr val="FFFFFF"/>
                </a:solidFill>
              </a:rPr>
              <a:t>5℃ </a:t>
            </a:r>
            <a:r>
              <a:rPr lang="ko-KR" altLang="en-US" sz="2100">
                <a:solidFill>
                  <a:srgbClr val="FFFFFF"/>
                </a:solidFill>
              </a:rPr>
              <a:t>이하입니다</a:t>
            </a:r>
            <a:r>
              <a:rPr lang="en-US" altLang="ko-KR" sz="2100">
                <a:solidFill>
                  <a:srgbClr val="FFFFFF"/>
                </a:solidFill>
              </a:rPr>
              <a:t>. </a:t>
            </a:r>
            <a:r>
              <a:rPr lang="ko-KR" altLang="en-US" sz="2100">
                <a:solidFill>
                  <a:srgbClr val="FFFFFF"/>
                </a:solidFill>
              </a:rPr>
              <a:t>평균 </a:t>
            </a:r>
            <a:r>
              <a:rPr lang="en-US" altLang="ko-KR" sz="2100">
                <a:solidFill>
                  <a:srgbClr val="FFFFFF"/>
                </a:solidFill>
              </a:rPr>
              <a:t>6℃</a:t>
            </a:r>
            <a:r>
              <a:rPr lang="ko-KR" altLang="en-US" sz="2100">
                <a:solidFill>
                  <a:srgbClr val="FFFFFF"/>
                </a:solidFill>
              </a:rPr>
              <a:t>로 둘 다 </a:t>
            </a:r>
            <a:r>
              <a:rPr lang="en-US" altLang="ko-KR" sz="2100">
                <a:solidFill>
                  <a:srgbClr val="FFFFFF"/>
                </a:solidFill>
              </a:rPr>
              <a:t>'</a:t>
            </a:r>
            <a:r>
              <a:rPr lang="ko-KR" altLang="en-US" sz="2100">
                <a:solidFill>
                  <a:srgbClr val="FFFFFF"/>
                </a:solidFill>
              </a:rPr>
              <a:t>확인</a:t>
            </a:r>
            <a:r>
              <a:rPr lang="en-US" altLang="ko-KR" sz="2100">
                <a:solidFill>
                  <a:srgbClr val="FFFFFF"/>
                </a:solidFill>
              </a:rPr>
              <a:t>'</a:t>
            </a:r>
            <a:r>
              <a:rPr lang="ko-KR" altLang="en-US" sz="2100">
                <a:solidFill>
                  <a:srgbClr val="FFFFFF"/>
                </a:solidFill>
              </a:rPr>
              <a:t>이라 써도 될까요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6645A2-DAD4-4958-BA5C-867295967A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C4FCE9C4-2373-4846-80E5-CF1BCE20CF5E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01537A45-E21E-448F-A944-92119A7EFB55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A8BA8D4B-D18E-47CE-9D5E-2F9C6B1FB823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B6BF4B3-6AB7-4574-9866-EC5F209644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032</a:t>
            </a:r>
            <a:endParaRPr/>
          </a:p>
        </p:txBody>
      </p:sp>
      <p:sp>
        <p:nvSpPr>
          <p:cNvPr id="18" name="QuizHow">
            <a:extLst>
              <a:ext uri="{FF2B5EF4-FFF2-40B4-BE49-F238E27FC236}">
                <a16:creationId xmlns:a16="http://schemas.microsoft.com/office/drawing/2014/main" id="{946D4E19-8D59-4313-97D1-7F1CF5CE06F0}"/>
              </a:ext>
            </a:extLst>
          </p:cNvPr>
          <p:cNvSpPr txBox="1"/>
          <p:nvPr/>
        </p:nvSpPr>
        <p:spPr>
          <a:xfrm>
            <a:off x="685800" y="5435600"/>
            <a:ext cx="8534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답하는 방법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문제마다 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1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분 생각한 뒤 손을 들어 답합니다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정답은 다음 장에 있습니다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9FD9CF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1666908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1</a:t>
            </a:r>
            <a:r>
              <a:rPr lang="ko-KR" altLang="en-US"/>
              <a:t>교시 퀴즈 정답과 정리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정답 </a:t>
            </a:r>
            <a:r>
              <a:rPr lang="en-US" altLang="ko-KR"/>
              <a:t>· </a:t>
            </a:r>
            <a:r>
              <a:rPr lang="ko-KR" altLang="en-US"/>
              <a:t>숫자는 설명과 기준이 있어야 읽힙니다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1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무엇을 잰 값인지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그리고 단위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장소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시각을 확인합니다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숫자만 보고 온도라고 짐작하면 다른 값일 수 있습니다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2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정형입니다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모든 기록이 같은 열과 규칙을 따릅니다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JSON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이 아니라서 비정형이라고 답하기 쉽지만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기준은 같은 열 규칙입니다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3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안 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A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는 기준 이내이고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B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만 확인 대상입니다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평균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6℃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로 보면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B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의 기준 초과가 가려집니다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정리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숫자에 메타데이터와 판단 기준이 붙어야 정보가 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033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99230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7FA835B-7A01-41F0-B4B4-D06711002E4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389BE53-0F49-4A88-8E88-23F6DBD5357D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값의 의미와 저장 종류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3452030-68FF-4110-AAA0-D955CE81F33E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11:00~11:50 · 50분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DE43DCF-EDD5-4C3D-900D-D2E582E32C3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A4B7FF9-D205-4463-A200-9B551752A4A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7758DE6-1108-41D6-B70D-B33A972C8BD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034</a:t>
            </a:r>
            <a:endParaRPr/>
          </a:p>
        </p:txBody>
      </p:sp>
      <p:sp>
        <p:nvSpPr>
          <p:cNvPr id="9" name="MiniMap">
            <a:extLst>
              <a:ext uri="{FF2B5EF4-FFF2-40B4-BE49-F238E27FC236}">
                <a16:creationId xmlns:a16="http://schemas.microsoft.com/office/drawing/2014/main" id="{719B8F8D-D766-4B38-A582-5B82FC866CFB}"/>
              </a:ext>
            </a:extLst>
          </p:cNvPr>
          <p:cNvSpPr/>
          <p:nvPr/>
        </p:nvSpPr>
        <p:spPr>
          <a:xfrm>
            <a:off x="685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1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데이터의 뜻</a:t>
            </a:r>
          </a:p>
        </p:txBody>
      </p:sp>
      <p:sp>
        <p:nvSpPr>
          <p:cNvPr id="10" name="MiniMap">
            <a:extLst>
              <a:ext uri="{FF2B5EF4-FFF2-40B4-BE49-F238E27FC236}">
                <a16:creationId xmlns:a16="http://schemas.microsoft.com/office/drawing/2014/main" id="{48A2A08B-91EE-4FF8-B76D-C5163970FF14}"/>
              </a:ext>
            </a:extLst>
          </p:cNvPr>
          <p:cNvSpPr/>
          <p:nvPr/>
        </p:nvSpPr>
        <p:spPr>
          <a:xfrm>
            <a:off x="2006600" y="5334000"/>
            <a:ext cx="1219200" cy="660400"/>
          </a:xfrm>
          <a:prstGeom prst="roundRect">
            <a:avLst/>
          </a:prstGeom>
          <a:solidFill>
            <a:srgbClr val="4FD1B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2</a:t>
            </a:r>
            <a:r>
              <a:rPr lang="ko-KR" altLang="en-US" sz="1300" b="1">
                <a:solidFill>
                  <a:srgbClr val="0F2A3A"/>
                </a:solidFill>
                <a:latin typeface="Noto Sans KR"/>
                <a:ea typeface="Noto Sans KR"/>
              </a:rPr>
              <a:t>교시
값의 의미</a:t>
            </a:r>
          </a:p>
        </p:txBody>
      </p:sp>
      <p:sp>
        <p:nvSpPr>
          <p:cNvPr id="11" name="MiniMap">
            <a:extLst>
              <a:ext uri="{FF2B5EF4-FFF2-40B4-BE49-F238E27FC236}">
                <a16:creationId xmlns:a16="http://schemas.microsoft.com/office/drawing/2014/main" id="{3BE6F76B-CEA4-4846-87E4-FE98D2C877F7}"/>
              </a:ext>
            </a:extLst>
          </p:cNvPr>
          <p:cNvSpPr/>
          <p:nvPr/>
        </p:nvSpPr>
        <p:spPr>
          <a:xfrm>
            <a:off x="33274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3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행과 키</a:t>
            </a:r>
          </a:p>
        </p:txBody>
      </p:sp>
      <p:sp>
        <p:nvSpPr>
          <p:cNvPr id="12" name="MiniMap">
            <a:extLst>
              <a:ext uri="{FF2B5EF4-FFF2-40B4-BE49-F238E27FC236}">
                <a16:creationId xmlns:a16="http://schemas.microsoft.com/office/drawing/2014/main" id="{530DC231-D829-4F83-8FFB-D9B704A4D65E}"/>
              </a:ext>
            </a:extLst>
          </p:cNvPr>
          <p:cNvSpPr/>
          <p:nvPr/>
        </p:nvSpPr>
        <p:spPr>
          <a:xfrm>
            <a:off x="46482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4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CSV</a:t>
            </a:r>
            <a:endParaRPr lang="ko-KR" altLang="en-US" sz="1300">
              <a:solidFill>
                <a:srgbClr val="D7E1E5"/>
              </a:solidFill>
              <a:latin typeface="Noto Sans KR"/>
              <a:ea typeface="Noto Sans KR"/>
            </a:endParaRPr>
          </a:p>
        </p:txBody>
      </p:sp>
      <p:sp>
        <p:nvSpPr>
          <p:cNvPr id="13" name="MiniMap">
            <a:extLst>
              <a:ext uri="{FF2B5EF4-FFF2-40B4-BE49-F238E27FC236}">
                <a16:creationId xmlns:a16="http://schemas.microsoft.com/office/drawing/2014/main" id="{60E0AF73-B464-41DE-A19E-01CCBFDB51C8}"/>
              </a:ext>
            </a:extLst>
          </p:cNvPr>
          <p:cNvSpPr/>
          <p:nvPr/>
        </p:nvSpPr>
        <p:spPr>
          <a:xfrm>
            <a:off x="59690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5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JSON</a:t>
            </a:r>
            <a:endParaRPr lang="ko-KR" altLang="en-US" sz="1300">
              <a:solidFill>
                <a:srgbClr val="D7E1E5"/>
              </a:solidFill>
              <a:latin typeface="Noto Sans KR"/>
              <a:ea typeface="Noto Sans KR"/>
            </a:endParaRPr>
          </a:p>
        </p:txBody>
      </p:sp>
      <p:sp>
        <p:nvSpPr>
          <p:cNvPr id="14" name="MiniMap">
            <a:extLst>
              <a:ext uri="{FF2B5EF4-FFF2-40B4-BE49-F238E27FC236}">
                <a16:creationId xmlns:a16="http://schemas.microsoft.com/office/drawing/2014/main" id="{7B4B7B6A-38B4-42C4-9C62-B387B04C5827}"/>
              </a:ext>
            </a:extLst>
          </p:cNvPr>
          <p:cNvSpPr/>
          <p:nvPr/>
        </p:nvSpPr>
        <p:spPr>
          <a:xfrm>
            <a:off x="7289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6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설계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·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검수</a:t>
            </a:r>
          </a:p>
        </p:txBody>
      </p:sp>
      <p:sp>
        <p:nvSpPr>
          <p:cNvPr id="15" name="MiniMap">
            <a:extLst>
              <a:ext uri="{FF2B5EF4-FFF2-40B4-BE49-F238E27FC236}">
                <a16:creationId xmlns:a16="http://schemas.microsoft.com/office/drawing/2014/main" id="{47593B15-349E-4C32-AFC2-92EC45E4DE8E}"/>
              </a:ext>
            </a:extLst>
          </p:cNvPr>
          <p:cNvSpPr txBox="1"/>
          <p:nvPr/>
        </p:nvSpPr>
        <p:spPr>
          <a:xfrm>
            <a:off x="685800" y="4978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오늘의 지도</a:t>
            </a:r>
          </a:p>
        </p:txBody>
      </p:sp>
    </p:spTree>
    <p:extLst>
      <p:ext uri="{BB962C8B-B14F-4D97-AF65-F5344CB8AC3E}">
        <p14:creationId xmlns:p14="http://schemas.microsoft.com/office/powerpoint/2010/main" val="535468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2</a:t>
            </a:r>
            <a:r>
              <a:rPr lang="ko-KR" altLang="en-US"/>
              <a:t>교시 목표와 진행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2</a:t>
            </a:r>
            <a:r>
              <a:rPr lang="ko-KR" altLang="en-US"/>
              <a:t>교시 목표 </a:t>
            </a:r>
            <a:r>
              <a:rPr lang="en-US" altLang="ko-KR"/>
              <a:t>· </a:t>
            </a:r>
            <a:r>
              <a:rPr lang="ko-KR" altLang="en-US"/>
              <a:t>값의 의미와 저장 종류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1: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범주형과 수치형을 값의 뜻으로 구별합니다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2: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명목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순서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이산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연속을 예에 적용합니다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3: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0·false·null·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빈 문자열의 차이를 설명합니다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진행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개념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직접 해 보기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20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풀이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퀴즈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035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10867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9B42DF6D-408A-471F-BA05-8A865D3B79E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28DA881-630D-40A1-911D-19AB78BFA90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값의 뜻으로 나누는 네 갈래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E357F7-0761-4AE1-92F4-029BC9BA56C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5730CBC-C22D-4604-8929-706380CE403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CDE7A82-863F-45F3-A363-93A76B21B34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036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B2391CFC-AFC0-48EA-979F-84446DC2D6A3}"/>
              </a:ext>
            </a:extLst>
          </p:cNvPr>
          <p:cNvSpPr/>
          <p:nvPr/>
        </p:nvSpPr>
        <p:spPr>
          <a:xfrm>
            <a:off x="5143500" y="1905000"/>
            <a:ext cx="1905000" cy="482600"/>
          </a:xfrm>
          <a:prstGeom prst="round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FFFFFF"/>
                </a:solidFill>
                <a:latin typeface="Noto Sans KR"/>
                <a:ea typeface="Noto Sans KR"/>
              </a:rPr>
              <a:t>값</a:t>
            </a: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13FB90A9-10FA-4359-AFF5-A6AF93C94DF4}"/>
              </a:ext>
            </a:extLst>
          </p:cNvPr>
          <p:cNvSpPr/>
          <p:nvPr/>
        </p:nvSpPr>
        <p:spPr>
          <a:xfrm>
            <a:off x="6083300" y="2387600"/>
            <a:ext cx="25400" cy="1778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0A22CC31-0650-4FF0-9B22-3641D864D04C}"/>
              </a:ext>
            </a:extLst>
          </p:cNvPr>
          <p:cNvSpPr/>
          <p:nvPr/>
        </p:nvSpPr>
        <p:spPr>
          <a:xfrm>
            <a:off x="3289300" y="2565400"/>
            <a:ext cx="56134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E16DD119-3BDB-4F8D-A6CE-594102868E49}"/>
              </a:ext>
            </a:extLst>
          </p:cNvPr>
          <p:cNvSpPr/>
          <p:nvPr/>
        </p:nvSpPr>
        <p:spPr>
          <a:xfrm>
            <a:off x="3289300" y="2565400"/>
            <a:ext cx="25400" cy="1778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1D7907E1-DE51-49DB-8999-C64997559813}"/>
              </a:ext>
            </a:extLst>
          </p:cNvPr>
          <p:cNvSpPr/>
          <p:nvPr/>
        </p:nvSpPr>
        <p:spPr>
          <a:xfrm>
            <a:off x="8877300" y="2565400"/>
            <a:ext cx="25400" cy="1778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66F1D74F-BDF6-4FD5-8246-9D15E97BB49D}"/>
              </a:ext>
            </a:extLst>
          </p:cNvPr>
          <p:cNvSpPr/>
          <p:nvPr/>
        </p:nvSpPr>
        <p:spPr>
          <a:xfrm>
            <a:off x="1828800" y="2743200"/>
            <a:ext cx="2946400" cy="558800"/>
          </a:xfrm>
          <a:prstGeom prst="roundRect">
            <a:avLst/>
          </a:prstGeom>
          <a:solidFill>
            <a:srgbClr val="2F6A8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범주형 </a:t>
            </a:r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·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종류를 구별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8E159158-0777-4BDB-95E4-D88043946FF0}"/>
              </a:ext>
            </a:extLst>
          </p:cNvPr>
          <p:cNvSpPr/>
          <p:nvPr/>
        </p:nvSpPr>
        <p:spPr>
          <a:xfrm>
            <a:off x="7416800" y="2743200"/>
            <a:ext cx="2946400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수치형 </a:t>
            </a:r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·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양을 나타냄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C2254403-DCC1-480E-AD2E-77AFED6B026A}"/>
              </a:ext>
            </a:extLst>
          </p:cNvPr>
          <p:cNvSpPr/>
          <p:nvPr/>
        </p:nvSpPr>
        <p:spPr>
          <a:xfrm>
            <a:off x="3289300" y="3302000"/>
            <a:ext cx="25400" cy="1778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0B93BFBF-FD4E-44AD-B7CF-37023A758EBF}"/>
              </a:ext>
            </a:extLst>
          </p:cNvPr>
          <p:cNvSpPr/>
          <p:nvPr/>
        </p:nvSpPr>
        <p:spPr>
          <a:xfrm>
            <a:off x="1892300" y="3479800"/>
            <a:ext cx="28194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DE12CABA-D919-41D0-9554-B4C2707A000A}"/>
              </a:ext>
            </a:extLst>
          </p:cNvPr>
          <p:cNvSpPr/>
          <p:nvPr/>
        </p:nvSpPr>
        <p:spPr>
          <a:xfrm>
            <a:off x="1892300" y="3479800"/>
            <a:ext cx="25400" cy="152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66AF68C6-7D20-43E1-86A8-EED8C9913167}"/>
              </a:ext>
            </a:extLst>
          </p:cNvPr>
          <p:cNvSpPr/>
          <p:nvPr/>
        </p:nvSpPr>
        <p:spPr>
          <a:xfrm>
            <a:off x="4686300" y="3479800"/>
            <a:ext cx="25400" cy="152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157AE4A5-249D-4B16-991F-4D770AD4CE86}"/>
              </a:ext>
            </a:extLst>
          </p:cNvPr>
          <p:cNvSpPr/>
          <p:nvPr/>
        </p:nvSpPr>
        <p:spPr>
          <a:xfrm>
            <a:off x="8877300" y="3302000"/>
            <a:ext cx="25400" cy="1778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A3CA8F2B-FABC-449E-BEA2-4F1B851DA157}"/>
              </a:ext>
            </a:extLst>
          </p:cNvPr>
          <p:cNvSpPr/>
          <p:nvPr/>
        </p:nvSpPr>
        <p:spPr>
          <a:xfrm>
            <a:off x="7480300" y="3479800"/>
            <a:ext cx="28194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50162B17-36CC-45A7-8B36-8DCDDCC87926}"/>
              </a:ext>
            </a:extLst>
          </p:cNvPr>
          <p:cNvSpPr/>
          <p:nvPr/>
        </p:nvSpPr>
        <p:spPr>
          <a:xfrm>
            <a:off x="7480300" y="3479800"/>
            <a:ext cx="25400" cy="152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0D636005-14C9-45A4-8022-0495256CF8AB}"/>
              </a:ext>
            </a:extLst>
          </p:cNvPr>
          <p:cNvSpPr/>
          <p:nvPr/>
        </p:nvSpPr>
        <p:spPr>
          <a:xfrm>
            <a:off x="10274300" y="3479800"/>
            <a:ext cx="25400" cy="152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14754CED-C3F8-477B-B357-69151A46BEA9}"/>
              </a:ext>
            </a:extLst>
          </p:cNvPr>
          <p:cNvSpPr/>
          <p:nvPr/>
        </p:nvSpPr>
        <p:spPr>
          <a:xfrm>
            <a:off x="685800" y="3632200"/>
            <a:ext cx="2438400" cy="16256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4E8A85DB-115B-4C0D-9285-3C8A7C002279}"/>
              </a:ext>
            </a:extLst>
          </p:cNvPr>
          <p:cNvSpPr/>
          <p:nvPr/>
        </p:nvSpPr>
        <p:spPr>
          <a:xfrm>
            <a:off x="685800" y="3632200"/>
            <a:ext cx="24384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2F6A82"/>
                </a:solidFill>
                <a:latin typeface="Noto Sans KR"/>
                <a:ea typeface="Noto Sans KR"/>
              </a:rPr>
              <a:t>명목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808D8CE7-9274-41B9-BD47-6DA1BDA2D79C}"/>
              </a:ext>
            </a:extLst>
          </p:cNvPr>
          <p:cNvSpPr/>
          <p:nvPr/>
        </p:nvSpPr>
        <p:spPr>
          <a:xfrm>
            <a:off x="685800" y="4089400"/>
            <a:ext cx="2438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순서가 없나요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2BA437D4-5143-4DBF-AFB4-9E91D0209A65}"/>
              </a:ext>
            </a:extLst>
          </p:cNvPr>
          <p:cNvSpPr/>
          <p:nvPr/>
        </p:nvSpPr>
        <p:spPr>
          <a:xfrm>
            <a:off x="838200" y="4572000"/>
            <a:ext cx="2133600" cy="5080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사번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차량번호</a:t>
            </a: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C2CF62D7-E341-4944-AA0C-1B12E3B9807A}"/>
              </a:ext>
            </a:extLst>
          </p:cNvPr>
          <p:cNvSpPr/>
          <p:nvPr/>
        </p:nvSpPr>
        <p:spPr>
          <a:xfrm>
            <a:off x="3479800" y="3632200"/>
            <a:ext cx="2438400" cy="16256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5FD8A532-07B0-402E-99DC-C953AD933D4B}"/>
              </a:ext>
            </a:extLst>
          </p:cNvPr>
          <p:cNvSpPr/>
          <p:nvPr/>
        </p:nvSpPr>
        <p:spPr>
          <a:xfrm>
            <a:off x="3479800" y="3632200"/>
            <a:ext cx="24384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2F6A82"/>
                </a:solidFill>
                <a:latin typeface="Noto Sans KR"/>
                <a:ea typeface="Noto Sans KR"/>
              </a:rPr>
              <a:t>순서</a:t>
            </a: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4F931564-E67E-4BFD-8555-6579BC5CB8D8}"/>
              </a:ext>
            </a:extLst>
          </p:cNvPr>
          <p:cNvSpPr/>
          <p:nvPr/>
        </p:nvSpPr>
        <p:spPr>
          <a:xfrm>
            <a:off x="3479800" y="4089400"/>
            <a:ext cx="2438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높낮이가 있나요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43212247-D9CE-41C4-85EB-4532928A890C}"/>
              </a:ext>
            </a:extLst>
          </p:cNvPr>
          <p:cNvSpPr/>
          <p:nvPr/>
        </p:nvSpPr>
        <p:spPr>
          <a:xfrm>
            <a:off x="3632200" y="4572000"/>
            <a:ext cx="2133600" cy="5080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회원등급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만족도</a:t>
            </a: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98C3445C-196C-42C0-B729-E95EB254E2E3}"/>
              </a:ext>
            </a:extLst>
          </p:cNvPr>
          <p:cNvSpPr/>
          <p:nvPr/>
        </p:nvSpPr>
        <p:spPr>
          <a:xfrm>
            <a:off x="6273800" y="3632200"/>
            <a:ext cx="2438400" cy="16256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16B11F32-00C1-410A-B375-C60652B0CBA4}"/>
              </a:ext>
            </a:extLst>
          </p:cNvPr>
          <p:cNvSpPr/>
          <p:nvPr/>
        </p:nvSpPr>
        <p:spPr>
          <a:xfrm>
            <a:off x="6273800" y="3632200"/>
            <a:ext cx="24384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08776D"/>
                </a:solidFill>
                <a:latin typeface="Noto Sans KR"/>
                <a:ea typeface="Noto Sans KR"/>
              </a:rPr>
              <a:t>이산</a:t>
            </a:r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A5DC28F9-EA60-42CD-804A-CB7F0450D05E}"/>
              </a:ext>
            </a:extLst>
          </p:cNvPr>
          <p:cNvSpPr/>
          <p:nvPr/>
        </p:nvSpPr>
        <p:spPr>
          <a:xfrm>
            <a:off x="6273800" y="4089400"/>
            <a:ext cx="2438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셀 수 있나요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94577F30-E31D-4386-9C39-396AF28DDC6B}"/>
              </a:ext>
            </a:extLst>
          </p:cNvPr>
          <p:cNvSpPr/>
          <p:nvPr/>
        </p:nvSpPr>
        <p:spPr>
          <a:xfrm>
            <a:off x="6426200" y="4572000"/>
            <a:ext cx="2133600" cy="5080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대여수량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입차횟수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05EB69FA-335A-46F6-8FF4-83DCBFB0FF3D}"/>
              </a:ext>
            </a:extLst>
          </p:cNvPr>
          <p:cNvSpPr/>
          <p:nvPr/>
        </p:nvSpPr>
        <p:spPr>
          <a:xfrm>
            <a:off x="9067800" y="3632200"/>
            <a:ext cx="2438400" cy="16256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3928E0D6-93A7-4448-9B46-FBA30A6C07C2}"/>
              </a:ext>
            </a:extLst>
          </p:cNvPr>
          <p:cNvSpPr/>
          <p:nvPr/>
        </p:nvSpPr>
        <p:spPr>
          <a:xfrm>
            <a:off x="9067800" y="3632200"/>
            <a:ext cx="24384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08776D"/>
                </a:solidFill>
                <a:latin typeface="Noto Sans KR"/>
                <a:ea typeface="Noto Sans KR"/>
              </a:rPr>
              <a:t>연속</a:t>
            </a:r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307B93C6-3006-40D8-BC65-B1D7E7C7F78A}"/>
              </a:ext>
            </a:extLst>
          </p:cNvPr>
          <p:cNvSpPr/>
          <p:nvPr/>
        </p:nvSpPr>
        <p:spPr>
          <a:xfrm>
            <a:off x="9067800" y="4089400"/>
            <a:ext cx="2438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잴 수 있나요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E735DE5D-89B4-40D9-97C5-F8F6BDD6C20E}"/>
              </a:ext>
            </a:extLst>
          </p:cNvPr>
          <p:cNvSpPr/>
          <p:nvPr/>
        </p:nvSpPr>
        <p:spPr>
          <a:xfrm>
            <a:off x="9220200" y="4572000"/>
            <a:ext cx="2133600" cy="5080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온도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이용시간</a:t>
            </a:r>
          </a:p>
        </p:txBody>
      </p:sp>
      <p:sp>
        <p:nvSpPr>
          <p:cNvPr id="45" name="Viz">
            <a:extLst>
              <a:ext uri="{FF2B5EF4-FFF2-40B4-BE49-F238E27FC236}">
                <a16:creationId xmlns:a16="http://schemas.microsoft.com/office/drawing/2014/main" id="{559CF07D-CD34-47F3-8D1D-E67A7C105CE6}"/>
              </a:ext>
            </a:extLst>
          </p:cNvPr>
          <p:cNvSpPr/>
          <p:nvPr/>
        </p:nvSpPr>
        <p:spPr>
          <a:xfrm>
            <a:off x="685800" y="5435600"/>
            <a:ext cx="10820400" cy="7620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6" name="AccentBar">
            <a:extLst>
              <a:ext uri="{FF2B5EF4-FFF2-40B4-BE49-F238E27FC236}">
                <a16:creationId xmlns:a16="http://schemas.microsoft.com/office/drawing/2014/main" id="{F8E424FE-53E9-4D21-A30E-40B8E697E0A7}"/>
              </a:ext>
            </a:extLst>
          </p:cNvPr>
          <p:cNvSpPr/>
          <p:nvPr/>
        </p:nvSpPr>
        <p:spPr>
          <a:xfrm>
            <a:off x="685800" y="5435600"/>
            <a:ext cx="76200" cy="7620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7" name="Viz">
            <a:extLst>
              <a:ext uri="{FF2B5EF4-FFF2-40B4-BE49-F238E27FC236}">
                <a16:creationId xmlns:a16="http://schemas.microsoft.com/office/drawing/2014/main" id="{2AEADF69-17ED-44E5-8ADB-97F9C138A06E}"/>
              </a:ext>
            </a:extLst>
          </p:cNvPr>
          <p:cNvSpPr/>
          <p:nvPr/>
        </p:nvSpPr>
        <p:spPr>
          <a:xfrm>
            <a:off x="914400" y="5435600"/>
            <a:ext cx="10541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자주 하는 실수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숫자 모양이면 수치형이라고 생각하기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사번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001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은 숫자처럼 보여도 사람을 구별하는 범주형입니다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3085646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3E105C6-5158-40C3-80AC-3E75387650C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1E80BE6-FC0A-43DE-A010-B35500E7206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축을 같은 기록에 적용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586E6C2-96BD-4102-88E5-C4DCEF35AD1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표 11"/>
          <p:cNvGraphicFramePr/>
          <p:nvPr>
            <p:extLst>
              <p:ext uri="{D42A27DB-BD31-4B8C-83A1-F6EECF244321}">
                <p14:modId xmlns:p14="http://schemas.microsoft.com/office/powerpoint/2010/main" val="4151291477"/>
              </p:ext>
            </p:extLst>
          </p:nvPr>
        </p:nvGraphicFramePr>
        <p:xfrm>
          <a:off x="685800" y="1943100"/>
          <a:ext cx="10820400" cy="2946400"/>
        </p:xfrm>
        <a:graphic>
          <a:graphicData uri="http://schemas.openxmlformats.org/drawingml/2006/table">
            <a:tbl>
              <a:tblPr firstRow="1"/>
              <a:tblGrid>
                <a:gridCol w="2446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318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425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분류 축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묻는 질문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항목의 규칙이 같은가?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네 열: 정형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통계적 의미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종류인가, 양인가?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번호: 범주 / 수량: 수치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 자료형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컴퓨터에 어떤 값으로 둘까?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번호: 문자열 / 수량: 정수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0BFD3944-26BF-4F9D-AB0D-45368D976BA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368C52E-C29A-4E39-AE68-573B4C9382F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355409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472CC29-CBD1-4248-B685-6DBDCED1DA2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7BA8F6A-ED55-43DC-B8D0-224E13F53B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 코드와 측정값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ED16A00-0F95-468E-82C8-39C68575AC8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E3A7D86-0E5A-44A1-A322-CC4289734FD0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명목 범주는 이름만 구별합니다. 사번 001과 002를 더하지 않습니다.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16A23CB-6AC4-4D68-8A76-89A699970EFA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순서 범주는 높낮이가 있지만 간격까지 같은 것은 아닙니다.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6845020-582D-4239-818F-3C4F703083A5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이산 수치는 개수를 셉니다. 연속 수치는 시간·온도처럼 크기를 잽니다.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841A29D-7FD6-4E83-86ED-AAA908960FAD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온도 2.0처럼 자릿수가 짧아도 연속량의 의미는 바뀌지 않습니다.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87AD432-172F-416A-843F-1252C5311A1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5F74640-7195-45A4-8B36-E131DB76F7F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038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12691CC2-23CC-4606-B7B6-2822C9AAB4D2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B7C8919-6347-4A8E-95C1-43DE9BBE4FD4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25B82298-983D-4F70-8F9A-52169702E4C4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8BEB829E-9969-410C-B58D-E3790BEFD2A8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57751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CDD1585-A0FF-496A-B4F7-651468A3C6E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04B9F7-B5D0-4A11-865A-6B078D84306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컴퓨터의 저장 자료형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12A0AA-0583-4A54-B8D6-EB7A5AADBB5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표 11"/>
          <p:cNvGraphicFramePr/>
          <p:nvPr>
            <p:extLst>
              <p:ext uri="{D42A27DB-BD31-4B8C-83A1-F6EECF244321}">
                <p14:modId xmlns:p14="http://schemas.microsoft.com/office/powerpoint/2010/main" val="325595734"/>
              </p:ext>
            </p:extLst>
          </p:nvPr>
        </p:nvGraphicFramePr>
        <p:xfrm>
          <a:off x="685800" y="1943100"/>
          <a:ext cx="10820400" cy="3683000"/>
        </p:xfrm>
        <a:graphic>
          <a:graphicData uri="http://schemas.openxmlformats.org/drawingml/2006/table">
            <a:tbl>
              <a:tblPr firstRow="1"/>
              <a:tblGrid>
                <a:gridCol w="48923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28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 종류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"001"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문자열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불리언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61CB4A4E-13DE-4A88-8650-4CB3471141C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6A99068-52CB-4728-B5E8-186CBBA9E56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039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620119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7EA2421-3BB7-497F-BE2A-E3F4034916D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F705FDC-68B6-4D08-BC78-3FB88D66BF1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0 · false · null · </a:t>
            </a:r>
            <a:r>
              <a:rPr lang="ko-KR" altLang="en-US"/>
              <a:t>빈 문자열은 서로 다른 상태입니다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ADE8FFD-BA6B-4131-9319-47E23BFD1F7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B0F9E0A-E5A9-48F2-8A33-CAABCC1F359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9EAA900-6826-4702-9F78-2CF8377E3D2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040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51033B15-19C5-4942-8248-1F271FE93012}"/>
              </a:ext>
            </a:extLst>
          </p:cNvPr>
          <p:cNvSpPr/>
          <p:nvPr/>
        </p:nvSpPr>
        <p:spPr>
          <a:xfrm>
            <a:off x="685800" y="1930400"/>
            <a:ext cx="2540000" cy="36322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A38295AF-5030-40CB-8560-482F8A5BED7D}"/>
              </a:ext>
            </a:extLst>
          </p:cNvPr>
          <p:cNvSpPr/>
          <p:nvPr/>
        </p:nvSpPr>
        <p:spPr>
          <a:xfrm>
            <a:off x="1193800" y="2108200"/>
            <a:ext cx="1524000" cy="1219200"/>
          </a:xfrm>
          <a:prstGeom prst="roundRect">
            <a:avLst/>
          </a:prstGeom>
          <a:solidFill>
            <a:srgbClr val="F4F6F7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25400" rIns="0" bIns="25400" rtlCol="0" anchor="ctr" anchorCtr="0">
            <a:noAutofit/>
          </a:bodyPr>
          <a:lstStyle/>
          <a:p>
            <a:pPr algn="ctr"/>
            <a:r>
              <a:rPr lang="en-US" altLang="ko-KR" sz="3000" b="1">
                <a:solidFill>
                  <a:srgbClr val="08776D"/>
                </a:solidFill>
                <a:latin typeface="Consolas"/>
              </a:rPr>
              <a:t>0</a:t>
            </a:r>
            <a:endParaRPr lang="ko-KR" altLang="en-US" sz="30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4D175609-697C-4610-A2D7-F9812D64F9B5}"/>
              </a:ext>
            </a:extLst>
          </p:cNvPr>
          <p:cNvSpPr/>
          <p:nvPr/>
        </p:nvSpPr>
        <p:spPr>
          <a:xfrm>
            <a:off x="685800" y="3454400"/>
            <a:ext cx="254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5B6B74"/>
                </a:solidFill>
                <a:latin typeface="Noto Sans KR"/>
                <a:ea typeface="Noto Sans KR"/>
              </a:rPr>
              <a:t>숫자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D4DB23B2-3F56-4998-9664-478A63866E28}"/>
              </a:ext>
            </a:extLst>
          </p:cNvPr>
          <p:cNvSpPr/>
          <p:nvPr/>
        </p:nvSpPr>
        <p:spPr>
          <a:xfrm>
            <a:off x="685800" y="3860800"/>
            <a:ext cx="2540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세어 보니 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0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개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2B516495-77C6-4A13-9232-31A29545F4FA}"/>
              </a:ext>
            </a:extLst>
          </p:cNvPr>
          <p:cNvSpPr/>
          <p:nvPr/>
        </p:nvSpPr>
        <p:spPr>
          <a:xfrm>
            <a:off x="863600" y="4470400"/>
            <a:ext cx="2184400" cy="4572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재고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0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개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51F3DDC8-8AE6-4FB0-B3B7-58650118DF83}"/>
              </a:ext>
            </a:extLst>
          </p:cNvPr>
          <p:cNvSpPr/>
          <p:nvPr/>
        </p:nvSpPr>
        <p:spPr>
          <a:xfrm>
            <a:off x="3445510" y="1930400"/>
            <a:ext cx="2540000" cy="36322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44FF8F78-7338-43E7-8DAA-F950E4B0A731}"/>
              </a:ext>
            </a:extLst>
          </p:cNvPr>
          <p:cNvSpPr/>
          <p:nvPr/>
        </p:nvSpPr>
        <p:spPr>
          <a:xfrm>
            <a:off x="3953510" y="2108200"/>
            <a:ext cx="1524000" cy="1219200"/>
          </a:xfrm>
          <a:prstGeom prst="roundRect">
            <a:avLst/>
          </a:prstGeom>
          <a:solidFill>
            <a:srgbClr val="F4F6F7"/>
          </a:solidFill>
          <a:ln w="25400">
            <a:solidFill>
              <a:srgbClr val="5B6B7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25400" rIns="0" bIns="25400" rtlCol="0" anchor="ctr" anchorCtr="0">
            <a:noAutofit/>
          </a:bodyPr>
          <a:lstStyle/>
          <a:p>
            <a:pPr algn="ctr"/>
            <a:r>
              <a:rPr lang="en-US" altLang="ko-KR" sz="3000" b="1">
                <a:solidFill>
                  <a:srgbClr val="5B6B74"/>
                </a:solidFill>
                <a:latin typeface="Consolas"/>
              </a:rPr>
              <a:t>false</a:t>
            </a:r>
            <a:endParaRPr lang="ko-KR" altLang="en-US" sz="3000" b="1">
              <a:solidFill>
                <a:srgbClr val="5B6B74"/>
              </a:solidFill>
              <a:latin typeface="Consolas"/>
            </a:endParaRP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393C624D-77BE-4D5D-9A21-E6F943F4A81B}"/>
              </a:ext>
            </a:extLst>
          </p:cNvPr>
          <p:cNvSpPr/>
          <p:nvPr/>
        </p:nvSpPr>
        <p:spPr>
          <a:xfrm>
            <a:off x="3445510" y="3454400"/>
            <a:ext cx="254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5B6B74"/>
                </a:solidFill>
                <a:latin typeface="Noto Sans KR"/>
                <a:ea typeface="Noto Sans KR"/>
              </a:rPr>
              <a:t>불리언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5A663E0B-84E3-4EA6-97A0-7960DE4B270D}"/>
              </a:ext>
            </a:extLst>
          </p:cNvPr>
          <p:cNvSpPr/>
          <p:nvPr/>
        </p:nvSpPr>
        <p:spPr>
          <a:xfrm>
            <a:off x="3445510" y="3860800"/>
            <a:ext cx="2540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5B6B74"/>
                </a:solidFill>
                <a:latin typeface="Noto Sans KR"/>
                <a:ea typeface="Noto Sans KR"/>
              </a:rPr>
              <a:t>상태가 </a:t>
            </a:r>
            <a:r>
              <a:rPr lang="en-US" altLang="ko-KR" sz="1900" b="1">
                <a:solidFill>
                  <a:srgbClr val="5B6B74"/>
                </a:solidFill>
                <a:latin typeface="Noto Sans KR"/>
                <a:ea typeface="Noto Sans KR"/>
              </a:rPr>
              <a:t>'</a:t>
            </a:r>
            <a:r>
              <a:rPr lang="ko-KR" altLang="en-US" sz="1900" b="1">
                <a:solidFill>
                  <a:srgbClr val="5B6B74"/>
                </a:solidFill>
                <a:latin typeface="Noto Sans KR"/>
                <a:ea typeface="Noto Sans KR"/>
              </a:rPr>
              <a:t>아니다</a:t>
            </a:r>
            <a:r>
              <a:rPr lang="en-US" altLang="ko-KR" sz="1900" b="1">
                <a:solidFill>
                  <a:srgbClr val="5B6B74"/>
                </a:solidFill>
                <a:latin typeface="Noto Sans KR"/>
                <a:ea typeface="Noto Sans KR"/>
              </a:rPr>
              <a:t>'</a:t>
            </a:r>
            <a:endParaRPr lang="ko-KR" altLang="en-US" sz="1900" b="1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97277586-5B0B-4C33-8798-679F0BE490B1}"/>
              </a:ext>
            </a:extLst>
          </p:cNvPr>
          <p:cNvSpPr/>
          <p:nvPr/>
        </p:nvSpPr>
        <p:spPr>
          <a:xfrm>
            <a:off x="3623310" y="4470400"/>
            <a:ext cx="2184400" cy="4572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가동 안 함</a:t>
            </a: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F7FE8EAE-C22C-4B19-AD0D-CB6AAF61FFE5}"/>
              </a:ext>
            </a:extLst>
          </p:cNvPr>
          <p:cNvSpPr/>
          <p:nvPr/>
        </p:nvSpPr>
        <p:spPr>
          <a:xfrm>
            <a:off x="6205220" y="1930400"/>
            <a:ext cx="2540000" cy="36322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7A6932D9-3FD4-47F2-A08F-B677CAB047D1}"/>
              </a:ext>
            </a:extLst>
          </p:cNvPr>
          <p:cNvSpPr/>
          <p:nvPr/>
        </p:nvSpPr>
        <p:spPr>
          <a:xfrm>
            <a:off x="6713220" y="2108200"/>
            <a:ext cx="1524000" cy="1219200"/>
          </a:xfrm>
          <a:prstGeom prst="roundRect">
            <a:avLst/>
          </a:prstGeom>
          <a:solidFill>
            <a:srgbClr val="F4F6F7"/>
          </a:solidFill>
          <a:ln w="25400">
            <a:solidFill>
              <a:srgbClr val="3D7F99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25400" rIns="0" bIns="25400" rtlCol="0" anchor="ctr" anchorCtr="0">
            <a:noAutofit/>
          </a:bodyPr>
          <a:lstStyle/>
          <a:p>
            <a:pPr algn="ctr"/>
            <a:r>
              <a:rPr lang="en-US" altLang="ko-KR" sz="3000" b="1">
                <a:solidFill>
                  <a:srgbClr val="2F6A82"/>
                </a:solidFill>
                <a:latin typeface="Consolas"/>
              </a:rPr>
              <a:t>null</a:t>
            </a:r>
            <a:endParaRPr lang="ko-KR" altLang="en-US" sz="3000" b="1">
              <a:solidFill>
                <a:srgbClr val="2F6A82"/>
              </a:solidFill>
              <a:latin typeface="Consolas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87FCC29E-83A9-4B80-A0D3-3E8DAA0A65DE}"/>
              </a:ext>
            </a:extLst>
          </p:cNvPr>
          <p:cNvSpPr/>
          <p:nvPr/>
        </p:nvSpPr>
        <p:spPr>
          <a:xfrm>
            <a:off x="6205220" y="3454400"/>
            <a:ext cx="254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5B6B74"/>
                </a:solidFill>
                <a:latin typeface="Noto Sans KR"/>
                <a:ea typeface="Noto Sans KR"/>
              </a:rPr>
              <a:t>값 없음</a:t>
            </a: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859130DA-9193-48D1-9F12-61766A194183}"/>
              </a:ext>
            </a:extLst>
          </p:cNvPr>
          <p:cNvSpPr/>
          <p:nvPr/>
        </p:nvSpPr>
        <p:spPr>
          <a:xfrm>
            <a:off x="6205220" y="3860800"/>
            <a:ext cx="2540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2F6A82"/>
                </a:solidFill>
                <a:latin typeface="Noto Sans KR"/>
                <a:ea typeface="Noto Sans KR"/>
              </a:rPr>
              <a:t>아직 모름</a:t>
            </a: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18CCFAE0-3B51-4986-855B-48B510507773}"/>
              </a:ext>
            </a:extLst>
          </p:cNvPr>
          <p:cNvSpPr/>
          <p:nvPr/>
        </p:nvSpPr>
        <p:spPr>
          <a:xfrm>
            <a:off x="6383020" y="4470400"/>
            <a:ext cx="2184400" cy="4572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시각 미확인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73D7A3A3-9341-4192-882B-21DBDE5A42CF}"/>
              </a:ext>
            </a:extLst>
          </p:cNvPr>
          <p:cNvSpPr/>
          <p:nvPr/>
        </p:nvSpPr>
        <p:spPr>
          <a:xfrm>
            <a:off x="8964930" y="1930400"/>
            <a:ext cx="2540000" cy="36322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0869FE0A-C607-4D5B-A870-CD21044BB701}"/>
              </a:ext>
            </a:extLst>
          </p:cNvPr>
          <p:cNvSpPr/>
          <p:nvPr/>
        </p:nvSpPr>
        <p:spPr>
          <a:xfrm>
            <a:off x="9472930" y="2108200"/>
            <a:ext cx="1524000" cy="1219200"/>
          </a:xfrm>
          <a:prstGeom prst="roundRect">
            <a:avLst/>
          </a:prstGeom>
          <a:solidFill>
            <a:srgbClr val="F4F6F7"/>
          </a:solidFill>
          <a:ln w="25400">
            <a:solidFill>
              <a:srgbClr val="C2571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25400" rIns="0" bIns="25400" rtlCol="0" anchor="ctr" anchorCtr="0">
            <a:noAutofit/>
          </a:bodyPr>
          <a:lstStyle/>
          <a:p>
            <a:pPr algn="ctr"/>
            <a:r>
              <a:rPr lang="en-US" altLang="ko-KR" sz="3000" b="1">
                <a:solidFill>
                  <a:srgbClr val="A64512"/>
                </a:solidFill>
                <a:latin typeface="Consolas"/>
              </a:rPr>
              <a:t>""</a:t>
            </a:r>
            <a:endParaRPr lang="ko-KR" altLang="en-US" sz="30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F6630EB9-0971-40D8-AEDE-4F97EC209D03}"/>
              </a:ext>
            </a:extLst>
          </p:cNvPr>
          <p:cNvSpPr/>
          <p:nvPr/>
        </p:nvSpPr>
        <p:spPr>
          <a:xfrm>
            <a:off x="8964930" y="3454400"/>
            <a:ext cx="254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5B6B74"/>
                </a:solidFill>
                <a:latin typeface="Noto Sans KR"/>
                <a:ea typeface="Noto Sans KR"/>
              </a:rPr>
              <a:t>문자열</a:t>
            </a: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BD5EF06F-B881-4422-8A82-B02854612941}"/>
              </a:ext>
            </a:extLst>
          </p:cNvPr>
          <p:cNvSpPr/>
          <p:nvPr/>
        </p:nvSpPr>
        <p:spPr>
          <a:xfrm>
            <a:off x="8964930" y="3860800"/>
            <a:ext cx="2540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A64512"/>
                </a:solidFill>
                <a:latin typeface="Noto Sans KR"/>
                <a:ea typeface="Noto Sans KR"/>
              </a:rPr>
              <a:t>글자 없이 비움</a:t>
            </a: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54B96396-F62F-41BD-9934-D49BE3B3A06C}"/>
              </a:ext>
            </a:extLst>
          </p:cNvPr>
          <p:cNvSpPr/>
          <p:nvPr/>
        </p:nvSpPr>
        <p:spPr>
          <a:xfrm>
            <a:off x="9142730" y="4470400"/>
            <a:ext cx="2184400" cy="4572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비고 없음</a:t>
            </a: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4869093E-8C6B-4E24-803B-0BFC0856D815}"/>
              </a:ext>
            </a:extLst>
          </p:cNvPr>
          <p:cNvSpPr/>
          <p:nvPr/>
        </p:nvSpPr>
        <p:spPr>
          <a:xfrm>
            <a:off x="685800" y="5715000"/>
            <a:ext cx="10820400" cy="5080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AccentBar">
            <a:extLst>
              <a:ext uri="{FF2B5EF4-FFF2-40B4-BE49-F238E27FC236}">
                <a16:creationId xmlns:a16="http://schemas.microsoft.com/office/drawing/2014/main" id="{D5E2EEBB-3456-4414-B664-E391393A60F9}"/>
              </a:ext>
            </a:extLst>
          </p:cNvPr>
          <p:cNvSpPr/>
          <p:nvPr/>
        </p:nvSpPr>
        <p:spPr>
          <a:xfrm>
            <a:off x="685800" y="5715000"/>
            <a:ext cx="76200" cy="508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324C0DD7-B70E-46F9-8663-7597CABC1D62}"/>
              </a:ext>
            </a:extLst>
          </p:cNvPr>
          <p:cNvSpPr/>
          <p:nvPr/>
        </p:nvSpPr>
        <p:spPr>
          <a:xfrm>
            <a:off x="914400" y="5715000"/>
            <a:ext cx="10541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한 줄 정리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모르는 값을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0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으로 쓰면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세어 보니 없다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는 다른 뜻이 됩니다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4098220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3FEACFC-EB0D-4C23-A18E-1752F55E1A2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4D61C12-9C2A-46A4-B624-E8EBE2A2C2D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대여 창구의 네 숫자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C4D571E-BEC9-4AA7-A710-CC405D22A2B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B42A6B0-C2EE-4A5A-97B6-B74CA9BE2B52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고객번호 007, 회원등급 2, 대여수량 3, 이용시간 1.5시간입니다.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9CA7AA6-CE6B-499F-A7CC-C7FDDD0907F3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고객번호는 누구인지, 등급은 어떤 순서인지 구별합니다.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DD1F823-4F44-4534-9E52-F6FEDAF20A80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수량과 시간만 실제 양을 나타내므로 의미에 맞는 계산을 합니다.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BADB887-084F-45E2-9EA7-65BBB7AD5F91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007은 문자열로 보관하여 앞의 0을 지킵니다.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E76DF03-FFC8-4C4E-B922-4C7D741D5F0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8FEF54F-FCE2-49FA-B086-F6529686D35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041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42D7EA31-2E10-43CF-930F-A1B75B082B73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16C69A72-FB18-4237-93F8-FFC512BE56D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6EF8C7CD-C71B-4814-94E8-2FAD1A500428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FBEC5D1B-0C6F-44E7-BE75-1AF2C28D787E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65558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3D8E944-138B-4600-8D76-A8766FC671F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90FAB76-DD7F-46EC-A90B-1314350CACB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숫자, 다른 뜻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607ED90-4540-4E66-BBF6-C5864526633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22CC798-DA8F-458C-B10C-0BC085BD838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489E39C-C764-4CDA-B1EF-FCE0E63710A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042</a:t>
            </a:r>
            <a:endParaRPr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172F6160-ED83-4C40-A3A2-4619385CA8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85637"/>
              </p:ext>
            </p:extLst>
          </p:nvPr>
        </p:nvGraphicFramePr>
        <p:xfrm>
          <a:off x="685800" y="1943100"/>
          <a:ext cx="108204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330396594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3089101073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3301785136"/>
                    </a:ext>
                  </a:extLst>
                </a:gridCol>
                <a:gridCol w="2184400">
                  <a:extLst>
                    <a:ext uri="{9D8B030D-6E8A-4147-A177-3AD203B41FA5}">
                      <a16:colId xmlns:a16="http://schemas.microsoft.com/office/drawing/2014/main" val="3158012109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항목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값의 의미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저장 계획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평균 내도 되나?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175845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1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고객번호 007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명목 범주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문자열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900" b="1">
                          <a:solidFill>
                            <a:srgbClr val="A64512"/>
                          </a:solidFill>
                          <a:latin typeface="Noto Sans KR"/>
                          <a:ea typeface="Noto Sans KR"/>
                        </a:rPr>
                        <a:t>X</a:t>
                      </a:r>
                    </a:p>
                  </a:txBody>
                  <a:tcPr anchor="ctr">
                    <a:solidFill>
                      <a:srgbClr val="FBED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662096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1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회원등급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순서 범주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약속한 코드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900" b="1">
                          <a:solidFill>
                            <a:srgbClr val="A64512"/>
                          </a:solidFill>
                          <a:latin typeface="Noto Sans KR"/>
                          <a:ea typeface="Noto Sans KR"/>
                        </a:rPr>
                        <a:t>X</a:t>
                      </a:r>
                    </a:p>
                  </a:txBody>
                  <a:tcPr anchor="ctr">
                    <a:solidFill>
                      <a:srgbClr val="FBED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3965037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1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대여수량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이산 수치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정수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9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</a:p>
                  </a:txBody>
                  <a:tcPr anchor="ctr">
                    <a:solidFill>
                      <a:srgbClr val="E7F4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2820056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1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이용시간 1.5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연속 수치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9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실수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900" b="1">
                          <a:solidFill>
                            <a:srgbClr val="08776D"/>
                          </a:solidFill>
                          <a:latin typeface="Noto Sans KR"/>
                          <a:ea typeface="Noto Sans KR"/>
                        </a:rPr>
                        <a:t>O</a:t>
                      </a:r>
                    </a:p>
                  </a:txBody>
                  <a:tcPr anchor="ctr">
                    <a:solidFill>
                      <a:srgbClr val="E7F4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6586446"/>
                  </a:ext>
                </a:extLst>
              </a:tr>
            </a:tbl>
          </a:graphicData>
        </a:graphic>
      </p:graphicFrame>
      <p:sp>
        <p:nvSpPr>
          <p:cNvPr id="10" name="Viz">
            <a:extLst>
              <a:ext uri="{FF2B5EF4-FFF2-40B4-BE49-F238E27FC236}">
                <a16:creationId xmlns:a16="http://schemas.microsoft.com/office/drawing/2014/main" id="{AD787F45-62F6-4918-BA81-CC919BCF0EB3}"/>
              </a:ext>
            </a:extLst>
          </p:cNvPr>
          <p:cNvSpPr txBox="1"/>
          <p:nvPr/>
        </p:nvSpPr>
        <p:spPr>
          <a:xfrm>
            <a:off x="685800" y="5448300"/>
            <a:ext cx="10820400" cy="660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번호와 등급은 숫자로 적혀 있어도 평균이 뜻을 갖지 않습니다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양을 나타내는 값만 더하고 평균 냅니다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2708046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2FA1594-D2FB-42E5-893C-C1E8CD0E3D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0514702-2CA6-4057-9905-0DCAD67DD29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4CBA4C9-BB64-402C-8922-5C2E1CBE92A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세 분류 축 적용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A195E0F-0F47-4E23-8D14-766B1A07129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B288760-5D07-4143-AD44-F3C212A3E06A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BC6C8BD-C28C-4A70-B493-E27D9547E7CC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차량번호 "0032", 층 등급 상/중/하, 입차횟수 4, 체류시간 2.25시간입니다.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1F1E93B-64DE-47AC-99A9-E3648545059F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CF52315-E9CF-46FB-80F5-E60F5839E657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층 등급은 이번 자료에서 순서가 있다고 정했습니다.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2EA44E1-A36A-4045-9B1E-EFE1F0DD36D0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A6F251E-530F-4C23-B523-73061E39E451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각 항목의 통계적 의미와 저장 자료형을 두 칸으로 나누어 적으세요.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662D1D3-99C9-4514-A5B6-6B8EC20C2CF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EB88989F-A16A-4AC2-B6F9-9806D90D51BA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FE5E62CE-EFE5-459D-85FA-ADAD553019C6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5CFAA1D7-5FCC-4D69-BB94-F224408D126B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2333426-C9CB-4F7A-AA85-39B7AA45F8B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043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772787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6942BD5-539B-460B-8DEB-8DE05017534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F2E9E99-9579-4A13-B658-5460C38C61A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차량번호와 등급은 평균 낼까요?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52B393D-9C19-4FF1-97A9-225DE5CC3A9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1632E95-8206-485F-8F31-3AAB2F41A8AD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08776D"/>
                </a:solidFill>
                <a:latin typeface="Noto Sans KR"/>
                <a:ea typeface="Noto Sans KR"/>
              </a:rPr>
              <a:t>차량번호:</a:t>
            </a: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 명목 범주·문자열. 평균을 내도 차량 업무에 의미가 없습니다.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68D9C30-2A9E-40D6-B329-950A97F6F91B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08776D"/>
                </a:solidFill>
                <a:latin typeface="Noto Sans KR"/>
                <a:ea typeface="Noto Sans KR"/>
              </a:rPr>
              <a:t>층 등급:</a:t>
            </a: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 순서 범주·문자열. 상/중/하의 간격이 같다고 가정하지 않습니다.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3D66DEA-EF46-47A8-BED6-BC962090B236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08776D"/>
                </a:solidFill>
                <a:latin typeface="Noto Sans KR"/>
                <a:ea typeface="Noto Sans KR"/>
              </a:rPr>
              <a:t>입차횟수:</a:t>
            </a: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 이산 수치·정수. 체류시간: 연속 수치·실수.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C877B5F-ACDE-4925-8BBD-79D66FF2DC21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고정 열을 가진 표라는 구조는 네 값의 의미와 별개의 분류입니다.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71E0C75-A213-4B99-BC1F-76F711CB76F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54873CB-9394-4A41-A618-9D3437E4579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044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C4D32C83-2931-43D5-BB4A-7A914DF90D64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98BA93D4-04F4-4A5D-833F-12DB0DDFC3A8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A7C6628-7968-41EF-A5F3-C5405517851A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476551F0-6F06-4778-A8F3-3A7DF5BA71AE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200237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2</a:t>
            </a:r>
            <a:r>
              <a:rPr lang="ko-KR" altLang="en-US"/>
              <a:t>교시   도전 과제 </a:t>
            </a:r>
            <a:r>
              <a:rPr lang="en-US" altLang="ko-KR"/>
              <a:t>· </a:t>
            </a:r>
            <a:r>
              <a:rPr lang="ko-KR" altLang="en-US"/>
              <a:t>빨리 끝낸 분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도전 </a:t>
            </a:r>
            <a:r>
              <a:rPr lang="en-US" altLang="ko-KR"/>
              <a:t>· </a:t>
            </a:r>
            <a:r>
              <a:rPr lang="ko-KR" altLang="en-US"/>
              <a:t>다섯 항목 분류하기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문제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직원번호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"A012",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근속연수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3,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키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172.4cm,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혈액형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B,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직급 대리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/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과장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/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부장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조건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각 항목의 의미 분류와 저장 자료형을 두 칸으로 적습니다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힌트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순서가 있나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?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셀 수 있나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?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잴 수 있나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?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차례로 묻습니다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00" b="1">
                <a:solidFill>
                  <a:srgbClr val="C2571A"/>
                </a:solidFill>
                <a:latin typeface="Noto Sans KR"/>
                <a:ea typeface="Noto Sans KR"/>
              </a:rPr>
              <a:t>풀이 예</a:t>
            </a:r>
            <a:r>
              <a:rPr lang="en-US" altLang="ko-KR" sz="1700" b="1">
                <a:solidFill>
                  <a:srgbClr val="C2571A"/>
                </a:solidFill>
                <a:latin typeface="Noto Sans KR"/>
                <a:ea typeface="Noto Sans KR"/>
              </a:rPr>
              <a:t>: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직원번호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·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혈액형 명목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/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문자열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직급 순서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/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문자열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근속연수 이산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/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정수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키 연속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/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실수</a:t>
            </a:r>
            <a:endParaRPr sz="17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045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10418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2AB305-8F64-4980-9FAF-BC360362A9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E29FF8E-C351-466B-B640-7D9B6A5358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2</a:t>
            </a:r>
            <a:r>
              <a:rPr lang="ko-KR" altLang="en-US"/>
              <a:t>교시 확인 퀴즈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D4A9C6E-2943-44BA-A6DB-DCABE3BB6D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확인 퀴즈 </a:t>
            </a:r>
            <a:r>
              <a:rPr lang="en-US" altLang="ko-KR"/>
              <a:t>· </a:t>
            </a:r>
            <a:r>
              <a:rPr lang="ko-KR" altLang="en-US"/>
              <a:t>값의 뜻과 자료형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5FAA46-92DA-40F2-8034-3F9D15FA5C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34B94-05FB-4723-BDE2-842C7DC44B91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756AF40-FA5B-4514-980E-36A250D2D30F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우편번호 </a:t>
            </a:r>
            <a:r>
              <a:rPr lang="en-US" altLang="ko-KR" sz="2100">
                <a:solidFill>
                  <a:srgbClr val="FFFFFF"/>
                </a:solidFill>
              </a:rPr>
              <a:t>"06236"</a:t>
            </a:r>
            <a:r>
              <a:rPr lang="ko-KR" altLang="en-US" sz="2100">
                <a:solidFill>
                  <a:srgbClr val="FFFFFF"/>
                </a:solidFill>
              </a:rPr>
              <a:t>은 수치형인가요</a:t>
            </a:r>
            <a:r>
              <a:rPr lang="en-US" altLang="ko-KR" sz="2100">
                <a:solidFill>
                  <a:srgbClr val="FFFFFF"/>
                </a:solidFill>
              </a:rPr>
              <a:t>? </a:t>
            </a:r>
            <a:r>
              <a:rPr lang="ko-KR" altLang="en-US" sz="2100">
                <a:solidFill>
                  <a:srgbClr val="FFFFFF"/>
                </a:solidFill>
              </a:rPr>
              <a:t>어떤 자료형으로 저장할까요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391FAB-8484-458B-85DF-30B3C473A0FE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DB4828-8F96-4CFE-8217-3A32A78B4FFC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만족도 </a:t>
            </a:r>
            <a:r>
              <a:rPr lang="en-US" altLang="ko-KR" sz="2100">
                <a:solidFill>
                  <a:srgbClr val="FFFFFF"/>
                </a:solidFill>
              </a:rPr>
              <a:t>1~5</a:t>
            </a:r>
            <a:r>
              <a:rPr lang="ko-KR" altLang="en-US" sz="2100">
                <a:solidFill>
                  <a:srgbClr val="FFFFFF"/>
                </a:solidFill>
              </a:rPr>
              <a:t>점은 명목 범주와 순서 범주 중 무엇인가요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E468B9-6F76-4360-BCC9-6482DD5FEEFC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C3E46D0-B50C-4D1E-A688-081FCB367D94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재고를 아직 세지 않았습니다</a:t>
            </a:r>
            <a:r>
              <a:rPr lang="en-US" altLang="ko-KR" sz="2100">
                <a:solidFill>
                  <a:srgbClr val="FFFFFF"/>
                </a:solidFill>
              </a:rPr>
              <a:t>. 0</a:t>
            </a:r>
            <a:r>
              <a:rPr lang="ko-KR" altLang="en-US" sz="2100">
                <a:solidFill>
                  <a:srgbClr val="FFFFFF"/>
                </a:solidFill>
              </a:rPr>
              <a:t>과 </a:t>
            </a:r>
            <a:r>
              <a:rPr lang="en-US" altLang="ko-KR" sz="2100">
                <a:solidFill>
                  <a:srgbClr val="FFFFFF"/>
                </a:solidFill>
              </a:rPr>
              <a:t>null </a:t>
            </a:r>
            <a:r>
              <a:rPr lang="ko-KR" altLang="en-US" sz="2100">
                <a:solidFill>
                  <a:srgbClr val="FFFFFF"/>
                </a:solidFill>
              </a:rPr>
              <a:t>중 무엇으로 적을까요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6645A2-DAD4-4958-BA5C-867295967A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C4FCE9C4-2373-4846-80E5-CF1BCE20CF5E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01537A45-E21E-448F-A944-92119A7EFB55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A8BA8D4B-D18E-47CE-9D5E-2F9C6B1FB823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B6BF4B3-6AB7-4574-9866-EC5F209644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046</a:t>
            </a:r>
            <a:endParaRPr/>
          </a:p>
        </p:txBody>
      </p:sp>
      <p:sp>
        <p:nvSpPr>
          <p:cNvPr id="18" name="QuizHow">
            <a:extLst>
              <a:ext uri="{FF2B5EF4-FFF2-40B4-BE49-F238E27FC236}">
                <a16:creationId xmlns:a16="http://schemas.microsoft.com/office/drawing/2014/main" id="{5532F8AF-66CF-4C56-8579-BDD3C86E0C5D}"/>
              </a:ext>
            </a:extLst>
          </p:cNvPr>
          <p:cNvSpPr txBox="1"/>
          <p:nvPr/>
        </p:nvSpPr>
        <p:spPr>
          <a:xfrm>
            <a:off x="685800" y="5435600"/>
            <a:ext cx="8534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답하는 방법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문제마다 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1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분 생각한 뒤 손을 들어 답합니다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정답은 다음 장에 있습니다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9FD9CF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2419518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2</a:t>
            </a:r>
            <a:r>
              <a:rPr lang="ko-KR" altLang="en-US"/>
              <a:t>교시 퀴즈 정답과 정리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정답 </a:t>
            </a:r>
            <a:r>
              <a:rPr lang="en-US" altLang="ko-KR"/>
              <a:t>· </a:t>
            </a:r>
            <a:r>
              <a:rPr lang="ko-KR" altLang="en-US"/>
              <a:t>숫자 모양이 아니라 값의 뜻으로 분류합니다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1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명목 범주입니다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앞의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0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을 지키려면 문자열로 저장합니다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숫자로 저장하면 앞의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0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이 사라져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6236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이 됩니다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2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순서 범주입니다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높낮이는 있지만 간격이 같다고 보지 않습니다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숫자라서 수치형이라 하기 쉽지만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점수 사이 간격이 같지 않습니다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3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null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0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은 세어 보니 없다는 실제 값입니다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0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으로 쓰면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세어 보니 없음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으로 읽힙니다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정리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의미 분류와 저장 자료형을 두 칸으로 나눠 적습니다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047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37090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D3115CB-6447-4AD3-B3C2-26B953755FA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64C6A07-B85A-4CF7-A9CB-2BEF8C0ACDCC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행과 키로 기록 묶기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37A3BF7-EC43-4E16-80FF-D6AE0E845E96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13:00~13:50 · 50분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598A1FA-72E8-41CC-8E05-18BE17CDF99A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E802D1B-4C01-4389-BEFB-005C61C1EA7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433ADA1-E99A-4D9B-8498-52205FFF13A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048</a:t>
            </a:r>
            <a:endParaRPr/>
          </a:p>
        </p:txBody>
      </p:sp>
      <p:sp>
        <p:nvSpPr>
          <p:cNvPr id="9" name="MiniMap">
            <a:extLst>
              <a:ext uri="{FF2B5EF4-FFF2-40B4-BE49-F238E27FC236}">
                <a16:creationId xmlns:a16="http://schemas.microsoft.com/office/drawing/2014/main" id="{09B7ED80-D35D-4675-8E3E-66C4BA2C3EF8}"/>
              </a:ext>
            </a:extLst>
          </p:cNvPr>
          <p:cNvSpPr/>
          <p:nvPr/>
        </p:nvSpPr>
        <p:spPr>
          <a:xfrm>
            <a:off x="685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1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데이터의 뜻</a:t>
            </a:r>
          </a:p>
        </p:txBody>
      </p:sp>
      <p:sp>
        <p:nvSpPr>
          <p:cNvPr id="10" name="MiniMap">
            <a:extLst>
              <a:ext uri="{FF2B5EF4-FFF2-40B4-BE49-F238E27FC236}">
                <a16:creationId xmlns:a16="http://schemas.microsoft.com/office/drawing/2014/main" id="{CA3536C0-5411-48F9-BAFD-76D7E048EE30}"/>
              </a:ext>
            </a:extLst>
          </p:cNvPr>
          <p:cNvSpPr/>
          <p:nvPr/>
        </p:nvSpPr>
        <p:spPr>
          <a:xfrm>
            <a:off x="20066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2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값의 의미</a:t>
            </a:r>
          </a:p>
        </p:txBody>
      </p:sp>
      <p:sp>
        <p:nvSpPr>
          <p:cNvPr id="11" name="MiniMap">
            <a:extLst>
              <a:ext uri="{FF2B5EF4-FFF2-40B4-BE49-F238E27FC236}">
                <a16:creationId xmlns:a16="http://schemas.microsoft.com/office/drawing/2014/main" id="{4859F1F9-24A4-42D1-8BC3-AA2EDB07A6A0}"/>
              </a:ext>
            </a:extLst>
          </p:cNvPr>
          <p:cNvSpPr/>
          <p:nvPr/>
        </p:nvSpPr>
        <p:spPr>
          <a:xfrm>
            <a:off x="3327400" y="5334000"/>
            <a:ext cx="1219200" cy="660400"/>
          </a:xfrm>
          <a:prstGeom prst="roundRect">
            <a:avLst/>
          </a:prstGeom>
          <a:solidFill>
            <a:srgbClr val="4FD1B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3</a:t>
            </a:r>
            <a:r>
              <a:rPr lang="ko-KR" altLang="en-US" sz="1300" b="1">
                <a:solidFill>
                  <a:srgbClr val="0F2A3A"/>
                </a:solidFill>
                <a:latin typeface="Noto Sans KR"/>
                <a:ea typeface="Noto Sans KR"/>
              </a:rPr>
              <a:t>교시
행과 키</a:t>
            </a:r>
          </a:p>
        </p:txBody>
      </p:sp>
      <p:sp>
        <p:nvSpPr>
          <p:cNvPr id="12" name="MiniMap">
            <a:extLst>
              <a:ext uri="{FF2B5EF4-FFF2-40B4-BE49-F238E27FC236}">
                <a16:creationId xmlns:a16="http://schemas.microsoft.com/office/drawing/2014/main" id="{C6C0C1B9-1FBA-4119-9085-5741BB5A5A00}"/>
              </a:ext>
            </a:extLst>
          </p:cNvPr>
          <p:cNvSpPr/>
          <p:nvPr/>
        </p:nvSpPr>
        <p:spPr>
          <a:xfrm>
            <a:off x="46482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4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CSV</a:t>
            </a:r>
            <a:endParaRPr lang="ko-KR" altLang="en-US" sz="1300">
              <a:solidFill>
                <a:srgbClr val="D7E1E5"/>
              </a:solidFill>
              <a:latin typeface="Noto Sans KR"/>
              <a:ea typeface="Noto Sans KR"/>
            </a:endParaRPr>
          </a:p>
        </p:txBody>
      </p:sp>
      <p:sp>
        <p:nvSpPr>
          <p:cNvPr id="13" name="MiniMap">
            <a:extLst>
              <a:ext uri="{FF2B5EF4-FFF2-40B4-BE49-F238E27FC236}">
                <a16:creationId xmlns:a16="http://schemas.microsoft.com/office/drawing/2014/main" id="{9C419150-9234-4C7A-B347-75A75A238E1B}"/>
              </a:ext>
            </a:extLst>
          </p:cNvPr>
          <p:cNvSpPr/>
          <p:nvPr/>
        </p:nvSpPr>
        <p:spPr>
          <a:xfrm>
            <a:off x="59690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5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JSON</a:t>
            </a:r>
            <a:endParaRPr lang="ko-KR" altLang="en-US" sz="1300">
              <a:solidFill>
                <a:srgbClr val="D7E1E5"/>
              </a:solidFill>
              <a:latin typeface="Noto Sans KR"/>
              <a:ea typeface="Noto Sans KR"/>
            </a:endParaRPr>
          </a:p>
        </p:txBody>
      </p:sp>
      <p:sp>
        <p:nvSpPr>
          <p:cNvPr id="14" name="MiniMap">
            <a:extLst>
              <a:ext uri="{FF2B5EF4-FFF2-40B4-BE49-F238E27FC236}">
                <a16:creationId xmlns:a16="http://schemas.microsoft.com/office/drawing/2014/main" id="{52B722DE-2A06-4930-8397-7D85286AE7FE}"/>
              </a:ext>
            </a:extLst>
          </p:cNvPr>
          <p:cNvSpPr/>
          <p:nvPr/>
        </p:nvSpPr>
        <p:spPr>
          <a:xfrm>
            <a:off x="7289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6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설계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·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검수</a:t>
            </a:r>
          </a:p>
        </p:txBody>
      </p:sp>
      <p:sp>
        <p:nvSpPr>
          <p:cNvPr id="15" name="MiniMap">
            <a:extLst>
              <a:ext uri="{FF2B5EF4-FFF2-40B4-BE49-F238E27FC236}">
                <a16:creationId xmlns:a16="http://schemas.microsoft.com/office/drawing/2014/main" id="{ED59AF12-25C6-430B-8C21-212EBE0E95A3}"/>
              </a:ext>
            </a:extLst>
          </p:cNvPr>
          <p:cNvSpPr txBox="1"/>
          <p:nvPr/>
        </p:nvSpPr>
        <p:spPr>
          <a:xfrm>
            <a:off x="685800" y="4978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오늘의 지도</a:t>
            </a:r>
          </a:p>
        </p:txBody>
      </p:sp>
    </p:spTree>
    <p:extLst>
      <p:ext uri="{BB962C8B-B14F-4D97-AF65-F5344CB8AC3E}">
        <p14:creationId xmlns:p14="http://schemas.microsoft.com/office/powerpoint/2010/main" val="17428174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3</a:t>
            </a:r>
            <a:r>
              <a:rPr lang="ko-KR" altLang="en-US"/>
              <a:t>교시 목표와 진행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3</a:t>
            </a:r>
            <a:r>
              <a:rPr lang="ko-KR" altLang="en-US"/>
              <a:t>교시 목표 </a:t>
            </a:r>
            <a:r>
              <a:rPr lang="en-US" altLang="ko-KR"/>
              <a:t>· </a:t>
            </a:r>
            <a:r>
              <a:rPr lang="ko-KR" altLang="en-US"/>
              <a:t>행과 키로 기록 묶기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1: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한 행이 무엇 한 건인지 먼저 정합니다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2: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기록 한 건을 구별하는 키를 고릅니다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3: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데이터 사전에 뜻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단위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허용값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빈값 규칙을 적습니다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진행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개념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직접 해 보기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20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풀이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퀴즈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049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7911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D6976BF-DB4B-4B09-A874-012D7803AF0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08BF4F7-9C9F-4390-BEB5-3846605F2C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행은 무엇 한 건인가요?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BEF5CA-721A-47AE-9E8D-2D6DE43F77D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8D26EB4-1294-4FEB-AACB-27CAFC3D8D9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D6620CC-AA54-4575-8586-5B89CB9123B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050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73B1721C-C275-496C-82A7-E5A22E898DD9}"/>
              </a:ext>
            </a:extLst>
          </p:cNvPr>
          <p:cNvSpPr/>
          <p:nvPr/>
        </p:nvSpPr>
        <p:spPr>
          <a:xfrm>
            <a:off x="685800" y="1879600"/>
            <a:ext cx="108204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같은 주문 자료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: O10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에 장갑 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2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개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마스크 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5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개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, O11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에 장갑 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1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개</a:t>
            </a: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615D70E9-845C-43E0-BF8F-55A3F6BF23D3}"/>
              </a:ext>
            </a:extLst>
          </p:cNvPr>
          <p:cNvSpPr/>
          <p:nvPr/>
        </p:nvSpPr>
        <p:spPr>
          <a:xfrm>
            <a:off x="685800" y="2336800"/>
            <a:ext cx="5207000" cy="4572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한 행 </a:t>
            </a:r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=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주문 한 건 → </a:t>
            </a:r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행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01BBC939-4C9D-4FA9-88F5-5AEAD6695ECC}"/>
              </a:ext>
            </a:extLst>
          </p:cNvPr>
          <p:cNvSpPr/>
          <p:nvPr/>
        </p:nvSpPr>
        <p:spPr>
          <a:xfrm>
            <a:off x="6299200" y="2336800"/>
            <a:ext cx="5207000" cy="457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한 행 </a:t>
            </a:r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=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주문 품목 한 종류 → </a:t>
            </a:r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행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A4FFCA0F-2E6B-4E20-9FA9-5F288BA4F2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8938735"/>
              </p:ext>
            </p:extLst>
          </p:nvPr>
        </p:nvGraphicFramePr>
        <p:xfrm>
          <a:off x="685800" y="2870200"/>
          <a:ext cx="52070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4278838068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1010224174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주문</a:t>
                      </a:r>
                    </a:p>
                  </a:txBody>
                  <a:tcPr anchor="ctr">
                    <a:solidFill>
                      <a:srgbClr val="7B8A9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상품과 수량</a:t>
                      </a:r>
                    </a:p>
                  </a:txBody>
                  <a:tcPr anchor="ctr">
                    <a:solidFill>
                      <a:srgbClr val="7B8A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88073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O10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장갑 2, 마스크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977639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O11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장갑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2880582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8748D956-512D-4C5D-962D-18B9CEF82D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5095015"/>
              </p:ext>
            </p:extLst>
          </p:nvPr>
        </p:nvGraphicFramePr>
        <p:xfrm>
          <a:off x="6299200" y="2870200"/>
          <a:ext cx="5207000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398906502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4111654989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96838549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4053055884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주문</a:t>
                      </a:r>
                    </a:p>
                  </a:txBody>
                  <a:tcPr anchor="ctr">
                    <a:solidFill>
                      <a:srgbClr val="0E5E5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품목</a:t>
                      </a:r>
                    </a:p>
                  </a:txBody>
                  <a:tcPr anchor="ctr">
                    <a:solidFill>
                      <a:srgbClr val="0E5E5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상품</a:t>
                      </a:r>
                    </a:p>
                  </a:txBody>
                  <a:tcPr anchor="ctr">
                    <a:solidFill>
                      <a:srgbClr val="0E5E5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수량</a:t>
                      </a:r>
                    </a:p>
                  </a:txBody>
                  <a:tcPr anchor="ctr">
                    <a:solidFill>
                      <a:srgbClr val="0E5E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380151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O10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장갑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7972118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O10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마스크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914698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O11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장갑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8806238"/>
                  </a:ext>
                </a:extLst>
              </a:tr>
            </a:tbl>
          </a:graphicData>
        </a:graphic>
      </p:graphicFrame>
      <p:sp>
        <p:nvSpPr>
          <p:cNvPr id="21" name="Viz">
            <a:extLst>
              <a:ext uri="{FF2B5EF4-FFF2-40B4-BE49-F238E27FC236}">
                <a16:creationId xmlns:a16="http://schemas.microsoft.com/office/drawing/2014/main" id="{524BE8F5-D413-4D33-A4E1-CD223FB78512}"/>
              </a:ext>
            </a:extLst>
          </p:cNvPr>
          <p:cNvSpPr/>
          <p:nvPr/>
        </p:nvSpPr>
        <p:spPr>
          <a:xfrm>
            <a:off x="685800" y="4546600"/>
            <a:ext cx="5207000" cy="8128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한 칸에 상품이 섞여 있어 상품별 수량을 세기 어렵습니다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3561A3CE-5017-475D-9231-D0D3F4A8398D}"/>
              </a:ext>
            </a:extLst>
          </p:cNvPr>
          <p:cNvSpPr/>
          <p:nvPr/>
        </p:nvSpPr>
        <p:spPr>
          <a:xfrm>
            <a:off x="6299200" y="5003800"/>
            <a:ext cx="5207000" cy="5080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상품마다 한 줄이라 세고 더하기 쉽습니다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D885C3E9-C720-4FEB-B26C-D487EB3FAF18}"/>
              </a:ext>
            </a:extLst>
          </p:cNvPr>
          <p:cNvSpPr/>
          <p:nvPr/>
        </p:nvSpPr>
        <p:spPr>
          <a:xfrm>
            <a:off x="685800" y="5664200"/>
            <a:ext cx="10820400" cy="5588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AccentBar">
            <a:extLst>
              <a:ext uri="{FF2B5EF4-FFF2-40B4-BE49-F238E27FC236}">
                <a16:creationId xmlns:a16="http://schemas.microsoft.com/office/drawing/2014/main" id="{2EFF7D91-111A-4842-80B8-9B0C466ACBEC}"/>
              </a:ext>
            </a:extLst>
          </p:cNvPr>
          <p:cNvSpPr/>
          <p:nvPr/>
        </p:nvSpPr>
        <p:spPr>
          <a:xfrm>
            <a:off x="685800" y="5664200"/>
            <a:ext cx="76200" cy="558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D94E369F-5E69-46C6-8F93-A389ED8EC9B6}"/>
              </a:ext>
            </a:extLst>
          </p:cNvPr>
          <p:cNvSpPr/>
          <p:nvPr/>
        </p:nvSpPr>
        <p:spPr>
          <a:xfrm>
            <a:off x="914400" y="5664200"/>
            <a:ext cx="10541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한 줄 정리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표를 만들기 전에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한 행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=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무엇 한 건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을 먼저 정합니다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580938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4EDC221-90CD-4E52-AEF9-983707AA590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ADA1B68-309E-4A63-B6F5-C83D003101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키로 기록 한 건을 구별합니다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8BCE5D7-2546-4CE3-A9CA-079F44307DA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FA00EEA-3D61-4E9B-A873-B88D109E648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F2BED17-8657-4274-BCF0-97677534BE5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051</a:t>
            </a:r>
            <a:endParaRPr/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7D78B30-7100-40F2-9BCA-774E04C9C6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0928155"/>
              </p:ext>
            </p:extLst>
          </p:nvPr>
        </p:nvGraphicFramePr>
        <p:xfrm>
          <a:off x="685800" y="2032000"/>
          <a:ext cx="6350000" cy="2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>
                  <a:extLst>
                    <a:ext uri="{9D8B030D-6E8A-4147-A177-3AD203B41FA5}">
                      <a16:colId xmlns:a16="http://schemas.microsoft.com/office/drawing/2014/main" val="257546818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470643556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2856184832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4083627912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주문</a:t>
                      </a:r>
                    </a:p>
                  </a:txBody>
                  <a:tcPr anchor="ctr">
                    <a:solidFill>
                      <a:srgbClr val="08776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품목</a:t>
                      </a:r>
                    </a:p>
                  </a:txBody>
                  <a:tcPr anchor="ctr">
                    <a:solidFill>
                      <a:srgbClr val="08776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상품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수량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846716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0E5E57"/>
                          </a:solidFill>
                          <a:latin typeface="Noto Sans KR"/>
                          <a:ea typeface="Noto Sans KR"/>
                        </a:rPr>
                        <a:t>O10</a:t>
                      </a:r>
                    </a:p>
                  </a:txBody>
                  <a:tcPr anchor="ctr">
                    <a:solidFill>
                      <a:srgbClr val="D5ED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0E5E57"/>
                          </a:solidFill>
                          <a:latin typeface="Noto Sans KR"/>
                          <a:ea typeface="Noto Sans KR"/>
                        </a:rPr>
                        <a:t>1</a:t>
                      </a:r>
                    </a:p>
                  </a:txBody>
                  <a:tcPr anchor="ctr">
                    <a:solidFill>
                      <a:srgbClr val="D5ED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장갑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7183278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0E5E57"/>
                          </a:solidFill>
                          <a:latin typeface="Noto Sans KR"/>
                          <a:ea typeface="Noto Sans KR"/>
                        </a:rPr>
                        <a:t>O10</a:t>
                      </a:r>
                    </a:p>
                  </a:txBody>
                  <a:tcPr anchor="ctr">
                    <a:solidFill>
                      <a:srgbClr val="D5ED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0E5E57"/>
                          </a:solidFill>
                          <a:latin typeface="Noto Sans KR"/>
                          <a:ea typeface="Noto Sans KR"/>
                        </a:rPr>
                        <a:t>2</a:t>
                      </a:r>
                    </a:p>
                  </a:txBody>
                  <a:tcPr anchor="ctr">
                    <a:solidFill>
                      <a:srgbClr val="D5ED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마스크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529490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0E5E57"/>
                          </a:solidFill>
                          <a:latin typeface="Noto Sans KR"/>
                          <a:ea typeface="Noto Sans KR"/>
                        </a:rPr>
                        <a:t>O11</a:t>
                      </a:r>
                    </a:p>
                  </a:txBody>
                  <a:tcPr anchor="ctr">
                    <a:solidFill>
                      <a:srgbClr val="D5ED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0E5E57"/>
                          </a:solidFill>
                          <a:latin typeface="Noto Sans KR"/>
                          <a:ea typeface="Noto Sans KR"/>
                        </a:rPr>
                        <a:t>1</a:t>
                      </a:r>
                    </a:p>
                  </a:txBody>
                  <a:tcPr anchor="ctr">
                    <a:solidFill>
                      <a:srgbClr val="D5ED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장갑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2862103"/>
                  </a:ext>
                </a:extLst>
              </a:tr>
            </a:tbl>
          </a:graphicData>
        </a:graphic>
      </p:graphicFrame>
      <p:sp>
        <p:nvSpPr>
          <p:cNvPr id="16" name="Viz">
            <a:extLst>
              <a:ext uri="{FF2B5EF4-FFF2-40B4-BE49-F238E27FC236}">
                <a16:creationId xmlns:a16="http://schemas.microsoft.com/office/drawing/2014/main" id="{1F01A3F1-093A-4167-A9CA-D8B85C6DADE0}"/>
              </a:ext>
            </a:extLst>
          </p:cNvPr>
          <p:cNvSpPr/>
          <p:nvPr/>
        </p:nvSpPr>
        <p:spPr>
          <a:xfrm>
            <a:off x="685800" y="4673600"/>
            <a:ext cx="3175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▲ 키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=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주문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+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품목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546F2A44-48C1-421C-9A63-7B1D932CBD54}"/>
              </a:ext>
            </a:extLst>
          </p:cNvPr>
          <p:cNvSpPr/>
          <p:nvPr/>
        </p:nvSpPr>
        <p:spPr>
          <a:xfrm>
            <a:off x="7366000" y="2032000"/>
            <a:ext cx="4140200" cy="12446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AccentBar">
            <a:extLst>
              <a:ext uri="{FF2B5EF4-FFF2-40B4-BE49-F238E27FC236}">
                <a16:creationId xmlns:a16="http://schemas.microsoft.com/office/drawing/2014/main" id="{4D6AE44B-384B-427D-95B0-5BE1C9B831BC}"/>
              </a:ext>
            </a:extLst>
          </p:cNvPr>
          <p:cNvSpPr/>
          <p:nvPr/>
        </p:nvSpPr>
        <p:spPr>
          <a:xfrm>
            <a:off x="7366000" y="2032000"/>
            <a:ext cx="76200" cy="12446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BABA4B1F-3EF2-4775-B242-B7692E903B22}"/>
              </a:ext>
            </a:extLst>
          </p:cNvPr>
          <p:cNvSpPr/>
          <p:nvPr/>
        </p:nvSpPr>
        <p:spPr>
          <a:xfrm>
            <a:off x="7594600" y="2133600"/>
            <a:ext cx="381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A64512"/>
                </a:solidFill>
                <a:latin typeface="Noto Sans KR"/>
                <a:ea typeface="Noto Sans KR"/>
              </a:rPr>
              <a:t>주문번호만 키로 쓰면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E652589E-12E0-451A-AF10-5AFF3655F1AC}"/>
              </a:ext>
            </a:extLst>
          </p:cNvPr>
          <p:cNvSpPr/>
          <p:nvPr/>
        </p:nvSpPr>
        <p:spPr>
          <a:xfrm>
            <a:off x="7594600" y="2489200"/>
            <a:ext cx="3810000" cy="736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O10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이 두 줄이라 어느 품목인지 구별하지 못합니다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EB7719B8-13AD-4CC0-997C-5C209078EB40}"/>
              </a:ext>
            </a:extLst>
          </p:cNvPr>
          <p:cNvSpPr/>
          <p:nvPr/>
        </p:nvSpPr>
        <p:spPr>
          <a:xfrm>
            <a:off x="7366000" y="3403600"/>
            <a:ext cx="4140200" cy="12446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AccentBar">
            <a:extLst>
              <a:ext uri="{FF2B5EF4-FFF2-40B4-BE49-F238E27FC236}">
                <a16:creationId xmlns:a16="http://schemas.microsoft.com/office/drawing/2014/main" id="{85B4C284-5A19-4048-92B9-5B276D6F3024}"/>
              </a:ext>
            </a:extLst>
          </p:cNvPr>
          <p:cNvSpPr/>
          <p:nvPr/>
        </p:nvSpPr>
        <p:spPr>
          <a:xfrm>
            <a:off x="7366000" y="3403600"/>
            <a:ext cx="76200" cy="1244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5B353913-3E74-491A-8321-F3C216985130}"/>
              </a:ext>
            </a:extLst>
          </p:cNvPr>
          <p:cNvSpPr/>
          <p:nvPr/>
        </p:nvSpPr>
        <p:spPr>
          <a:xfrm>
            <a:off x="7594600" y="3505200"/>
            <a:ext cx="381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주문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+ </a:t>
            </a:r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품목을 함께 쓰면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DB5E2874-50B0-4D3B-AD3C-249FD0FC09F7}"/>
              </a:ext>
            </a:extLst>
          </p:cNvPr>
          <p:cNvSpPr/>
          <p:nvPr/>
        </p:nvSpPr>
        <p:spPr>
          <a:xfrm>
            <a:off x="7594600" y="3860800"/>
            <a:ext cx="3810000" cy="736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O10-1, O10-2, O11-1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로 모든 줄이 다릅니다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987FA2D8-AE49-4AE8-8F89-FBA958E3CE0F}"/>
              </a:ext>
            </a:extLst>
          </p:cNvPr>
          <p:cNvSpPr/>
          <p:nvPr/>
        </p:nvSpPr>
        <p:spPr>
          <a:xfrm>
            <a:off x="7366000" y="4775200"/>
            <a:ext cx="4140200" cy="12446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AccentBar">
            <a:extLst>
              <a:ext uri="{FF2B5EF4-FFF2-40B4-BE49-F238E27FC236}">
                <a16:creationId xmlns:a16="http://schemas.microsoft.com/office/drawing/2014/main" id="{E55F416E-32E7-40E8-B0AD-03D65D355DF9}"/>
              </a:ext>
            </a:extLst>
          </p:cNvPr>
          <p:cNvSpPr/>
          <p:nvPr/>
        </p:nvSpPr>
        <p:spPr>
          <a:xfrm>
            <a:off x="7366000" y="4775200"/>
            <a:ext cx="76200" cy="12446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3705E9A4-5978-401A-8726-D9A95CBD3FE5}"/>
              </a:ext>
            </a:extLst>
          </p:cNvPr>
          <p:cNvSpPr/>
          <p:nvPr/>
        </p:nvSpPr>
        <p:spPr>
          <a:xfrm>
            <a:off x="7594600" y="4876800"/>
            <a:ext cx="381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5B6B74"/>
                </a:solidFill>
                <a:latin typeface="Noto Sans KR"/>
                <a:ea typeface="Noto Sans KR"/>
              </a:rPr>
              <a:t>센서 기록이라면</a:t>
            </a: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4EEEC035-55BF-4A8F-A5B9-C49A449BA9B1}"/>
              </a:ext>
            </a:extLst>
          </p:cNvPr>
          <p:cNvSpPr/>
          <p:nvPr/>
        </p:nvSpPr>
        <p:spPr>
          <a:xfrm>
            <a:off x="7594600" y="5232400"/>
            <a:ext cx="3810000" cy="736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센서번호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+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측정시각을 키로 써서 다른 시각 기록도 보존합니다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CF072A1C-4C41-414B-9116-63B49282ACF7}"/>
              </a:ext>
            </a:extLst>
          </p:cNvPr>
          <p:cNvSpPr/>
          <p:nvPr/>
        </p:nvSpPr>
        <p:spPr>
          <a:xfrm>
            <a:off x="685800" y="5207000"/>
            <a:ext cx="6350000" cy="889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AccentBar">
            <a:extLst>
              <a:ext uri="{FF2B5EF4-FFF2-40B4-BE49-F238E27FC236}">
                <a16:creationId xmlns:a16="http://schemas.microsoft.com/office/drawing/2014/main" id="{A29438FB-E488-441C-827A-28DD4F67ECCB}"/>
              </a:ext>
            </a:extLst>
          </p:cNvPr>
          <p:cNvSpPr/>
          <p:nvPr/>
        </p:nvSpPr>
        <p:spPr>
          <a:xfrm>
            <a:off x="685800" y="5207000"/>
            <a:ext cx="76200" cy="889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73B02E01-12FE-4734-83AC-098CB9F65F2C}"/>
              </a:ext>
            </a:extLst>
          </p:cNvPr>
          <p:cNvSpPr/>
          <p:nvPr/>
        </p:nvSpPr>
        <p:spPr>
          <a:xfrm>
            <a:off x="889000" y="5232400"/>
            <a:ext cx="6096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용어 </a:t>
            </a:r>
            <a:r>
              <a:rPr lang="en-US" altLang="ko-KR" sz="1500" b="1">
                <a:solidFill>
                  <a:srgbClr val="08776D"/>
                </a:solidFill>
                <a:latin typeface="Noto Sans KR"/>
                <a:ea typeface="Noto Sans KR"/>
              </a:rPr>
              <a:t>· </a:t>
            </a:r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키</a:t>
            </a: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8F601AF7-413F-4E35-96BF-4D01E3514742}"/>
              </a:ext>
            </a:extLst>
          </p:cNvPr>
          <p:cNvSpPr/>
          <p:nvPr/>
        </p:nvSpPr>
        <p:spPr>
          <a:xfrm>
            <a:off x="889000" y="5537200"/>
            <a:ext cx="6096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기록 한 건을 다른 기록과 구별하는 이름표입니다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두 칸을 묶어 키로 쓰기도 합니다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9541389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03A22EC-7589-4D5B-A8A1-822B5E6E49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EDE07B6-F10C-4AF2-9B89-DA9D591BC5D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 사전에 적을 것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C89F0D8-BB8A-4478-A2E9-88B80C8010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2B393D3-34E3-438E-B7C9-BCD2C6355D67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항목의 뜻과 한 행의 단위를 정합니다.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DD20864-1CD1-4F09-B524-70E8E4747B19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단위·형식·허용값을 정합니다.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004E71B-5A55-4FCB-A775-6779C511A1B0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빠진 값을 어떻게 나타낼지 정합니다.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F276773-D146-4741-8A7C-08DC8CAA47A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30D78DA-D60E-4400-BFB2-E47481A5B29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052</a:t>
            </a:r>
            <a:endParaRPr/>
          </a:p>
        </p:txBody>
      </p:sp>
      <p:sp>
        <p:nvSpPr>
          <p:cNvPr id="11" name="AccentBar">
            <a:extLst>
              <a:ext uri="{FF2B5EF4-FFF2-40B4-BE49-F238E27FC236}">
                <a16:creationId xmlns:a16="http://schemas.microsoft.com/office/drawing/2014/main" id="{A9A835C5-7BB6-4F0B-B8E8-7014A3022F2E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4CDD6C06-1CF1-4D2B-A0FB-2855B96CDC57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95795C72-2100-4276-9449-DA8798107DD8}"/>
              </a:ext>
            </a:extLst>
          </p:cNvPr>
          <p:cNvSpPr/>
          <p:nvPr/>
        </p:nvSpPr>
        <p:spPr>
          <a:xfrm>
            <a:off x="685800" y="42672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56707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0943638-D404-4207-AC47-9AC143F743B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C94922E-1565-48E2-82A9-9C3BB15D024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온도표의 데이터 사전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2A52591-087E-4311-B255-CF2B549BCF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표 11"/>
          <p:cNvGraphicFramePr/>
          <p:nvPr>
            <p:extLst>
              <p:ext uri="{D42A27DB-BD31-4B8C-83A1-F6EECF244321}">
                <p14:modId xmlns:p14="http://schemas.microsoft.com/office/powerpoint/2010/main" val="2139225502"/>
              </p:ext>
            </p:extLst>
          </p:nvPr>
        </p:nvGraphicFramePr>
        <p:xfrm>
          <a:off x="685800" y="1943100"/>
          <a:ext cx="10820401" cy="3683000"/>
        </p:xfrm>
        <a:graphic>
          <a:graphicData uri="http://schemas.openxmlformats.org/drawingml/2006/table">
            <a:tbl>
              <a:tblPr firstRow="1"/>
              <a:tblGrid>
                <a:gridCol w="30857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87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45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뜻·단위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형식·빈값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sensor_id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어느 센서인가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S01 같은 문자열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temperature_c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섭씨 온도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숫자; 빈값은 미측정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measured_at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측정시각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날짜+시간; 미확인은 표시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 행·키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센서의 한 시점 측정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sensor_id+measured_at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1C14E5A0-A75E-4AD7-B013-4D32CD23964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8A5E740-EDB3-4BAD-8AD9-9580FA67177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053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115027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F86A5C-2CD5-4B93-AFE4-FF0CFAE828F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493C5D4-E2A7-4D79-B837-6608B0438F2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목록과 이름표 묶음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6AE3A94-9B2A-4AB3-B2B6-C7B0738AB16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표 11"/>
          <p:cNvGraphicFramePr/>
          <p:nvPr>
            <p:extLst>
              <p:ext uri="{D42A27DB-BD31-4B8C-83A1-F6EECF244321}">
                <p14:modId xmlns:p14="http://schemas.microsoft.com/office/powerpoint/2010/main" val="742372039"/>
              </p:ext>
            </p:extLst>
          </p:nvPr>
        </p:nvGraphicFramePr>
        <p:xfrm>
          <a:off x="685800" y="1943100"/>
          <a:ext cx="10820400" cy="2209800"/>
        </p:xfrm>
        <a:graphic>
          <a:graphicData uri="http://schemas.openxmlformats.org/drawingml/2006/table">
            <a:tbl>
              <a:tblPr firstRow="1"/>
              <a:tblGrid>
                <a:gridCol w="44702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501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구조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찾는 방법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정해진 순서의 위치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키·값 묶음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항목의 이름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19ED4A02-98ED-44FB-8AA4-2A628FFCD08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73931E3-A73D-4470-BFEB-15F24557FE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054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9629385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9D6CAEC1-52B9-4416-82E0-94CCE6F76CE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BF3D301-8BD5-489E-951C-4D64EDDABBF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표와 계층에서 같은 기록 찾기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704B6EB-3FA7-48A5-825E-D1A788DE3A7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A20C21-5777-41E2-96E0-F3D5D134C23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CCE14F5-D1CF-4EFC-A267-80EF6DE6003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055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8B536D33-4732-45D4-A3FF-AE41F0F227BD}"/>
              </a:ext>
            </a:extLst>
          </p:cNvPr>
          <p:cNvSpPr/>
          <p:nvPr/>
        </p:nvSpPr>
        <p:spPr>
          <a:xfrm>
            <a:off x="685800" y="1930400"/>
            <a:ext cx="5080000" cy="4318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FFFFFF"/>
                </a:solidFill>
                <a:latin typeface="Noto Sans KR"/>
                <a:ea typeface="Noto Sans KR"/>
              </a:rPr>
              <a:t>표 </a:t>
            </a:r>
            <a:r>
              <a:rPr lang="en-US" altLang="ko-KR" sz="1600" b="1">
                <a:solidFill>
                  <a:srgbClr val="FFFFFF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 b="1">
                <a:solidFill>
                  <a:srgbClr val="FFFFFF"/>
                </a:solidFill>
                <a:latin typeface="Noto Sans KR"/>
                <a:ea typeface="Noto Sans KR"/>
              </a:rPr>
              <a:t>같은 항목을 행마다 반복</a:t>
            </a: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1127799C-ABE5-474B-94FA-E8E936B0A68E}"/>
              </a:ext>
            </a:extLst>
          </p:cNvPr>
          <p:cNvSpPr/>
          <p:nvPr/>
        </p:nvSpPr>
        <p:spPr>
          <a:xfrm>
            <a:off x="6172200" y="1930400"/>
            <a:ext cx="5334000" cy="431800"/>
          </a:xfrm>
          <a:prstGeom prst="rect">
            <a:avLst/>
          </a:prstGeom>
          <a:solidFill>
            <a:srgbClr val="2F6A8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FFFFFF"/>
                </a:solidFill>
                <a:latin typeface="Noto Sans KR"/>
                <a:ea typeface="Noto Sans KR"/>
              </a:rPr>
              <a:t>계층 </a:t>
            </a:r>
            <a:r>
              <a:rPr lang="en-US" altLang="ko-KR" sz="1600" b="1">
                <a:solidFill>
                  <a:srgbClr val="FFFFFF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 b="1">
                <a:solidFill>
                  <a:srgbClr val="FFFFFF"/>
                </a:solidFill>
                <a:latin typeface="Noto Sans KR"/>
                <a:ea typeface="Noto Sans KR"/>
              </a:rPr>
              <a:t>장치 안에 측정 목록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6330624F-837D-4023-B5A4-BF2074A3DB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683254"/>
              </p:ext>
            </p:extLst>
          </p:nvPr>
        </p:nvGraphicFramePr>
        <p:xfrm>
          <a:off x="685800" y="2463800"/>
          <a:ext cx="50673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9100">
                  <a:extLst>
                    <a:ext uri="{9D8B030D-6E8A-4147-A177-3AD203B41FA5}">
                      <a16:colId xmlns:a16="http://schemas.microsoft.com/office/drawing/2014/main" val="3179199472"/>
                    </a:ext>
                  </a:extLst>
                </a:gridCol>
                <a:gridCol w="1689100">
                  <a:extLst>
                    <a:ext uri="{9D8B030D-6E8A-4147-A177-3AD203B41FA5}">
                      <a16:colId xmlns:a16="http://schemas.microsoft.com/office/drawing/2014/main" val="884159602"/>
                    </a:ext>
                  </a:extLst>
                </a:gridCol>
                <a:gridCol w="1689100">
                  <a:extLst>
                    <a:ext uri="{9D8B030D-6E8A-4147-A177-3AD203B41FA5}">
                      <a16:colId xmlns:a16="http://schemas.microsoft.com/office/drawing/2014/main" val="2101528071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Consolas"/>
                        </a:rPr>
                        <a:t>device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Consolas"/>
                        </a:rPr>
                        <a:t>time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Consolas"/>
                        </a:rPr>
                        <a:t>temp_c</a:t>
                      </a:r>
                    </a:p>
                  </a:txBody>
                  <a:tcPr anchor="ctr">
                    <a:solidFill>
                      <a:srgbClr val="0F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222092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Consolas"/>
                        </a:rPr>
                        <a:t>D01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Consolas"/>
                        </a:rPr>
                        <a:t>10:00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Consolas"/>
                        </a:rPr>
                        <a:t>22.5</a:t>
                      </a:r>
                    </a:p>
                  </a:txBody>
                  <a:tcPr anchor="ctr">
                    <a:solidFill>
                      <a:srgbClr val="A645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6414836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Consolas"/>
                        </a:rPr>
                        <a:t>D01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Consolas"/>
                        </a:rPr>
                        <a:t>10:05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172E3A"/>
                          </a:solidFill>
                          <a:latin typeface="Consolas"/>
                        </a:rPr>
                        <a:t>23.0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0932654"/>
                  </a:ext>
                </a:extLst>
              </a:tr>
            </a:tbl>
          </a:graphicData>
        </a:graphic>
      </p:graphicFrame>
      <p:sp>
        <p:nvSpPr>
          <p:cNvPr id="18" name="Viz">
            <a:extLst>
              <a:ext uri="{FF2B5EF4-FFF2-40B4-BE49-F238E27FC236}">
                <a16:creationId xmlns:a16="http://schemas.microsoft.com/office/drawing/2014/main" id="{327E1429-BF5D-4162-8707-F148F942C358}"/>
              </a:ext>
            </a:extLst>
          </p:cNvPr>
          <p:cNvSpPr/>
          <p:nvPr/>
        </p:nvSpPr>
        <p:spPr>
          <a:xfrm>
            <a:off x="6172200" y="2463800"/>
            <a:ext cx="5334000" cy="25908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03200" tIns="25400" rIns="101600" bIns="25400" rtlCol="0" anchor="ctr" anchorCtr="0">
            <a:noAutofit/>
          </a:bodyPr>
          <a:lstStyle/>
          <a:p>
            <a:r>
              <a:rPr lang="en-US" altLang="ko-KR" sz="1500">
                <a:solidFill>
                  <a:srgbClr val="E6EEF1"/>
                </a:solidFill>
                <a:latin typeface="Consolas"/>
              </a:rPr>
              <a:t>{
  "device": "D01",
  "readings": [
    {"time": "10:00", "temp_c": 22.5},
    {"time": "10:05", "temp_c": 23.0}
  ]
}</a:t>
            </a:r>
            <a:endParaRPr lang="ko-KR" altLang="en-US" sz="1500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1B5FCACC-88DA-4EA9-A181-5930C42D5CFB}"/>
              </a:ext>
            </a:extLst>
          </p:cNvPr>
          <p:cNvSpPr/>
          <p:nvPr/>
        </p:nvSpPr>
        <p:spPr>
          <a:xfrm>
            <a:off x="9639300" y="3619500"/>
            <a:ext cx="558800" cy="254000"/>
          </a:xfrm>
          <a:prstGeom prst="rect">
            <a:avLst/>
          </a:prstGeom>
          <a:noFill/>
          <a:ln w="31750">
            <a:solidFill>
              <a:srgbClr val="C2571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91CDAF79-1743-45A7-9FC6-50038F624CFE}"/>
              </a:ext>
            </a:extLst>
          </p:cNvPr>
          <p:cNvSpPr/>
          <p:nvPr/>
        </p:nvSpPr>
        <p:spPr>
          <a:xfrm>
            <a:off x="685800" y="4521200"/>
            <a:ext cx="5080000" cy="533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장치 이름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D01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이 행마다 반복됩니다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554B3848-EC5C-4ADE-84A7-A06AA17AEF32}"/>
              </a:ext>
            </a:extLst>
          </p:cNvPr>
          <p:cNvSpPr/>
          <p:nvPr/>
        </p:nvSpPr>
        <p:spPr>
          <a:xfrm>
            <a:off x="685800" y="5232400"/>
            <a:ext cx="10820400" cy="9652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AccentBar">
            <a:extLst>
              <a:ext uri="{FF2B5EF4-FFF2-40B4-BE49-F238E27FC236}">
                <a16:creationId xmlns:a16="http://schemas.microsoft.com/office/drawing/2014/main" id="{CA17331D-EF96-4F9E-ABC8-25DF8AF88D13}"/>
              </a:ext>
            </a:extLst>
          </p:cNvPr>
          <p:cNvSpPr/>
          <p:nvPr/>
        </p:nvSpPr>
        <p:spPr>
          <a:xfrm>
            <a:off x="685800" y="5232400"/>
            <a:ext cx="76200" cy="9652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F1857C23-1E3C-4903-957B-E090526B103C}"/>
              </a:ext>
            </a:extLst>
          </p:cNvPr>
          <p:cNvSpPr/>
          <p:nvPr/>
        </p:nvSpPr>
        <p:spPr>
          <a:xfrm>
            <a:off x="914400" y="5257800"/>
            <a:ext cx="10541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찾아보기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 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주황색 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22.5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를 양쪽에서 찾아보세요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17386635-8A4E-48EB-8402-B6C951852339}"/>
              </a:ext>
            </a:extLst>
          </p:cNvPr>
          <p:cNvSpPr/>
          <p:nvPr/>
        </p:nvSpPr>
        <p:spPr>
          <a:xfrm>
            <a:off x="914400" y="5613400"/>
            <a:ext cx="10541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표에서는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1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행의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temp_c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칸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계층에서는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readings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목록의 첫 번째 묶음 안에 있습니다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71182020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0307E05-6522-4729-9F0D-84B5D8D014A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02866BF-7318-40F2-8354-FFF3377B3AA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주문에 두 품목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78FE14F-E204-4B34-865A-0B2EA4D1D84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EBBC7C1-6F3C-4CAB-A50B-0ADB3B0F0E70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O10 주문에 장갑 2개와 마스크 5개, O11에 장갑 1개가 있습니다.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0FF799-68A2-4A46-87EA-39F55D9D41E6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한 행을 주문 품목 한 종류로 정하면 세 행이 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DA0A1A4-9AAE-4322-9EE2-2836715BB8DF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서로 다른 주문번호는 두 개이므로 주문은 2건입니다.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28416F1-4748-4E9C-AB36-AB21CEA8D3D5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총수량은 2+5+1=8개입니다. 세 단위를 따로 보고합니다.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72CE443-67EB-4A2D-989D-4EE2774ECDF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CF377B8-DF80-43A2-8A06-E784F5A241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056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E641007B-198B-4E75-8239-AB94C6B81B4D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4E1FCCF1-6625-4222-AB12-BB79A57236E6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B8E9706A-CB3E-4A58-B7D5-E9FC30564E45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56900B61-9F22-4A32-9FA7-B50972F4DD4F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301475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1A5611F-0A01-47C5-93D6-0BAF956A9BA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1681830-8A73-4B79-BB00-BF36833A52F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품목 행·주문 건수·수량 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B7E8356-C6ED-4272-A1CA-F30D1BB4BD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19BF156-A98B-4CD5-B158-5C4D51D3F84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FB7CEF-23BB-456B-98DA-0E575A5A9C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057</a:t>
            </a:r>
            <a:endParaRPr/>
          </a:p>
        </p:txBody>
      </p:sp>
      <p:sp>
        <p:nvSpPr>
          <p:cNvPr id="5" name="Viz">
            <a:extLst>
              <a:ext uri="{FF2B5EF4-FFF2-40B4-BE49-F238E27FC236}">
                <a16:creationId xmlns:a16="http://schemas.microsoft.com/office/drawing/2014/main" id="{89D7FFD6-7ED4-420F-86AC-80492C47CC0D}"/>
              </a:ext>
            </a:extLst>
          </p:cNvPr>
          <p:cNvSpPr/>
          <p:nvPr/>
        </p:nvSpPr>
        <p:spPr>
          <a:xfrm>
            <a:off x="685800" y="2032000"/>
            <a:ext cx="3454400" cy="3048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Viz">
            <a:extLst>
              <a:ext uri="{FF2B5EF4-FFF2-40B4-BE49-F238E27FC236}">
                <a16:creationId xmlns:a16="http://schemas.microsoft.com/office/drawing/2014/main" id="{AC39B1C1-5E5C-4D3F-8240-6116EAE52769}"/>
              </a:ext>
            </a:extLst>
          </p:cNvPr>
          <p:cNvSpPr/>
          <p:nvPr/>
        </p:nvSpPr>
        <p:spPr>
          <a:xfrm>
            <a:off x="685800" y="2032000"/>
            <a:ext cx="3454400" cy="76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Viz">
            <a:extLst>
              <a:ext uri="{FF2B5EF4-FFF2-40B4-BE49-F238E27FC236}">
                <a16:creationId xmlns:a16="http://schemas.microsoft.com/office/drawing/2014/main" id="{8CC09465-14AA-4FD4-B5FE-6BC476F3C75C}"/>
              </a:ext>
            </a:extLst>
          </p:cNvPr>
          <p:cNvSpPr/>
          <p:nvPr/>
        </p:nvSpPr>
        <p:spPr>
          <a:xfrm>
            <a:off x="685800" y="2286000"/>
            <a:ext cx="3454400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ctr" anchorCtr="0">
            <a:noAutofit/>
          </a:bodyPr>
          <a:lstStyle/>
          <a:p>
            <a:pPr algn="ctr"/>
            <a:r>
              <a:rPr lang="en-US" altLang="ko-KR" sz="6000" b="1">
                <a:solidFill>
                  <a:srgbClr val="172E3A"/>
                </a:solidFill>
                <a:latin typeface="Noto Sans KR"/>
                <a:ea typeface="Noto Sans KR"/>
              </a:rPr>
              <a:t>3</a:t>
            </a:r>
            <a:r>
              <a:rPr lang="ko-KR" altLang="en-US" sz="6000" b="1">
                <a:solidFill>
                  <a:srgbClr val="172E3A"/>
                </a:solidFill>
                <a:latin typeface="Noto Sans KR"/>
                <a:ea typeface="Noto Sans KR"/>
              </a:rPr>
              <a:t>행</a:t>
            </a:r>
          </a:p>
        </p:txBody>
      </p:sp>
      <p:sp>
        <p:nvSpPr>
          <p:cNvPr id="11" name="Viz">
            <a:extLst>
              <a:ext uri="{FF2B5EF4-FFF2-40B4-BE49-F238E27FC236}">
                <a16:creationId xmlns:a16="http://schemas.microsoft.com/office/drawing/2014/main" id="{B6E3186E-8278-434A-86AC-984BC31599FE}"/>
              </a:ext>
            </a:extLst>
          </p:cNvPr>
          <p:cNvSpPr/>
          <p:nvPr/>
        </p:nvSpPr>
        <p:spPr>
          <a:xfrm>
            <a:off x="685800" y="3556000"/>
            <a:ext cx="34544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5B6B74"/>
                </a:solidFill>
                <a:latin typeface="Noto Sans KR"/>
                <a:ea typeface="Noto Sans KR"/>
              </a:rPr>
              <a:t>품목 행</a:t>
            </a:r>
          </a:p>
        </p:txBody>
      </p:sp>
      <p:sp>
        <p:nvSpPr>
          <p:cNvPr id="13" name="Viz">
            <a:extLst>
              <a:ext uri="{FF2B5EF4-FFF2-40B4-BE49-F238E27FC236}">
                <a16:creationId xmlns:a16="http://schemas.microsoft.com/office/drawing/2014/main" id="{E57EFB49-58FD-4963-8D99-252B2EF43635}"/>
              </a:ext>
            </a:extLst>
          </p:cNvPr>
          <p:cNvSpPr/>
          <p:nvPr/>
        </p:nvSpPr>
        <p:spPr>
          <a:xfrm>
            <a:off x="889000" y="4114800"/>
            <a:ext cx="3048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t" anchorCtr="0">
            <a:noAutofit/>
          </a:bodyPr>
          <a:lstStyle/>
          <a:p>
            <a:pPr algn="ctr"/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O10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두 줄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+ O11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한 줄</a:t>
            </a:r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983CAA85-BFE8-4016-975A-8B68151D7C7B}"/>
              </a:ext>
            </a:extLst>
          </p:cNvPr>
          <p:cNvSpPr/>
          <p:nvPr/>
        </p:nvSpPr>
        <p:spPr>
          <a:xfrm>
            <a:off x="4368800" y="2032000"/>
            <a:ext cx="3454400" cy="3048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7AC02C7F-E20E-4B61-A7CA-6932F917B52E}"/>
              </a:ext>
            </a:extLst>
          </p:cNvPr>
          <p:cNvSpPr/>
          <p:nvPr/>
        </p:nvSpPr>
        <p:spPr>
          <a:xfrm>
            <a:off x="4368800" y="2032000"/>
            <a:ext cx="3454400" cy="76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185ECE0B-C456-4675-B0FB-9782C8AF2A99}"/>
              </a:ext>
            </a:extLst>
          </p:cNvPr>
          <p:cNvSpPr/>
          <p:nvPr/>
        </p:nvSpPr>
        <p:spPr>
          <a:xfrm>
            <a:off x="4368800" y="2286000"/>
            <a:ext cx="3454400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ctr" anchorCtr="0">
            <a:noAutofit/>
          </a:bodyPr>
          <a:lstStyle/>
          <a:p>
            <a:pPr algn="ctr"/>
            <a:r>
              <a:rPr lang="en-US" altLang="ko-KR" sz="6000" b="1">
                <a:solidFill>
                  <a:srgbClr val="172E3A"/>
                </a:solidFill>
                <a:latin typeface="Noto Sans KR"/>
                <a:ea typeface="Noto Sans KR"/>
              </a:rPr>
              <a:t>2</a:t>
            </a:r>
            <a:r>
              <a:rPr lang="ko-KR" altLang="en-US" sz="6000" b="1">
                <a:solidFill>
                  <a:srgbClr val="172E3A"/>
                </a:solidFill>
                <a:latin typeface="Noto Sans KR"/>
                <a:ea typeface="Noto Sans KR"/>
              </a:rPr>
              <a:t>건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2B1A40C6-9620-4A54-93BD-690FD1881B24}"/>
              </a:ext>
            </a:extLst>
          </p:cNvPr>
          <p:cNvSpPr/>
          <p:nvPr/>
        </p:nvSpPr>
        <p:spPr>
          <a:xfrm>
            <a:off x="4368800" y="3556000"/>
            <a:ext cx="34544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5B6B74"/>
                </a:solidFill>
                <a:latin typeface="Noto Sans KR"/>
                <a:ea typeface="Noto Sans KR"/>
              </a:rPr>
              <a:t>주문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279B2F29-7DDC-489A-B26C-AD7A37910735}"/>
              </a:ext>
            </a:extLst>
          </p:cNvPr>
          <p:cNvSpPr/>
          <p:nvPr/>
        </p:nvSpPr>
        <p:spPr>
          <a:xfrm>
            <a:off x="4572000" y="4114800"/>
            <a:ext cx="3048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t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서로 다른 주문번호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O10, O11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11B688DD-A956-4048-814B-656AAAA7FEA8}"/>
              </a:ext>
            </a:extLst>
          </p:cNvPr>
          <p:cNvSpPr/>
          <p:nvPr/>
        </p:nvSpPr>
        <p:spPr>
          <a:xfrm>
            <a:off x="8051800" y="2032000"/>
            <a:ext cx="3454400" cy="3048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A6049174-9F8B-4227-9CD3-A8722222A71B}"/>
              </a:ext>
            </a:extLst>
          </p:cNvPr>
          <p:cNvSpPr/>
          <p:nvPr/>
        </p:nvSpPr>
        <p:spPr>
          <a:xfrm>
            <a:off x="8051800" y="2032000"/>
            <a:ext cx="3454400" cy="76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D4A2D903-C976-46B9-BF34-F0D707D38985}"/>
              </a:ext>
            </a:extLst>
          </p:cNvPr>
          <p:cNvSpPr/>
          <p:nvPr/>
        </p:nvSpPr>
        <p:spPr>
          <a:xfrm>
            <a:off x="8051800" y="2286000"/>
            <a:ext cx="3454400" cy="1219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ctr" anchorCtr="0">
            <a:noAutofit/>
          </a:bodyPr>
          <a:lstStyle/>
          <a:p>
            <a:pPr algn="ctr"/>
            <a:r>
              <a:rPr lang="en-US" altLang="ko-KR" sz="6000" b="1">
                <a:solidFill>
                  <a:srgbClr val="172E3A"/>
                </a:solidFill>
                <a:latin typeface="Noto Sans KR"/>
                <a:ea typeface="Noto Sans KR"/>
              </a:rPr>
              <a:t>8</a:t>
            </a:r>
            <a:r>
              <a:rPr lang="ko-KR" altLang="en-US" sz="6000" b="1">
                <a:solidFill>
                  <a:srgbClr val="172E3A"/>
                </a:solidFill>
                <a:latin typeface="Noto Sans KR"/>
                <a:ea typeface="Noto Sans KR"/>
              </a:rPr>
              <a:t>개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7A474DDC-74CD-4728-8696-D9C3142C22B1}"/>
              </a:ext>
            </a:extLst>
          </p:cNvPr>
          <p:cNvSpPr/>
          <p:nvPr/>
        </p:nvSpPr>
        <p:spPr>
          <a:xfrm>
            <a:off x="8051800" y="3556000"/>
            <a:ext cx="34544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ctr" anchorCtr="0">
            <a:noAutofit/>
          </a:bodyPr>
          <a:lstStyle/>
          <a:p>
            <a:pPr algn="ctr"/>
            <a:r>
              <a:rPr lang="ko-KR" altLang="en-US" sz="2000" b="1">
                <a:solidFill>
                  <a:srgbClr val="5B6B74"/>
                </a:solidFill>
                <a:latin typeface="Noto Sans KR"/>
                <a:ea typeface="Noto Sans KR"/>
              </a:rPr>
              <a:t>총수량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39E6319F-34D6-410C-A3B2-24CF087AB8AD}"/>
              </a:ext>
            </a:extLst>
          </p:cNvPr>
          <p:cNvSpPr/>
          <p:nvPr/>
        </p:nvSpPr>
        <p:spPr>
          <a:xfrm>
            <a:off x="8255000" y="4114800"/>
            <a:ext cx="3048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t" anchorCtr="0">
            <a:noAutofit/>
          </a:bodyPr>
          <a:lstStyle/>
          <a:p>
            <a:pPr algn="ctr"/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2 + 5 + 1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E9DC15BB-17C3-41A2-973A-072347A7FD79}"/>
              </a:ext>
            </a:extLst>
          </p:cNvPr>
          <p:cNvSpPr/>
          <p:nvPr/>
        </p:nvSpPr>
        <p:spPr>
          <a:xfrm>
            <a:off x="685800" y="5283200"/>
            <a:ext cx="10820400" cy="8890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AccentBar">
            <a:extLst>
              <a:ext uri="{FF2B5EF4-FFF2-40B4-BE49-F238E27FC236}">
                <a16:creationId xmlns:a16="http://schemas.microsoft.com/office/drawing/2014/main" id="{6C043270-E3D8-4F0C-BBEB-E4DE25BA33C5}"/>
              </a:ext>
            </a:extLst>
          </p:cNvPr>
          <p:cNvSpPr/>
          <p:nvPr/>
        </p:nvSpPr>
        <p:spPr>
          <a:xfrm>
            <a:off x="685800" y="5283200"/>
            <a:ext cx="76200" cy="889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65B3E4F2-6980-4C87-A6E0-A70D14CE784D}"/>
              </a:ext>
            </a:extLst>
          </p:cNvPr>
          <p:cNvSpPr/>
          <p:nvPr/>
        </p:nvSpPr>
        <p:spPr>
          <a:xfrm>
            <a:off x="914400" y="5283200"/>
            <a:ext cx="10541000" cy="889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0" rIns="101600" bIns="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한 줄 정리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같은 자료도 무엇을 세느냐에 따라 숫자가 다릅니다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보고할 때는 단위를 함께 적습니다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9216247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8EEE9B3-8FB4-40E1-B858-FFA4777427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E18F0D-9103-49C2-A75A-6B44CC63EF4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3</a:t>
            </a:r>
            <a:r>
              <a:rPr lang="ko-KR" altLang="en-US"/>
              <a:t>교시   직접 해 보기 </a:t>
            </a:r>
            <a:r>
              <a:rPr lang="en-US" altLang="ko-KR"/>
              <a:t>· </a:t>
            </a:r>
            <a:r>
              <a:rPr lang="ko-KR" altLang="en-US"/>
              <a:t>짝 활동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43BDF77-31B2-4CBF-AE3F-2753F7262C7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신청 과목의 행과 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A9308FD-02B3-453E-B3E0-30502795CC5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3FB6CEB-E8D1-4545-AC6D-10323C153778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C9CF2DD-BDAC-4288-A9F0-5D1E69649F3B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R01은 Python·Git, R02는 Python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646B355-649B-4BF0-B19A-FCA5D2091305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6AC5DE3-FC08-4157-B773-3A0A5D0AC350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한 행을 신청 과목으로 정하세요.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1C4F6FC-8672-4EF6-B3DD-D50131693773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AC43246-7C42-4C77-ACEB-9620C5403557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키·행 수·신청 건수를 적으세요.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A4D6FDD-3984-42CD-8E4C-C8324D46457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62479D1B-D0BD-40D0-84AE-8F1F9F10995C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9FD98AB0-CD81-4CF0-83F7-5E74D154D4B8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43819227-82D4-4784-91BB-DFD652C0F8ED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539449C-19E6-4740-89BB-C3A6B4BA9BC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058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7471101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8DAE20F-AFD5-41D1-93DA-ACE8A3C2BBD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9F486E9-AB65-4B99-9968-3786E0D2A54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과목 신청표의 행과 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6C77A1E-F878-40AE-A002-5BAB6FF3B35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F077777-D2B5-4936-963E-5C9F0928A0A1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완성 행은 R01/PY, R01/GIT, R02/PY입니다.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7821182-9FFF-484B-A5CE-61F484E89EF1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신청번호와 과목코드 조합으로 각 신청 과목을 구별합니다.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A18FA9C-7699-49AA-95A3-6AD6BFFE50AD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전체 행 3개, 신청 2건, Python 신청 과목 2개입니다.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628342F-5408-4ADA-8570-ECA941423AE5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신청번호만 키로 쓰면 R01의 두 과목을 구별할 수 없습니다.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B451729-C2F3-49AC-8306-81B464C3470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CE1ED49-D5A6-4526-830E-8B9F9DEDB9F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059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03D20D50-4723-4CB5-B54E-DA1E369BC3F4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ACFA0A44-9110-47C4-AC55-E37FC4B1E3D5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05EE5690-FF4F-4454-80D1-4E4FCCD82D7A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4B89A5FB-6C5A-4D6B-837E-09ECC10BA1EF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507815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3</a:t>
            </a:r>
            <a:r>
              <a:rPr lang="ko-KR" altLang="en-US"/>
              <a:t>교시   도전 과제 </a:t>
            </a:r>
            <a:r>
              <a:rPr lang="en-US" altLang="ko-KR"/>
              <a:t>· </a:t>
            </a:r>
            <a:r>
              <a:rPr lang="ko-KR" altLang="en-US"/>
              <a:t>빨리 끝낸 분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도전 </a:t>
            </a:r>
            <a:r>
              <a:rPr lang="en-US" altLang="ko-KR"/>
              <a:t>· </a:t>
            </a:r>
            <a:r>
              <a:rPr lang="ko-KR" altLang="en-US"/>
              <a:t>출석표의 키 정하기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문제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한 행을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학생 한 명의 한 교시 출석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으로 정합니다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학생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S1·S2,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하루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6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교시입니다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조건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키와 하루 행 수를 적으세요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힌트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학생번호만으로 같은 날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1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교시와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2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교시를 구별할 수 있나요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00" b="1">
                <a:solidFill>
                  <a:srgbClr val="C2571A"/>
                </a:solidFill>
                <a:latin typeface="Noto Sans KR"/>
                <a:ea typeface="Noto Sans KR"/>
              </a:rPr>
              <a:t>풀이 예</a:t>
            </a:r>
            <a:r>
              <a:rPr lang="en-US" altLang="ko-KR" sz="1700" b="1">
                <a:solidFill>
                  <a:srgbClr val="C2571A"/>
                </a:solidFill>
                <a:latin typeface="Noto Sans KR"/>
                <a:ea typeface="Noto Sans KR"/>
              </a:rPr>
              <a:t>: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키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=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학생번호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+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날짜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+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교시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.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하루 행 수는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2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명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× 6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교시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= 12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행입니다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.</a:t>
            </a:r>
            <a:endParaRPr sz="17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060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560492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2AB305-8F64-4980-9FAF-BC360362A9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E29FF8E-C351-466B-B640-7D9B6A5358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3</a:t>
            </a:r>
            <a:r>
              <a:rPr lang="ko-KR" altLang="en-US"/>
              <a:t>교시 확인 퀴즈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D4A9C6E-2943-44BA-A6DB-DCABE3BB6D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확인 퀴즈 </a:t>
            </a:r>
            <a:r>
              <a:rPr lang="en-US" altLang="ko-KR"/>
              <a:t>· </a:t>
            </a:r>
            <a:r>
              <a:rPr lang="ko-KR" altLang="en-US"/>
              <a:t>행의 단위와 키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5FAA46-92DA-40F2-8034-3F9D15FA5C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34B94-05FB-4723-BDE2-842C7DC44B91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756AF40-FA5B-4514-980E-36A250D2D30F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주문 </a:t>
            </a:r>
            <a:r>
              <a:rPr lang="en-US" altLang="ko-KR" sz="2100">
                <a:solidFill>
                  <a:srgbClr val="FFFFFF"/>
                </a:solidFill>
              </a:rPr>
              <a:t>O21</a:t>
            </a:r>
            <a:r>
              <a:rPr lang="ko-KR" altLang="en-US" sz="2100">
                <a:solidFill>
                  <a:srgbClr val="FFFFFF"/>
                </a:solidFill>
              </a:rPr>
              <a:t>에 볼펜 </a:t>
            </a:r>
            <a:r>
              <a:rPr lang="en-US" altLang="ko-KR" sz="2100">
                <a:solidFill>
                  <a:srgbClr val="FFFFFF"/>
                </a:solidFill>
              </a:rPr>
              <a:t>3</a:t>
            </a:r>
            <a:r>
              <a:rPr lang="ko-KR" altLang="en-US" sz="2100">
                <a:solidFill>
                  <a:srgbClr val="FFFFFF"/>
                </a:solidFill>
              </a:rPr>
              <a:t>개와 노트 </a:t>
            </a:r>
            <a:r>
              <a:rPr lang="en-US" altLang="ko-KR" sz="2100">
                <a:solidFill>
                  <a:srgbClr val="FFFFFF"/>
                </a:solidFill>
              </a:rPr>
              <a:t>2</a:t>
            </a:r>
            <a:r>
              <a:rPr lang="ko-KR" altLang="en-US" sz="2100">
                <a:solidFill>
                  <a:srgbClr val="FFFFFF"/>
                </a:solidFill>
              </a:rPr>
              <a:t>개가 있습니다</a:t>
            </a:r>
            <a:r>
              <a:rPr lang="en-US" altLang="ko-KR" sz="2100">
                <a:solidFill>
                  <a:srgbClr val="FFFFFF"/>
                </a:solidFill>
              </a:rPr>
              <a:t>. </a:t>
            </a:r>
            <a:r>
              <a:rPr lang="ko-KR" altLang="en-US" sz="2100">
                <a:solidFill>
                  <a:srgbClr val="FFFFFF"/>
                </a:solidFill>
              </a:rPr>
              <a:t>품목 행은 몇 개인가요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391FAB-8484-458B-85DF-30B3C473A0FE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DB4828-8F96-4CFE-8217-3A32A78B4FFC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센서 </a:t>
            </a:r>
            <a:r>
              <a:rPr lang="en-US" altLang="ko-KR" sz="2100">
                <a:solidFill>
                  <a:srgbClr val="FFFFFF"/>
                </a:solidFill>
              </a:rPr>
              <a:t>S01</a:t>
            </a:r>
            <a:r>
              <a:rPr lang="ko-KR" altLang="en-US" sz="2100">
                <a:solidFill>
                  <a:srgbClr val="FFFFFF"/>
                </a:solidFill>
              </a:rPr>
              <a:t>이 </a:t>
            </a:r>
            <a:r>
              <a:rPr lang="en-US" altLang="ko-KR" sz="2100">
                <a:solidFill>
                  <a:srgbClr val="FFFFFF"/>
                </a:solidFill>
              </a:rPr>
              <a:t>10:00</a:t>
            </a:r>
            <a:r>
              <a:rPr lang="ko-KR" altLang="en-US" sz="2100">
                <a:solidFill>
                  <a:srgbClr val="FFFFFF"/>
                </a:solidFill>
              </a:rPr>
              <a:t>과 </a:t>
            </a:r>
            <a:r>
              <a:rPr lang="en-US" altLang="ko-KR" sz="2100">
                <a:solidFill>
                  <a:srgbClr val="FFFFFF"/>
                </a:solidFill>
              </a:rPr>
              <a:t>10:05</a:t>
            </a:r>
            <a:r>
              <a:rPr lang="ko-KR" altLang="en-US" sz="2100">
                <a:solidFill>
                  <a:srgbClr val="FFFFFF"/>
                </a:solidFill>
              </a:rPr>
              <a:t>에 기록했습니다</a:t>
            </a:r>
            <a:r>
              <a:rPr lang="en-US" altLang="ko-KR" sz="2100">
                <a:solidFill>
                  <a:srgbClr val="FFFFFF"/>
                </a:solidFill>
              </a:rPr>
              <a:t>. </a:t>
            </a:r>
            <a:r>
              <a:rPr lang="ko-KR" altLang="en-US" sz="2100">
                <a:solidFill>
                  <a:srgbClr val="FFFFFF"/>
                </a:solidFill>
              </a:rPr>
              <a:t>키는 무엇으로 정할까요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E468B9-6F76-4360-BCC9-6482DD5FEEFC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C3E46D0-B50C-4D1E-A688-081FCB367D94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데이터 사전에 </a:t>
            </a:r>
            <a:r>
              <a:rPr lang="en-US" altLang="ko-KR" sz="2100">
                <a:solidFill>
                  <a:srgbClr val="FFFFFF"/>
                </a:solidFill>
              </a:rPr>
              <a:t>'</a:t>
            </a:r>
            <a:r>
              <a:rPr lang="ko-KR" altLang="en-US" sz="2100">
                <a:solidFill>
                  <a:srgbClr val="FFFFFF"/>
                </a:solidFill>
              </a:rPr>
              <a:t>온도</a:t>
            </a:r>
            <a:r>
              <a:rPr lang="en-US" altLang="ko-KR" sz="2100">
                <a:solidFill>
                  <a:srgbClr val="FFFFFF"/>
                </a:solidFill>
              </a:rPr>
              <a:t>' </a:t>
            </a:r>
            <a:r>
              <a:rPr lang="ko-KR" altLang="en-US" sz="2100">
                <a:solidFill>
                  <a:srgbClr val="FFFFFF"/>
                </a:solidFill>
              </a:rPr>
              <a:t>항목을 적을 때 꼭 넣을 것 두 가지는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6645A2-DAD4-4958-BA5C-867295967A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C4FCE9C4-2373-4846-80E5-CF1BCE20CF5E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01537A45-E21E-448F-A944-92119A7EFB55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A8BA8D4B-D18E-47CE-9D5E-2F9C6B1FB823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B6BF4B3-6AB7-4574-9866-EC5F209644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061</a:t>
            </a:r>
            <a:endParaRPr/>
          </a:p>
        </p:txBody>
      </p:sp>
      <p:sp>
        <p:nvSpPr>
          <p:cNvPr id="18" name="QuizHow">
            <a:extLst>
              <a:ext uri="{FF2B5EF4-FFF2-40B4-BE49-F238E27FC236}">
                <a16:creationId xmlns:a16="http://schemas.microsoft.com/office/drawing/2014/main" id="{C7FCD220-1E65-4803-B979-31CFBCAA3788}"/>
              </a:ext>
            </a:extLst>
          </p:cNvPr>
          <p:cNvSpPr txBox="1"/>
          <p:nvPr/>
        </p:nvSpPr>
        <p:spPr>
          <a:xfrm>
            <a:off x="685800" y="5435600"/>
            <a:ext cx="8534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답하는 방법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문제마다 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1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분 생각한 뒤 손을 들어 답합니다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정답은 다음 장에 있습니다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9FD9CF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77682452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3</a:t>
            </a:r>
            <a:r>
              <a:rPr lang="ko-KR" altLang="en-US"/>
              <a:t>교시 퀴즈 정답과 정리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정답 </a:t>
            </a:r>
            <a:r>
              <a:rPr lang="en-US" altLang="ko-KR"/>
              <a:t>· </a:t>
            </a:r>
            <a:r>
              <a:rPr lang="ko-KR" altLang="en-US"/>
              <a:t>행의 단위와 키가 개수를 정합니다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1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2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행입니다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주문은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1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건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총수량은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5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개입니다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주문 건수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1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건과 헷갈리기 쉽습니다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2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센서번호와 시각을 함께 씁니다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센서번호만으로는 구별하지 못합니다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센서번호만 쓰면 두 기록의 키가 같아집니다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3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단위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(℃)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와 빈값 규칙입니다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형식과 허용 범위도 적습니다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단위가 없으면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22.5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가 어떤 온도인지 모릅니다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정리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행 수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건수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수량 합계를 서로 다른 값으로 보고합니다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062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56217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6890604-7C86-49DA-9A79-8B58D5DA954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8C5A53-8F6D-40BE-9C15-2E6A5EA5588F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CSV로 표 표현하기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ED6B5FD-8049-4C01-A47D-25182B830CB0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14:00~14:50 · 50분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B26AC23-022B-4EA2-A9FC-156762B1AA60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E029CEF-6D2B-4536-8CC7-8A193C4D935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742DA61-40D4-4E3C-A2EC-A7D8CEF9BA8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063</a:t>
            </a:r>
            <a:endParaRPr/>
          </a:p>
        </p:txBody>
      </p:sp>
      <p:sp>
        <p:nvSpPr>
          <p:cNvPr id="9" name="MiniMap">
            <a:extLst>
              <a:ext uri="{FF2B5EF4-FFF2-40B4-BE49-F238E27FC236}">
                <a16:creationId xmlns:a16="http://schemas.microsoft.com/office/drawing/2014/main" id="{AA7CF541-5287-4ED0-B710-35545D293CFC}"/>
              </a:ext>
            </a:extLst>
          </p:cNvPr>
          <p:cNvSpPr/>
          <p:nvPr/>
        </p:nvSpPr>
        <p:spPr>
          <a:xfrm>
            <a:off x="685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1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데이터의 뜻</a:t>
            </a:r>
          </a:p>
        </p:txBody>
      </p:sp>
      <p:sp>
        <p:nvSpPr>
          <p:cNvPr id="10" name="MiniMap">
            <a:extLst>
              <a:ext uri="{FF2B5EF4-FFF2-40B4-BE49-F238E27FC236}">
                <a16:creationId xmlns:a16="http://schemas.microsoft.com/office/drawing/2014/main" id="{AF25F240-6841-44DB-A468-5193D3B09DBE}"/>
              </a:ext>
            </a:extLst>
          </p:cNvPr>
          <p:cNvSpPr/>
          <p:nvPr/>
        </p:nvSpPr>
        <p:spPr>
          <a:xfrm>
            <a:off x="20066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2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값의 의미</a:t>
            </a:r>
          </a:p>
        </p:txBody>
      </p:sp>
      <p:sp>
        <p:nvSpPr>
          <p:cNvPr id="11" name="MiniMap">
            <a:extLst>
              <a:ext uri="{FF2B5EF4-FFF2-40B4-BE49-F238E27FC236}">
                <a16:creationId xmlns:a16="http://schemas.microsoft.com/office/drawing/2014/main" id="{EDC66016-8AB4-4859-8E35-217A38FF338C}"/>
              </a:ext>
            </a:extLst>
          </p:cNvPr>
          <p:cNvSpPr/>
          <p:nvPr/>
        </p:nvSpPr>
        <p:spPr>
          <a:xfrm>
            <a:off x="33274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3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행과 키</a:t>
            </a:r>
          </a:p>
        </p:txBody>
      </p:sp>
      <p:sp>
        <p:nvSpPr>
          <p:cNvPr id="12" name="MiniMap">
            <a:extLst>
              <a:ext uri="{FF2B5EF4-FFF2-40B4-BE49-F238E27FC236}">
                <a16:creationId xmlns:a16="http://schemas.microsoft.com/office/drawing/2014/main" id="{0323E0FA-C401-4011-A081-46A1F64FEAE4}"/>
              </a:ext>
            </a:extLst>
          </p:cNvPr>
          <p:cNvSpPr/>
          <p:nvPr/>
        </p:nvSpPr>
        <p:spPr>
          <a:xfrm>
            <a:off x="4648200" y="5334000"/>
            <a:ext cx="1219200" cy="660400"/>
          </a:xfrm>
          <a:prstGeom prst="roundRect">
            <a:avLst/>
          </a:prstGeom>
          <a:solidFill>
            <a:srgbClr val="4FD1B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4</a:t>
            </a:r>
            <a:r>
              <a:rPr lang="ko-KR" altLang="en-US" sz="1300" b="1">
                <a:solidFill>
                  <a:srgbClr val="0F2A3A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CSV</a:t>
            </a:r>
            <a:endParaRPr lang="ko-KR" altLang="en-US" sz="1300" b="1">
              <a:solidFill>
                <a:srgbClr val="0F2A3A"/>
              </a:solidFill>
              <a:latin typeface="Noto Sans KR"/>
              <a:ea typeface="Noto Sans KR"/>
            </a:endParaRPr>
          </a:p>
        </p:txBody>
      </p:sp>
      <p:sp>
        <p:nvSpPr>
          <p:cNvPr id="13" name="MiniMap">
            <a:extLst>
              <a:ext uri="{FF2B5EF4-FFF2-40B4-BE49-F238E27FC236}">
                <a16:creationId xmlns:a16="http://schemas.microsoft.com/office/drawing/2014/main" id="{4D69A931-F85D-489D-8707-C356362F2F1B}"/>
              </a:ext>
            </a:extLst>
          </p:cNvPr>
          <p:cNvSpPr/>
          <p:nvPr/>
        </p:nvSpPr>
        <p:spPr>
          <a:xfrm>
            <a:off x="59690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5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JSON</a:t>
            </a:r>
            <a:endParaRPr lang="ko-KR" altLang="en-US" sz="1300">
              <a:solidFill>
                <a:srgbClr val="D7E1E5"/>
              </a:solidFill>
              <a:latin typeface="Noto Sans KR"/>
              <a:ea typeface="Noto Sans KR"/>
            </a:endParaRPr>
          </a:p>
        </p:txBody>
      </p:sp>
      <p:sp>
        <p:nvSpPr>
          <p:cNvPr id="14" name="MiniMap">
            <a:extLst>
              <a:ext uri="{FF2B5EF4-FFF2-40B4-BE49-F238E27FC236}">
                <a16:creationId xmlns:a16="http://schemas.microsoft.com/office/drawing/2014/main" id="{0B1170B6-7958-49A8-9AF7-D4295356AE95}"/>
              </a:ext>
            </a:extLst>
          </p:cNvPr>
          <p:cNvSpPr/>
          <p:nvPr/>
        </p:nvSpPr>
        <p:spPr>
          <a:xfrm>
            <a:off x="7289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6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설계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·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검수</a:t>
            </a:r>
          </a:p>
        </p:txBody>
      </p:sp>
      <p:sp>
        <p:nvSpPr>
          <p:cNvPr id="15" name="MiniMap">
            <a:extLst>
              <a:ext uri="{FF2B5EF4-FFF2-40B4-BE49-F238E27FC236}">
                <a16:creationId xmlns:a16="http://schemas.microsoft.com/office/drawing/2014/main" id="{132EDA60-FAE9-413B-A25C-5A6795EE1EAC}"/>
              </a:ext>
            </a:extLst>
          </p:cNvPr>
          <p:cNvSpPr txBox="1"/>
          <p:nvPr/>
        </p:nvSpPr>
        <p:spPr>
          <a:xfrm>
            <a:off x="685800" y="4978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오늘의 지도</a:t>
            </a:r>
          </a:p>
        </p:txBody>
      </p:sp>
    </p:spTree>
    <p:extLst>
      <p:ext uri="{BB962C8B-B14F-4D97-AF65-F5344CB8AC3E}">
        <p14:creationId xmlns:p14="http://schemas.microsoft.com/office/powerpoint/2010/main" val="28986400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4</a:t>
            </a:r>
            <a:r>
              <a:rPr lang="ko-KR" altLang="en-US"/>
              <a:t>교시 목표와 진행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4</a:t>
            </a:r>
            <a:r>
              <a:rPr lang="ko-KR" altLang="en-US"/>
              <a:t>교시 목표 </a:t>
            </a:r>
            <a:r>
              <a:rPr lang="en-US" altLang="ko-KR"/>
              <a:t>· CSV</a:t>
            </a:r>
            <a:r>
              <a:rPr lang="ko-KR" altLang="en-US"/>
              <a:t>로 표 표현하기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1: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헤더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행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쉼표 구분을 읽습니다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2: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내용 안의 쉼표를 큰따옴표로 감쌉니다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3: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UTF-8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과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.csv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확장자로 저장하고 다시 열어 확인합니다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진행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개념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직접 해 보기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20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풀이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퀴즈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064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32000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E77DB12-F491-4A6E-8CF4-E84A1C34504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B2018FE-7001-49D3-92A5-0ACCBC458EC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CSV는 표를 글자로 저장합니다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F930954-C504-4B83-9F6E-A08D21D4CD6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8D7C56E-31F2-48E7-84A0-90BEE9FDB19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E7743A3-2296-4B62-A7A1-91952889A3E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065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E32F4094-C4DC-4AA4-B60F-5B54F01C1F3B}"/>
              </a:ext>
            </a:extLst>
          </p:cNvPr>
          <p:cNvSpPr/>
          <p:nvPr/>
        </p:nvSpPr>
        <p:spPr>
          <a:xfrm>
            <a:off x="685800" y="1981200"/>
            <a:ext cx="5080000" cy="299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C7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DFDF3F47-3806-4696-A759-7848D3FDE029}"/>
              </a:ext>
            </a:extLst>
          </p:cNvPr>
          <p:cNvSpPr/>
          <p:nvPr/>
        </p:nvSpPr>
        <p:spPr>
          <a:xfrm>
            <a:off x="685800" y="1981200"/>
            <a:ext cx="5080000" cy="355600"/>
          </a:xfrm>
          <a:prstGeom prst="rect">
            <a:avLst/>
          </a:prstGeom>
          <a:solidFill>
            <a:srgbClr val="E9EDE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300" b="1">
                <a:solidFill>
                  <a:srgbClr val="172E3A"/>
                </a:solidFill>
                <a:latin typeface="Noto Sans KR"/>
                <a:ea typeface="Noto Sans KR"/>
              </a:rPr>
              <a:t>supply.csv - </a:t>
            </a:r>
            <a:r>
              <a:rPr lang="ko-KR" altLang="en-US" sz="1300" b="1">
                <a:solidFill>
                  <a:srgbClr val="172E3A"/>
                </a:solidFill>
                <a:latin typeface="Noto Sans KR"/>
                <a:ea typeface="Noto Sans KR"/>
              </a:rPr>
              <a:t>메모장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8767744C-E7EF-4E17-B85D-CD90A283F3CA}"/>
              </a:ext>
            </a:extLst>
          </p:cNvPr>
          <p:cNvSpPr/>
          <p:nvPr/>
        </p:nvSpPr>
        <p:spPr>
          <a:xfrm>
            <a:off x="889000" y="2540000"/>
            <a:ext cx="1066800" cy="457200"/>
          </a:xfrm>
          <a:prstGeom prst="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Consolas"/>
              </a:rPr>
              <a:t>item</a:t>
            </a:r>
            <a:endParaRPr lang="ko-KR" altLang="en-US" sz="1700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2C024562-E258-4F84-95C9-233DF8300D66}"/>
              </a:ext>
            </a:extLst>
          </p:cNvPr>
          <p:cNvSpPr/>
          <p:nvPr/>
        </p:nvSpPr>
        <p:spPr>
          <a:xfrm>
            <a:off x="1955800" y="2540000"/>
            <a:ext cx="2032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A64512"/>
                </a:solidFill>
                <a:latin typeface="Consolas"/>
              </a:rPr>
              <a:t>,</a:t>
            </a:r>
            <a:endParaRPr lang="ko-KR" altLang="en-US" sz="20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092AE6F8-C1EB-4051-958A-EA15F2C38765}"/>
              </a:ext>
            </a:extLst>
          </p:cNvPr>
          <p:cNvSpPr/>
          <p:nvPr/>
        </p:nvSpPr>
        <p:spPr>
          <a:xfrm>
            <a:off x="2159000" y="2540000"/>
            <a:ext cx="1219200" cy="457200"/>
          </a:xfrm>
          <a:prstGeom prst="rect">
            <a:avLst/>
          </a:prstGeom>
          <a:solidFill>
            <a:srgbClr val="DCEAF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Consolas"/>
              </a:rPr>
              <a:t>quantity</a:t>
            </a:r>
            <a:endParaRPr lang="ko-KR" altLang="en-US" sz="1700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170C55CF-B17A-4649-852B-73972D3C274F}"/>
              </a:ext>
            </a:extLst>
          </p:cNvPr>
          <p:cNvSpPr/>
          <p:nvPr/>
        </p:nvSpPr>
        <p:spPr>
          <a:xfrm>
            <a:off x="3378200" y="2540000"/>
            <a:ext cx="2032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A64512"/>
                </a:solidFill>
                <a:latin typeface="Consolas"/>
              </a:rPr>
              <a:t>,</a:t>
            </a:r>
            <a:endParaRPr lang="ko-KR" altLang="en-US" sz="20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8EA3D465-20EB-4F37-9E42-75C7B921A657}"/>
              </a:ext>
            </a:extLst>
          </p:cNvPr>
          <p:cNvSpPr/>
          <p:nvPr/>
        </p:nvSpPr>
        <p:spPr>
          <a:xfrm>
            <a:off x="3581400" y="2540000"/>
            <a:ext cx="711200" cy="4572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Consolas"/>
              </a:rPr>
              <a:t>bin</a:t>
            </a:r>
            <a:endParaRPr lang="ko-KR" altLang="en-US" sz="1700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254395DC-9FD2-43EC-8704-EA2AC3CFB3DF}"/>
              </a:ext>
            </a:extLst>
          </p:cNvPr>
          <p:cNvSpPr/>
          <p:nvPr/>
        </p:nvSpPr>
        <p:spPr>
          <a:xfrm>
            <a:off x="889000" y="3175000"/>
            <a:ext cx="1066800" cy="457200"/>
          </a:xfrm>
          <a:prstGeom prst="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ko-KR" altLang="en-US" sz="1700">
                <a:solidFill>
                  <a:srgbClr val="172E3A"/>
                </a:solidFill>
                <a:latin typeface="Consolas"/>
              </a:rPr>
              <a:t>장갑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12347C29-892E-4F66-B0E7-DB4234CBE21C}"/>
              </a:ext>
            </a:extLst>
          </p:cNvPr>
          <p:cNvSpPr/>
          <p:nvPr/>
        </p:nvSpPr>
        <p:spPr>
          <a:xfrm>
            <a:off x="1955800" y="3175000"/>
            <a:ext cx="2032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A64512"/>
                </a:solidFill>
                <a:latin typeface="Consolas"/>
              </a:rPr>
              <a:t>,</a:t>
            </a:r>
            <a:endParaRPr lang="ko-KR" altLang="en-US" sz="20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B31E0607-6FF2-4F42-B51E-19457EE8565E}"/>
              </a:ext>
            </a:extLst>
          </p:cNvPr>
          <p:cNvSpPr/>
          <p:nvPr/>
        </p:nvSpPr>
        <p:spPr>
          <a:xfrm>
            <a:off x="2159000" y="3175000"/>
            <a:ext cx="1219200" cy="457200"/>
          </a:xfrm>
          <a:prstGeom prst="rect">
            <a:avLst/>
          </a:prstGeom>
          <a:solidFill>
            <a:srgbClr val="DCEAF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Consolas"/>
              </a:rPr>
              <a:t>10</a:t>
            </a:r>
            <a:endParaRPr lang="ko-KR" altLang="en-US" sz="17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6D231C09-769F-47CA-9B25-E59C4C104B9E}"/>
              </a:ext>
            </a:extLst>
          </p:cNvPr>
          <p:cNvSpPr/>
          <p:nvPr/>
        </p:nvSpPr>
        <p:spPr>
          <a:xfrm>
            <a:off x="3378200" y="3175000"/>
            <a:ext cx="2032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A64512"/>
                </a:solidFill>
                <a:latin typeface="Consolas"/>
              </a:rPr>
              <a:t>,</a:t>
            </a:r>
            <a:endParaRPr lang="ko-KR" altLang="en-US" sz="20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F75017C8-6613-4456-92E8-45FDEE62BD33}"/>
              </a:ext>
            </a:extLst>
          </p:cNvPr>
          <p:cNvSpPr/>
          <p:nvPr/>
        </p:nvSpPr>
        <p:spPr>
          <a:xfrm>
            <a:off x="3581400" y="3175000"/>
            <a:ext cx="711200" cy="4572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Consolas"/>
              </a:rPr>
              <a:t>A01</a:t>
            </a:r>
            <a:endParaRPr lang="ko-KR" altLang="en-US" sz="17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5C944D33-3805-4BBA-8E70-4F7362E16F25}"/>
              </a:ext>
            </a:extLst>
          </p:cNvPr>
          <p:cNvSpPr/>
          <p:nvPr/>
        </p:nvSpPr>
        <p:spPr>
          <a:xfrm>
            <a:off x="889000" y="3810000"/>
            <a:ext cx="1066800" cy="457200"/>
          </a:xfrm>
          <a:prstGeom prst="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ko-KR" altLang="en-US" sz="1700">
                <a:solidFill>
                  <a:srgbClr val="172E3A"/>
                </a:solidFill>
                <a:latin typeface="Consolas"/>
              </a:rPr>
              <a:t>마스크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CA93A7BF-ED22-44E6-B2AE-6C16F6270413}"/>
              </a:ext>
            </a:extLst>
          </p:cNvPr>
          <p:cNvSpPr/>
          <p:nvPr/>
        </p:nvSpPr>
        <p:spPr>
          <a:xfrm>
            <a:off x="1955800" y="3810000"/>
            <a:ext cx="2032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A64512"/>
                </a:solidFill>
                <a:latin typeface="Consolas"/>
              </a:rPr>
              <a:t>,</a:t>
            </a:r>
            <a:endParaRPr lang="ko-KR" altLang="en-US" sz="20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2D3DAAD2-8CF6-443C-9DC9-D3451F1277E9}"/>
              </a:ext>
            </a:extLst>
          </p:cNvPr>
          <p:cNvSpPr/>
          <p:nvPr/>
        </p:nvSpPr>
        <p:spPr>
          <a:xfrm>
            <a:off x="2159000" y="3810000"/>
            <a:ext cx="1219200" cy="457200"/>
          </a:xfrm>
          <a:prstGeom prst="rect">
            <a:avLst/>
          </a:prstGeom>
          <a:solidFill>
            <a:srgbClr val="DCEAF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Consolas"/>
              </a:rPr>
              <a:t>25</a:t>
            </a:r>
            <a:endParaRPr lang="ko-KR" altLang="en-US" sz="17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C8610761-6BD7-430E-9612-247BBC39B619}"/>
              </a:ext>
            </a:extLst>
          </p:cNvPr>
          <p:cNvSpPr/>
          <p:nvPr/>
        </p:nvSpPr>
        <p:spPr>
          <a:xfrm>
            <a:off x="3378200" y="3810000"/>
            <a:ext cx="2032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2000" b="1">
                <a:solidFill>
                  <a:srgbClr val="A64512"/>
                </a:solidFill>
                <a:latin typeface="Consolas"/>
              </a:rPr>
              <a:t>,</a:t>
            </a:r>
            <a:endParaRPr lang="ko-KR" altLang="en-US" sz="20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B82E4F85-4830-49CA-982A-A33A7ABC3B13}"/>
              </a:ext>
            </a:extLst>
          </p:cNvPr>
          <p:cNvSpPr/>
          <p:nvPr/>
        </p:nvSpPr>
        <p:spPr>
          <a:xfrm>
            <a:off x="3581400" y="3810000"/>
            <a:ext cx="711200" cy="4572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Consolas"/>
              </a:rPr>
              <a:t>A02</a:t>
            </a:r>
            <a:endParaRPr lang="ko-KR" altLang="en-US" sz="17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DF53472C-428C-4D5A-8554-EBDD7E57B407}"/>
              </a:ext>
            </a:extLst>
          </p:cNvPr>
          <p:cNvSpPr/>
          <p:nvPr/>
        </p:nvSpPr>
        <p:spPr>
          <a:xfrm>
            <a:off x="889000" y="4445000"/>
            <a:ext cx="4699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A64512"/>
                </a:solidFill>
                <a:latin typeface="Noto Sans KR"/>
                <a:ea typeface="Noto Sans KR"/>
              </a:rPr>
              <a:t>쉼표 </a:t>
            </a:r>
            <a:r>
              <a:rPr lang="en-US" altLang="ko-KR" sz="1400" b="1">
                <a:solidFill>
                  <a:srgbClr val="A64512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 b="1">
                <a:solidFill>
                  <a:srgbClr val="A64512"/>
                </a:solidFill>
                <a:latin typeface="Noto Sans KR"/>
                <a:ea typeface="Noto Sans KR"/>
              </a:rPr>
              <a:t>가 칸을 나눕니다</a:t>
            </a: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2C5675AC-D094-45DB-9EBE-94F0ABF6E4B3}"/>
              </a:ext>
            </a:extLst>
          </p:cNvPr>
          <p:cNvSpPr/>
          <p:nvPr/>
        </p:nvSpPr>
        <p:spPr>
          <a:xfrm>
            <a:off x="5867400" y="3327400"/>
            <a:ext cx="406400" cy="3302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2DDA9963-2509-4318-87E9-01BD14335C0C}"/>
              </a:ext>
            </a:extLst>
          </p:cNvPr>
          <p:cNvSpPr/>
          <p:nvPr/>
        </p:nvSpPr>
        <p:spPr>
          <a:xfrm>
            <a:off x="6426200" y="1981200"/>
            <a:ext cx="5080000" cy="299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C7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B399009C-EBAB-41D0-A20F-12EB91AA4C80}"/>
              </a:ext>
            </a:extLst>
          </p:cNvPr>
          <p:cNvSpPr/>
          <p:nvPr/>
        </p:nvSpPr>
        <p:spPr>
          <a:xfrm>
            <a:off x="6426200" y="1981200"/>
            <a:ext cx="5080000" cy="355600"/>
          </a:xfrm>
          <a:prstGeom prst="rect">
            <a:avLst/>
          </a:prstGeom>
          <a:solidFill>
            <a:srgbClr val="E9EDE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300" b="1">
                <a:solidFill>
                  <a:srgbClr val="172E3A"/>
                </a:solidFill>
                <a:latin typeface="Noto Sans KR"/>
                <a:ea typeface="Noto Sans KR"/>
              </a:rPr>
              <a:t>표 프로그램에서 열면</a:t>
            </a: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23DF7844-B6DE-4ACD-B02E-D231944ED57B}"/>
              </a:ext>
            </a:extLst>
          </p:cNvPr>
          <p:cNvSpPr/>
          <p:nvPr/>
        </p:nvSpPr>
        <p:spPr>
          <a:xfrm>
            <a:off x="6629400" y="2540000"/>
            <a:ext cx="1524000" cy="508000"/>
          </a:xfrm>
          <a:prstGeom prst="rect">
            <a:avLst/>
          </a:prstGeom>
          <a:solidFill>
            <a:srgbClr val="D5EDE9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item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88876286-D210-4886-AD6C-D77ADB52A1E3}"/>
              </a:ext>
            </a:extLst>
          </p:cNvPr>
          <p:cNvSpPr/>
          <p:nvPr/>
        </p:nvSpPr>
        <p:spPr>
          <a:xfrm>
            <a:off x="8153400" y="2540000"/>
            <a:ext cx="1651000" cy="508000"/>
          </a:xfrm>
          <a:prstGeom prst="rect">
            <a:avLst/>
          </a:prstGeom>
          <a:solidFill>
            <a:srgbClr val="DCEAF2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quantity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F19A3EFA-7746-4F5A-82D6-2587FA77E7BE}"/>
              </a:ext>
            </a:extLst>
          </p:cNvPr>
          <p:cNvSpPr/>
          <p:nvPr/>
        </p:nvSpPr>
        <p:spPr>
          <a:xfrm>
            <a:off x="9804400" y="2540000"/>
            <a:ext cx="1397000" cy="508000"/>
          </a:xfrm>
          <a:prstGeom prst="rect">
            <a:avLst/>
          </a:prstGeom>
          <a:solidFill>
            <a:srgbClr val="FBEDE3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bin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D06995E0-809F-402B-8E8F-738281E76D1F}"/>
              </a:ext>
            </a:extLst>
          </p:cNvPr>
          <p:cNvSpPr/>
          <p:nvPr/>
        </p:nvSpPr>
        <p:spPr>
          <a:xfrm>
            <a:off x="6629400" y="3175000"/>
            <a:ext cx="1524000" cy="508000"/>
          </a:xfrm>
          <a:prstGeom prst="rect">
            <a:avLst/>
          </a:prstGeom>
          <a:solidFill>
            <a:srgbClr val="D5EDE9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장갑</a:t>
            </a:r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9C646327-C82F-4E03-9A9C-79A2E7876469}"/>
              </a:ext>
            </a:extLst>
          </p:cNvPr>
          <p:cNvSpPr/>
          <p:nvPr/>
        </p:nvSpPr>
        <p:spPr>
          <a:xfrm>
            <a:off x="8153400" y="3175000"/>
            <a:ext cx="1651000" cy="508000"/>
          </a:xfrm>
          <a:prstGeom prst="rect">
            <a:avLst/>
          </a:prstGeom>
          <a:solidFill>
            <a:srgbClr val="DCEAF2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10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23366B8A-73C9-44D7-9BFE-48369373D51E}"/>
              </a:ext>
            </a:extLst>
          </p:cNvPr>
          <p:cNvSpPr/>
          <p:nvPr/>
        </p:nvSpPr>
        <p:spPr>
          <a:xfrm>
            <a:off x="9804400" y="3175000"/>
            <a:ext cx="1397000" cy="508000"/>
          </a:xfrm>
          <a:prstGeom prst="rect">
            <a:avLst/>
          </a:prstGeom>
          <a:solidFill>
            <a:srgbClr val="FBEDE3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A01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B844B954-638E-4BAF-9974-5CE04939BF28}"/>
              </a:ext>
            </a:extLst>
          </p:cNvPr>
          <p:cNvSpPr/>
          <p:nvPr/>
        </p:nvSpPr>
        <p:spPr>
          <a:xfrm>
            <a:off x="6629400" y="3810000"/>
            <a:ext cx="1524000" cy="508000"/>
          </a:xfrm>
          <a:prstGeom prst="rect">
            <a:avLst/>
          </a:prstGeom>
          <a:solidFill>
            <a:srgbClr val="D5EDE9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마스크</a:t>
            </a:r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E3E59029-18DB-4891-A734-06F70D648DDC}"/>
              </a:ext>
            </a:extLst>
          </p:cNvPr>
          <p:cNvSpPr/>
          <p:nvPr/>
        </p:nvSpPr>
        <p:spPr>
          <a:xfrm>
            <a:off x="8153400" y="3810000"/>
            <a:ext cx="1651000" cy="508000"/>
          </a:xfrm>
          <a:prstGeom prst="rect">
            <a:avLst/>
          </a:prstGeom>
          <a:solidFill>
            <a:srgbClr val="DCEAF2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25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A9C5C1DF-0D3F-413F-83B6-40E45D331700}"/>
              </a:ext>
            </a:extLst>
          </p:cNvPr>
          <p:cNvSpPr/>
          <p:nvPr/>
        </p:nvSpPr>
        <p:spPr>
          <a:xfrm>
            <a:off x="9804400" y="3810000"/>
            <a:ext cx="1397000" cy="508000"/>
          </a:xfrm>
          <a:prstGeom prst="rect">
            <a:avLst/>
          </a:prstGeom>
          <a:solidFill>
            <a:srgbClr val="FBEDE3"/>
          </a:solidFill>
          <a:ln w="12700">
            <a:solidFill>
              <a:srgbClr val="C9D1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A02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CF5483D9-7A7D-4B86-B5EF-509A85A18FFF}"/>
              </a:ext>
            </a:extLst>
          </p:cNvPr>
          <p:cNvSpPr/>
          <p:nvPr/>
        </p:nvSpPr>
        <p:spPr>
          <a:xfrm>
            <a:off x="6629400" y="4445000"/>
            <a:ext cx="4699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같은 색 </a:t>
            </a:r>
            <a:r>
              <a:rPr lang="en-US" altLang="ko-KR" sz="1400" b="1">
                <a:solidFill>
                  <a:srgbClr val="08776D"/>
                </a:solidFill>
                <a:latin typeface="Noto Sans KR"/>
                <a:ea typeface="Noto Sans KR"/>
              </a:rPr>
              <a:t>= </a:t>
            </a:r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같은 칸</a:t>
            </a:r>
          </a:p>
        </p:txBody>
      </p:sp>
      <p:sp>
        <p:nvSpPr>
          <p:cNvPr id="45" name="Viz">
            <a:extLst>
              <a:ext uri="{FF2B5EF4-FFF2-40B4-BE49-F238E27FC236}">
                <a16:creationId xmlns:a16="http://schemas.microsoft.com/office/drawing/2014/main" id="{B20AE612-FFD7-4031-987A-A514A17CF2A6}"/>
              </a:ext>
            </a:extLst>
          </p:cNvPr>
          <p:cNvSpPr/>
          <p:nvPr/>
        </p:nvSpPr>
        <p:spPr>
          <a:xfrm>
            <a:off x="685800" y="5156200"/>
            <a:ext cx="3454400" cy="1041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6" name="AccentBar">
            <a:extLst>
              <a:ext uri="{FF2B5EF4-FFF2-40B4-BE49-F238E27FC236}">
                <a16:creationId xmlns:a16="http://schemas.microsoft.com/office/drawing/2014/main" id="{B6DA45C4-3067-4018-8F77-10819D15AACE}"/>
              </a:ext>
            </a:extLst>
          </p:cNvPr>
          <p:cNvSpPr/>
          <p:nvPr/>
        </p:nvSpPr>
        <p:spPr>
          <a:xfrm>
            <a:off x="685800" y="5156200"/>
            <a:ext cx="76200" cy="1041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7" name="Viz">
            <a:extLst>
              <a:ext uri="{FF2B5EF4-FFF2-40B4-BE49-F238E27FC236}">
                <a16:creationId xmlns:a16="http://schemas.microsoft.com/office/drawing/2014/main" id="{E99B8BA4-74A8-4EF9-AA0B-32954708C6FB}"/>
              </a:ext>
            </a:extLst>
          </p:cNvPr>
          <p:cNvSpPr/>
          <p:nvPr/>
        </p:nvSpPr>
        <p:spPr>
          <a:xfrm>
            <a:off x="889000" y="5207000"/>
            <a:ext cx="3175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한 줄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=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기록 한 건</a:t>
            </a:r>
          </a:p>
        </p:txBody>
      </p:sp>
      <p:sp>
        <p:nvSpPr>
          <p:cNvPr id="48" name="Viz">
            <a:extLst>
              <a:ext uri="{FF2B5EF4-FFF2-40B4-BE49-F238E27FC236}">
                <a16:creationId xmlns:a16="http://schemas.microsoft.com/office/drawing/2014/main" id="{BF7EB3D1-2F21-4480-ADD3-138E5D247330}"/>
              </a:ext>
            </a:extLst>
          </p:cNvPr>
          <p:cNvSpPr/>
          <p:nvPr/>
        </p:nvSpPr>
        <p:spPr>
          <a:xfrm>
            <a:off x="889000" y="5588000"/>
            <a:ext cx="3175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줄을 바꾸면 다음 기록입니다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9" name="Viz">
            <a:extLst>
              <a:ext uri="{FF2B5EF4-FFF2-40B4-BE49-F238E27FC236}">
                <a16:creationId xmlns:a16="http://schemas.microsoft.com/office/drawing/2014/main" id="{13DF1681-6766-45F0-807E-CA9C9F6CD7F4}"/>
              </a:ext>
            </a:extLst>
          </p:cNvPr>
          <p:cNvSpPr/>
          <p:nvPr/>
        </p:nvSpPr>
        <p:spPr>
          <a:xfrm>
            <a:off x="4368800" y="5156200"/>
            <a:ext cx="3454400" cy="1041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0" name="AccentBar">
            <a:extLst>
              <a:ext uri="{FF2B5EF4-FFF2-40B4-BE49-F238E27FC236}">
                <a16:creationId xmlns:a16="http://schemas.microsoft.com/office/drawing/2014/main" id="{934C8E9F-B6DB-420D-82D5-8D8B4EE6E832}"/>
              </a:ext>
            </a:extLst>
          </p:cNvPr>
          <p:cNvSpPr/>
          <p:nvPr/>
        </p:nvSpPr>
        <p:spPr>
          <a:xfrm>
            <a:off x="4368800" y="5156200"/>
            <a:ext cx="76200" cy="1041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1" name="Viz">
            <a:extLst>
              <a:ext uri="{FF2B5EF4-FFF2-40B4-BE49-F238E27FC236}">
                <a16:creationId xmlns:a16="http://schemas.microsoft.com/office/drawing/2014/main" id="{B04914AE-0910-46B1-8063-6B08D7F53857}"/>
              </a:ext>
            </a:extLst>
          </p:cNvPr>
          <p:cNvSpPr/>
          <p:nvPr/>
        </p:nvSpPr>
        <p:spPr>
          <a:xfrm>
            <a:off x="4572000" y="5207000"/>
            <a:ext cx="3175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쉼표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=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칸 나누기</a:t>
            </a:r>
          </a:p>
        </p:txBody>
      </p:sp>
      <p:sp>
        <p:nvSpPr>
          <p:cNvPr id="52" name="Viz">
            <a:extLst>
              <a:ext uri="{FF2B5EF4-FFF2-40B4-BE49-F238E27FC236}">
                <a16:creationId xmlns:a16="http://schemas.microsoft.com/office/drawing/2014/main" id="{ED80FEC6-FD72-49EC-8CB3-C9C0D5A73EFE}"/>
              </a:ext>
            </a:extLst>
          </p:cNvPr>
          <p:cNvSpPr/>
          <p:nvPr/>
        </p:nvSpPr>
        <p:spPr>
          <a:xfrm>
            <a:off x="4572000" y="5588000"/>
            <a:ext cx="3175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쉼표 사이의 글자가 한 칸이 됩니다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53" name="Viz">
            <a:extLst>
              <a:ext uri="{FF2B5EF4-FFF2-40B4-BE49-F238E27FC236}">
                <a16:creationId xmlns:a16="http://schemas.microsoft.com/office/drawing/2014/main" id="{65053913-30B8-4999-9870-486434877174}"/>
              </a:ext>
            </a:extLst>
          </p:cNvPr>
          <p:cNvSpPr/>
          <p:nvPr/>
        </p:nvSpPr>
        <p:spPr>
          <a:xfrm>
            <a:off x="8051800" y="5156200"/>
            <a:ext cx="3454400" cy="1041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4" name="AccentBar">
            <a:extLst>
              <a:ext uri="{FF2B5EF4-FFF2-40B4-BE49-F238E27FC236}">
                <a16:creationId xmlns:a16="http://schemas.microsoft.com/office/drawing/2014/main" id="{25B29A3C-9C20-400E-BD1D-90E27A84FF28}"/>
              </a:ext>
            </a:extLst>
          </p:cNvPr>
          <p:cNvSpPr/>
          <p:nvPr/>
        </p:nvSpPr>
        <p:spPr>
          <a:xfrm>
            <a:off x="8051800" y="5156200"/>
            <a:ext cx="76200" cy="1041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5" name="Viz">
            <a:extLst>
              <a:ext uri="{FF2B5EF4-FFF2-40B4-BE49-F238E27FC236}">
                <a16:creationId xmlns:a16="http://schemas.microsoft.com/office/drawing/2014/main" id="{B4D21BCE-850A-4C85-A844-BA2721945D38}"/>
              </a:ext>
            </a:extLst>
          </p:cNvPr>
          <p:cNvSpPr/>
          <p:nvPr/>
        </p:nvSpPr>
        <p:spPr>
          <a:xfrm>
            <a:off x="8255000" y="5207000"/>
            <a:ext cx="3175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첫 줄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=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헤더</a:t>
            </a:r>
          </a:p>
        </p:txBody>
      </p:sp>
      <p:sp>
        <p:nvSpPr>
          <p:cNvPr id="56" name="Viz">
            <a:extLst>
              <a:ext uri="{FF2B5EF4-FFF2-40B4-BE49-F238E27FC236}">
                <a16:creationId xmlns:a16="http://schemas.microsoft.com/office/drawing/2014/main" id="{15CEE4FA-E641-442D-A230-FF702DD95E41}"/>
              </a:ext>
            </a:extLst>
          </p:cNvPr>
          <p:cNvSpPr/>
          <p:nvPr/>
        </p:nvSpPr>
        <p:spPr>
          <a:xfrm>
            <a:off x="8255000" y="5588000"/>
            <a:ext cx="3175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열 이름입니다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건수에 넣지 않습니다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5861860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EFC15356-1F74-4C9E-B8EB-1797421772C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1B4C3E8-D337-44F2-A626-07F99C27472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세 칸의 CSV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503BD41-3708-4871-8024-22BBD7C7916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046F1AA-96BE-444C-B957-830B64DAEC8D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첫 줄은 헤더, 둘째 줄은 데이터입니다.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974E825-B0E7-4909-A760-A3B8455C545B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3716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1A7586D-F416-48BB-9B57-AE86C26396D8}"/>
              </a:ext>
            </a:extLst>
          </p:cNvPr>
          <p:cNvSpPr>
            <a:spLocks noGrp="1"/>
          </p:cNvSpPr>
          <p:nvPr/>
        </p:nvSpPr>
        <p:spPr>
          <a:xfrm>
            <a:off x="838200" y="267716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2BF6B75-F378-4463-BB48-33A1C401618D}"/>
              </a:ext>
            </a:extLst>
          </p:cNvPr>
          <p:cNvSpPr>
            <a:spLocks noGrp="1"/>
          </p:cNvSpPr>
          <p:nvPr/>
        </p:nvSpPr>
        <p:spPr>
          <a:xfrm>
            <a:off x="1320800" y="267716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item,quantity,bin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5F0506A-7967-4792-99B0-A29FADC2911D}"/>
              </a:ext>
            </a:extLst>
          </p:cNvPr>
          <p:cNvSpPr>
            <a:spLocks noGrp="1"/>
          </p:cNvSpPr>
          <p:nvPr/>
        </p:nvSpPr>
        <p:spPr>
          <a:xfrm>
            <a:off x="838200" y="318516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02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F7C462F-A10C-4BB3-AF46-256DCB73BBE7}"/>
              </a:ext>
            </a:extLst>
          </p:cNvPr>
          <p:cNvSpPr>
            <a:spLocks noGrp="1"/>
          </p:cNvSpPr>
          <p:nvPr/>
        </p:nvSpPr>
        <p:spPr>
          <a:xfrm>
            <a:off x="1320800" y="318516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"볼트, 소형",12,B02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666468-48D8-4E31-9294-E6A2F3FC564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08A3A32-0B05-4D50-865F-3C93FA05799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066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470FAF74-021D-4F27-A6FA-496255C1E4D6}"/>
              </a:ext>
            </a:extLst>
          </p:cNvPr>
          <p:cNvSpPr/>
          <p:nvPr/>
        </p:nvSpPr>
        <p:spPr>
          <a:xfrm>
            <a:off x="457200" y="2730500"/>
            <a:ext cx="304800" cy="304800"/>
          </a:xfrm>
          <a:prstGeom prst="ellipse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Noto Sans KR"/>
                <a:ea typeface="Noto Sans KR"/>
              </a:rPr>
              <a:t>1</a:t>
            </a:r>
            <a:endParaRPr lang="ko-KR" altLang="en-US" sz="13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4916CDB2-39C1-4001-BE3B-0B5307E9FFB5}"/>
              </a:ext>
            </a:extLst>
          </p:cNvPr>
          <p:cNvSpPr/>
          <p:nvPr/>
        </p:nvSpPr>
        <p:spPr>
          <a:xfrm>
            <a:off x="1778000" y="3632200"/>
            <a:ext cx="304800" cy="304800"/>
          </a:xfrm>
          <a:prstGeom prst="ellipse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  <a:endParaRPr lang="ko-KR" altLang="en-US" sz="13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28951F24-7FEC-452C-91B6-97DCA1BDEA05}"/>
              </a:ext>
            </a:extLst>
          </p:cNvPr>
          <p:cNvSpPr/>
          <p:nvPr/>
        </p:nvSpPr>
        <p:spPr>
          <a:xfrm>
            <a:off x="2997200" y="3632200"/>
            <a:ext cx="304800" cy="3048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  <a:endParaRPr lang="ko-KR" altLang="en-US" sz="13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F9D91C09-C719-412B-95F7-37697A22CD91}"/>
              </a:ext>
            </a:extLst>
          </p:cNvPr>
          <p:cNvSpPr/>
          <p:nvPr/>
        </p:nvSpPr>
        <p:spPr>
          <a:xfrm>
            <a:off x="685800" y="4038600"/>
            <a:ext cx="6096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이 두 줄을 표로 읽으면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7F5D9F6E-C033-4F33-B506-23B89EB9E032}"/>
              </a:ext>
            </a:extLst>
          </p:cNvPr>
          <p:cNvSpPr/>
          <p:nvPr/>
        </p:nvSpPr>
        <p:spPr>
          <a:xfrm>
            <a:off x="685800" y="4419600"/>
            <a:ext cx="1955800" cy="508000"/>
          </a:xfrm>
          <a:prstGeom prst="rect">
            <a:avLst/>
          </a:prstGeom>
          <a:solidFill>
            <a:srgbClr val="7B8A9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Consolas"/>
              </a:rPr>
              <a:t>item</a:t>
            </a:r>
            <a:endParaRPr lang="ko-KR" altLang="en-US" sz="17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0AE1F667-A944-4D4C-B03A-A30B932DD6C1}"/>
              </a:ext>
            </a:extLst>
          </p:cNvPr>
          <p:cNvSpPr/>
          <p:nvPr/>
        </p:nvSpPr>
        <p:spPr>
          <a:xfrm>
            <a:off x="685800" y="4978400"/>
            <a:ext cx="19558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Consolas"/>
              </a:rPr>
              <a:t>"</a:t>
            </a:r>
            <a:r>
              <a:rPr lang="ko-KR" altLang="en-US" b="1">
                <a:solidFill>
                  <a:srgbClr val="172E3A"/>
                </a:solidFill>
                <a:latin typeface="Consolas"/>
              </a:rPr>
              <a:t>볼트</a:t>
            </a:r>
            <a:r>
              <a:rPr lang="en-US" altLang="ko-KR" b="1">
                <a:solidFill>
                  <a:srgbClr val="172E3A"/>
                </a:solidFill>
                <a:latin typeface="Consolas"/>
              </a:rPr>
              <a:t>, </a:t>
            </a:r>
            <a:r>
              <a:rPr lang="ko-KR" altLang="en-US" b="1">
                <a:solidFill>
                  <a:srgbClr val="172E3A"/>
                </a:solidFill>
                <a:latin typeface="Consolas"/>
              </a:rPr>
              <a:t>소형</a:t>
            </a:r>
            <a:r>
              <a:rPr lang="en-US" altLang="ko-KR" b="1">
                <a:solidFill>
                  <a:srgbClr val="172E3A"/>
                </a:solidFill>
                <a:latin typeface="Consolas"/>
              </a:rPr>
              <a:t>"</a:t>
            </a:r>
            <a:endParaRPr lang="ko-KR" altLang="en-US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97652A2E-C724-4912-BF35-0FE0EAB2ADFE}"/>
              </a:ext>
            </a:extLst>
          </p:cNvPr>
          <p:cNvSpPr/>
          <p:nvPr/>
        </p:nvSpPr>
        <p:spPr>
          <a:xfrm>
            <a:off x="685800" y="5613400"/>
            <a:ext cx="19558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물품명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3FE80F12-932C-4900-BDB7-24027525D665}"/>
              </a:ext>
            </a:extLst>
          </p:cNvPr>
          <p:cNvSpPr/>
          <p:nvPr/>
        </p:nvSpPr>
        <p:spPr>
          <a:xfrm>
            <a:off x="2743200" y="4419600"/>
            <a:ext cx="1955800" cy="508000"/>
          </a:xfrm>
          <a:prstGeom prst="rect">
            <a:avLst/>
          </a:prstGeom>
          <a:solidFill>
            <a:srgbClr val="7B8A9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Consolas"/>
              </a:rPr>
              <a:t>quantity</a:t>
            </a:r>
            <a:endParaRPr lang="ko-KR" altLang="en-US" sz="17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981D0471-2670-40CC-8488-57B2768A2629}"/>
              </a:ext>
            </a:extLst>
          </p:cNvPr>
          <p:cNvSpPr/>
          <p:nvPr/>
        </p:nvSpPr>
        <p:spPr>
          <a:xfrm>
            <a:off x="2743200" y="4978400"/>
            <a:ext cx="19558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Consolas"/>
              </a:rPr>
              <a:t>12</a:t>
            </a:r>
            <a:endParaRPr lang="ko-KR" altLang="en-US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508D7ABD-9CB4-4528-9586-500E4600F422}"/>
              </a:ext>
            </a:extLst>
          </p:cNvPr>
          <p:cNvSpPr/>
          <p:nvPr/>
        </p:nvSpPr>
        <p:spPr>
          <a:xfrm>
            <a:off x="2743200" y="5613400"/>
            <a:ext cx="19558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수량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A6AC9261-7587-4170-9600-F5E0967377B5}"/>
              </a:ext>
            </a:extLst>
          </p:cNvPr>
          <p:cNvSpPr/>
          <p:nvPr/>
        </p:nvSpPr>
        <p:spPr>
          <a:xfrm>
            <a:off x="4800600" y="4419600"/>
            <a:ext cx="1955800" cy="508000"/>
          </a:xfrm>
          <a:prstGeom prst="rect">
            <a:avLst/>
          </a:prstGeom>
          <a:solidFill>
            <a:srgbClr val="7B8A9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Consolas"/>
              </a:rPr>
              <a:t>bin</a:t>
            </a:r>
            <a:endParaRPr lang="ko-KR" altLang="en-US" sz="17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AD4D3B30-5D00-4396-BB6D-7C717021947B}"/>
              </a:ext>
            </a:extLst>
          </p:cNvPr>
          <p:cNvSpPr/>
          <p:nvPr/>
        </p:nvSpPr>
        <p:spPr>
          <a:xfrm>
            <a:off x="4800600" y="4978400"/>
            <a:ext cx="19558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Consolas"/>
              </a:rPr>
              <a:t>B02</a:t>
            </a:r>
            <a:endParaRPr lang="ko-KR" altLang="en-US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1B47405B-9855-4970-A619-A9DF1893235E}"/>
              </a:ext>
            </a:extLst>
          </p:cNvPr>
          <p:cNvSpPr/>
          <p:nvPr/>
        </p:nvSpPr>
        <p:spPr>
          <a:xfrm>
            <a:off x="4800600" y="5613400"/>
            <a:ext cx="19558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보관함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2A30322E-0AA8-40E4-BDB0-C5D20EE4477E}"/>
              </a:ext>
            </a:extLst>
          </p:cNvPr>
          <p:cNvSpPr/>
          <p:nvPr/>
        </p:nvSpPr>
        <p:spPr>
          <a:xfrm>
            <a:off x="7112000" y="4038600"/>
            <a:ext cx="43942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E7AB2789-8ADE-43AE-B9CD-B3B20ED02F4B}"/>
              </a:ext>
            </a:extLst>
          </p:cNvPr>
          <p:cNvSpPr/>
          <p:nvPr/>
        </p:nvSpPr>
        <p:spPr>
          <a:xfrm>
            <a:off x="7239000" y="4216400"/>
            <a:ext cx="304800" cy="304800"/>
          </a:xfrm>
          <a:prstGeom prst="ellipse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Noto Sans KR"/>
                <a:ea typeface="Noto Sans KR"/>
              </a:rPr>
              <a:t>1</a:t>
            </a:r>
            <a:endParaRPr lang="ko-KR" altLang="en-US" sz="13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497BEFF8-139B-41E5-B662-D21EC4C00564}"/>
              </a:ext>
            </a:extLst>
          </p:cNvPr>
          <p:cNvSpPr/>
          <p:nvPr/>
        </p:nvSpPr>
        <p:spPr>
          <a:xfrm>
            <a:off x="7620000" y="4064000"/>
            <a:ext cx="3810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헤더</a:t>
            </a: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C0F0DF9B-3FA1-4B98-96C2-4CAB79E2C0AF}"/>
              </a:ext>
            </a:extLst>
          </p:cNvPr>
          <p:cNvSpPr/>
          <p:nvPr/>
        </p:nvSpPr>
        <p:spPr>
          <a:xfrm>
            <a:off x="7620000" y="4343400"/>
            <a:ext cx="381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300">
                <a:solidFill>
                  <a:srgbClr val="172E3A"/>
                </a:solidFill>
                <a:latin typeface="Noto Sans KR"/>
                <a:ea typeface="Noto Sans KR"/>
              </a:rPr>
              <a:t>첫 줄은 열 이름입니다</a:t>
            </a:r>
            <a:r>
              <a:rPr lang="en-US" altLang="ko-KR" sz="13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300">
                <a:solidFill>
                  <a:srgbClr val="172E3A"/>
                </a:solidFill>
                <a:latin typeface="Noto Sans KR"/>
                <a:ea typeface="Noto Sans KR"/>
              </a:rPr>
              <a:t>데이터 건수에 넣지 않습니다</a:t>
            </a:r>
            <a:r>
              <a:rPr lang="en-US" altLang="ko-KR" sz="13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3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9C20679E-2DCF-4056-AC27-918986565E6C}"/>
              </a:ext>
            </a:extLst>
          </p:cNvPr>
          <p:cNvSpPr/>
          <p:nvPr/>
        </p:nvSpPr>
        <p:spPr>
          <a:xfrm>
            <a:off x="7112000" y="4775200"/>
            <a:ext cx="43942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6AA4AC1D-3C00-4FA8-AF0D-C4C31D597092}"/>
              </a:ext>
            </a:extLst>
          </p:cNvPr>
          <p:cNvSpPr/>
          <p:nvPr/>
        </p:nvSpPr>
        <p:spPr>
          <a:xfrm>
            <a:off x="7239000" y="4953000"/>
            <a:ext cx="304800" cy="304800"/>
          </a:xfrm>
          <a:prstGeom prst="ellipse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  <a:endParaRPr lang="ko-KR" altLang="en-US" sz="13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101653C4-5C4E-47F8-8FFA-B64020B566E4}"/>
              </a:ext>
            </a:extLst>
          </p:cNvPr>
          <p:cNvSpPr/>
          <p:nvPr/>
        </p:nvSpPr>
        <p:spPr>
          <a:xfrm>
            <a:off x="7620000" y="4800600"/>
            <a:ext cx="3810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A64512"/>
                </a:solidFill>
                <a:latin typeface="Noto Sans KR"/>
                <a:ea typeface="Noto Sans KR"/>
              </a:rPr>
              <a:t>따옴표 안 쉼표</a:t>
            </a: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A23AE003-6DE7-42B9-82EE-4B8439175097}"/>
              </a:ext>
            </a:extLst>
          </p:cNvPr>
          <p:cNvSpPr/>
          <p:nvPr/>
        </p:nvSpPr>
        <p:spPr>
          <a:xfrm>
            <a:off x="7620000" y="5080000"/>
            <a:ext cx="381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300">
                <a:solidFill>
                  <a:srgbClr val="172E3A"/>
                </a:solidFill>
                <a:latin typeface="Noto Sans KR"/>
                <a:ea typeface="Noto Sans KR"/>
              </a:rPr>
              <a:t>물품명의 일부입니다</a:t>
            </a:r>
            <a:r>
              <a:rPr lang="en-US" altLang="ko-KR" sz="13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300">
                <a:solidFill>
                  <a:srgbClr val="172E3A"/>
                </a:solidFill>
                <a:latin typeface="Noto Sans KR"/>
                <a:ea typeface="Noto Sans KR"/>
              </a:rPr>
              <a:t>칸을 나누지 않습니다</a:t>
            </a:r>
            <a:r>
              <a:rPr lang="en-US" altLang="ko-KR" sz="13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3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6B4082B3-0485-4EC4-A4E4-C6A53805C202}"/>
              </a:ext>
            </a:extLst>
          </p:cNvPr>
          <p:cNvSpPr/>
          <p:nvPr/>
        </p:nvSpPr>
        <p:spPr>
          <a:xfrm>
            <a:off x="7112000" y="5511800"/>
            <a:ext cx="43942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0AD4E684-4CB9-4027-A6CE-C67125FC06CB}"/>
              </a:ext>
            </a:extLst>
          </p:cNvPr>
          <p:cNvSpPr/>
          <p:nvPr/>
        </p:nvSpPr>
        <p:spPr>
          <a:xfrm>
            <a:off x="7239000" y="5689600"/>
            <a:ext cx="304800" cy="3048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  <a:endParaRPr lang="ko-KR" altLang="en-US" sz="13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BE269656-5B20-4E53-B568-2F1541794372}"/>
              </a:ext>
            </a:extLst>
          </p:cNvPr>
          <p:cNvSpPr/>
          <p:nvPr/>
        </p:nvSpPr>
        <p:spPr>
          <a:xfrm>
            <a:off x="7620000" y="5537200"/>
            <a:ext cx="3810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바깥 쉼표</a:t>
            </a: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0DB7F3E7-F56D-4D90-BC8E-68B945349D64}"/>
              </a:ext>
            </a:extLst>
          </p:cNvPr>
          <p:cNvSpPr/>
          <p:nvPr/>
        </p:nvSpPr>
        <p:spPr>
          <a:xfrm>
            <a:off x="7620000" y="5816600"/>
            <a:ext cx="381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300">
                <a:solidFill>
                  <a:srgbClr val="172E3A"/>
                </a:solidFill>
                <a:latin typeface="Noto Sans KR"/>
                <a:ea typeface="Noto Sans KR"/>
              </a:rPr>
              <a:t>칸을 나눕니다</a:t>
            </a:r>
            <a:r>
              <a:rPr lang="en-US" altLang="ko-KR" sz="13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300">
                <a:solidFill>
                  <a:srgbClr val="172E3A"/>
                </a:solidFill>
                <a:latin typeface="Noto Sans KR"/>
                <a:ea typeface="Noto Sans KR"/>
              </a:rPr>
              <a:t>둘째 줄은 세 칸입니다</a:t>
            </a:r>
            <a:r>
              <a:rPr lang="en-US" altLang="ko-KR" sz="13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3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90537645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496D56-5773-4DFC-8D8A-BAE38E0F48F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132AEF2-6B57-4DEC-9F1D-28D4043B244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예 · 따옴표를 빼면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6FDFB62-27EC-494F-A877-86BE3DA9245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80A0EE8-F3C9-404A-8B36-6B32845FF25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둘째 줄이 네 칸이 되어 수량 칸에 소형이라는 글자가 들어갑니다.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6A92EDB-5AB5-4654-B000-B54A0167D71F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3716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4152B9F-3289-4E6F-B50C-CE94EC06791C}"/>
              </a:ext>
            </a:extLst>
          </p:cNvPr>
          <p:cNvSpPr>
            <a:spLocks noGrp="1"/>
          </p:cNvSpPr>
          <p:nvPr/>
        </p:nvSpPr>
        <p:spPr>
          <a:xfrm>
            <a:off x="838200" y="267716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21CE29E-E6C0-48A9-A4B5-554BE04A69B7}"/>
              </a:ext>
            </a:extLst>
          </p:cNvPr>
          <p:cNvSpPr>
            <a:spLocks noGrp="1"/>
          </p:cNvSpPr>
          <p:nvPr/>
        </p:nvSpPr>
        <p:spPr>
          <a:xfrm>
            <a:off x="1320800" y="267716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item,quantity,bin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6C9B9EC-A543-4463-9BB6-49788B50A6F0}"/>
              </a:ext>
            </a:extLst>
          </p:cNvPr>
          <p:cNvSpPr>
            <a:spLocks noGrp="1"/>
          </p:cNvSpPr>
          <p:nvPr/>
        </p:nvSpPr>
        <p:spPr>
          <a:xfrm>
            <a:off x="838200" y="318516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02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8CFF85D-72C3-47F0-B45D-FB1CAE59F8D4}"/>
              </a:ext>
            </a:extLst>
          </p:cNvPr>
          <p:cNvSpPr>
            <a:spLocks noGrp="1"/>
          </p:cNvSpPr>
          <p:nvPr/>
        </p:nvSpPr>
        <p:spPr>
          <a:xfrm>
            <a:off x="1320800" y="318516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볼트, 소형,12,B02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FDBE7F-3CA5-4917-9E5A-281C8C41825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B03F054-88D6-4C26-B651-786DD40F9A8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1273509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209D2005-C995-4643-A409-85862EE39B4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4980F73-265A-48D9-8735-36E0E97EBC6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복구 · 세 칸으로 다시 묶기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75CFAF5-CE55-43A2-9911-FBF053ED941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3159E8-F023-44FF-864B-BEC980BEEB0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B91EC0E-2222-4A3E-94C0-1E6E8F4316E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068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00EB0485-ACC6-4F62-BA26-092F22C32C6A}"/>
              </a:ext>
            </a:extLst>
          </p:cNvPr>
          <p:cNvSpPr/>
          <p:nvPr/>
        </p:nvSpPr>
        <p:spPr>
          <a:xfrm>
            <a:off x="2921000" y="1981200"/>
            <a:ext cx="2032000" cy="4318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FFFFFF"/>
                </a:solidFill>
                <a:latin typeface="Consolas"/>
              </a:rPr>
              <a:t>item</a:t>
            </a:r>
            <a:endParaRPr lang="ko-KR" altLang="en-US" sz="16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7939EFE1-A714-42FC-B0BA-109F5301B72C}"/>
              </a:ext>
            </a:extLst>
          </p:cNvPr>
          <p:cNvSpPr/>
          <p:nvPr/>
        </p:nvSpPr>
        <p:spPr>
          <a:xfrm>
            <a:off x="5080000" y="1981200"/>
            <a:ext cx="2032000" cy="4318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FFFFFF"/>
                </a:solidFill>
                <a:latin typeface="Consolas"/>
              </a:rPr>
              <a:t>quantity</a:t>
            </a:r>
            <a:endParaRPr lang="ko-KR" altLang="en-US" sz="16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666E0808-75BD-4364-A5FA-639E988468CB}"/>
              </a:ext>
            </a:extLst>
          </p:cNvPr>
          <p:cNvSpPr/>
          <p:nvPr/>
        </p:nvSpPr>
        <p:spPr>
          <a:xfrm>
            <a:off x="7239000" y="1981200"/>
            <a:ext cx="2032000" cy="4318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FFFFFF"/>
                </a:solidFill>
                <a:latin typeface="Consolas"/>
              </a:rPr>
              <a:t>bin</a:t>
            </a:r>
            <a:endParaRPr lang="ko-KR" altLang="en-US" sz="16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A6BDB6D4-13A7-43D4-B956-60D034C7287D}"/>
              </a:ext>
            </a:extLst>
          </p:cNvPr>
          <p:cNvSpPr/>
          <p:nvPr/>
        </p:nvSpPr>
        <p:spPr>
          <a:xfrm>
            <a:off x="9398000" y="1981200"/>
            <a:ext cx="2032000" cy="431800"/>
          </a:xfrm>
          <a:prstGeom prst="rect">
            <a:avLst/>
          </a:prstGeom>
          <a:solidFill>
            <a:srgbClr val="E9EDE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600" b="1">
                <a:solidFill>
                  <a:srgbClr val="5B6B74"/>
                </a:solidFill>
                <a:latin typeface="Consolas"/>
              </a:rPr>
              <a:t>(</a:t>
            </a:r>
            <a:r>
              <a:rPr lang="ko-KR" altLang="en-US" sz="1600" b="1">
                <a:solidFill>
                  <a:srgbClr val="5B6B74"/>
                </a:solidFill>
                <a:latin typeface="Consolas"/>
              </a:rPr>
              <a:t>넘침</a:t>
            </a:r>
            <a:r>
              <a:rPr lang="en-US" altLang="ko-KR" sz="1600" b="1">
                <a:solidFill>
                  <a:srgbClr val="5B6B74"/>
                </a:solidFill>
                <a:latin typeface="Consolas"/>
              </a:rPr>
              <a:t>)</a:t>
            </a:r>
            <a:endParaRPr lang="ko-KR" altLang="en-US" sz="1600" b="1">
              <a:solidFill>
                <a:srgbClr val="5B6B74"/>
              </a:solidFill>
              <a:latin typeface="Consolas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622F245E-F743-47AE-9DE2-01359F86EDBF}"/>
              </a:ext>
            </a:extLst>
          </p:cNvPr>
          <p:cNvSpPr/>
          <p:nvPr/>
        </p:nvSpPr>
        <p:spPr>
          <a:xfrm>
            <a:off x="685800" y="2514600"/>
            <a:ext cx="2108200" cy="13716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AccentBar">
            <a:extLst>
              <a:ext uri="{FF2B5EF4-FFF2-40B4-BE49-F238E27FC236}">
                <a16:creationId xmlns:a16="http://schemas.microsoft.com/office/drawing/2014/main" id="{2E6A7132-5134-4ACE-A464-289267AC2925}"/>
              </a:ext>
            </a:extLst>
          </p:cNvPr>
          <p:cNvSpPr/>
          <p:nvPr/>
        </p:nvSpPr>
        <p:spPr>
          <a:xfrm>
            <a:off x="685800" y="2514600"/>
            <a:ext cx="76200" cy="13716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BB07061C-5A65-44DE-A7AE-2545CC71D6C6}"/>
              </a:ext>
            </a:extLst>
          </p:cNvPr>
          <p:cNvSpPr/>
          <p:nvPr/>
        </p:nvSpPr>
        <p:spPr>
          <a:xfrm>
            <a:off x="838200" y="2565400"/>
            <a:ext cx="1905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오류 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· 4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칸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B606A418-333D-48AA-B249-D73C364024E3}"/>
              </a:ext>
            </a:extLst>
          </p:cNvPr>
          <p:cNvSpPr/>
          <p:nvPr/>
        </p:nvSpPr>
        <p:spPr>
          <a:xfrm>
            <a:off x="838200" y="2895600"/>
            <a:ext cx="1905000" cy="939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300">
                <a:solidFill>
                  <a:srgbClr val="172E3A"/>
                </a:solidFill>
                <a:latin typeface="Consolas"/>
              </a:rPr>
              <a:t>볼트</a:t>
            </a:r>
            <a:r>
              <a:rPr lang="en-US" altLang="ko-KR" sz="1300">
                <a:solidFill>
                  <a:srgbClr val="172E3A"/>
                </a:solidFill>
                <a:latin typeface="Consolas"/>
              </a:rPr>
              <a:t>, </a:t>
            </a:r>
            <a:r>
              <a:rPr lang="ko-KR" altLang="en-US" sz="1300">
                <a:solidFill>
                  <a:srgbClr val="172E3A"/>
                </a:solidFill>
                <a:latin typeface="Consolas"/>
              </a:rPr>
              <a:t>소형</a:t>
            </a:r>
            <a:r>
              <a:rPr lang="en-US" altLang="ko-KR" sz="1300">
                <a:solidFill>
                  <a:srgbClr val="172E3A"/>
                </a:solidFill>
                <a:latin typeface="Consolas"/>
              </a:rPr>
              <a:t>,12,B02</a:t>
            </a:r>
            <a:endParaRPr lang="ko-KR" altLang="en-US" sz="13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5AA41A33-BE6A-43A8-9FD0-A0D359C0FFD2}"/>
              </a:ext>
            </a:extLst>
          </p:cNvPr>
          <p:cNvSpPr/>
          <p:nvPr/>
        </p:nvSpPr>
        <p:spPr>
          <a:xfrm>
            <a:off x="2921000" y="2616200"/>
            <a:ext cx="20320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2571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172E3A"/>
                </a:solidFill>
                <a:latin typeface="Noto Sans KR"/>
                <a:ea typeface="Noto Sans KR"/>
              </a:rPr>
              <a:t>볼트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86A4A4C8-286A-4A52-AE37-CD20350A6951}"/>
              </a:ext>
            </a:extLst>
          </p:cNvPr>
          <p:cNvSpPr/>
          <p:nvPr/>
        </p:nvSpPr>
        <p:spPr>
          <a:xfrm>
            <a:off x="5080000" y="2616200"/>
            <a:ext cx="20320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2571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172E3A"/>
                </a:solidFill>
                <a:latin typeface="Noto Sans KR"/>
                <a:ea typeface="Noto Sans KR"/>
              </a:rPr>
              <a:t>소형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8260117D-BC60-4678-BC49-3439DE0F9F49}"/>
              </a:ext>
            </a:extLst>
          </p:cNvPr>
          <p:cNvSpPr/>
          <p:nvPr/>
        </p:nvSpPr>
        <p:spPr>
          <a:xfrm>
            <a:off x="7239000" y="2616200"/>
            <a:ext cx="20320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2571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Noto Sans KR"/>
                <a:ea typeface="Noto Sans KR"/>
              </a:rPr>
              <a:t>12</a:t>
            </a:r>
            <a:endParaRPr lang="ko-KR" altLang="en-US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66A6557F-F54C-4ED0-8CE4-99BDE8180E61}"/>
              </a:ext>
            </a:extLst>
          </p:cNvPr>
          <p:cNvSpPr/>
          <p:nvPr/>
        </p:nvSpPr>
        <p:spPr>
          <a:xfrm>
            <a:off x="9398000" y="2616200"/>
            <a:ext cx="20320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2571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Noto Sans KR"/>
                <a:ea typeface="Noto Sans KR"/>
              </a:rPr>
              <a:t>B02</a:t>
            </a:r>
            <a:endParaRPr lang="ko-KR" altLang="en-US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F36DD849-1D20-4D95-A934-20E1DECD80BE}"/>
              </a:ext>
            </a:extLst>
          </p:cNvPr>
          <p:cNvSpPr/>
          <p:nvPr/>
        </p:nvSpPr>
        <p:spPr>
          <a:xfrm>
            <a:off x="2921000" y="3276600"/>
            <a:ext cx="8509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따옴표가 없어 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볼트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, 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소형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이 두 칸으로 갈라졌습니다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수량 칸에 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소형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'</a:t>
            </a:r>
            <a:r>
              <a:rPr lang="ko-KR" altLang="en-US" sz="1500">
                <a:solidFill>
                  <a:srgbClr val="A64512"/>
                </a:solidFill>
                <a:latin typeface="Noto Sans KR"/>
                <a:ea typeface="Noto Sans KR"/>
              </a:rPr>
              <a:t>이 들어갑니다</a:t>
            </a:r>
            <a:r>
              <a:rPr lang="en-US" altLang="ko-KR" sz="15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A64512"/>
              </a:solidFill>
              <a:latin typeface="Noto Sans KR"/>
              <a:ea typeface="Noto Sans KR"/>
            </a:endParaRP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5DBCD9B9-A1DD-43DF-9B64-689FED6AF240}"/>
              </a:ext>
            </a:extLst>
          </p:cNvPr>
          <p:cNvSpPr/>
          <p:nvPr/>
        </p:nvSpPr>
        <p:spPr>
          <a:xfrm>
            <a:off x="685800" y="4038600"/>
            <a:ext cx="2108200" cy="13716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AccentBar">
            <a:extLst>
              <a:ext uri="{FF2B5EF4-FFF2-40B4-BE49-F238E27FC236}">
                <a16:creationId xmlns:a16="http://schemas.microsoft.com/office/drawing/2014/main" id="{0DA6BC94-C719-45DA-8C54-8AD29DEC8434}"/>
              </a:ext>
            </a:extLst>
          </p:cNvPr>
          <p:cNvSpPr/>
          <p:nvPr/>
        </p:nvSpPr>
        <p:spPr>
          <a:xfrm>
            <a:off x="685800" y="4038600"/>
            <a:ext cx="76200" cy="1371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656D02CF-62FC-42D7-82BE-9DAC6DFE2882}"/>
              </a:ext>
            </a:extLst>
          </p:cNvPr>
          <p:cNvSpPr/>
          <p:nvPr/>
        </p:nvSpPr>
        <p:spPr>
          <a:xfrm>
            <a:off x="838200" y="4089400"/>
            <a:ext cx="1905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고친 줄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· 3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칸</a:t>
            </a: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D99EDB4D-DCC8-4014-9F97-A0B90CAEAD03}"/>
              </a:ext>
            </a:extLst>
          </p:cNvPr>
          <p:cNvSpPr/>
          <p:nvPr/>
        </p:nvSpPr>
        <p:spPr>
          <a:xfrm>
            <a:off x="838200" y="4419600"/>
            <a:ext cx="1905000" cy="939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en-US" altLang="ko-KR" sz="1300">
                <a:solidFill>
                  <a:srgbClr val="172E3A"/>
                </a:solidFill>
                <a:latin typeface="Consolas"/>
              </a:rPr>
              <a:t>"</a:t>
            </a:r>
            <a:r>
              <a:rPr lang="ko-KR" altLang="en-US" sz="1300">
                <a:solidFill>
                  <a:srgbClr val="172E3A"/>
                </a:solidFill>
                <a:latin typeface="Consolas"/>
              </a:rPr>
              <a:t>볼트</a:t>
            </a:r>
            <a:r>
              <a:rPr lang="en-US" altLang="ko-KR" sz="1300">
                <a:solidFill>
                  <a:srgbClr val="172E3A"/>
                </a:solidFill>
                <a:latin typeface="Consolas"/>
              </a:rPr>
              <a:t>, </a:t>
            </a:r>
            <a:r>
              <a:rPr lang="ko-KR" altLang="en-US" sz="1300">
                <a:solidFill>
                  <a:srgbClr val="172E3A"/>
                </a:solidFill>
                <a:latin typeface="Consolas"/>
              </a:rPr>
              <a:t>소형</a:t>
            </a:r>
            <a:r>
              <a:rPr lang="en-US" altLang="ko-KR" sz="1300">
                <a:solidFill>
                  <a:srgbClr val="172E3A"/>
                </a:solidFill>
                <a:latin typeface="Consolas"/>
              </a:rPr>
              <a:t>",12,B02</a:t>
            </a:r>
            <a:endParaRPr lang="ko-KR" altLang="en-US" sz="13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C2380D54-A205-4261-B540-15A80023533C}"/>
              </a:ext>
            </a:extLst>
          </p:cNvPr>
          <p:cNvSpPr/>
          <p:nvPr/>
        </p:nvSpPr>
        <p:spPr>
          <a:xfrm>
            <a:off x="2921000" y="4140200"/>
            <a:ext cx="20320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r>
              <a:rPr lang="ko-KR" altLang="en-US" b="1">
                <a:solidFill>
                  <a:srgbClr val="172E3A"/>
                </a:solidFill>
                <a:latin typeface="Noto Sans KR"/>
                <a:ea typeface="Noto Sans KR"/>
              </a:rPr>
              <a:t>볼트</a:t>
            </a:r>
            <a:r>
              <a:rPr lang="en-US" altLang="ko-KR" b="1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b="1">
                <a:solidFill>
                  <a:srgbClr val="172E3A"/>
                </a:solidFill>
                <a:latin typeface="Noto Sans KR"/>
                <a:ea typeface="Noto Sans KR"/>
              </a:rPr>
              <a:t>소형</a:t>
            </a:r>
            <a:r>
              <a:rPr lang="en-US" altLang="ko-KR" b="1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endParaRPr lang="ko-KR" altLang="en-US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63C22066-5F25-4866-BEBD-D632BF5E6B91}"/>
              </a:ext>
            </a:extLst>
          </p:cNvPr>
          <p:cNvSpPr/>
          <p:nvPr/>
        </p:nvSpPr>
        <p:spPr>
          <a:xfrm>
            <a:off x="5080000" y="4140200"/>
            <a:ext cx="20320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Noto Sans KR"/>
                <a:ea typeface="Noto Sans KR"/>
              </a:rPr>
              <a:t>12</a:t>
            </a:r>
            <a:endParaRPr lang="ko-KR" altLang="en-US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86DE2529-5E96-46DF-9248-EECF45DE8D1D}"/>
              </a:ext>
            </a:extLst>
          </p:cNvPr>
          <p:cNvSpPr/>
          <p:nvPr/>
        </p:nvSpPr>
        <p:spPr>
          <a:xfrm>
            <a:off x="7239000" y="4140200"/>
            <a:ext cx="2032000" cy="58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Noto Sans KR"/>
                <a:ea typeface="Noto Sans KR"/>
              </a:rPr>
              <a:t>B02</a:t>
            </a:r>
            <a:endParaRPr lang="ko-KR" altLang="en-US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3AFA7DE0-286C-411E-B96C-922C4A00BFAE}"/>
              </a:ext>
            </a:extLst>
          </p:cNvPr>
          <p:cNvSpPr/>
          <p:nvPr/>
        </p:nvSpPr>
        <p:spPr>
          <a:xfrm>
            <a:off x="2921000" y="4800600"/>
            <a:ext cx="85090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08776D"/>
                </a:solidFill>
                <a:latin typeface="Noto Sans KR"/>
                <a:ea typeface="Noto Sans KR"/>
              </a:rPr>
              <a:t>물품명 전체를 큰따옴표 한 쌍으로 감쌌습니다</a:t>
            </a:r>
            <a:r>
              <a:rPr lang="en-US" altLang="ko-KR" sz="1500">
                <a:solidFill>
                  <a:srgbClr val="08776D"/>
                </a:solidFill>
                <a:latin typeface="Noto Sans KR"/>
                <a:ea typeface="Noto Sans KR"/>
              </a:rPr>
              <a:t>. 12</a:t>
            </a:r>
            <a:r>
              <a:rPr lang="ko-KR" altLang="en-US" sz="1500">
                <a:solidFill>
                  <a:srgbClr val="08776D"/>
                </a:solidFill>
                <a:latin typeface="Noto Sans KR"/>
                <a:ea typeface="Noto Sans KR"/>
              </a:rPr>
              <a:t>와 </a:t>
            </a:r>
            <a:r>
              <a:rPr lang="en-US" altLang="ko-KR" sz="1500">
                <a:solidFill>
                  <a:srgbClr val="08776D"/>
                </a:solidFill>
                <a:latin typeface="Noto Sans KR"/>
                <a:ea typeface="Noto Sans KR"/>
              </a:rPr>
              <a:t>B02</a:t>
            </a:r>
            <a:r>
              <a:rPr lang="ko-KR" altLang="en-US" sz="1500">
                <a:solidFill>
                  <a:srgbClr val="08776D"/>
                </a:solidFill>
                <a:latin typeface="Noto Sans KR"/>
                <a:ea typeface="Noto Sans KR"/>
              </a:rPr>
              <a:t>는 그대로 한 칸씩입니다</a:t>
            </a:r>
            <a:r>
              <a:rPr lang="en-US" altLang="ko-KR" sz="1500">
                <a:solidFill>
                  <a:srgbClr val="08776D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377B7477-75D2-419B-91FF-AF894F08C908}"/>
              </a:ext>
            </a:extLst>
          </p:cNvPr>
          <p:cNvSpPr/>
          <p:nvPr/>
        </p:nvSpPr>
        <p:spPr>
          <a:xfrm>
            <a:off x="685800" y="5588000"/>
            <a:ext cx="10820400" cy="6096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6" name="AccentBar">
            <a:extLst>
              <a:ext uri="{FF2B5EF4-FFF2-40B4-BE49-F238E27FC236}">
                <a16:creationId xmlns:a16="http://schemas.microsoft.com/office/drawing/2014/main" id="{1A5A9262-E095-4A4C-A187-59BFA0909581}"/>
              </a:ext>
            </a:extLst>
          </p:cNvPr>
          <p:cNvSpPr/>
          <p:nvPr/>
        </p:nvSpPr>
        <p:spPr>
          <a:xfrm>
            <a:off x="685800" y="5588000"/>
            <a:ext cx="76200" cy="6096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05395E38-84D4-4ED3-A4D5-1446908A9B1F}"/>
              </a:ext>
            </a:extLst>
          </p:cNvPr>
          <p:cNvSpPr/>
          <p:nvPr/>
        </p:nvSpPr>
        <p:spPr>
          <a:xfrm>
            <a:off x="914400" y="5588000"/>
            <a:ext cx="10541000" cy="609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확인 방법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쉼표 개수를 세지 말고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따옴표 안과 밖을 나눠서 봅니다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51495812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2BC943DC-68A7-456E-B254-78C207B6468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602426F-5590-4FC2-B0E4-773B23C2618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CSV</a:t>
            </a:r>
            <a:r>
              <a:rPr lang="ko-KR" altLang="en-US"/>
              <a:t>에 값을 적을 때 지킬 세 가지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82EDF01-2B6F-443F-B881-7C80258EC45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548FB2D-C9A4-442A-97F6-D94B0FE31AF4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사전에서 빈칸의 뜻을 정합니다.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A834C89-4FAA-4933-9371-D4292EDEE5A3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번호 앞의 0을 빠뜨리지 않고 적습니다.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BFE59A8-80A6-44AC-86AF-FCF914D4ED5B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저장할 때 UTF-8과 확장자를 확인합니다.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B7E7566-5446-491A-BB85-43D83C83934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92CE9E9-405E-4DF2-BF89-583827F8931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069</a:t>
            </a:r>
            <a:endParaRPr/>
          </a:p>
        </p:txBody>
      </p:sp>
      <p:sp>
        <p:nvSpPr>
          <p:cNvPr id="11" name="AccentBar">
            <a:extLst>
              <a:ext uri="{FF2B5EF4-FFF2-40B4-BE49-F238E27FC236}">
                <a16:creationId xmlns:a16="http://schemas.microsoft.com/office/drawing/2014/main" id="{B725BCD5-FF7B-48D9-AC0F-08906788ACF4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269B550E-C7E9-4CEA-AD00-70C6EAEDF9E3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5AB1135-E87B-49FC-A44F-85F914A7B522}"/>
              </a:ext>
            </a:extLst>
          </p:cNvPr>
          <p:cNvSpPr/>
          <p:nvPr/>
        </p:nvSpPr>
        <p:spPr>
          <a:xfrm>
            <a:off x="685800" y="42672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79900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0BF3890-C42C-47C9-8BE8-EBF10F6032A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D0BC264-5D1A-4A14-92A1-6AF6993D3B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행을 더한 뒤 확인할 다섯 가지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14817AC-AB2C-4D53-9400-CF5616B0DDD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1245277-4EBB-4E8E-B2A4-0865055555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05350FA-455E-443E-BADC-52210A10A73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070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9808EAAE-E66F-47E0-B1C4-0642A08F6764}"/>
              </a:ext>
            </a:extLst>
          </p:cNvPr>
          <p:cNvSpPr/>
          <p:nvPr/>
        </p:nvSpPr>
        <p:spPr>
          <a:xfrm>
            <a:off x="685800" y="1930400"/>
            <a:ext cx="10820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3E484728-2A14-4696-986A-5291315E31F8}"/>
              </a:ext>
            </a:extLst>
          </p:cNvPr>
          <p:cNvSpPr/>
          <p:nvPr/>
        </p:nvSpPr>
        <p:spPr>
          <a:xfrm>
            <a:off x="1397000" y="1930400"/>
            <a:ext cx="2540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5B6B74"/>
                </a:solidFill>
                <a:latin typeface="Noto Sans KR"/>
                <a:ea typeface="Noto Sans KR"/>
              </a:rPr>
              <a:t>확인할 것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A0145552-5A25-4B46-87D4-6B3E6EEAA862}"/>
              </a:ext>
            </a:extLst>
          </p:cNvPr>
          <p:cNvSpPr/>
          <p:nvPr/>
        </p:nvSpPr>
        <p:spPr>
          <a:xfrm>
            <a:off x="4064000" y="1930400"/>
            <a:ext cx="4191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5B6B74"/>
                </a:solidFill>
                <a:latin typeface="Noto Sans KR"/>
                <a:ea typeface="Noto Sans KR"/>
              </a:rPr>
              <a:t>질문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DB164C46-DE26-417A-95B7-FA6E57102E3A}"/>
              </a:ext>
            </a:extLst>
          </p:cNvPr>
          <p:cNvSpPr/>
          <p:nvPr/>
        </p:nvSpPr>
        <p:spPr>
          <a:xfrm>
            <a:off x="8382000" y="1930400"/>
            <a:ext cx="31242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5B6B74"/>
                </a:solidFill>
                <a:latin typeface="Noto Sans KR"/>
                <a:ea typeface="Noto Sans KR"/>
              </a:rPr>
              <a:t>예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CBCC19D0-87AF-4554-A951-3E8ED982B199}"/>
              </a:ext>
            </a:extLst>
          </p:cNvPr>
          <p:cNvSpPr/>
          <p:nvPr/>
        </p:nvSpPr>
        <p:spPr>
          <a:xfrm>
            <a:off x="685800" y="2336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CC05400C-E6D3-4791-A84C-65EE888BD48F}"/>
              </a:ext>
            </a:extLst>
          </p:cNvPr>
          <p:cNvSpPr/>
          <p:nvPr/>
        </p:nvSpPr>
        <p:spPr>
          <a:xfrm>
            <a:off x="863600" y="2501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C48B1EE4-DB15-47FA-807F-CF0D0AB94C35}"/>
              </a:ext>
            </a:extLst>
          </p:cNvPr>
          <p:cNvSpPr/>
          <p:nvPr/>
        </p:nvSpPr>
        <p:spPr>
          <a:xfrm>
            <a:off x="1397000" y="2336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칸 수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A9DAF1BA-A463-4144-8626-D3A090E6BCFA}"/>
              </a:ext>
            </a:extLst>
          </p:cNvPr>
          <p:cNvSpPr/>
          <p:nvPr/>
        </p:nvSpPr>
        <p:spPr>
          <a:xfrm>
            <a:off x="4064000" y="2336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모든 줄의 칸 수가 헤더와 같나요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11EA1EF7-AF68-49C6-9B17-AB96499AD9B1}"/>
              </a:ext>
            </a:extLst>
          </p:cNvPr>
          <p:cNvSpPr/>
          <p:nvPr/>
        </p:nvSpPr>
        <p:spPr>
          <a:xfrm>
            <a:off x="8382000" y="2336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헤더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3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칸이면 모든 줄이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3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칸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75632FD4-823B-42A3-8CAB-37AA0CDB4E2B}"/>
              </a:ext>
            </a:extLst>
          </p:cNvPr>
          <p:cNvSpPr/>
          <p:nvPr/>
        </p:nvSpPr>
        <p:spPr>
          <a:xfrm>
            <a:off x="685800" y="3098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8FAC732A-4628-408F-9287-C16B3A19E457}"/>
              </a:ext>
            </a:extLst>
          </p:cNvPr>
          <p:cNvSpPr/>
          <p:nvPr/>
        </p:nvSpPr>
        <p:spPr>
          <a:xfrm>
            <a:off x="863600" y="3263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83B1DE07-1895-4954-A1B7-B3D73D72489A}"/>
              </a:ext>
            </a:extLst>
          </p:cNvPr>
          <p:cNvSpPr/>
          <p:nvPr/>
        </p:nvSpPr>
        <p:spPr>
          <a:xfrm>
            <a:off x="1397000" y="3098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따옴표</a:t>
            </a: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1A201056-79F4-462A-8B9C-0FEAD5F5C9DE}"/>
              </a:ext>
            </a:extLst>
          </p:cNvPr>
          <p:cNvSpPr/>
          <p:nvPr/>
        </p:nvSpPr>
        <p:spPr>
          <a:xfrm>
            <a:off x="4064000" y="3098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쉼표가 든 값을 큰따옴표로 감쌌나요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8778C36E-6D9F-4A1E-8B0E-874A8E221FE3}"/>
              </a:ext>
            </a:extLst>
          </p:cNvPr>
          <p:cNvSpPr/>
          <p:nvPr/>
        </p:nvSpPr>
        <p:spPr>
          <a:xfrm>
            <a:off x="8382000" y="3098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볼트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소형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95EBA334-49FC-40E6-BC3F-2FEFA454B926}"/>
              </a:ext>
            </a:extLst>
          </p:cNvPr>
          <p:cNvSpPr/>
          <p:nvPr/>
        </p:nvSpPr>
        <p:spPr>
          <a:xfrm>
            <a:off x="685800" y="3860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FFC54844-96A4-4F69-9D49-5ED7DA6EE870}"/>
              </a:ext>
            </a:extLst>
          </p:cNvPr>
          <p:cNvSpPr/>
          <p:nvPr/>
        </p:nvSpPr>
        <p:spPr>
          <a:xfrm>
            <a:off x="863600" y="4025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292B2607-CAA3-449B-ADEA-1755D63EC8B3}"/>
              </a:ext>
            </a:extLst>
          </p:cNvPr>
          <p:cNvSpPr/>
          <p:nvPr/>
        </p:nvSpPr>
        <p:spPr>
          <a:xfrm>
            <a:off x="1397000" y="3860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키 중복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10D9DF2E-49D5-4E88-A8F2-FEFD1264F90D}"/>
              </a:ext>
            </a:extLst>
          </p:cNvPr>
          <p:cNvSpPr/>
          <p:nvPr/>
        </p:nvSpPr>
        <p:spPr>
          <a:xfrm>
            <a:off x="4064000" y="3860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같은 키가 두 번 나오지 않나요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18676EA1-9318-4883-A8C2-764F6870163D}"/>
              </a:ext>
            </a:extLst>
          </p:cNvPr>
          <p:cNvSpPr/>
          <p:nvPr/>
        </p:nvSpPr>
        <p:spPr>
          <a:xfrm>
            <a:off x="8382000" y="3860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같은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bin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에 같은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item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이 두 줄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X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F1A29D2A-3629-43F4-AEEF-D5F6FAF73754}"/>
              </a:ext>
            </a:extLst>
          </p:cNvPr>
          <p:cNvSpPr/>
          <p:nvPr/>
        </p:nvSpPr>
        <p:spPr>
          <a:xfrm>
            <a:off x="685800" y="4622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74195CC4-96EA-4882-9DB2-7BB464A13CFB}"/>
              </a:ext>
            </a:extLst>
          </p:cNvPr>
          <p:cNvSpPr/>
          <p:nvPr/>
        </p:nvSpPr>
        <p:spPr>
          <a:xfrm>
            <a:off x="863600" y="4787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51CD8FC9-721F-4113-83F5-15F3DB5431B0}"/>
              </a:ext>
            </a:extLst>
          </p:cNvPr>
          <p:cNvSpPr/>
          <p:nvPr/>
        </p:nvSpPr>
        <p:spPr>
          <a:xfrm>
            <a:off x="1397000" y="4622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빈칸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5E0384F2-F7DF-4226-A1A6-24C5B12F145D}"/>
              </a:ext>
            </a:extLst>
          </p:cNvPr>
          <p:cNvSpPr/>
          <p:nvPr/>
        </p:nvSpPr>
        <p:spPr>
          <a:xfrm>
            <a:off x="4064000" y="4622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모르는 값을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0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으로 채우지 않았나요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1666E06F-A7A9-494B-9FC8-9DDA6686DC92}"/>
              </a:ext>
            </a:extLst>
          </p:cNvPr>
          <p:cNvSpPr/>
          <p:nvPr/>
        </p:nvSpPr>
        <p:spPr>
          <a:xfrm>
            <a:off x="8382000" y="4622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모르면 비워 두고 규칙대로</a:t>
            </a: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5274B04E-A1C9-4FDB-9929-77B3657925AC}"/>
              </a:ext>
            </a:extLst>
          </p:cNvPr>
          <p:cNvSpPr/>
          <p:nvPr/>
        </p:nvSpPr>
        <p:spPr>
          <a:xfrm>
            <a:off x="685800" y="5384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496538A5-46A5-4FB6-89AC-9C90EB442AF3}"/>
              </a:ext>
            </a:extLst>
          </p:cNvPr>
          <p:cNvSpPr/>
          <p:nvPr/>
        </p:nvSpPr>
        <p:spPr>
          <a:xfrm>
            <a:off x="863600" y="5549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38596D57-968C-43C9-922F-6FC7F7D78512}"/>
              </a:ext>
            </a:extLst>
          </p:cNvPr>
          <p:cNvSpPr/>
          <p:nvPr/>
        </p:nvSpPr>
        <p:spPr>
          <a:xfrm>
            <a:off x="1397000" y="5384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저장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A8F9DD84-1348-4733-AD9B-13E1AFC5135E}"/>
              </a:ext>
            </a:extLst>
          </p:cNvPr>
          <p:cNvSpPr/>
          <p:nvPr/>
        </p:nvSpPr>
        <p:spPr>
          <a:xfrm>
            <a:off x="4064000" y="5384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UTF-8, .csv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로 저장하고 다시 열었나요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A74771FB-312A-4BB6-8697-8200BD5DFEF4}"/>
              </a:ext>
            </a:extLst>
          </p:cNvPr>
          <p:cNvSpPr/>
          <p:nvPr/>
        </p:nvSpPr>
        <p:spPr>
          <a:xfrm>
            <a:off x="8382000" y="5384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supply.csv (O) / .csv.txt (X)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37184993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D007D2F-8921-49DE-81D7-D74718F192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6801D17-0790-46DE-A86A-84775F99D6F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36CB5-FD9B-42A9-8A3F-FE050906F2A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한 건의 CSV 작성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6468588-4CE8-4B49-AED7-1BA0F9F42B3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B8FD8D9-A355-4B86-A382-71A8C0D4D9D1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C1DEFA2-8CE0-4C77-B5A2-C89345382182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책 이름은 Python, 처음부터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66BDD1-EA6E-4632-99DF-364C7304353A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C0C261A-047E-4702-95DB-B6CE4533087A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가격 15000, 상품번호 0007입니다.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760836F-8514-404A-9920-A540B4F64CD3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190A61E-EC4B-4FEE-B866-910F702396A1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헤더와 데이터 한 줄을 작성하세요.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9EEE855-5FB3-459D-9CB4-22F54BE5E7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C61C1EAD-B717-4D39-971A-3A3F203BF47F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47B94FD5-1FD0-40C8-943F-55E95925557F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7CDE084D-98BB-4E99-BB93-6E3E6CB1F64B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6CE72F9-6E45-4096-B5C6-79BE044375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071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4117060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96F69A0-5AC2-487D-ADD5-CBB6EA06F67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9A735DA-BFDD-40E0-A9D9-E1A4D5A21B7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책 한 건의 CSV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8B1E230-B5E0-4647-81D3-772F425F25F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2DDE738-B029-4286-AB18-71D1B83BA3E5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제목의 쉼표는 따옴표 안의 내용입니다.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0070A37-3C3E-4521-A3BE-CB5084ABFFBE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0007은 식별자입니다. 스프레드시트에 가져올 때 텍스트 열로 지정합니다.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2BACC01-AF23-4E69-8936-A2744941C854}"/>
              </a:ext>
            </a:extLst>
          </p:cNvPr>
          <p:cNvSpPr>
            <a:spLocks noGrp="1"/>
          </p:cNvSpPr>
          <p:nvPr/>
        </p:nvSpPr>
        <p:spPr>
          <a:xfrm>
            <a:off x="685800" y="284607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따옴표만 넣었다고 모든 도구에서 앞 0이 보존되는 것은 아닙니다.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8F4B27F-802E-42BF-8866-0C04FF1932E0}"/>
              </a:ext>
            </a:extLst>
          </p:cNvPr>
          <p:cNvSpPr>
            <a:spLocks noGrp="1"/>
          </p:cNvSpPr>
          <p:nvPr/>
        </p:nvSpPr>
        <p:spPr>
          <a:xfrm>
            <a:off x="685800" y="3421380"/>
            <a:ext cx="10820400" cy="13716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A3D9EBD-6C37-410D-B773-ECFAFF23F2C8}"/>
              </a:ext>
            </a:extLst>
          </p:cNvPr>
          <p:cNvSpPr>
            <a:spLocks noGrp="1"/>
          </p:cNvSpPr>
          <p:nvPr/>
        </p:nvSpPr>
        <p:spPr>
          <a:xfrm>
            <a:off x="838200" y="3599179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01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728D54C-CC56-4D59-9110-3DC2059D6EE2}"/>
              </a:ext>
            </a:extLst>
          </p:cNvPr>
          <p:cNvSpPr>
            <a:spLocks noGrp="1"/>
          </p:cNvSpPr>
          <p:nvPr/>
        </p:nvSpPr>
        <p:spPr>
          <a:xfrm>
            <a:off x="1320800" y="3599179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book,price,product_id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4B0EBE7-5DF6-46EB-863F-123E06074866}"/>
              </a:ext>
            </a:extLst>
          </p:cNvPr>
          <p:cNvSpPr>
            <a:spLocks noGrp="1"/>
          </p:cNvSpPr>
          <p:nvPr/>
        </p:nvSpPr>
        <p:spPr>
          <a:xfrm>
            <a:off x="838200" y="4107179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02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ED5D3BD-6046-4128-989C-97CC9751725D}"/>
              </a:ext>
            </a:extLst>
          </p:cNvPr>
          <p:cNvSpPr>
            <a:spLocks noGrp="1"/>
          </p:cNvSpPr>
          <p:nvPr/>
        </p:nvSpPr>
        <p:spPr>
          <a:xfrm>
            <a:off x="1320800" y="4107179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"Python, 처음부터",15000,0007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F60EFFE-0312-4983-B468-2783DF99128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9492905-50CF-46FC-9B8A-383E9E5B53A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072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8561682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4</a:t>
            </a:r>
            <a:r>
              <a:rPr lang="ko-KR" altLang="en-US"/>
              <a:t>교시   도전 과제 </a:t>
            </a:r>
            <a:r>
              <a:rPr lang="en-US" altLang="ko-KR"/>
              <a:t>· </a:t>
            </a:r>
            <a:r>
              <a:rPr lang="ko-KR" altLang="en-US"/>
              <a:t>빨리 끝낸 분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도전 </a:t>
            </a:r>
            <a:r>
              <a:rPr lang="en-US" altLang="ko-KR"/>
              <a:t>· </a:t>
            </a:r>
            <a:r>
              <a:rPr lang="ko-KR" altLang="en-US"/>
              <a:t>따옴표가 필요한 칸 찾기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문제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물품명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장갑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대형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',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수량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20,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비고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창고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B, 2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층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을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CSV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한 줄로 쓰세요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조건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헤더는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item,quantity,note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힌트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쉼표가 들어 있는 칸이 몇 개인가요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00" b="1">
                <a:solidFill>
                  <a:srgbClr val="C2571A"/>
                </a:solidFill>
                <a:latin typeface="Noto Sans KR"/>
                <a:ea typeface="Noto Sans KR"/>
              </a:rPr>
              <a:t>풀이 예</a:t>
            </a:r>
            <a:r>
              <a:rPr lang="en-US" altLang="ko-KR" sz="1700" b="1">
                <a:solidFill>
                  <a:srgbClr val="C2571A"/>
                </a:solidFill>
                <a:latin typeface="Noto Sans KR"/>
                <a:ea typeface="Noto Sans KR"/>
              </a:rPr>
              <a:t>: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 "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장갑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대형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",20,"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창고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B, 2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층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" ·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쉼표가 든 두 칸을 따옴표로 감쌉니다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.</a:t>
            </a:r>
            <a:endParaRPr sz="17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073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880424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2AB305-8F64-4980-9FAF-BC360362A9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E29FF8E-C351-466B-B640-7D9B6A5358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4</a:t>
            </a:r>
            <a:r>
              <a:rPr lang="ko-KR" altLang="en-US"/>
              <a:t>교시 확인 퀴즈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D4A9C6E-2943-44BA-A6DB-DCABE3BB6D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확인 퀴즈 </a:t>
            </a:r>
            <a:r>
              <a:rPr lang="en-US" altLang="ko-KR"/>
              <a:t>· CSV</a:t>
            </a:r>
            <a:r>
              <a:rPr lang="ko-KR" altLang="en-US"/>
              <a:t>의 칸과 저장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5FAA46-92DA-40F2-8034-3F9D15FA5C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34B94-05FB-4723-BDE2-842C7DC44B91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756AF40-FA5B-4514-980E-36A250D2D30F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헤더 </a:t>
            </a:r>
            <a:r>
              <a:rPr lang="en-US" altLang="ko-KR" sz="2100">
                <a:solidFill>
                  <a:srgbClr val="FFFFFF"/>
                </a:solidFill>
              </a:rPr>
              <a:t>name,qty </a:t>
            </a:r>
            <a:r>
              <a:rPr lang="ko-KR" altLang="en-US" sz="2100">
                <a:solidFill>
                  <a:srgbClr val="FFFFFF"/>
                </a:solidFill>
              </a:rPr>
              <a:t>아래 줄이 사과</a:t>
            </a:r>
            <a:r>
              <a:rPr lang="en-US" altLang="ko-KR" sz="2100">
                <a:solidFill>
                  <a:srgbClr val="FFFFFF"/>
                </a:solidFill>
              </a:rPr>
              <a:t>, </a:t>
            </a:r>
            <a:r>
              <a:rPr lang="ko-KR" altLang="en-US" sz="2100">
                <a:solidFill>
                  <a:srgbClr val="FFFFFF"/>
                </a:solidFill>
              </a:rPr>
              <a:t>대과</a:t>
            </a:r>
            <a:r>
              <a:rPr lang="en-US" altLang="ko-KR" sz="2100">
                <a:solidFill>
                  <a:srgbClr val="FFFFFF"/>
                </a:solidFill>
              </a:rPr>
              <a:t>,3 </a:t>
            </a:r>
            <a:r>
              <a:rPr lang="ko-KR" altLang="en-US" sz="2100">
                <a:solidFill>
                  <a:srgbClr val="FFFFFF"/>
                </a:solidFill>
              </a:rPr>
              <a:t>입니다</a:t>
            </a:r>
            <a:r>
              <a:rPr lang="en-US" altLang="ko-KR" sz="2100">
                <a:solidFill>
                  <a:srgbClr val="FFFFFF"/>
                </a:solidFill>
              </a:rPr>
              <a:t>. </a:t>
            </a:r>
            <a:r>
              <a:rPr lang="ko-KR" altLang="en-US" sz="2100">
                <a:solidFill>
                  <a:srgbClr val="FFFFFF"/>
                </a:solidFill>
              </a:rPr>
              <a:t>몇 칸으로 읽히나요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391FAB-8484-458B-85DF-30B3C473A0FE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DB4828-8F96-4CFE-8217-3A32A78B4FFC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헤더 한 줄과 데이터 네 줄인 </a:t>
            </a:r>
            <a:r>
              <a:rPr lang="en-US" altLang="ko-KR" sz="2100">
                <a:solidFill>
                  <a:srgbClr val="FFFFFF"/>
                </a:solidFill>
              </a:rPr>
              <a:t>CSV</a:t>
            </a:r>
            <a:r>
              <a:rPr lang="ko-KR" altLang="en-US" sz="2100">
                <a:solidFill>
                  <a:srgbClr val="FFFFFF"/>
                </a:solidFill>
              </a:rPr>
              <a:t>의 데이터 건수는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E468B9-6F76-4360-BCC9-6482DD5FEEFC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C3E46D0-B50C-4D1E-A688-081FCB367D94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저장한 파일 이름이 </a:t>
            </a:r>
            <a:r>
              <a:rPr lang="en-US" altLang="ko-KR" sz="2100">
                <a:solidFill>
                  <a:srgbClr val="FFFFFF"/>
                </a:solidFill>
              </a:rPr>
              <a:t>supply.csv.txt</a:t>
            </a:r>
            <a:r>
              <a:rPr lang="ko-KR" altLang="en-US" sz="2100">
                <a:solidFill>
                  <a:srgbClr val="FFFFFF"/>
                </a:solidFill>
              </a:rPr>
              <a:t>입니다</a:t>
            </a:r>
            <a:r>
              <a:rPr lang="en-US" altLang="ko-KR" sz="2100">
                <a:solidFill>
                  <a:srgbClr val="FFFFFF"/>
                </a:solidFill>
              </a:rPr>
              <a:t>. </a:t>
            </a:r>
            <a:r>
              <a:rPr lang="ko-KR" altLang="en-US" sz="2100">
                <a:solidFill>
                  <a:srgbClr val="FFFFFF"/>
                </a:solidFill>
              </a:rPr>
              <a:t>무엇이 문제인가요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6645A2-DAD4-4958-BA5C-867295967A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C4FCE9C4-2373-4846-80E5-CF1BCE20CF5E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01537A45-E21E-448F-A944-92119A7EFB55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A8BA8D4B-D18E-47CE-9D5E-2F9C6B1FB823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B6BF4B3-6AB7-4574-9866-EC5F209644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074</a:t>
            </a:r>
            <a:endParaRPr/>
          </a:p>
        </p:txBody>
      </p:sp>
      <p:sp>
        <p:nvSpPr>
          <p:cNvPr id="18" name="QuizHow">
            <a:extLst>
              <a:ext uri="{FF2B5EF4-FFF2-40B4-BE49-F238E27FC236}">
                <a16:creationId xmlns:a16="http://schemas.microsoft.com/office/drawing/2014/main" id="{5FB285B8-7C48-491C-A8D7-B80C4F560A01}"/>
              </a:ext>
            </a:extLst>
          </p:cNvPr>
          <p:cNvSpPr txBox="1"/>
          <p:nvPr/>
        </p:nvSpPr>
        <p:spPr>
          <a:xfrm>
            <a:off x="685800" y="5435600"/>
            <a:ext cx="8534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답하는 방법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문제마다 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1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분 생각한 뒤 손을 들어 답합니다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정답은 다음 장에 있습니다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9FD9CF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354856214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4</a:t>
            </a:r>
            <a:r>
              <a:rPr lang="ko-KR" altLang="en-US"/>
              <a:t>교시 퀴즈 정답과 정리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정답 </a:t>
            </a:r>
            <a:r>
              <a:rPr lang="en-US" altLang="ko-KR"/>
              <a:t>· </a:t>
            </a:r>
            <a:r>
              <a:rPr lang="ko-KR" altLang="en-US"/>
              <a:t>따옴표 안팎의 쉼표를 구별합니다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1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3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칸입니다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"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사과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대과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",3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으로 감싸야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2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칸이 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2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칸처럼 보여도 따옴표가 없으면 쉼표마다 나뉩니다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2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4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건입니다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헤더는 열 이름이므로 건수에 넣지 않습니다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헤더까지 세어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5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건이라고 답하기 쉽습니다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3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텍스트 파일로 저장됐습니다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형식을 모든 파일로 두고 다시 저장합니다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이름은 맞아 보여도 형식이 텍스트 문서입니다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정리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저장 후 다시 열어 칸 수와 마지막 줄을 확인합니다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075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56733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DBF1653C-19E3-46A1-B5E5-EBD4289A658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5666243-9682-4B9A-B7EC-3A19A8E51004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JSON으로 이름과 계층 표현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105950B-CEB7-41A1-A255-1EE85439E532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15:00~15:50 · 50분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0D23356-E4B7-4A76-8559-E70990D7BFD6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6F3FB2F-1EAF-4426-BF5D-9D22CC046FF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56FD301-2B04-4EE5-B4EA-BD8F3C89509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076</a:t>
            </a:r>
            <a:endParaRPr/>
          </a:p>
        </p:txBody>
      </p:sp>
      <p:sp>
        <p:nvSpPr>
          <p:cNvPr id="9" name="MiniMap">
            <a:extLst>
              <a:ext uri="{FF2B5EF4-FFF2-40B4-BE49-F238E27FC236}">
                <a16:creationId xmlns:a16="http://schemas.microsoft.com/office/drawing/2014/main" id="{5E9B6457-2348-4D62-88CD-5A59487C603D}"/>
              </a:ext>
            </a:extLst>
          </p:cNvPr>
          <p:cNvSpPr/>
          <p:nvPr/>
        </p:nvSpPr>
        <p:spPr>
          <a:xfrm>
            <a:off x="685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1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데이터의 뜻</a:t>
            </a:r>
          </a:p>
        </p:txBody>
      </p:sp>
      <p:sp>
        <p:nvSpPr>
          <p:cNvPr id="10" name="MiniMap">
            <a:extLst>
              <a:ext uri="{FF2B5EF4-FFF2-40B4-BE49-F238E27FC236}">
                <a16:creationId xmlns:a16="http://schemas.microsoft.com/office/drawing/2014/main" id="{B12939CE-3828-47F2-AA49-B9B7557AB6FA}"/>
              </a:ext>
            </a:extLst>
          </p:cNvPr>
          <p:cNvSpPr/>
          <p:nvPr/>
        </p:nvSpPr>
        <p:spPr>
          <a:xfrm>
            <a:off x="20066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2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값의 의미</a:t>
            </a:r>
          </a:p>
        </p:txBody>
      </p:sp>
      <p:sp>
        <p:nvSpPr>
          <p:cNvPr id="11" name="MiniMap">
            <a:extLst>
              <a:ext uri="{FF2B5EF4-FFF2-40B4-BE49-F238E27FC236}">
                <a16:creationId xmlns:a16="http://schemas.microsoft.com/office/drawing/2014/main" id="{FD220D2B-6E23-4F69-8018-F24AC4BD4F0D}"/>
              </a:ext>
            </a:extLst>
          </p:cNvPr>
          <p:cNvSpPr/>
          <p:nvPr/>
        </p:nvSpPr>
        <p:spPr>
          <a:xfrm>
            <a:off x="33274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3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행과 키</a:t>
            </a:r>
          </a:p>
        </p:txBody>
      </p:sp>
      <p:sp>
        <p:nvSpPr>
          <p:cNvPr id="12" name="MiniMap">
            <a:extLst>
              <a:ext uri="{FF2B5EF4-FFF2-40B4-BE49-F238E27FC236}">
                <a16:creationId xmlns:a16="http://schemas.microsoft.com/office/drawing/2014/main" id="{58C90BEE-A7F2-45AA-A728-227BAA5FEE8C}"/>
              </a:ext>
            </a:extLst>
          </p:cNvPr>
          <p:cNvSpPr/>
          <p:nvPr/>
        </p:nvSpPr>
        <p:spPr>
          <a:xfrm>
            <a:off x="46482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4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CSV</a:t>
            </a:r>
            <a:endParaRPr lang="ko-KR" altLang="en-US" sz="1300">
              <a:solidFill>
                <a:srgbClr val="9FB3BC"/>
              </a:solidFill>
              <a:latin typeface="Noto Sans KR"/>
              <a:ea typeface="Noto Sans KR"/>
            </a:endParaRPr>
          </a:p>
        </p:txBody>
      </p:sp>
      <p:sp>
        <p:nvSpPr>
          <p:cNvPr id="13" name="MiniMap">
            <a:extLst>
              <a:ext uri="{FF2B5EF4-FFF2-40B4-BE49-F238E27FC236}">
                <a16:creationId xmlns:a16="http://schemas.microsoft.com/office/drawing/2014/main" id="{2EE26DEC-2347-4592-8943-0132FE518AE7}"/>
              </a:ext>
            </a:extLst>
          </p:cNvPr>
          <p:cNvSpPr/>
          <p:nvPr/>
        </p:nvSpPr>
        <p:spPr>
          <a:xfrm>
            <a:off x="5969000" y="5334000"/>
            <a:ext cx="1219200" cy="660400"/>
          </a:xfrm>
          <a:prstGeom prst="roundRect">
            <a:avLst/>
          </a:prstGeom>
          <a:solidFill>
            <a:srgbClr val="4FD1B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5</a:t>
            </a:r>
            <a:r>
              <a:rPr lang="ko-KR" altLang="en-US" sz="1300" b="1">
                <a:solidFill>
                  <a:srgbClr val="0F2A3A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JSON</a:t>
            </a:r>
            <a:endParaRPr lang="ko-KR" altLang="en-US" sz="1300" b="1">
              <a:solidFill>
                <a:srgbClr val="0F2A3A"/>
              </a:solidFill>
              <a:latin typeface="Noto Sans KR"/>
              <a:ea typeface="Noto Sans KR"/>
            </a:endParaRPr>
          </a:p>
        </p:txBody>
      </p:sp>
      <p:sp>
        <p:nvSpPr>
          <p:cNvPr id="14" name="MiniMap">
            <a:extLst>
              <a:ext uri="{FF2B5EF4-FFF2-40B4-BE49-F238E27FC236}">
                <a16:creationId xmlns:a16="http://schemas.microsoft.com/office/drawing/2014/main" id="{7C6C21F1-ADB7-4008-951B-0DDE014F9EB3}"/>
              </a:ext>
            </a:extLst>
          </p:cNvPr>
          <p:cNvSpPr/>
          <p:nvPr/>
        </p:nvSpPr>
        <p:spPr>
          <a:xfrm>
            <a:off x="7289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6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교시
설계</a:t>
            </a:r>
            <a:r>
              <a:rPr lang="en-US" altLang="ko-KR" sz="1300">
                <a:solidFill>
                  <a:srgbClr val="D7E1E5"/>
                </a:solidFill>
                <a:latin typeface="Noto Sans KR"/>
                <a:ea typeface="Noto Sans KR"/>
              </a:rPr>
              <a:t>·</a:t>
            </a:r>
            <a:r>
              <a:rPr lang="ko-KR" altLang="en-US" sz="1300">
                <a:solidFill>
                  <a:srgbClr val="D7E1E5"/>
                </a:solidFill>
                <a:latin typeface="Noto Sans KR"/>
                <a:ea typeface="Noto Sans KR"/>
              </a:rPr>
              <a:t>검수</a:t>
            </a:r>
          </a:p>
        </p:txBody>
      </p:sp>
      <p:sp>
        <p:nvSpPr>
          <p:cNvPr id="15" name="MiniMap">
            <a:extLst>
              <a:ext uri="{FF2B5EF4-FFF2-40B4-BE49-F238E27FC236}">
                <a16:creationId xmlns:a16="http://schemas.microsoft.com/office/drawing/2014/main" id="{333ACC81-B632-4CED-8B68-585804ED47B0}"/>
              </a:ext>
            </a:extLst>
          </p:cNvPr>
          <p:cNvSpPr txBox="1"/>
          <p:nvPr/>
        </p:nvSpPr>
        <p:spPr>
          <a:xfrm>
            <a:off x="685800" y="4978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오늘의 지도</a:t>
            </a:r>
          </a:p>
        </p:txBody>
      </p:sp>
    </p:spTree>
    <p:extLst>
      <p:ext uri="{BB962C8B-B14F-4D97-AF65-F5344CB8AC3E}">
        <p14:creationId xmlns:p14="http://schemas.microsoft.com/office/powerpoint/2010/main" val="44914078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5</a:t>
            </a:r>
            <a:r>
              <a:rPr lang="ko-KR" altLang="en-US"/>
              <a:t>교시 목표와 진행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5</a:t>
            </a:r>
            <a:r>
              <a:rPr lang="ko-KR" altLang="en-US"/>
              <a:t>교시 목표 </a:t>
            </a:r>
            <a:r>
              <a:rPr lang="en-US" altLang="ko-KR"/>
              <a:t>· JSON</a:t>
            </a:r>
            <a:r>
              <a:rPr lang="ko-KR" altLang="en-US"/>
              <a:t>으로 이름과 계층 표현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1: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객체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{ }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와 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값 쌍을 읽습니다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2: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배열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[ ]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로 여러 기록을 묶습니다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3: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true·false·null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과 숫자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문자열 표기 규칙을 지킵니다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진행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개념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직접 해 보기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20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풀이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퀴즈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077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51479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09E36C9-6CFF-4051-8490-125D35D583F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190E253-CB9E-4CC2-AE42-D6D4E6E509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장치 한 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D8B7A37-D704-408E-BC23-A8D789A50AA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248C3B4-CB05-4921-B54F-5D4F18E092D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5969000" cy="34036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385206F-2905-4BDE-991B-5B6CADB7C425}"/>
              </a:ext>
            </a:extLst>
          </p:cNvPr>
          <p:cNvSpPr>
            <a:spLocks noGrp="1"/>
          </p:cNvSpPr>
          <p:nvPr/>
        </p:nvSpPr>
        <p:spPr>
          <a:xfrm>
            <a:off x="838200" y="2101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4AB428-DE1D-465A-B456-7E6F1FB9E6D4}"/>
              </a:ext>
            </a:extLst>
          </p:cNvPr>
          <p:cNvSpPr>
            <a:spLocks noGrp="1"/>
          </p:cNvSpPr>
          <p:nvPr/>
        </p:nvSpPr>
        <p:spPr>
          <a:xfrm>
            <a:off x="1320800" y="2101850"/>
            <a:ext cx="5334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{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5576321-B7FA-4AE8-8FA6-51938D26D6BA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EE070E7-1F8D-4113-ACBA-9145FFA88B23}"/>
              </a:ext>
            </a:extLst>
          </p:cNvPr>
          <p:cNvSpPr>
            <a:spLocks noGrp="1"/>
          </p:cNvSpPr>
          <p:nvPr/>
        </p:nvSpPr>
        <p:spPr>
          <a:xfrm>
            <a:off x="1320800" y="2609850"/>
            <a:ext cx="5334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"device_id": "D01",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35CC9A1-E931-47F3-919C-D66D4730B8D1}"/>
              </a:ext>
            </a:extLst>
          </p:cNvPr>
          <p:cNvSpPr>
            <a:spLocks noGrp="1"/>
          </p:cNvSpPr>
          <p:nvPr/>
        </p:nvSpPr>
        <p:spPr>
          <a:xfrm>
            <a:off x="838200" y="3117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52DC18E-6101-45B3-BD25-04D12C109D1F}"/>
              </a:ext>
            </a:extLst>
          </p:cNvPr>
          <p:cNvSpPr>
            <a:spLocks noGrp="1"/>
          </p:cNvSpPr>
          <p:nvPr/>
        </p:nvSpPr>
        <p:spPr>
          <a:xfrm>
            <a:off x="1320800" y="3117850"/>
            <a:ext cx="5334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"active": false,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02D9855-D1ED-4E6E-8560-A17ECD6A980E}"/>
              </a:ext>
            </a:extLst>
          </p:cNvPr>
          <p:cNvSpPr>
            <a:spLocks noGrp="1"/>
          </p:cNvSpPr>
          <p:nvPr/>
        </p:nvSpPr>
        <p:spPr>
          <a:xfrm>
            <a:off x="838200" y="3625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04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A0D9549-60CD-4052-82A3-FF947464B7CA}"/>
              </a:ext>
            </a:extLst>
          </p:cNvPr>
          <p:cNvSpPr>
            <a:spLocks noGrp="1"/>
          </p:cNvSpPr>
          <p:nvPr/>
        </p:nvSpPr>
        <p:spPr>
          <a:xfrm>
            <a:off x="1320800" y="3625850"/>
            <a:ext cx="5334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"stock": 0,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57BF27A-4FE6-4B77-8CEB-DDADFE5D0398}"/>
              </a:ext>
            </a:extLst>
          </p:cNvPr>
          <p:cNvSpPr>
            <a:spLocks noGrp="1"/>
          </p:cNvSpPr>
          <p:nvPr/>
        </p:nvSpPr>
        <p:spPr>
          <a:xfrm>
            <a:off x="838200" y="4133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05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2B4F6FE-7238-46D1-A9B4-6AB7C10B66DB}"/>
              </a:ext>
            </a:extLst>
          </p:cNvPr>
          <p:cNvSpPr>
            <a:spLocks noGrp="1"/>
          </p:cNvSpPr>
          <p:nvPr/>
        </p:nvSpPr>
        <p:spPr>
          <a:xfrm>
            <a:off x="1320800" y="4133850"/>
            <a:ext cx="5334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"checked_at": null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68E2144-58E7-4C7D-ACDF-FBC0395B790C}"/>
              </a:ext>
            </a:extLst>
          </p:cNvPr>
          <p:cNvSpPr>
            <a:spLocks noGrp="1"/>
          </p:cNvSpPr>
          <p:nvPr/>
        </p:nvSpPr>
        <p:spPr>
          <a:xfrm>
            <a:off x="838200" y="4641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06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941099-4510-412E-800A-CC0F5C8BF640}"/>
              </a:ext>
            </a:extLst>
          </p:cNvPr>
          <p:cNvSpPr>
            <a:spLocks noGrp="1"/>
          </p:cNvSpPr>
          <p:nvPr/>
        </p:nvSpPr>
        <p:spPr>
          <a:xfrm>
            <a:off x="1320800" y="4641850"/>
            <a:ext cx="5334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}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F397ADB-E55E-46A5-907D-AC2975A3CF8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C6728BA-3197-4DB4-8F52-4882F126741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078</a:t>
            </a:r>
            <a:endParaRPr/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3B4DD91C-65F0-4E91-AF83-4797DFB7C035}"/>
              </a:ext>
            </a:extLst>
          </p:cNvPr>
          <p:cNvSpPr/>
          <p:nvPr/>
        </p:nvSpPr>
        <p:spPr>
          <a:xfrm>
            <a:off x="6654800" y="2349500"/>
            <a:ext cx="3810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2BB707E6-0003-446A-A38A-8648EBFA9518}"/>
              </a:ext>
            </a:extLst>
          </p:cNvPr>
          <p:cNvSpPr/>
          <p:nvPr/>
        </p:nvSpPr>
        <p:spPr>
          <a:xfrm>
            <a:off x="7112000" y="2133600"/>
            <a:ext cx="4394200" cy="4572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AccentBar">
            <a:extLst>
              <a:ext uri="{FF2B5EF4-FFF2-40B4-BE49-F238E27FC236}">
                <a16:creationId xmlns:a16="http://schemas.microsoft.com/office/drawing/2014/main" id="{F835EA64-731F-40DB-8E3F-B0ED661A7575}"/>
              </a:ext>
            </a:extLst>
          </p:cNvPr>
          <p:cNvSpPr/>
          <p:nvPr/>
        </p:nvSpPr>
        <p:spPr>
          <a:xfrm>
            <a:off x="7112000" y="2133600"/>
            <a:ext cx="63500" cy="4572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4E64016A-C9D2-44D2-95C2-72373163A214}"/>
              </a:ext>
            </a:extLst>
          </p:cNvPr>
          <p:cNvSpPr/>
          <p:nvPr/>
        </p:nvSpPr>
        <p:spPr>
          <a:xfrm>
            <a:off x="7264400" y="2133600"/>
            <a:ext cx="41910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5B6B74"/>
                </a:solidFill>
                <a:latin typeface="Noto Sans KR"/>
                <a:ea typeface="Noto Sans KR"/>
              </a:rPr>
              <a:t>{  </a:t>
            </a:r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객체의 시작</a:t>
            </a: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88E9B7A3-3E04-4124-A086-20ED1D05F758}"/>
              </a:ext>
            </a:extLst>
          </p:cNvPr>
          <p:cNvSpPr/>
          <p:nvPr/>
        </p:nvSpPr>
        <p:spPr>
          <a:xfrm>
            <a:off x="6654800" y="2857500"/>
            <a:ext cx="3810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5C89E5F5-7818-43CB-B67F-826F44D1F676}"/>
              </a:ext>
            </a:extLst>
          </p:cNvPr>
          <p:cNvSpPr/>
          <p:nvPr/>
        </p:nvSpPr>
        <p:spPr>
          <a:xfrm>
            <a:off x="7112000" y="2641600"/>
            <a:ext cx="4394200" cy="4572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AccentBar">
            <a:extLst>
              <a:ext uri="{FF2B5EF4-FFF2-40B4-BE49-F238E27FC236}">
                <a16:creationId xmlns:a16="http://schemas.microsoft.com/office/drawing/2014/main" id="{B24CF9E0-F5E3-4C1E-926E-394BD7CEA88E}"/>
              </a:ext>
            </a:extLst>
          </p:cNvPr>
          <p:cNvSpPr/>
          <p:nvPr/>
        </p:nvSpPr>
        <p:spPr>
          <a:xfrm>
            <a:off x="7112000" y="2641600"/>
            <a:ext cx="63500" cy="457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DA37FB7D-0E2C-46AF-A591-5E42E0ABCB13}"/>
              </a:ext>
            </a:extLst>
          </p:cNvPr>
          <p:cNvSpPr/>
          <p:nvPr/>
        </p:nvSpPr>
        <p:spPr>
          <a:xfrm>
            <a:off x="7264400" y="2641600"/>
            <a:ext cx="16510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문자열</a:t>
            </a: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90078851-F0A4-4917-B7B0-64565563ED2F}"/>
              </a:ext>
            </a:extLst>
          </p:cNvPr>
          <p:cNvSpPr/>
          <p:nvPr/>
        </p:nvSpPr>
        <p:spPr>
          <a:xfrm>
            <a:off x="8890000" y="2641600"/>
            <a:ext cx="25908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장치를 구별하는 이름표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E8939465-4F35-403D-A088-1D083BA28CA8}"/>
              </a:ext>
            </a:extLst>
          </p:cNvPr>
          <p:cNvSpPr/>
          <p:nvPr/>
        </p:nvSpPr>
        <p:spPr>
          <a:xfrm>
            <a:off x="6654800" y="3365500"/>
            <a:ext cx="3810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2020C559-C325-4261-A1A9-E3B7A53993C4}"/>
              </a:ext>
            </a:extLst>
          </p:cNvPr>
          <p:cNvSpPr/>
          <p:nvPr/>
        </p:nvSpPr>
        <p:spPr>
          <a:xfrm>
            <a:off x="7112000" y="3149600"/>
            <a:ext cx="4394200" cy="4572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58111026-3012-4A21-AF87-AA4F451F02F9}"/>
              </a:ext>
            </a:extLst>
          </p:cNvPr>
          <p:cNvSpPr/>
          <p:nvPr/>
        </p:nvSpPr>
        <p:spPr>
          <a:xfrm>
            <a:off x="7112000" y="3149600"/>
            <a:ext cx="63500" cy="457200"/>
          </a:xfrm>
          <a:prstGeom prst="rect">
            <a:avLst/>
          </a:prstGeom>
          <a:solidFill>
            <a:srgbClr val="3D7F9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2E4A1313-287B-4AF3-978A-3B13B2373661}"/>
              </a:ext>
            </a:extLst>
          </p:cNvPr>
          <p:cNvSpPr/>
          <p:nvPr/>
        </p:nvSpPr>
        <p:spPr>
          <a:xfrm>
            <a:off x="7264400" y="3149600"/>
            <a:ext cx="16510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2F6A82"/>
                </a:solidFill>
                <a:latin typeface="Noto Sans KR"/>
                <a:ea typeface="Noto Sans KR"/>
              </a:rPr>
              <a:t>불리언 </a:t>
            </a:r>
            <a:r>
              <a:rPr lang="en-US" altLang="ko-KR" sz="1500" b="1">
                <a:solidFill>
                  <a:srgbClr val="2F6A82"/>
                </a:solidFill>
                <a:latin typeface="Noto Sans KR"/>
                <a:ea typeface="Noto Sans KR"/>
              </a:rPr>
              <a:t>false</a:t>
            </a:r>
            <a:endParaRPr lang="ko-KR" altLang="en-US" sz="1500" b="1">
              <a:solidFill>
                <a:srgbClr val="2F6A82"/>
              </a:solidFill>
              <a:latin typeface="Noto Sans KR"/>
              <a:ea typeface="Noto Sans KR"/>
            </a:endParaRP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CA774148-7B24-4F82-8612-636C4F0CC4AA}"/>
              </a:ext>
            </a:extLst>
          </p:cNvPr>
          <p:cNvSpPr/>
          <p:nvPr/>
        </p:nvSpPr>
        <p:spPr>
          <a:xfrm>
            <a:off x="8890000" y="3149600"/>
            <a:ext cx="25908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가동하지 않음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ABA97BAA-CE10-478B-963F-C61FF5BCC71B}"/>
              </a:ext>
            </a:extLst>
          </p:cNvPr>
          <p:cNvSpPr/>
          <p:nvPr/>
        </p:nvSpPr>
        <p:spPr>
          <a:xfrm>
            <a:off x="6654800" y="3873500"/>
            <a:ext cx="3810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D5397488-80EF-4260-BB99-9E3A92F7EF5A}"/>
              </a:ext>
            </a:extLst>
          </p:cNvPr>
          <p:cNvSpPr/>
          <p:nvPr/>
        </p:nvSpPr>
        <p:spPr>
          <a:xfrm>
            <a:off x="7112000" y="3657600"/>
            <a:ext cx="4394200" cy="4572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AccentBar">
            <a:extLst>
              <a:ext uri="{FF2B5EF4-FFF2-40B4-BE49-F238E27FC236}">
                <a16:creationId xmlns:a16="http://schemas.microsoft.com/office/drawing/2014/main" id="{A41EB0B2-ACD6-4E7E-89E1-384A2C91118A}"/>
              </a:ext>
            </a:extLst>
          </p:cNvPr>
          <p:cNvSpPr/>
          <p:nvPr/>
        </p:nvSpPr>
        <p:spPr>
          <a:xfrm>
            <a:off x="7112000" y="3657600"/>
            <a:ext cx="63500" cy="457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8DA143A6-2710-45F5-8CB5-B8F6FE4A935E}"/>
              </a:ext>
            </a:extLst>
          </p:cNvPr>
          <p:cNvSpPr/>
          <p:nvPr/>
        </p:nvSpPr>
        <p:spPr>
          <a:xfrm>
            <a:off x="7264400" y="3657600"/>
            <a:ext cx="16510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숫자 </a:t>
            </a:r>
            <a:r>
              <a:rPr lang="en-US" altLang="ko-KR" sz="1500" b="1">
                <a:solidFill>
                  <a:srgbClr val="08776D"/>
                </a:solidFill>
                <a:latin typeface="Noto Sans KR"/>
                <a:ea typeface="Noto Sans KR"/>
              </a:rPr>
              <a:t>0</a:t>
            </a:r>
            <a:endParaRPr lang="ko-KR" altLang="en-US" sz="15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1EACDABF-88F1-4BCF-85D2-5A674631400C}"/>
              </a:ext>
            </a:extLst>
          </p:cNvPr>
          <p:cNvSpPr/>
          <p:nvPr/>
        </p:nvSpPr>
        <p:spPr>
          <a:xfrm>
            <a:off x="8890000" y="3657600"/>
            <a:ext cx="25908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세어 보니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0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개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3F5162F2-9408-48A8-90B2-6708B7524D76}"/>
              </a:ext>
            </a:extLst>
          </p:cNvPr>
          <p:cNvSpPr/>
          <p:nvPr/>
        </p:nvSpPr>
        <p:spPr>
          <a:xfrm>
            <a:off x="6654800" y="4381500"/>
            <a:ext cx="3810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B1B7E2E6-C02A-4B58-BBC9-BB8A62770A47}"/>
              </a:ext>
            </a:extLst>
          </p:cNvPr>
          <p:cNvSpPr/>
          <p:nvPr/>
        </p:nvSpPr>
        <p:spPr>
          <a:xfrm>
            <a:off x="7112000" y="4165600"/>
            <a:ext cx="4394200" cy="4572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AccentBar">
            <a:extLst>
              <a:ext uri="{FF2B5EF4-FFF2-40B4-BE49-F238E27FC236}">
                <a16:creationId xmlns:a16="http://schemas.microsoft.com/office/drawing/2014/main" id="{B3DA31D8-C223-4D23-8649-B85CAEC1A868}"/>
              </a:ext>
            </a:extLst>
          </p:cNvPr>
          <p:cNvSpPr/>
          <p:nvPr/>
        </p:nvSpPr>
        <p:spPr>
          <a:xfrm>
            <a:off x="7112000" y="4165600"/>
            <a:ext cx="63500" cy="4572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A960A3C5-AD22-49A9-92E5-0194D78F0415}"/>
              </a:ext>
            </a:extLst>
          </p:cNvPr>
          <p:cNvSpPr/>
          <p:nvPr/>
        </p:nvSpPr>
        <p:spPr>
          <a:xfrm>
            <a:off x="7264400" y="4165600"/>
            <a:ext cx="16510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A64512"/>
                </a:solidFill>
                <a:latin typeface="Noto Sans KR"/>
                <a:ea typeface="Noto Sans KR"/>
              </a:rPr>
              <a:t>null</a:t>
            </a:r>
            <a:endParaRPr lang="ko-KR" altLang="en-US" sz="1500" b="1">
              <a:solidFill>
                <a:srgbClr val="A64512"/>
              </a:solidFill>
              <a:latin typeface="Noto Sans KR"/>
              <a:ea typeface="Noto Sans KR"/>
            </a:endParaRPr>
          </a:p>
        </p:txBody>
      </p:sp>
      <p:sp>
        <p:nvSpPr>
          <p:cNvPr id="45" name="Viz">
            <a:extLst>
              <a:ext uri="{FF2B5EF4-FFF2-40B4-BE49-F238E27FC236}">
                <a16:creationId xmlns:a16="http://schemas.microsoft.com/office/drawing/2014/main" id="{F1A6747C-80E6-461A-921F-81ADD57D3632}"/>
              </a:ext>
            </a:extLst>
          </p:cNvPr>
          <p:cNvSpPr/>
          <p:nvPr/>
        </p:nvSpPr>
        <p:spPr>
          <a:xfrm>
            <a:off x="8890000" y="4165600"/>
            <a:ext cx="25908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확인한 시각이 없음</a:t>
            </a:r>
          </a:p>
        </p:txBody>
      </p:sp>
      <p:sp>
        <p:nvSpPr>
          <p:cNvPr id="46" name="Viz">
            <a:extLst>
              <a:ext uri="{FF2B5EF4-FFF2-40B4-BE49-F238E27FC236}">
                <a16:creationId xmlns:a16="http://schemas.microsoft.com/office/drawing/2014/main" id="{F99ABBE4-E678-403A-9AD7-6E2C58836BCA}"/>
              </a:ext>
            </a:extLst>
          </p:cNvPr>
          <p:cNvSpPr/>
          <p:nvPr/>
        </p:nvSpPr>
        <p:spPr>
          <a:xfrm>
            <a:off x="6654800" y="4889500"/>
            <a:ext cx="381000" cy="25400"/>
          </a:xfrm>
          <a:prstGeom prst="rect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7" name="Viz">
            <a:extLst>
              <a:ext uri="{FF2B5EF4-FFF2-40B4-BE49-F238E27FC236}">
                <a16:creationId xmlns:a16="http://schemas.microsoft.com/office/drawing/2014/main" id="{96EF679B-4C56-4FF5-BB3A-2FBD037152CF}"/>
              </a:ext>
            </a:extLst>
          </p:cNvPr>
          <p:cNvSpPr/>
          <p:nvPr/>
        </p:nvSpPr>
        <p:spPr>
          <a:xfrm>
            <a:off x="7112000" y="4673600"/>
            <a:ext cx="4394200" cy="4572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8" name="AccentBar">
            <a:extLst>
              <a:ext uri="{FF2B5EF4-FFF2-40B4-BE49-F238E27FC236}">
                <a16:creationId xmlns:a16="http://schemas.microsoft.com/office/drawing/2014/main" id="{4894C8F0-766D-46D5-BAFF-C85BAFB4B66F}"/>
              </a:ext>
            </a:extLst>
          </p:cNvPr>
          <p:cNvSpPr/>
          <p:nvPr/>
        </p:nvSpPr>
        <p:spPr>
          <a:xfrm>
            <a:off x="7112000" y="4673600"/>
            <a:ext cx="63500" cy="4572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9" name="Viz">
            <a:extLst>
              <a:ext uri="{FF2B5EF4-FFF2-40B4-BE49-F238E27FC236}">
                <a16:creationId xmlns:a16="http://schemas.microsoft.com/office/drawing/2014/main" id="{8A24B6F4-98C1-44C9-9E34-048B7A102947}"/>
              </a:ext>
            </a:extLst>
          </p:cNvPr>
          <p:cNvSpPr/>
          <p:nvPr/>
        </p:nvSpPr>
        <p:spPr>
          <a:xfrm>
            <a:off x="7264400" y="4673600"/>
            <a:ext cx="41910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5B6B74"/>
                </a:solidFill>
                <a:latin typeface="Noto Sans KR"/>
                <a:ea typeface="Noto Sans KR"/>
              </a:rPr>
              <a:t>}  </a:t>
            </a:r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객체의 끝 </a:t>
            </a:r>
            <a:r>
              <a:rPr lang="en-US" altLang="ko-KR" sz="1500" b="1">
                <a:solidFill>
                  <a:srgbClr val="5B6B74"/>
                </a:solidFill>
                <a:latin typeface="Noto Sans KR"/>
                <a:ea typeface="Noto Sans KR"/>
              </a:rPr>
              <a:t>· </a:t>
            </a:r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마지막 항목 뒤 쉼표 없음</a:t>
            </a:r>
          </a:p>
        </p:txBody>
      </p:sp>
      <p:sp>
        <p:nvSpPr>
          <p:cNvPr id="51" name="Viz">
            <a:extLst>
              <a:ext uri="{FF2B5EF4-FFF2-40B4-BE49-F238E27FC236}">
                <a16:creationId xmlns:a16="http://schemas.microsoft.com/office/drawing/2014/main" id="{93CE7B5D-29F6-4634-9D43-B23350FDCB87}"/>
              </a:ext>
            </a:extLst>
          </p:cNvPr>
          <p:cNvSpPr/>
          <p:nvPr/>
        </p:nvSpPr>
        <p:spPr>
          <a:xfrm>
            <a:off x="685800" y="5537200"/>
            <a:ext cx="10820400" cy="6604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2" name="AccentBar">
            <a:extLst>
              <a:ext uri="{FF2B5EF4-FFF2-40B4-BE49-F238E27FC236}">
                <a16:creationId xmlns:a16="http://schemas.microsoft.com/office/drawing/2014/main" id="{DABAF146-37F1-461F-82EE-E85BB465A75D}"/>
              </a:ext>
            </a:extLst>
          </p:cNvPr>
          <p:cNvSpPr/>
          <p:nvPr/>
        </p:nvSpPr>
        <p:spPr>
          <a:xfrm>
            <a:off x="685800" y="5537200"/>
            <a:ext cx="76200" cy="660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3" name="Viz">
            <a:extLst>
              <a:ext uri="{FF2B5EF4-FFF2-40B4-BE49-F238E27FC236}">
                <a16:creationId xmlns:a16="http://schemas.microsoft.com/office/drawing/2014/main" id="{E09A3F34-BDF7-4984-ADA3-337DC8130180}"/>
              </a:ext>
            </a:extLst>
          </p:cNvPr>
          <p:cNvSpPr/>
          <p:nvPr/>
        </p:nvSpPr>
        <p:spPr>
          <a:xfrm>
            <a:off x="914400" y="5537200"/>
            <a:ext cx="1054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12700" rIns="101600" bIns="12700" rtlCol="0" anchor="ctr" anchorCtr="0">
            <a:noAutofit/>
          </a:bodyPr>
          <a:lstStyle/>
          <a:p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읽는 법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왼쪽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로 항목을 찾고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콜론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오른쪽에서 값을 읽습니다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56268113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89CC020-043C-45ED-92E2-6609D7C9988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9CB10E7-5151-4F35-BC50-A1319A4C79B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/>
              <a:t>JSON </a:t>
            </a:r>
            <a:r>
              <a:rPr lang="ko-KR" altLang="en-US"/>
              <a:t>기호 사전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B5BED3E-F900-47B7-9174-6AFA5F8A84B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1E9D66D-AAD3-410E-A1C2-1ACE9959D8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637F740-DB53-4187-8F20-3AFC868437A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079</a:t>
            </a:r>
            <a:endParaRPr/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3307C89D-AED4-42B1-9AB7-9AD7BF1C1F4D}"/>
              </a:ext>
            </a:extLst>
          </p:cNvPr>
          <p:cNvSpPr/>
          <p:nvPr/>
        </p:nvSpPr>
        <p:spPr>
          <a:xfrm>
            <a:off x="685800" y="1955800"/>
            <a:ext cx="2032000" cy="2413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763F2F97-330E-44F9-83D2-30BBF3A04080}"/>
              </a:ext>
            </a:extLst>
          </p:cNvPr>
          <p:cNvSpPr/>
          <p:nvPr/>
        </p:nvSpPr>
        <p:spPr>
          <a:xfrm>
            <a:off x="939800" y="2108200"/>
            <a:ext cx="1524000" cy="9144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12700" rIns="76200" bIns="12700" rtlCol="0" anchor="ctr" anchorCtr="0">
            <a:noAutofit/>
          </a:bodyPr>
          <a:lstStyle/>
          <a:p>
            <a:pPr algn="ctr"/>
            <a:r>
              <a:rPr lang="en-US" altLang="ko-KR" sz="3200" b="1">
                <a:solidFill>
                  <a:srgbClr val="4FD1BC"/>
                </a:solidFill>
                <a:latin typeface="Consolas"/>
              </a:rPr>
              <a:t>{ }</a:t>
            </a:r>
            <a:endParaRPr lang="ko-KR" altLang="en-US" sz="3200" b="1">
              <a:solidFill>
                <a:srgbClr val="4FD1BC"/>
              </a:solidFill>
              <a:latin typeface="Consolas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825A329B-70E3-4235-9645-A6C4F882FF1D}"/>
              </a:ext>
            </a:extLst>
          </p:cNvPr>
          <p:cNvSpPr/>
          <p:nvPr/>
        </p:nvSpPr>
        <p:spPr>
          <a:xfrm>
            <a:off x="685800" y="3124200"/>
            <a:ext cx="2032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객체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B305003C-61EA-4C6A-A106-912E7CE22A00}"/>
              </a:ext>
            </a:extLst>
          </p:cNvPr>
          <p:cNvSpPr/>
          <p:nvPr/>
        </p:nvSpPr>
        <p:spPr>
          <a:xfrm>
            <a:off x="762000" y="3530600"/>
            <a:ext cx="1879600" cy="685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t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한 건을 묶습니다</a:t>
            </a: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1618982C-10F5-4A17-A149-9042625F5D3D}"/>
              </a:ext>
            </a:extLst>
          </p:cNvPr>
          <p:cNvSpPr/>
          <p:nvPr/>
        </p:nvSpPr>
        <p:spPr>
          <a:xfrm>
            <a:off x="2882900" y="1955800"/>
            <a:ext cx="2032000" cy="2413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504D9111-65A2-4594-A8F8-74E58DF4AF68}"/>
              </a:ext>
            </a:extLst>
          </p:cNvPr>
          <p:cNvSpPr/>
          <p:nvPr/>
        </p:nvSpPr>
        <p:spPr>
          <a:xfrm>
            <a:off x="3136900" y="2108200"/>
            <a:ext cx="1524000" cy="9144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12700" rIns="76200" bIns="12700" rtlCol="0" anchor="ctr" anchorCtr="0">
            <a:noAutofit/>
          </a:bodyPr>
          <a:lstStyle/>
          <a:p>
            <a:pPr algn="ctr"/>
            <a:r>
              <a:rPr lang="en-US" altLang="ko-KR" sz="3200" b="1">
                <a:solidFill>
                  <a:srgbClr val="4FD1BC"/>
                </a:solidFill>
                <a:latin typeface="Consolas"/>
              </a:rPr>
              <a:t>"</a:t>
            </a:r>
            <a:r>
              <a:rPr lang="ko-KR" altLang="en-US" sz="3200" b="1">
                <a:solidFill>
                  <a:srgbClr val="4FD1BC"/>
                </a:solidFill>
                <a:latin typeface="Consolas"/>
              </a:rPr>
              <a:t>키</a:t>
            </a:r>
            <a:r>
              <a:rPr lang="en-US" altLang="ko-KR" sz="3200" b="1">
                <a:solidFill>
                  <a:srgbClr val="4FD1BC"/>
                </a:solidFill>
                <a:latin typeface="Consolas"/>
              </a:rPr>
              <a:t>"</a:t>
            </a:r>
            <a:endParaRPr lang="ko-KR" altLang="en-US" sz="3200" b="1">
              <a:solidFill>
                <a:srgbClr val="4FD1BC"/>
              </a:solidFill>
              <a:latin typeface="Consolas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A0CC2475-D1BB-4F34-88AE-564D6794B86A}"/>
              </a:ext>
            </a:extLst>
          </p:cNvPr>
          <p:cNvSpPr/>
          <p:nvPr/>
        </p:nvSpPr>
        <p:spPr>
          <a:xfrm>
            <a:off x="2882900" y="3124200"/>
            <a:ext cx="2032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이름표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626574B1-0F32-49D0-99FD-6782391D2881}"/>
              </a:ext>
            </a:extLst>
          </p:cNvPr>
          <p:cNvSpPr/>
          <p:nvPr/>
        </p:nvSpPr>
        <p:spPr>
          <a:xfrm>
            <a:off x="2959100" y="3530600"/>
            <a:ext cx="1879600" cy="685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t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큰따옴표로 감쌉니다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80F54051-799A-4039-8998-94E9987F979E}"/>
              </a:ext>
            </a:extLst>
          </p:cNvPr>
          <p:cNvSpPr/>
          <p:nvPr/>
        </p:nvSpPr>
        <p:spPr>
          <a:xfrm>
            <a:off x="5080000" y="1955800"/>
            <a:ext cx="2032000" cy="2413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0684CF0B-69B0-466B-84DB-57A0B0079493}"/>
              </a:ext>
            </a:extLst>
          </p:cNvPr>
          <p:cNvSpPr/>
          <p:nvPr/>
        </p:nvSpPr>
        <p:spPr>
          <a:xfrm>
            <a:off x="5334000" y="2108200"/>
            <a:ext cx="1524000" cy="9144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12700" rIns="76200" bIns="12700" rtlCol="0" anchor="ctr" anchorCtr="0">
            <a:noAutofit/>
          </a:bodyPr>
          <a:lstStyle/>
          <a:p>
            <a:pPr algn="ctr"/>
            <a:r>
              <a:rPr lang="en-US" altLang="ko-KR" sz="3200" b="1">
                <a:solidFill>
                  <a:srgbClr val="4FD1BC"/>
                </a:solidFill>
                <a:latin typeface="Consolas"/>
              </a:rPr>
              <a:t>:</a:t>
            </a:r>
            <a:endParaRPr lang="ko-KR" altLang="en-US" sz="3200" b="1">
              <a:solidFill>
                <a:srgbClr val="4FD1BC"/>
              </a:solidFill>
              <a:latin typeface="Consolas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933D6F2E-C085-4A8C-9FA1-5DACD7289CA2}"/>
              </a:ext>
            </a:extLst>
          </p:cNvPr>
          <p:cNvSpPr/>
          <p:nvPr/>
        </p:nvSpPr>
        <p:spPr>
          <a:xfrm>
            <a:off x="5080000" y="3124200"/>
            <a:ext cx="2032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콜론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17014F76-F347-477D-8DED-8CD03AEE01EC}"/>
              </a:ext>
            </a:extLst>
          </p:cNvPr>
          <p:cNvSpPr/>
          <p:nvPr/>
        </p:nvSpPr>
        <p:spPr>
          <a:xfrm>
            <a:off x="5156200" y="3530600"/>
            <a:ext cx="1879600" cy="685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t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키와 값을 잇습니다</a:t>
            </a: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38A93074-BF76-4A1E-A0A5-CEEE4FDF7130}"/>
              </a:ext>
            </a:extLst>
          </p:cNvPr>
          <p:cNvSpPr/>
          <p:nvPr/>
        </p:nvSpPr>
        <p:spPr>
          <a:xfrm>
            <a:off x="7277100" y="1955800"/>
            <a:ext cx="2032000" cy="2413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5054438C-7351-44D7-A81E-FB9A764FB87A}"/>
              </a:ext>
            </a:extLst>
          </p:cNvPr>
          <p:cNvSpPr/>
          <p:nvPr/>
        </p:nvSpPr>
        <p:spPr>
          <a:xfrm>
            <a:off x="7531100" y="2108200"/>
            <a:ext cx="1524000" cy="9144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12700" rIns="76200" bIns="12700" rtlCol="0" anchor="ctr" anchorCtr="0">
            <a:noAutofit/>
          </a:bodyPr>
          <a:lstStyle/>
          <a:p>
            <a:pPr algn="ctr"/>
            <a:r>
              <a:rPr lang="en-US" altLang="ko-KR" sz="3200" b="1">
                <a:solidFill>
                  <a:srgbClr val="4FD1BC"/>
                </a:solidFill>
                <a:latin typeface="Consolas"/>
              </a:rPr>
              <a:t>,</a:t>
            </a:r>
            <a:endParaRPr lang="ko-KR" altLang="en-US" sz="3200" b="1">
              <a:solidFill>
                <a:srgbClr val="4FD1BC"/>
              </a:solidFill>
              <a:latin typeface="Consolas"/>
            </a:endParaRP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2D3DCBC2-6A7C-4E9C-B9C3-E71004A5633C}"/>
              </a:ext>
            </a:extLst>
          </p:cNvPr>
          <p:cNvSpPr/>
          <p:nvPr/>
        </p:nvSpPr>
        <p:spPr>
          <a:xfrm>
            <a:off x="7277100" y="3124200"/>
            <a:ext cx="2032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쉼표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85E5A03E-5FF3-415D-A67A-E1FA313CFD3B}"/>
              </a:ext>
            </a:extLst>
          </p:cNvPr>
          <p:cNvSpPr/>
          <p:nvPr/>
        </p:nvSpPr>
        <p:spPr>
          <a:xfrm>
            <a:off x="7353300" y="3530600"/>
            <a:ext cx="1879600" cy="685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t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항목을 나눕니다</a:t>
            </a: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457131C3-343E-426D-B8AC-1CEE1D342D90}"/>
              </a:ext>
            </a:extLst>
          </p:cNvPr>
          <p:cNvSpPr/>
          <p:nvPr/>
        </p:nvSpPr>
        <p:spPr>
          <a:xfrm>
            <a:off x="9474200" y="1955800"/>
            <a:ext cx="2032000" cy="2413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E8932899-A26C-4DFA-8377-FBB631F9B751}"/>
              </a:ext>
            </a:extLst>
          </p:cNvPr>
          <p:cNvSpPr/>
          <p:nvPr/>
        </p:nvSpPr>
        <p:spPr>
          <a:xfrm>
            <a:off x="9728200" y="2108200"/>
            <a:ext cx="1524000" cy="9144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12700" rIns="76200" bIns="12700" rtlCol="0" anchor="ctr" anchorCtr="0">
            <a:noAutofit/>
          </a:bodyPr>
          <a:lstStyle/>
          <a:p>
            <a:pPr algn="ctr"/>
            <a:r>
              <a:rPr lang="en-US" altLang="ko-KR" sz="3200" b="1">
                <a:solidFill>
                  <a:srgbClr val="4FD1BC"/>
                </a:solidFill>
                <a:latin typeface="Consolas"/>
              </a:rPr>
              <a:t>[ ]</a:t>
            </a:r>
            <a:endParaRPr lang="ko-KR" altLang="en-US" sz="3200" b="1">
              <a:solidFill>
                <a:srgbClr val="4FD1BC"/>
              </a:solidFill>
              <a:latin typeface="Consolas"/>
            </a:endParaRP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CD5814EA-2329-42AF-862F-FC3FE953CD49}"/>
              </a:ext>
            </a:extLst>
          </p:cNvPr>
          <p:cNvSpPr/>
          <p:nvPr/>
        </p:nvSpPr>
        <p:spPr>
          <a:xfrm>
            <a:off x="9474200" y="3124200"/>
            <a:ext cx="2032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배열</a:t>
            </a: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7D11D50F-99DC-4C19-A4DD-41776C2C20C1}"/>
              </a:ext>
            </a:extLst>
          </p:cNvPr>
          <p:cNvSpPr/>
          <p:nvPr/>
        </p:nvSpPr>
        <p:spPr>
          <a:xfrm>
            <a:off x="9550400" y="3530600"/>
            <a:ext cx="1879600" cy="685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t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여러 개를 목록으로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852273E9-F42A-4A58-8862-CBBA37068F5D}"/>
              </a:ext>
            </a:extLst>
          </p:cNvPr>
          <p:cNvSpPr/>
          <p:nvPr/>
        </p:nvSpPr>
        <p:spPr>
          <a:xfrm>
            <a:off x="685800" y="4546600"/>
            <a:ext cx="10820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12700" rIns="76200" bIns="127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5B6B74"/>
                </a:solidFill>
                <a:latin typeface="Noto Sans KR"/>
                <a:ea typeface="Noto Sans KR"/>
              </a:rPr>
              <a:t>값을 쓰는 규칙</a:t>
            </a: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9B74B524-1258-4654-A035-049157B169C0}"/>
              </a:ext>
            </a:extLst>
          </p:cNvPr>
          <p:cNvSpPr/>
          <p:nvPr/>
        </p:nvSpPr>
        <p:spPr>
          <a:xfrm>
            <a:off x="685800" y="4978400"/>
            <a:ext cx="3454400" cy="5588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AA3E7E31-37AC-480C-98F2-C8EC6C1BC092}"/>
              </a:ext>
            </a:extLst>
          </p:cNvPr>
          <p:cNvSpPr/>
          <p:nvPr/>
        </p:nvSpPr>
        <p:spPr>
          <a:xfrm>
            <a:off x="787400" y="5054600"/>
            <a:ext cx="1397000" cy="4064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76200" tIns="12700" rIns="76200" bIns="127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08776D"/>
                </a:solidFill>
                <a:latin typeface="Consolas"/>
              </a:rPr>
              <a:t>"D01"</a:t>
            </a:r>
            <a:endParaRPr lang="ko-KR" altLang="en-US" sz="15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8A21BE48-977E-4FE9-8E2A-525443C6F388}"/>
              </a:ext>
            </a:extLst>
          </p:cNvPr>
          <p:cNvSpPr/>
          <p:nvPr/>
        </p:nvSpPr>
        <p:spPr>
          <a:xfrm>
            <a:off x="2235200" y="4978400"/>
            <a:ext cx="18796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문자열은 따옴표 </a:t>
            </a:r>
            <a:r>
              <a:rPr lang="en-US" altLang="ko-KR" sz="1400" b="1">
                <a:solidFill>
                  <a:srgbClr val="08776D"/>
                </a:solidFill>
                <a:latin typeface="Noto Sans KR"/>
                <a:ea typeface="Noto Sans KR"/>
              </a:rPr>
              <a:t>O</a:t>
            </a:r>
            <a:endParaRPr lang="ko-KR" altLang="en-US" sz="14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335F49DD-BF60-4A6E-B33D-4C82450C5ED5}"/>
              </a:ext>
            </a:extLst>
          </p:cNvPr>
          <p:cNvSpPr/>
          <p:nvPr/>
        </p:nvSpPr>
        <p:spPr>
          <a:xfrm>
            <a:off x="4368800" y="4978400"/>
            <a:ext cx="3454400" cy="5588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3DFCB51F-1B77-43F8-9CF7-9D761207EAE5}"/>
              </a:ext>
            </a:extLst>
          </p:cNvPr>
          <p:cNvSpPr/>
          <p:nvPr/>
        </p:nvSpPr>
        <p:spPr>
          <a:xfrm>
            <a:off x="4470400" y="5054600"/>
            <a:ext cx="1397000" cy="4064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76200" tIns="12700" rIns="76200" bIns="127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08776D"/>
                </a:solidFill>
                <a:latin typeface="Consolas"/>
              </a:rPr>
              <a:t>0  ·  24.0</a:t>
            </a:r>
            <a:endParaRPr lang="ko-KR" altLang="en-US" sz="15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814BB7B1-D3E1-46DC-A074-88F24FAC0AC6}"/>
              </a:ext>
            </a:extLst>
          </p:cNvPr>
          <p:cNvSpPr/>
          <p:nvPr/>
        </p:nvSpPr>
        <p:spPr>
          <a:xfrm>
            <a:off x="5918200" y="4978400"/>
            <a:ext cx="18796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숫자는 따옴표 </a:t>
            </a:r>
            <a:r>
              <a:rPr lang="en-US" altLang="ko-KR" sz="1400" b="1">
                <a:solidFill>
                  <a:srgbClr val="08776D"/>
                </a:solidFill>
                <a:latin typeface="Noto Sans KR"/>
                <a:ea typeface="Noto Sans KR"/>
              </a:rPr>
              <a:t>X</a:t>
            </a:r>
            <a:endParaRPr lang="ko-KR" altLang="en-US" sz="14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947BCC0A-4A23-4D12-91AE-04CECE61CCD2}"/>
              </a:ext>
            </a:extLst>
          </p:cNvPr>
          <p:cNvSpPr/>
          <p:nvPr/>
        </p:nvSpPr>
        <p:spPr>
          <a:xfrm>
            <a:off x="8051800" y="4978400"/>
            <a:ext cx="3454400" cy="558800"/>
          </a:xfrm>
          <a:prstGeom prst="rect">
            <a:avLst/>
          </a:prstGeom>
          <a:solidFill>
            <a:srgbClr val="E7F4F1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926FBE0B-7487-42A7-8A13-0CAE1B795EB0}"/>
              </a:ext>
            </a:extLst>
          </p:cNvPr>
          <p:cNvSpPr/>
          <p:nvPr/>
        </p:nvSpPr>
        <p:spPr>
          <a:xfrm>
            <a:off x="8153400" y="5054600"/>
            <a:ext cx="1397000" cy="4064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76200" tIns="12700" rIns="76200" bIns="127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08776D"/>
                </a:solidFill>
                <a:latin typeface="Consolas"/>
              </a:rPr>
              <a:t>true  ·  null</a:t>
            </a:r>
            <a:endParaRPr lang="ko-KR" altLang="en-US" sz="15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45" name="Viz">
            <a:extLst>
              <a:ext uri="{FF2B5EF4-FFF2-40B4-BE49-F238E27FC236}">
                <a16:creationId xmlns:a16="http://schemas.microsoft.com/office/drawing/2014/main" id="{A0889CDC-20AA-4CC8-A38A-4890ED5D7E8C}"/>
              </a:ext>
            </a:extLst>
          </p:cNvPr>
          <p:cNvSpPr/>
          <p:nvPr/>
        </p:nvSpPr>
        <p:spPr>
          <a:xfrm>
            <a:off x="9601200" y="4978400"/>
            <a:ext cx="18796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소문자</a:t>
            </a:r>
            <a:r>
              <a:rPr lang="en-US" altLang="ko-KR" sz="1400" b="1">
                <a:solidFill>
                  <a:srgbClr val="08776D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따옴표 </a:t>
            </a:r>
            <a:r>
              <a:rPr lang="en-US" altLang="ko-KR" sz="1400" b="1">
                <a:solidFill>
                  <a:srgbClr val="08776D"/>
                </a:solidFill>
                <a:latin typeface="Noto Sans KR"/>
                <a:ea typeface="Noto Sans KR"/>
              </a:rPr>
              <a:t>X</a:t>
            </a:r>
            <a:endParaRPr lang="ko-KR" altLang="en-US" sz="14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46" name="Viz">
            <a:extLst>
              <a:ext uri="{FF2B5EF4-FFF2-40B4-BE49-F238E27FC236}">
                <a16:creationId xmlns:a16="http://schemas.microsoft.com/office/drawing/2014/main" id="{B1BEE698-2540-42AF-8FAE-16216EAE600B}"/>
              </a:ext>
            </a:extLst>
          </p:cNvPr>
          <p:cNvSpPr/>
          <p:nvPr/>
        </p:nvSpPr>
        <p:spPr>
          <a:xfrm>
            <a:off x="685800" y="5638800"/>
            <a:ext cx="3454400" cy="5588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7" name="Viz">
            <a:extLst>
              <a:ext uri="{FF2B5EF4-FFF2-40B4-BE49-F238E27FC236}">
                <a16:creationId xmlns:a16="http://schemas.microsoft.com/office/drawing/2014/main" id="{16E1AF35-EF53-4A54-A366-EEE4F71B730D}"/>
              </a:ext>
            </a:extLst>
          </p:cNvPr>
          <p:cNvSpPr/>
          <p:nvPr/>
        </p:nvSpPr>
        <p:spPr>
          <a:xfrm>
            <a:off x="787400" y="5715000"/>
            <a:ext cx="1397000" cy="4064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76200" tIns="12700" rIns="76200" bIns="127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A64512"/>
                </a:solidFill>
                <a:latin typeface="Consolas"/>
              </a:rPr>
              <a:t>True</a:t>
            </a:r>
            <a:endParaRPr lang="ko-KR" altLang="en-US" sz="15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48" name="Viz">
            <a:extLst>
              <a:ext uri="{FF2B5EF4-FFF2-40B4-BE49-F238E27FC236}">
                <a16:creationId xmlns:a16="http://schemas.microsoft.com/office/drawing/2014/main" id="{4098E6F0-B6F8-499A-B825-A3CC3693D52A}"/>
              </a:ext>
            </a:extLst>
          </p:cNvPr>
          <p:cNvSpPr/>
          <p:nvPr/>
        </p:nvSpPr>
        <p:spPr>
          <a:xfrm>
            <a:off x="2235200" y="5638800"/>
            <a:ext cx="18796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A64512"/>
                </a:solidFill>
                <a:latin typeface="Noto Sans KR"/>
                <a:ea typeface="Noto Sans KR"/>
              </a:rPr>
              <a:t>대문자 </a:t>
            </a:r>
            <a:r>
              <a:rPr lang="en-US" altLang="ko-KR" sz="1400" b="1">
                <a:solidFill>
                  <a:srgbClr val="A64512"/>
                </a:solidFill>
                <a:latin typeface="Noto Sans KR"/>
                <a:ea typeface="Noto Sans KR"/>
              </a:rPr>
              <a:t>X</a:t>
            </a:r>
            <a:endParaRPr lang="ko-KR" altLang="en-US" sz="1400" b="1">
              <a:solidFill>
                <a:srgbClr val="A64512"/>
              </a:solidFill>
              <a:latin typeface="Noto Sans KR"/>
              <a:ea typeface="Noto Sans KR"/>
            </a:endParaRPr>
          </a:p>
        </p:txBody>
      </p:sp>
      <p:sp>
        <p:nvSpPr>
          <p:cNvPr id="49" name="Viz">
            <a:extLst>
              <a:ext uri="{FF2B5EF4-FFF2-40B4-BE49-F238E27FC236}">
                <a16:creationId xmlns:a16="http://schemas.microsoft.com/office/drawing/2014/main" id="{A3E780E3-35DE-4C05-9ABB-E946757634D4}"/>
              </a:ext>
            </a:extLst>
          </p:cNvPr>
          <p:cNvSpPr/>
          <p:nvPr/>
        </p:nvSpPr>
        <p:spPr>
          <a:xfrm>
            <a:off x="4368800" y="5638800"/>
            <a:ext cx="3454400" cy="5588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0" name="Viz">
            <a:extLst>
              <a:ext uri="{FF2B5EF4-FFF2-40B4-BE49-F238E27FC236}">
                <a16:creationId xmlns:a16="http://schemas.microsoft.com/office/drawing/2014/main" id="{8E4E559E-F75C-43AC-A384-5F812141A0EA}"/>
              </a:ext>
            </a:extLst>
          </p:cNvPr>
          <p:cNvSpPr/>
          <p:nvPr/>
        </p:nvSpPr>
        <p:spPr>
          <a:xfrm>
            <a:off x="4470400" y="5715000"/>
            <a:ext cx="1397000" cy="4064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76200" tIns="12700" rIns="76200" bIns="127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A64512"/>
                </a:solidFill>
                <a:latin typeface="Consolas"/>
              </a:rPr>
              <a:t>"0"</a:t>
            </a:r>
            <a:endParaRPr lang="ko-KR" altLang="en-US" sz="15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51" name="Viz">
            <a:extLst>
              <a:ext uri="{FF2B5EF4-FFF2-40B4-BE49-F238E27FC236}">
                <a16:creationId xmlns:a16="http://schemas.microsoft.com/office/drawing/2014/main" id="{F42A6455-103D-432D-9AEC-270479EB8DA7}"/>
              </a:ext>
            </a:extLst>
          </p:cNvPr>
          <p:cNvSpPr/>
          <p:nvPr/>
        </p:nvSpPr>
        <p:spPr>
          <a:xfrm>
            <a:off x="5918200" y="5638800"/>
            <a:ext cx="18796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A64512"/>
                </a:solidFill>
                <a:latin typeface="Noto Sans KR"/>
                <a:ea typeface="Noto Sans KR"/>
              </a:rPr>
              <a:t>따옴표 숫자는 문자열</a:t>
            </a:r>
          </a:p>
        </p:txBody>
      </p:sp>
      <p:sp>
        <p:nvSpPr>
          <p:cNvPr id="52" name="Viz">
            <a:extLst>
              <a:ext uri="{FF2B5EF4-FFF2-40B4-BE49-F238E27FC236}">
                <a16:creationId xmlns:a16="http://schemas.microsoft.com/office/drawing/2014/main" id="{2728A637-F3C2-45D9-AEBB-73C58C6765B4}"/>
              </a:ext>
            </a:extLst>
          </p:cNvPr>
          <p:cNvSpPr/>
          <p:nvPr/>
        </p:nvSpPr>
        <p:spPr>
          <a:xfrm>
            <a:off x="8051800" y="5638800"/>
            <a:ext cx="3454400" cy="5588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3" name="Viz">
            <a:extLst>
              <a:ext uri="{FF2B5EF4-FFF2-40B4-BE49-F238E27FC236}">
                <a16:creationId xmlns:a16="http://schemas.microsoft.com/office/drawing/2014/main" id="{F539ADAD-7DC7-408B-872C-0215F20826E3}"/>
              </a:ext>
            </a:extLst>
          </p:cNvPr>
          <p:cNvSpPr/>
          <p:nvPr/>
        </p:nvSpPr>
        <p:spPr>
          <a:xfrm>
            <a:off x="8153400" y="5715000"/>
            <a:ext cx="1397000" cy="4064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lIns="76200" tIns="12700" rIns="76200" bIns="127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A64512"/>
                </a:solidFill>
                <a:latin typeface="Consolas"/>
              </a:rPr>
              <a:t>…, }</a:t>
            </a:r>
            <a:endParaRPr lang="ko-KR" altLang="en-US" sz="15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54" name="Viz">
            <a:extLst>
              <a:ext uri="{FF2B5EF4-FFF2-40B4-BE49-F238E27FC236}">
                <a16:creationId xmlns:a16="http://schemas.microsoft.com/office/drawing/2014/main" id="{AE872DDD-618C-4591-9BCC-22C8BB1343D7}"/>
              </a:ext>
            </a:extLst>
          </p:cNvPr>
          <p:cNvSpPr/>
          <p:nvPr/>
        </p:nvSpPr>
        <p:spPr>
          <a:xfrm>
            <a:off x="9601200" y="5638800"/>
            <a:ext cx="1879600" cy="558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76200" tIns="12700" rIns="76200" bIns="127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A64512"/>
                </a:solidFill>
                <a:latin typeface="Noto Sans KR"/>
                <a:ea typeface="Noto Sans KR"/>
              </a:rPr>
              <a:t>마지막 항목 뒤 쉼표 </a:t>
            </a:r>
            <a:r>
              <a:rPr lang="en-US" altLang="ko-KR" sz="1400" b="1">
                <a:solidFill>
                  <a:srgbClr val="A64512"/>
                </a:solidFill>
                <a:latin typeface="Noto Sans KR"/>
                <a:ea typeface="Noto Sans KR"/>
              </a:rPr>
              <a:t>X</a:t>
            </a:r>
            <a:endParaRPr lang="ko-KR" altLang="en-US" sz="1400" b="1">
              <a:solidFill>
                <a:srgbClr val="A64512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42440090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1C7074C-3323-4AA9-BDC7-78A8BEA079C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AFFA1B7-F6AE-4571-82C5-24E4BCBB102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배열은 여러 기록을 순서로 묶습니다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3EDF681-2C10-4F08-BE52-590DB3A2620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4F9068-C5ED-4C1E-826B-4EDBCF70D54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D397878-FE63-43C9-B2ED-C0BD4CBE142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080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555FFBA5-08CB-4021-BBE3-C75FFE609831}"/>
              </a:ext>
            </a:extLst>
          </p:cNvPr>
          <p:cNvSpPr/>
          <p:nvPr/>
        </p:nvSpPr>
        <p:spPr>
          <a:xfrm>
            <a:off x="685800" y="1981200"/>
            <a:ext cx="6604000" cy="4064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A9D7D528-6BCC-412D-9F52-607CBF43BC82}"/>
              </a:ext>
            </a:extLst>
          </p:cNvPr>
          <p:cNvSpPr/>
          <p:nvPr/>
        </p:nvSpPr>
        <p:spPr>
          <a:xfrm>
            <a:off x="889000" y="2108200"/>
            <a:ext cx="381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5B6B74"/>
                </a:solidFill>
                <a:latin typeface="Consolas"/>
              </a:rPr>
              <a:t>{ </a:t>
            </a:r>
            <a:r>
              <a:rPr lang="ko-KR" altLang="en-US" sz="1600" b="1">
                <a:solidFill>
                  <a:srgbClr val="5B6B74"/>
                </a:solidFill>
                <a:latin typeface="Consolas"/>
              </a:rPr>
              <a:t>바깥 객체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C675DD6B-9D91-4FBD-8625-DD34FBE07852}"/>
              </a:ext>
            </a:extLst>
          </p:cNvPr>
          <p:cNvSpPr/>
          <p:nvPr/>
        </p:nvSpPr>
        <p:spPr>
          <a:xfrm>
            <a:off x="1143000" y="2590800"/>
            <a:ext cx="381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700" b="1">
                <a:solidFill>
                  <a:srgbClr val="08776D"/>
                </a:solidFill>
                <a:latin typeface="Consolas"/>
              </a:rPr>
              <a:t>"readings":</a:t>
            </a:r>
            <a:endParaRPr lang="ko-KR" altLang="en-US" sz="17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D818FA4D-C18C-49CC-838B-A7202B2C630B}"/>
              </a:ext>
            </a:extLst>
          </p:cNvPr>
          <p:cNvSpPr/>
          <p:nvPr/>
        </p:nvSpPr>
        <p:spPr>
          <a:xfrm>
            <a:off x="1143000" y="3048000"/>
            <a:ext cx="5943600" cy="2286000"/>
          </a:xfrm>
          <a:prstGeom prst="roundRect">
            <a:avLst/>
          </a:prstGeom>
          <a:solidFill>
            <a:srgbClr val="E7F4F1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FEA4ADD4-5C71-4880-B955-925F0C44F537}"/>
              </a:ext>
            </a:extLst>
          </p:cNvPr>
          <p:cNvSpPr/>
          <p:nvPr/>
        </p:nvSpPr>
        <p:spPr>
          <a:xfrm>
            <a:off x="1270000" y="3124200"/>
            <a:ext cx="2540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08776D"/>
                </a:solidFill>
                <a:latin typeface="Noto Sans KR"/>
                <a:ea typeface="Noto Sans KR"/>
              </a:rPr>
              <a:t>[ </a:t>
            </a:r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배열 </a:t>
            </a:r>
            <a:r>
              <a:rPr lang="en-US" altLang="ko-KR" sz="1500" b="1">
                <a:solidFill>
                  <a:srgbClr val="08776D"/>
                </a:solidFill>
                <a:latin typeface="Noto Sans KR"/>
                <a:ea typeface="Noto Sans KR"/>
              </a:rPr>
              <a:t>= </a:t>
            </a:r>
            <a:r>
              <a:rPr lang="ko-KR" altLang="en-US" sz="1500" b="1">
                <a:solidFill>
                  <a:srgbClr val="08776D"/>
                </a:solidFill>
                <a:latin typeface="Noto Sans KR"/>
                <a:ea typeface="Noto Sans KR"/>
              </a:rPr>
              <a:t>목록 </a:t>
            </a:r>
            <a:r>
              <a:rPr lang="en-US" altLang="ko-KR" sz="1500" b="1">
                <a:solidFill>
                  <a:srgbClr val="08776D"/>
                </a:solidFill>
                <a:latin typeface="Noto Sans KR"/>
                <a:ea typeface="Noto Sans KR"/>
              </a:rPr>
              <a:t>]</a:t>
            </a:r>
            <a:endParaRPr lang="ko-KR" altLang="en-US" sz="15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79DACBB4-7BA1-4811-B039-7677CD760FCF}"/>
              </a:ext>
            </a:extLst>
          </p:cNvPr>
          <p:cNvSpPr/>
          <p:nvPr/>
        </p:nvSpPr>
        <p:spPr>
          <a:xfrm>
            <a:off x="1397000" y="3530600"/>
            <a:ext cx="2540000" cy="1168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D7F99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500">
                <a:solidFill>
                  <a:srgbClr val="172E3A"/>
                </a:solidFill>
                <a:latin typeface="Consolas"/>
              </a:rPr>
              <a:t>{ "temperature_c":
  24.0 }</a:t>
            </a:r>
            <a:endParaRPr lang="ko-KR" altLang="en-US" sz="15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CCCF9E38-428D-4560-87AD-8B2ED0FDD25B}"/>
              </a:ext>
            </a:extLst>
          </p:cNvPr>
          <p:cNvSpPr/>
          <p:nvPr/>
        </p:nvSpPr>
        <p:spPr>
          <a:xfrm>
            <a:off x="4292600" y="3530600"/>
            <a:ext cx="2540000" cy="1168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D7F99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500">
                <a:solidFill>
                  <a:srgbClr val="172E3A"/>
                </a:solidFill>
                <a:latin typeface="Consolas"/>
              </a:rPr>
              <a:t>{ "temperature_c":
  null }</a:t>
            </a:r>
            <a:endParaRPr lang="ko-KR" altLang="en-US" sz="1500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1D05ABC9-3399-4FF2-B097-286901652D86}"/>
              </a:ext>
            </a:extLst>
          </p:cNvPr>
          <p:cNvSpPr/>
          <p:nvPr/>
        </p:nvSpPr>
        <p:spPr>
          <a:xfrm>
            <a:off x="1397000" y="4749800"/>
            <a:ext cx="254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400" b="1">
                <a:solidFill>
                  <a:srgbClr val="2F6A82"/>
                </a:solidFill>
                <a:latin typeface="Noto Sans KR"/>
                <a:ea typeface="Noto Sans KR"/>
              </a:rPr>
              <a:t>1</a:t>
            </a:r>
            <a:r>
              <a:rPr lang="ko-KR" altLang="en-US" sz="1400" b="1">
                <a:solidFill>
                  <a:srgbClr val="2F6A82"/>
                </a:solidFill>
                <a:latin typeface="Noto Sans KR"/>
                <a:ea typeface="Noto Sans KR"/>
              </a:rPr>
              <a:t>번째 측정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72E7B9DA-0612-41E9-B330-1B59CD311B95}"/>
              </a:ext>
            </a:extLst>
          </p:cNvPr>
          <p:cNvSpPr/>
          <p:nvPr/>
        </p:nvSpPr>
        <p:spPr>
          <a:xfrm>
            <a:off x="4292600" y="4749800"/>
            <a:ext cx="254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400" b="1">
                <a:solidFill>
                  <a:srgbClr val="2F6A82"/>
                </a:solidFill>
                <a:latin typeface="Noto Sans KR"/>
                <a:ea typeface="Noto Sans KR"/>
              </a:rPr>
              <a:t>2</a:t>
            </a:r>
            <a:r>
              <a:rPr lang="ko-KR" altLang="en-US" sz="1400" b="1">
                <a:solidFill>
                  <a:srgbClr val="2F6A82"/>
                </a:solidFill>
                <a:latin typeface="Noto Sans KR"/>
                <a:ea typeface="Noto Sans KR"/>
              </a:rPr>
              <a:t>번째 측정 </a:t>
            </a:r>
            <a:r>
              <a:rPr lang="en-US" altLang="ko-KR" sz="1400" b="1">
                <a:solidFill>
                  <a:srgbClr val="2F6A82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 b="1">
                <a:solidFill>
                  <a:srgbClr val="2F6A82"/>
                </a:solidFill>
                <a:latin typeface="Noto Sans KR"/>
                <a:ea typeface="Noto Sans KR"/>
              </a:rPr>
              <a:t>값 모름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52054B64-297C-4E5F-B35C-EC721B2D95DF}"/>
              </a:ext>
            </a:extLst>
          </p:cNvPr>
          <p:cNvSpPr/>
          <p:nvPr/>
        </p:nvSpPr>
        <p:spPr>
          <a:xfrm>
            <a:off x="889000" y="5486400"/>
            <a:ext cx="3810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5B6B74"/>
                </a:solidFill>
                <a:latin typeface="Consolas"/>
              </a:rPr>
              <a:t>}</a:t>
            </a:r>
            <a:endParaRPr lang="ko-KR" altLang="en-US" sz="1600" b="1">
              <a:solidFill>
                <a:srgbClr val="5B6B74"/>
              </a:solidFill>
              <a:latin typeface="Consolas"/>
            </a:endParaRP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324262D4-04EC-4CD2-B6E7-478928F74A81}"/>
              </a:ext>
            </a:extLst>
          </p:cNvPr>
          <p:cNvSpPr/>
          <p:nvPr/>
        </p:nvSpPr>
        <p:spPr>
          <a:xfrm>
            <a:off x="7543800" y="1981200"/>
            <a:ext cx="3962400" cy="1270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AccentBar">
            <a:extLst>
              <a:ext uri="{FF2B5EF4-FFF2-40B4-BE49-F238E27FC236}">
                <a16:creationId xmlns:a16="http://schemas.microsoft.com/office/drawing/2014/main" id="{C2D5044B-52DB-4F37-916E-3AE3128CA0FD}"/>
              </a:ext>
            </a:extLst>
          </p:cNvPr>
          <p:cNvSpPr/>
          <p:nvPr/>
        </p:nvSpPr>
        <p:spPr>
          <a:xfrm>
            <a:off x="7543800" y="1981200"/>
            <a:ext cx="76200" cy="1270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15B3C974-89E3-4BA2-AD93-AF0CD252A2C1}"/>
              </a:ext>
            </a:extLst>
          </p:cNvPr>
          <p:cNvSpPr/>
          <p:nvPr/>
        </p:nvSpPr>
        <p:spPr>
          <a:xfrm>
            <a:off x="7772400" y="2082800"/>
            <a:ext cx="3683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[ ] </a:t>
            </a:r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배열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DD16B873-5057-4A45-ABCD-1165F677D9CA}"/>
              </a:ext>
            </a:extLst>
          </p:cNvPr>
          <p:cNvSpPr/>
          <p:nvPr/>
        </p:nvSpPr>
        <p:spPr>
          <a:xfrm>
            <a:off x="7772400" y="2463800"/>
            <a:ext cx="3683000" cy="736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여러 기록을 순서대로 담는 목록입니다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8062B48F-16BE-4662-B377-39E4CABA0794}"/>
              </a:ext>
            </a:extLst>
          </p:cNvPr>
          <p:cNvSpPr/>
          <p:nvPr/>
        </p:nvSpPr>
        <p:spPr>
          <a:xfrm>
            <a:off x="7543800" y="3378200"/>
            <a:ext cx="3962400" cy="1270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AccentBar">
            <a:extLst>
              <a:ext uri="{FF2B5EF4-FFF2-40B4-BE49-F238E27FC236}">
                <a16:creationId xmlns:a16="http://schemas.microsoft.com/office/drawing/2014/main" id="{04530F98-1167-45CC-A2C9-74460E058F7F}"/>
              </a:ext>
            </a:extLst>
          </p:cNvPr>
          <p:cNvSpPr/>
          <p:nvPr/>
        </p:nvSpPr>
        <p:spPr>
          <a:xfrm>
            <a:off x="7543800" y="3378200"/>
            <a:ext cx="76200" cy="1270000"/>
          </a:xfrm>
          <a:prstGeom prst="rect">
            <a:avLst/>
          </a:prstGeom>
          <a:solidFill>
            <a:srgbClr val="3D7F9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3822BDA3-EB70-4232-A9A3-757D0905A93D}"/>
              </a:ext>
            </a:extLst>
          </p:cNvPr>
          <p:cNvSpPr/>
          <p:nvPr/>
        </p:nvSpPr>
        <p:spPr>
          <a:xfrm>
            <a:off x="7772400" y="3479800"/>
            <a:ext cx="3683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700" b="1">
                <a:solidFill>
                  <a:srgbClr val="2F6A82"/>
                </a:solidFill>
                <a:latin typeface="Noto Sans KR"/>
                <a:ea typeface="Noto Sans KR"/>
              </a:rPr>
              <a:t>{ } </a:t>
            </a:r>
            <a:r>
              <a:rPr lang="ko-KR" altLang="en-US" sz="1700" b="1">
                <a:solidFill>
                  <a:srgbClr val="2F6A82"/>
                </a:solidFill>
                <a:latin typeface="Noto Sans KR"/>
                <a:ea typeface="Noto Sans KR"/>
              </a:rPr>
              <a:t>객체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A7D8612D-AB34-4991-9BF6-8FB72263F8C3}"/>
              </a:ext>
            </a:extLst>
          </p:cNvPr>
          <p:cNvSpPr/>
          <p:nvPr/>
        </p:nvSpPr>
        <p:spPr>
          <a:xfrm>
            <a:off x="7772400" y="3860800"/>
            <a:ext cx="3683000" cy="736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목록 안의 카드 한 장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측정 한 건입니다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0A5C4C69-6209-47F0-A86E-AAF2F9A73F43}"/>
              </a:ext>
            </a:extLst>
          </p:cNvPr>
          <p:cNvSpPr/>
          <p:nvPr/>
        </p:nvSpPr>
        <p:spPr>
          <a:xfrm>
            <a:off x="7543800" y="4775200"/>
            <a:ext cx="3962400" cy="1270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1BA1D394-EDD1-471E-9DC4-B083DCDC3859}"/>
              </a:ext>
            </a:extLst>
          </p:cNvPr>
          <p:cNvSpPr/>
          <p:nvPr/>
        </p:nvSpPr>
        <p:spPr>
          <a:xfrm>
            <a:off x="7543800" y="4775200"/>
            <a:ext cx="76200" cy="12700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08805868-4ED5-469B-AB4C-7B68DDD385BA}"/>
              </a:ext>
            </a:extLst>
          </p:cNvPr>
          <p:cNvSpPr/>
          <p:nvPr/>
        </p:nvSpPr>
        <p:spPr>
          <a:xfrm>
            <a:off x="7772400" y="4876800"/>
            <a:ext cx="3683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700" b="1">
                <a:solidFill>
                  <a:srgbClr val="5B6B74"/>
                </a:solidFill>
                <a:latin typeface="Noto Sans KR"/>
                <a:ea typeface="Noto Sans KR"/>
              </a:rPr>
              <a:t>찾는 순서</a:t>
            </a: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BF2D1147-6683-4C26-9C6D-3324EA787854}"/>
              </a:ext>
            </a:extLst>
          </p:cNvPr>
          <p:cNvSpPr/>
          <p:nvPr/>
        </p:nvSpPr>
        <p:spPr>
          <a:xfrm>
            <a:off x="7772400" y="5257800"/>
            <a:ext cx="3683000" cy="736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바깥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{ } → readings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키 →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[ ]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안 몇 번째 카드</a:t>
            </a:r>
          </a:p>
        </p:txBody>
      </p:sp>
    </p:spTree>
    <p:extLst>
      <p:ext uri="{BB962C8B-B14F-4D97-AF65-F5344CB8AC3E}">
        <p14:creationId xmlns:p14="http://schemas.microsoft.com/office/powerpoint/2010/main" val="195399238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18DB193-7368-4C23-A4C9-02BE99E3A06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149703F-1C7D-42BF-AB65-1E7DC3114A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측정 두 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66D5BF-AF28-4877-B4D6-94738B2E460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F3FEC7D-A0AA-4C60-B801-D983BBF0898D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4036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D126812-F39B-4EC8-A3B1-4B372C39434D}"/>
              </a:ext>
            </a:extLst>
          </p:cNvPr>
          <p:cNvSpPr>
            <a:spLocks noGrp="1"/>
          </p:cNvSpPr>
          <p:nvPr/>
        </p:nvSpPr>
        <p:spPr>
          <a:xfrm>
            <a:off x="838200" y="2101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5B7BB13-B25F-4111-B8FF-1B7FA1F6AA65}"/>
              </a:ext>
            </a:extLst>
          </p:cNvPr>
          <p:cNvSpPr>
            <a:spLocks noGrp="1"/>
          </p:cNvSpPr>
          <p:nvPr/>
        </p:nvSpPr>
        <p:spPr>
          <a:xfrm>
            <a:off x="1320800" y="2101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{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FE65583-CF6E-4B82-856B-60CB31DFF7F1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4B10CD9-5551-428D-B59F-AE6456943094}"/>
              </a:ext>
            </a:extLst>
          </p:cNvPr>
          <p:cNvSpPr>
            <a:spLocks noGrp="1"/>
          </p:cNvSpPr>
          <p:nvPr/>
        </p:nvSpPr>
        <p:spPr>
          <a:xfrm>
            <a:off x="1320800" y="2609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"readings": [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58C10FC-419B-4456-993E-2D71FE49D2A6}"/>
              </a:ext>
            </a:extLst>
          </p:cNvPr>
          <p:cNvSpPr>
            <a:spLocks noGrp="1"/>
          </p:cNvSpPr>
          <p:nvPr/>
        </p:nvSpPr>
        <p:spPr>
          <a:xfrm>
            <a:off x="838200" y="3117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90E38B3-A9A9-4060-8B34-05E4CC8C829B}"/>
              </a:ext>
            </a:extLst>
          </p:cNvPr>
          <p:cNvSpPr>
            <a:spLocks noGrp="1"/>
          </p:cNvSpPr>
          <p:nvPr/>
        </p:nvSpPr>
        <p:spPr>
          <a:xfrm>
            <a:off x="1320800" y="3117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  {"temperature_c": 24.0},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C6BD6D5-63A0-49BA-9D05-A93926B4726E}"/>
              </a:ext>
            </a:extLst>
          </p:cNvPr>
          <p:cNvSpPr>
            <a:spLocks noGrp="1"/>
          </p:cNvSpPr>
          <p:nvPr/>
        </p:nvSpPr>
        <p:spPr>
          <a:xfrm>
            <a:off x="838200" y="3625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04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04BDC80-2354-4E2C-9176-0EFA60C4274E}"/>
              </a:ext>
            </a:extLst>
          </p:cNvPr>
          <p:cNvSpPr>
            <a:spLocks noGrp="1"/>
          </p:cNvSpPr>
          <p:nvPr/>
        </p:nvSpPr>
        <p:spPr>
          <a:xfrm>
            <a:off x="1320800" y="3625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  {"temperature_c": null}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F208886-E28D-411D-8983-D2AA340772E7}"/>
              </a:ext>
            </a:extLst>
          </p:cNvPr>
          <p:cNvSpPr>
            <a:spLocks noGrp="1"/>
          </p:cNvSpPr>
          <p:nvPr/>
        </p:nvSpPr>
        <p:spPr>
          <a:xfrm>
            <a:off x="838200" y="4133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05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8040505-7389-4961-B740-53FC32B0B03A}"/>
              </a:ext>
            </a:extLst>
          </p:cNvPr>
          <p:cNvSpPr>
            <a:spLocks noGrp="1"/>
          </p:cNvSpPr>
          <p:nvPr/>
        </p:nvSpPr>
        <p:spPr>
          <a:xfrm>
            <a:off x="1320800" y="4133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]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922090A-FB30-4DE8-B433-5E762CA5B3BD}"/>
              </a:ext>
            </a:extLst>
          </p:cNvPr>
          <p:cNvSpPr>
            <a:spLocks noGrp="1"/>
          </p:cNvSpPr>
          <p:nvPr/>
        </p:nvSpPr>
        <p:spPr>
          <a:xfrm>
            <a:off x="838200" y="4641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06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5858CAB-B240-453C-8289-783591D223EA}"/>
              </a:ext>
            </a:extLst>
          </p:cNvPr>
          <p:cNvSpPr>
            <a:spLocks noGrp="1"/>
          </p:cNvSpPr>
          <p:nvPr/>
        </p:nvSpPr>
        <p:spPr>
          <a:xfrm>
            <a:off x="1320800" y="4641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}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37DE5B7-0037-4908-A769-D98D245D77A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04FADDC-766A-4213-9D23-20C06288D6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081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5040729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F1C7A7E-8726-4DE5-B29C-B2D0B29DEA1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14AA9F4-8110-4B48-ADB0-EBA93A427E1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표의 한 행은 </a:t>
            </a:r>
            <a:r>
              <a:rPr lang="en-US" altLang="ko-KR"/>
              <a:t>JSON </a:t>
            </a:r>
            <a:r>
              <a:rPr lang="ko-KR" altLang="en-US"/>
              <a:t>객체 하나가 됩니다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B529A0-7669-48C4-BD68-4015CD27E32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52B9FC-73FF-494F-A4AD-0B62C46CB2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6C40155-F389-4D24-AFB5-B303AE5CA18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082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88FB0701-D6D4-49AD-823B-02485AEA3A26}"/>
              </a:ext>
            </a:extLst>
          </p:cNvPr>
          <p:cNvSpPr/>
          <p:nvPr/>
        </p:nvSpPr>
        <p:spPr>
          <a:xfrm>
            <a:off x="685800" y="1981200"/>
            <a:ext cx="4826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표 </a:t>
            </a:r>
            <a:r>
              <a:rPr lang="en-US" altLang="ko-KR" sz="1500" b="1">
                <a:solidFill>
                  <a:srgbClr val="5B6B74"/>
                </a:solidFill>
                <a:latin typeface="Noto Sans KR"/>
                <a:ea typeface="Noto Sans KR"/>
              </a:rPr>
              <a:t>(CSV)</a:t>
            </a:r>
            <a:endParaRPr lang="ko-KR" altLang="en-US" sz="1500" b="1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D465EEBE-953B-49A3-885B-02CE660827A0}"/>
              </a:ext>
            </a:extLst>
          </p:cNvPr>
          <p:cNvSpPr/>
          <p:nvPr/>
        </p:nvSpPr>
        <p:spPr>
          <a:xfrm>
            <a:off x="685800" y="2362200"/>
            <a:ext cx="1549400" cy="5080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Consolas"/>
              </a:rPr>
              <a:t>device_id</a:t>
            </a:r>
            <a:endParaRPr lang="ko-KR" altLang="en-US" sz="15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89311941-C847-40C9-9476-96C54B2D8D7E}"/>
              </a:ext>
            </a:extLst>
          </p:cNvPr>
          <p:cNvSpPr/>
          <p:nvPr/>
        </p:nvSpPr>
        <p:spPr>
          <a:xfrm>
            <a:off x="685800" y="2921000"/>
            <a:ext cx="1549400" cy="558800"/>
          </a:xfrm>
          <a:prstGeom prst="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Consolas"/>
              </a:rPr>
              <a:t>D01</a:t>
            </a:r>
            <a:endParaRPr lang="ko-KR" altLang="en-US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A9ECDA6C-0B52-498C-8004-62DF2C94B910}"/>
              </a:ext>
            </a:extLst>
          </p:cNvPr>
          <p:cNvSpPr/>
          <p:nvPr/>
        </p:nvSpPr>
        <p:spPr>
          <a:xfrm>
            <a:off x="2286000" y="2362200"/>
            <a:ext cx="1549400" cy="5080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Consolas"/>
              </a:rPr>
              <a:t>active</a:t>
            </a:r>
            <a:endParaRPr lang="ko-KR" altLang="en-US" sz="15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35B5C3BB-DF8F-4A63-8311-C98DFED616CA}"/>
              </a:ext>
            </a:extLst>
          </p:cNvPr>
          <p:cNvSpPr/>
          <p:nvPr/>
        </p:nvSpPr>
        <p:spPr>
          <a:xfrm>
            <a:off x="2286000" y="2921000"/>
            <a:ext cx="1549400" cy="558800"/>
          </a:xfrm>
          <a:prstGeom prst="rect">
            <a:avLst/>
          </a:prstGeom>
          <a:solidFill>
            <a:srgbClr val="DCEAF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Consolas"/>
              </a:rPr>
              <a:t>false</a:t>
            </a:r>
            <a:endParaRPr lang="ko-KR" altLang="en-US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A549FEF2-CC6B-4DB9-AA79-6D8C8C69D0D4}"/>
              </a:ext>
            </a:extLst>
          </p:cNvPr>
          <p:cNvSpPr/>
          <p:nvPr/>
        </p:nvSpPr>
        <p:spPr>
          <a:xfrm>
            <a:off x="3886200" y="2362200"/>
            <a:ext cx="1549400" cy="5080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Consolas"/>
              </a:rPr>
              <a:t>stock</a:t>
            </a:r>
            <a:endParaRPr lang="ko-KR" altLang="en-US" sz="15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B71D374D-14DB-4E6C-A29E-BA1C4BFB3346}"/>
              </a:ext>
            </a:extLst>
          </p:cNvPr>
          <p:cNvSpPr/>
          <p:nvPr/>
        </p:nvSpPr>
        <p:spPr>
          <a:xfrm>
            <a:off x="3886200" y="2921000"/>
            <a:ext cx="1549400" cy="5588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b="1">
                <a:solidFill>
                  <a:srgbClr val="172E3A"/>
                </a:solidFill>
                <a:latin typeface="Consolas"/>
              </a:rPr>
              <a:t>0</a:t>
            </a:r>
            <a:endParaRPr lang="ko-KR" altLang="en-US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94271CE0-2483-4B01-9CF4-F119A92FD444}"/>
              </a:ext>
            </a:extLst>
          </p:cNvPr>
          <p:cNvSpPr/>
          <p:nvPr/>
        </p:nvSpPr>
        <p:spPr>
          <a:xfrm>
            <a:off x="685800" y="3556000"/>
            <a:ext cx="4826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▲ 헤더가 키</a:t>
            </a:r>
            <a:r>
              <a:rPr lang="en-US" altLang="ko-KR" sz="1400" b="1">
                <a:solidFill>
                  <a:srgbClr val="08776D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행의 칸이 값이 됩니다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F052B82A-1F16-40E2-8AAA-6D09238A054E}"/>
              </a:ext>
            </a:extLst>
          </p:cNvPr>
          <p:cNvSpPr/>
          <p:nvPr/>
        </p:nvSpPr>
        <p:spPr>
          <a:xfrm>
            <a:off x="5715000" y="2819400"/>
            <a:ext cx="508000" cy="3810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FD91D356-1617-48B0-BEF9-5F463495EAF6}"/>
              </a:ext>
            </a:extLst>
          </p:cNvPr>
          <p:cNvSpPr/>
          <p:nvPr/>
        </p:nvSpPr>
        <p:spPr>
          <a:xfrm>
            <a:off x="6426200" y="1981200"/>
            <a:ext cx="508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en-US" altLang="ko-KR" sz="1500" b="1">
                <a:solidFill>
                  <a:srgbClr val="5B6B74"/>
                </a:solidFill>
                <a:latin typeface="Noto Sans KR"/>
                <a:ea typeface="Noto Sans KR"/>
              </a:rPr>
              <a:t>JSON </a:t>
            </a:r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객체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78ED985D-60D4-4E18-A2E6-DCB530C53602}"/>
              </a:ext>
            </a:extLst>
          </p:cNvPr>
          <p:cNvSpPr/>
          <p:nvPr/>
        </p:nvSpPr>
        <p:spPr>
          <a:xfrm>
            <a:off x="6426200" y="2362200"/>
            <a:ext cx="5080000" cy="22860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0BFF60A2-4450-45C8-859E-EBCE094C0136}"/>
              </a:ext>
            </a:extLst>
          </p:cNvPr>
          <p:cNvSpPr/>
          <p:nvPr/>
        </p:nvSpPr>
        <p:spPr>
          <a:xfrm>
            <a:off x="6629400" y="2463800"/>
            <a:ext cx="508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700" b="1">
                <a:solidFill>
                  <a:srgbClr val="E6EEF1"/>
                </a:solidFill>
                <a:latin typeface="Consolas"/>
              </a:rPr>
              <a:t>{</a:t>
            </a:r>
            <a:endParaRPr lang="ko-KR" altLang="en-US" sz="1700" b="1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C8739FDD-FF6C-4760-9A5B-C67E57CFE895}"/>
              </a:ext>
            </a:extLst>
          </p:cNvPr>
          <p:cNvSpPr/>
          <p:nvPr/>
        </p:nvSpPr>
        <p:spPr>
          <a:xfrm>
            <a:off x="6858000" y="2870200"/>
            <a:ext cx="2159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E6EEF1"/>
                </a:solidFill>
                <a:latin typeface="Consolas"/>
              </a:rPr>
              <a:t>"device_id":</a:t>
            </a:r>
            <a:endParaRPr lang="ko-KR" altLang="en-US" sz="1600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847F4195-A1D3-4D6C-A0F0-2A31878B3BC2}"/>
              </a:ext>
            </a:extLst>
          </p:cNvPr>
          <p:cNvSpPr/>
          <p:nvPr/>
        </p:nvSpPr>
        <p:spPr>
          <a:xfrm>
            <a:off x="9093200" y="2870200"/>
            <a:ext cx="1524000" cy="381000"/>
          </a:xfrm>
          <a:prstGeom prst="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172E3A"/>
                </a:solidFill>
                <a:latin typeface="Consolas"/>
              </a:rPr>
              <a:t>"D01",</a:t>
            </a:r>
            <a:endParaRPr lang="ko-KR" altLang="en-US" sz="1600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9E4027AC-B620-4D35-AF8B-D15FBEE0BBC8}"/>
              </a:ext>
            </a:extLst>
          </p:cNvPr>
          <p:cNvSpPr/>
          <p:nvPr/>
        </p:nvSpPr>
        <p:spPr>
          <a:xfrm>
            <a:off x="6858000" y="3327400"/>
            <a:ext cx="2159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E6EEF1"/>
                </a:solidFill>
                <a:latin typeface="Consolas"/>
              </a:rPr>
              <a:t>"active":</a:t>
            </a:r>
            <a:endParaRPr lang="ko-KR" altLang="en-US" sz="1600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A1F84984-77EB-4E30-8CFA-1F3F47EB5FB8}"/>
              </a:ext>
            </a:extLst>
          </p:cNvPr>
          <p:cNvSpPr/>
          <p:nvPr/>
        </p:nvSpPr>
        <p:spPr>
          <a:xfrm>
            <a:off x="9093200" y="3327400"/>
            <a:ext cx="1524000" cy="381000"/>
          </a:xfrm>
          <a:prstGeom prst="rect">
            <a:avLst/>
          </a:prstGeom>
          <a:solidFill>
            <a:srgbClr val="DCEAF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172E3A"/>
                </a:solidFill>
                <a:latin typeface="Consolas"/>
              </a:rPr>
              <a:t>false,</a:t>
            </a:r>
            <a:endParaRPr lang="ko-KR" altLang="en-US" sz="1600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7936DB22-49DE-4DA8-BFEB-EB9CFA82B229}"/>
              </a:ext>
            </a:extLst>
          </p:cNvPr>
          <p:cNvSpPr/>
          <p:nvPr/>
        </p:nvSpPr>
        <p:spPr>
          <a:xfrm>
            <a:off x="6858000" y="3784600"/>
            <a:ext cx="21590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E6EEF1"/>
                </a:solidFill>
                <a:latin typeface="Consolas"/>
              </a:rPr>
              <a:t>"stock":</a:t>
            </a:r>
            <a:endParaRPr lang="ko-KR" altLang="en-US" sz="1600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5AED68FE-FF81-446F-B076-E805D648369B}"/>
              </a:ext>
            </a:extLst>
          </p:cNvPr>
          <p:cNvSpPr/>
          <p:nvPr/>
        </p:nvSpPr>
        <p:spPr>
          <a:xfrm>
            <a:off x="9093200" y="3784600"/>
            <a:ext cx="1524000" cy="3810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172E3A"/>
                </a:solidFill>
                <a:latin typeface="Consolas"/>
              </a:rPr>
              <a:t>0</a:t>
            </a:r>
            <a:endParaRPr lang="ko-KR" altLang="en-US" sz="1600" b="1">
              <a:solidFill>
                <a:srgbClr val="172E3A"/>
              </a:solidFill>
              <a:latin typeface="Consolas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6A44997F-B0AD-4E65-A16C-1516786EC5ED}"/>
              </a:ext>
            </a:extLst>
          </p:cNvPr>
          <p:cNvSpPr/>
          <p:nvPr/>
        </p:nvSpPr>
        <p:spPr>
          <a:xfrm>
            <a:off x="6629400" y="4241800"/>
            <a:ext cx="508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700" b="1">
                <a:solidFill>
                  <a:srgbClr val="E6EEF1"/>
                </a:solidFill>
                <a:latin typeface="Consolas"/>
              </a:rPr>
              <a:t>}</a:t>
            </a:r>
            <a:endParaRPr lang="ko-KR" altLang="en-US" sz="1700" b="1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701A9056-091C-4D2A-9607-404591CF5DCC}"/>
              </a:ext>
            </a:extLst>
          </p:cNvPr>
          <p:cNvSpPr/>
          <p:nvPr/>
        </p:nvSpPr>
        <p:spPr>
          <a:xfrm>
            <a:off x="685800" y="4927600"/>
            <a:ext cx="3454400" cy="1270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AccentBar">
            <a:extLst>
              <a:ext uri="{FF2B5EF4-FFF2-40B4-BE49-F238E27FC236}">
                <a16:creationId xmlns:a16="http://schemas.microsoft.com/office/drawing/2014/main" id="{2BFFB923-DD58-4B66-ACA5-FAD5395EAA61}"/>
              </a:ext>
            </a:extLst>
          </p:cNvPr>
          <p:cNvSpPr/>
          <p:nvPr/>
        </p:nvSpPr>
        <p:spPr>
          <a:xfrm>
            <a:off x="685800" y="4927600"/>
            <a:ext cx="76200" cy="1270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428D1467-421A-4AC0-A88C-0660B10A8450}"/>
              </a:ext>
            </a:extLst>
          </p:cNvPr>
          <p:cNvSpPr/>
          <p:nvPr/>
        </p:nvSpPr>
        <p:spPr>
          <a:xfrm>
            <a:off x="889000" y="5003800"/>
            <a:ext cx="3175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키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=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헤더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4B770B37-6DCF-4E60-947C-20FF4C49E371}"/>
              </a:ext>
            </a:extLst>
          </p:cNvPr>
          <p:cNvSpPr/>
          <p:nvPr/>
        </p:nvSpPr>
        <p:spPr>
          <a:xfrm>
            <a:off x="889000" y="5384800"/>
            <a:ext cx="3175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열 이름이 큰따옴표 안의 키가 됩니다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F1C1F244-525A-4480-A30C-351BE498D711}"/>
              </a:ext>
            </a:extLst>
          </p:cNvPr>
          <p:cNvSpPr/>
          <p:nvPr/>
        </p:nvSpPr>
        <p:spPr>
          <a:xfrm>
            <a:off x="4368800" y="4927600"/>
            <a:ext cx="3454400" cy="1270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AccentBar">
            <a:extLst>
              <a:ext uri="{FF2B5EF4-FFF2-40B4-BE49-F238E27FC236}">
                <a16:creationId xmlns:a16="http://schemas.microsoft.com/office/drawing/2014/main" id="{B1550ADE-46D2-4568-8DF6-D1736113914F}"/>
              </a:ext>
            </a:extLst>
          </p:cNvPr>
          <p:cNvSpPr/>
          <p:nvPr/>
        </p:nvSpPr>
        <p:spPr>
          <a:xfrm>
            <a:off x="4368800" y="4927600"/>
            <a:ext cx="76200" cy="1270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911D0DDD-3F0B-4845-B1FF-B45BEBA65045}"/>
              </a:ext>
            </a:extLst>
          </p:cNvPr>
          <p:cNvSpPr/>
          <p:nvPr/>
        </p:nvSpPr>
        <p:spPr>
          <a:xfrm>
            <a:off x="4572000" y="5003800"/>
            <a:ext cx="3175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값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=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자료형 지키기</a:t>
            </a: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73273E72-30F4-4809-9E67-587132331EE9}"/>
              </a:ext>
            </a:extLst>
          </p:cNvPr>
          <p:cNvSpPr/>
          <p:nvPr/>
        </p:nvSpPr>
        <p:spPr>
          <a:xfrm>
            <a:off x="4572000" y="5384800"/>
            <a:ext cx="3175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D01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은 문자열이라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"D01", false·0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은 따옴표 없이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366B70FB-545A-418B-99BC-456EA7E41F67}"/>
              </a:ext>
            </a:extLst>
          </p:cNvPr>
          <p:cNvSpPr/>
          <p:nvPr/>
        </p:nvSpPr>
        <p:spPr>
          <a:xfrm>
            <a:off x="8051800" y="4927600"/>
            <a:ext cx="3454400" cy="1270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AccentBar">
            <a:extLst>
              <a:ext uri="{FF2B5EF4-FFF2-40B4-BE49-F238E27FC236}">
                <a16:creationId xmlns:a16="http://schemas.microsoft.com/office/drawing/2014/main" id="{0C0D0EFC-C34C-4F3D-8C83-11E112D49A38}"/>
              </a:ext>
            </a:extLst>
          </p:cNvPr>
          <p:cNvSpPr/>
          <p:nvPr/>
        </p:nvSpPr>
        <p:spPr>
          <a:xfrm>
            <a:off x="8051800" y="4927600"/>
            <a:ext cx="76200" cy="1270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FF931D22-081A-467C-9D3D-8A6E1D587239}"/>
              </a:ext>
            </a:extLst>
          </p:cNvPr>
          <p:cNvSpPr/>
          <p:nvPr/>
        </p:nvSpPr>
        <p:spPr>
          <a:xfrm>
            <a:off x="8255000" y="5003800"/>
            <a:ext cx="3175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마지막 쉼표</a:t>
            </a: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22586AD1-C084-432A-95BA-7AACEEA670EC}"/>
              </a:ext>
            </a:extLst>
          </p:cNvPr>
          <p:cNvSpPr/>
          <p:nvPr/>
        </p:nvSpPr>
        <p:spPr>
          <a:xfrm>
            <a:off x="8255000" y="5384800"/>
            <a:ext cx="3175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stock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뒤에는 쉼표를 쓰지 않습니다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32703850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F1C7A7E-8726-4DE5-B29C-B2D0B29DEA1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5</a:t>
            </a:r>
            <a:r>
              <a:rPr lang="ko-KR" altLang="en-US"/>
              <a:t>교시   현장 사례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14AA9F4-8110-4B48-ADB0-EBA93A427E1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전기차 충전기도 </a:t>
            </a:r>
            <a:r>
              <a:rPr lang="en-US" altLang="ko-KR"/>
              <a:t>JSON</a:t>
            </a:r>
            <a:r>
              <a:rPr lang="ko-KR" altLang="en-US"/>
              <a:t>으로 상태를 보고합니다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B529A0-7669-48C4-BD68-4015CD27E32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52B9FC-73FF-494F-A4AD-0B62C46CB2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6C40155-F389-4D24-AFB5-B303AE5CA18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083</a:t>
            </a:r>
            <a:endParaRPr/>
          </a:p>
        </p:txBody>
      </p:sp>
      <p:sp>
        <p:nvSpPr>
          <p:cNvPr id="5" name="Viz">
            <a:extLst>
              <a:ext uri="{FF2B5EF4-FFF2-40B4-BE49-F238E27FC236}">
                <a16:creationId xmlns:a16="http://schemas.microsoft.com/office/drawing/2014/main" id="{F895DB48-B318-492D-9553-D341FDDECB45}"/>
              </a:ext>
            </a:extLst>
          </p:cNvPr>
          <p:cNvSpPr/>
          <p:nvPr/>
        </p:nvSpPr>
        <p:spPr>
          <a:xfrm>
            <a:off x="685800" y="1981200"/>
            <a:ext cx="1905000" cy="66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172E3A"/>
                </a:solidFill>
                <a:latin typeface="Noto Sans KR"/>
                <a:ea typeface="Noto Sans KR"/>
              </a:rPr>
              <a:t>충전기</a:t>
            </a:r>
          </a:p>
        </p:txBody>
      </p:sp>
      <p:sp>
        <p:nvSpPr>
          <p:cNvPr id="6" name="Viz">
            <a:extLst>
              <a:ext uri="{FF2B5EF4-FFF2-40B4-BE49-F238E27FC236}">
                <a16:creationId xmlns:a16="http://schemas.microsoft.com/office/drawing/2014/main" id="{562361F8-6003-4626-8412-34AC9AE1A845}"/>
              </a:ext>
            </a:extLst>
          </p:cNvPr>
          <p:cNvSpPr/>
          <p:nvPr/>
        </p:nvSpPr>
        <p:spPr>
          <a:xfrm>
            <a:off x="2717800" y="2159000"/>
            <a:ext cx="2540000" cy="3048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7" name="Viz">
            <a:extLst>
              <a:ext uri="{FF2B5EF4-FFF2-40B4-BE49-F238E27FC236}">
                <a16:creationId xmlns:a16="http://schemas.microsoft.com/office/drawing/2014/main" id="{F679BDE9-CA03-4D58-84FE-4420F0155AE7}"/>
              </a:ext>
            </a:extLst>
          </p:cNvPr>
          <p:cNvSpPr/>
          <p:nvPr/>
        </p:nvSpPr>
        <p:spPr>
          <a:xfrm>
            <a:off x="2717800" y="1778000"/>
            <a:ext cx="2540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상태 메시지 </a:t>
            </a:r>
            <a:r>
              <a:rPr lang="en-US" altLang="ko-KR" sz="1400" b="1">
                <a:solidFill>
                  <a:srgbClr val="08776D"/>
                </a:solidFill>
                <a:latin typeface="Noto Sans KR"/>
                <a:ea typeface="Noto Sans KR"/>
              </a:rPr>
              <a:t>(JSON)</a:t>
            </a:r>
            <a:endParaRPr lang="ko-KR" altLang="en-US" sz="14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11" name="Viz">
            <a:extLst>
              <a:ext uri="{FF2B5EF4-FFF2-40B4-BE49-F238E27FC236}">
                <a16:creationId xmlns:a16="http://schemas.microsoft.com/office/drawing/2014/main" id="{93F86C07-D6A3-4041-AF67-0332D25C3BC2}"/>
              </a:ext>
            </a:extLst>
          </p:cNvPr>
          <p:cNvSpPr/>
          <p:nvPr/>
        </p:nvSpPr>
        <p:spPr>
          <a:xfrm>
            <a:off x="5384800" y="1981200"/>
            <a:ext cx="1905000" cy="66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b="1">
                <a:solidFill>
                  <a:srgbClr val="172E3A"/>
                </a:solidFill>
                <a:latin typeface="Noto Sans KR"/>
                <a:ea typeface="Noto Sans KR"/>
              </a:rPr>
              <a:t>관리 서버</a:t>
            </a:r>
          </a:p>
        </p:txBody>
      </p:sp>
      <p:sp>
        <p:nvSpPr>
          <p:cNvPr id="12" name="Viz">
            <a:extLst>
              <a:ext uri="{FF2B5EF4-FFF2-40B4-BE49-F238E27FC236}">
                <a16:creationId xmlns:a16="http://schemas.microsoft.com/office/drawing/2014/main" id="{8BC90FC8-703A-405C-A896-7790CDF2B742}"/>
              </a:ext>
            </a:extLst>
          </p:cNvPr>
          <p:cNvSpPr/>
          <p:nvPr/>
        </p:nvSpPr>
        <p:spPr>
          <a:xfrm>
            <a:off x="685800" y="2819400"/>
            <a:ext cx="6604000" cy="26924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0" tIns="25400" rIns="101600" bIns="25400" rtlCol="0" anchor="ctr" anchorCtr="0">
            <a:noAutofit/>
          </a:bodyPr>
          <a:lstStyle/>
          <a:p>
            <a:r>
              <a:rPr lang="en-US" altLang="ko-KR">
                <a:solidFill>
                  <a:srgbClr val="E6EEF1"/>
                </a:solidFill>
                <a:latin typeface="Consolas"/>
              </a:rPr>
              <a:t>{
  "charger_id": "CP-01",
  "connector": 1,
  "status": "Charging",
  "energy_kwh": 12.4,
  "error": null
}</a:t>
            </a:r>
            <a:endParaRPr lang="ko-KR" altLang="en-US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13" name="Viz">
            <a:extLst>
              <a:ext uri="{FF2B5EF4-FFF2-40B4-BE49-F238E27FC236}">
                <a16:creationId xmlns:a16="http://schemas.microsoft.com/office/drawing/2014/main" id="{B8504D9D-2026-43CB-BCCE-57A9F6676168}"/>
              </a:ext>
            </a:extLst>
          </p:cNvPr>
          <p:cNvSpPr/>
          <p:nvPr/>
        </p:nvSpPr>
        <p:spPr>
          <a:xfrm>
            <a:off x="7543800" y="1981200"/>
            <a:ext cx="3962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5B6B74"/>
                </a:solidFill>
                <a:latin typeface="Noto Sans KR"/>
                <a:ea typeface="Noto Sans KR"/>
              </a:rPr>
              <a:t>오늘 배운 것으로 읽기</a:t>
            </a:r>
          </a:p>
        </p:txBody>
      </p:sp>
      <p:sp>
        <p:nvSpPr>
          <p:cNvPr id="45" name="Viz">
            <a:extLst>
              <a:ext uri="{FF2B5EF4-FFF2-40B4-BE49-F238E27FC236}">
                <a16:creationId xmlns:a16="http://schemas.microsoft.com/office/drawing/2014/main" id="{EF5CB41A-F29C-4B77-94A3-D28BC86707FB}"/>
              </a:ext>
            </a:extLst>
          </p:cNvPr>
          <p:cNvSpPr/>
          <p:nvPr/>
        </p:nvSpPr>
        <p:spPr>
          <a:xfrm>
            <a:off x="7543800" y="2413000"/>
            <a:ext cx="3962400" cy="533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6" name="AccentBar">
            <a:extLst>
              <a:ext uri="{FF2B5EF4-FFF2-40B4-BE49-F238E27FC236}">
                <a16:creationId xmlns:a16="http://schemas.microsoft.com/office/drawing/2014/main" id="{E3F3F358-6988-4761-9559-F693D5C7DDF6}"/>
              </a:ext>
            </a:extLst>
          </p:cNvPr>
          <p:cNvSpPr/>
          <p:nvPr/>
        </p:nvSpPr>
        <p:spPr>
          <a:xfrm>
            <a:off x="7543800" y="2413000"/>
            <a:ext cx="63500" cy="533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7" name="Viz">
            <a:extLst>
              <a:ext uri="{FF2B5EF4-FFF2-40B4-BE49-F238E27FC236}">
                <a16:creationId xmlns:a16="http://schemas.microsoft.com/office/drawing/2014/main" id="{14B287BF-8D18-4B8F-9AD5-D62D5AF67E85}"/>
              </a:ext>
            </a:extLst>
          </p:cNvPr>
          <p:cNvSpPr/>
          <p:nvPr/>
        </p:nvSpPr>
        <p:spPr>
          <a:xfrm>
            <a:off x="7696200" y="2413000"/>
            <a:ext cx="1524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08776D"/>
                </a:solidFill>
                <a:latin typeface="Consolas"/>
              </a:rPr>
              <a:t>charger_id</a:t>
            </a:r>
            <a:endParaRPr lang="ko-KR" altLang="en-US" sz="14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48" name="Viz">
            <a:extLst>
              <a:ext uri="{FF2B5EF4-FFF2-40B4-BE49-F238E27FC236}">
                <a16:creationId xmlns:a16="http://schemas.microsoft.com/office/drawing/2014/main" id="{E43D8D2E-9D12-4A3F-AC45-D4827E7B4C1E}"/>
              </a:ext>
            </a:extLst>
          </p:cNvPr>
          <p:cNvSpPr/>
          <p:nvPr/>
        </p:nvSpPr>
        <p:spPr>
          <a:xfrm>
            <a:off x="9220200" y="2413000"/>
            <a:ext cx="22606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문자열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어느 충전기인지</a:t>
            </a:r>
          </a:p>
        </p:txBody>
      </p:sp>
      <p:sp>
        <p:nvSpPr>
          <p:cNvPr id="49" name="Viz">
            <a:extLst>
              <a:ext uri="{FF2B5EF4-FFF2-40B4-BE49-F238E27FC236}">
                <a16:creationId xmlns:a16="http://schemas.microsoft.com/office/drawing/2014/main" id="{BA4F82AF-DDB7-45AA-8AC3-69B0D4668E43}"/>
              </a:ext>
            </a:extLst>
          </p:cNvPr>
          <p:cNvSpPr/>
          <p:nvPr/>
        </p:nvSpPr>
        <p:spPr>
          <a:xfrm>
            <a:off x="7543800" y="3022600"/>
            <a:ext cx="3962400" cy="533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0" name="AccentBar">
            <a:extLst>
              <a:ext uri="{FF2B5EF4-FFF2-40B4-BE49-F238E27FC236}">
                <a16:creationId xmlns:a16="http://schemas.microsoft.com/office/drawing/2014/main" id="{A906AC6E-A88F-4DE5-AFDB-F9979FCCCC52}"/>
              </a:ext>
            </a:extLst>
          </p:cNvPr>
          <p:cNvSpPr/>
          <p:nvPr/>
        </p:nvSpPr>
        <p:spPr>
          <a:xfrm>
            <a:off x="7543800" y="3022600"/>
            <a:ext cx="63500" cy="533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1" name="Viz">
            <a:extLst>
              <a:ext uri="{FF2B5EF4-FFF2-40B4-BE49-F238E27FC236}">
                <a16:creationId xmlns:a16="http://schemas.microsoft.com/office/drawing/2014/main" id="{18432083-F7DE-4603-AC94-0FFB665B4D60}"/>
              </a:ext>
            </a:extLst>
          </p:cNvPr>
          <p:cNvSpPr/>
          <p:nvPr/>
        </p:nvSpPr>
        <p:spPr>
          <a:xfrm>
            <a:off x="7696200" y="3022600"/>
            <a:ext cx="1524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08776D"/>
                </a:solidFill>
                <a:latin typeface="Consolas"/>
              </a:rPr>
              <a:t>connector</a:t>
            </a:r>
            <a:endParaRPr lang="ko-KR" altLang="en-US" sz="14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52" name="Viz">
            <a:extLst>
              <a:ext uri="{FF2B5EF4-FFF2-40B4-BE49-F238E27FC236}">
                <a16:creationId xmlns:a16="http://schemas.microsoft.com/office/drawing/2014/main" id="{07328150-FC7B-40D2-B70C-4BADFA6004B6}"/>
              </a:ext>
            </a:extLst>
          </p:cNvPr>
          <p:cNvSpPr/>
          <p:nvPr/>
        </p:nvSpPr>
        <p:spPr>
          <a:xfrm>
            <a:off x="9220200" y="3022600"/>
            <a:ext cx="22606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숫자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몇 번 충전구인지</a:t>
            </a:r>
          </a:p>
        </p:txBody>
      </p:sp>
      <p:sp>
        <p:nvSpPr>
          <p:cNvPr id="53" name="Viz">
            <a:extLst>
              <a:ext uri="{FF2B5EF4-FFF2-40B4-BE49-F238E27FC236}">
                <a16:creationId xmlns:a16="http://schemas.microsoft.com/office/drawing/2014/main" id="{84498A48-DABB-4F67-90D1-8FE5751E98C8}"/>
              </a:ext>
            </a:extLst>
          </p:cNvPr>
          <p:cNvSpPr/>
          <p:nvPr/>
        </p:nvSpPr>
        <p:spPr>
          <a:xfrm>
            <a:off x="7543800" y="3632200"/>
            <a:ext cx="3962400" cy="533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4" name="AccentBar">
            <a:extLst>
              <a:ext uri="{FF2B5EF4-FFF2-40B4-BE49-F238E27FC236}">
                <a16:creationId xmlns:a16="http://schemas.microsoft.com/office/drawing/2014/main" id="{06596FF6-274A-4130-82D2-D40E30808DCE}"/>
              </a:ext>
            </a:extLst>
          </p:cNvPr>
          <p:cNvSpPr/>
          <p:nvPr/>
        </p:nvSpPr>
        <p:spPr>
          <a:xfrm>
            <a:off x="7543800" y="3632200"/>
            <a:ext cx="63500" cy="533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5" name="Viz">
            <a:extLst>
              <a:ext uri="{FF2B5EF4-FFF2-40B4-BE49-F238E27FC236}">
                <a16:creationId xmlns:a16="http://schemas.microsoft.com/office/drawing/2014/main" id="{99CD3752-477D-465C-845F-F8453193CA13}"/>
              </a:ext>
            </a:extLst>
          </p:cNvPr>
          <p:cNvSpPr/>
          <p:nvPr/>
        </p:nvSpPr>
        <p:spPr>
          <a:xfrm>
            <a:off x="7696200" y="3632200"/>
            <a:ext cx="1524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08776D"/>
                </a:solidFill>
                <a:latin typeface="Consolas"/>
              </a:rPr>
              <a:t>status</a:t>
            </a:r>
            <a:endParaRPr lang="ko-KR" altLang="en-US" sz="14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56" name="Viz">
            <a:extLst>
              <a:ext uri="{FF2B5EF4-FFF2-40B4-BE49-F238E27FC236}">
                <a16:creationId xmlns:a16="http://schemas.microsoft.com/office/drawing/2014/main" id="{3788E19D-BBAA-4153-945E-1AB0F5391682}"/>
              </a:ext>
            </a:extLst>
          </p:cNvPr>
          <p:cNvSpPr/>
          <p:nvPr/>
        </p:nvSpPr>
        <p:spPr>
          <a:xfrm>
            <a:off x="9220200" y="3632200"/>
            <a:ext cx="22606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문자열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지금 상태</a:t>
            </a:r>
          </a:p>
        </p:txBody>
      </p:sp>
      <p:sp>
        <p:nvSpPr>
          <p:cNvPr id="57" name="Viz">
            <a:extLst>
              <a:ext uri="{FF2B5EF4-FFF2-40B4-BE49-F238E27FC236}">
                <a16:creationId xmlns:a16="http://schemas.microsoft.com/office/drawing/2014/main" id="{408F0DBA-8120-42CC-A965-7F5A5173D28D}"/>
              </a:ext>
            </a:extLst>
          </p:cNvPr>
          <p:cNvSpPr/>
          <p:nvPr/>
        </p:nvSpPr>
        <p:spPr>
          <a:xfrm>
            <a:off x="7543800" y="4241800"/>
            <a:ext cx="3962400" cy="533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8" name="AccentBar">
            <a:extLst>
              <a:ext uri="{FF2B5EF4-FFF2-40B4-BE49-F238E27FC236}">
                <a16:creationId xmlns:a16="http://schemas.microsoft.com/office/drawing/2014/main" id="{6B09AC7A-50B3-43E7-A9A3-BD95EC070FCE}"/>
              </a:ext>
            </a:extLst>
          </p:cNvPr>
          <p:cNvSpPr/>
          <p:nvPr/>
        </p:nvSpPr>
        <p:spPr>
          <a:xfrm>
            <a:off x="7543800" y="4241800"/>
            <a:ext cx="63500" cy="533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9" name="Viz">
            <a:extLst>
              <a:ext uri="{FF2B5EF4-FFF2-40B4-BE49-F238E27FC236}">
                <a16:creationId xmlns:a16="http://schemas.microsoft.com/office/drawing/2014/main" id="{E884C595-870B-4317-93A7-5BB8FDB43A46}"/>
              </a:ext>
            </a:extLst>
          </p:cNvPr>
          <p:cNvSpPr/>
          <p:nvPr/>
        </p:nvSpPr>
        <p:spPr>
          <a:xfrm>
            <a:off x="7696200" y="4241800"/>
            <a:ext cx="1524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08776D"/>
                </a:solidFill>
                <a:latin typeface="Consolas"/>
              </a:rPr>
              <a:t>energy_kwh</a:t>
            </a:r>
            <a:endParaRPr lang="ko-KR" altLang="en-US" sz="1400" b="1">
              <a:solidFill>
                <a:srgbClr val="08776D"/>
              </a:solidFill>
              <a:latin typeface="Consolas"/>
            </a:endParaRPr>
          </a:p>
        </p:txBody>
      </p:sp>
      <p:sp>
        <p:nvSpPr>
          <p:cNvPr id="60" name="Viz">
            <a:extLst>
              <a:ext uri="{FF2B5EF4-FFF2-40B4-BE49-F238E27FC236}">
                <a16:creationId xmlns:a16="http://schemas.microsoft.com/office/drawing/2014/main" id="{80EC9DCB-40D9-4979-8022-B5464A8B74C8}"/>
              </a:ext>
            </a:extLst>
          </p:cNvPr>
          <p:cNvSpPr/>
          <p:nvPr/>
        </p:nvSpPr>
        <p:spPr>
          <a:xfrm>
            <a:off x="9220200" y="4241800"/>
            <a:ext cx="22606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숫자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충전한 전력량</a:t>
            </a:r>
          </a:p>
        </p:txBody>
      </p:sp>
      <p:sp>
        <p:nvSpPr>
          <p:cNvPr id="61" name="Viz">
            <a:extLst>
              <a:ext uri="{FF2B5EF4-FFF2-40B4-BE49-F238E27FC236}">
                <a16:creationId xmlns:a16="http://schemas.microsoft.com/office/drawing/2014/main" id="{EB6320C3-BC50-476C-9761-16912DEE8F4F}"/>
              </a:ext>
            </a:extLst>
          </p:cNvPr>
          <p:cNvSpPr/>
          <p:nvPr/>
        </p:nvSpPr>
        <p:spPr>
          <a:xfrm>
            <a:off x="7543800" y="4851400"/>
            <a:ext cx="3962400" cy="533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2" name="AccentBar">
            <a:extLst>
              <a:ext uri="{FF2B5EF4-FFF2-40B4-BE49-F238E27FC236}">
                <a16:creationId xmlns:a16="http://schemas.microsoft.com/office/drawing/2014/main" id="{39C50291-BC84-4D38-9381-62371B12F80E}"/>
              </a:ext>
            </a:extLst>
          </p:cNvPr>
          <p:cNvSpPr/>
          <p:nvPr/>
        </p:nvSpPr>
        <p:spPr>
          <a:xfrm>
            <a:off x="7543800" y="4851400"/>
            <a:ext cx="63500" cy="5334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3" name="Viz">
            <a:extLst>
              <a:ext uri="{FF2B5EF4-FFF2-40B4-BE49-F238E27FC236}">
                <a16:creationId xmlns:a16="http://schemas.microsoft.com/office/drawing/2014/main" id="{7BBA1B0B-1D4E-4EAB-85DF-343B343FE92B}"/>
              </a:ext>
            </a:extLst>
          </p:cNvPr>
          <p:cNvSpPr/>
          <p:nvPr/>
        </p:nvSpPr>
        <p:spPr>
          <a:xfrm>
            <a:off x="7696200" y="4851400"/>
            <a:ext cx="1524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 b="1">
                <a:solidFill>
                  <a:srgbClr val="A64512"/>
                </a:solidFill>
                <a:latin typeface="Consolas"/>
              </a:rPr>
              <a:t>error</a:t>
            </a:r>
            <a:endParaRPr lang="ko-KR" altLang="en-US" sz="1400" b="1">
              <a:solidFill>
                <a:srgbClr val="A64512"/>
              </a:solidFill>
              <a:latin typeface="Consolas"/>
            </a:endParaRPr>
          </a:p>
        </p:txBody>
      </p:sp>
      <p:sp>
        <p:nvSpPr>
          <p:cNvPr id="64" name="Viz">
            <a:extLst>
              <a:ext uri="{FF2B5EF4-FFF2-40B4-BE49-F238E27FC236}">
                <a16:creationId xmlns:a16="http://schemas.microsoft.com/office/drawing/2014/main" id="{9B8C0F58-15C9-4E36-9C99-600CCB9EF2B9}"/>
              </a:ext>
            </a:extLst>
          </p:cNvPr>
          <p:cNvSpPr/>
          <p:nvPr/>
        </p:nvSpPr>
        <p:spPr>
          <a:xfrm>
            <a:off x="9220200" y="4851400"/>
            <a:ext cx="22606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null ·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지금 오류 없음</a:t>
            </a:r>
          </a:p>
        </p:txBody>
      </p:sp>
      <p:sp>
        <p:nvSpPr>
          <p:cNvPr id="65" name="Viz">
            <a:extLst>
              <a:ext uri="{FF2B5EF4-FFF2-40B4-BE49-F238E27FC236}">
                <a16:creationId xmlns:a16="http://schemas.microsoft.com/office/drawing/2014/main" id="{E834AA55-119E-460D-9EDB-95436C9FE167}"/>
              </a:ext>
            </a:extLst>
          </p:cNvPr>
          <p:cNvSpPr/>
          <p:nvPr/>
        </p:nvSpPr>
        <p:spPr>
          <a:xfrm>
            <a:off x="685800" y="5664200"/>
            <a:ext cx="10820400" cy="5080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6" name="Viz">
            <a:extLst>
              <a:ext uri="{FF2B5EF4-FFF2-40B4-BE49-F238E27FC236}">
                <a16:creationId xmlns:a16="http://schemas.microsoft.com/office/drawing/2014/main" id="{84CEB81F-6DB7-4B6C-8084-1CAD2E47C44A}"/>
              </a:ext>
            </a:extLst>
          </p:cNvPr>
          <p:cNvSpPr/>
          <p:nvPr/>
        </p:nvSpPr>
        <p:spPr>
          <a:xfrm>
            <a:off x="787400" y="5664200"/>
            <a:ext cx="10668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300">
                <a:solidFill>
                  <a:srgbClr val="5B6B74"/>
                </a:solidFill>
                <a:latin typeface="Noto Sans KR"/>
                <a:ea typeface="Noto Sans KR"/>
              </a:rPr>
              <a:t>충전기와 서버 사이의 통신 표준</a:t>
            </a:r>
            <a:r>
              <a:rPr lang="en-US" altLang="ko-KR" sz="1300">
                <a:solidFill>
                  <a:srgbClr val="5B6B74"/>
                </a:solidFill>
                <a:latin typeface="Noto Sans KR"/>
                <a:ea typeface="Noto Sans KR"/>
              </a:rPr>
              <a:t>(OCPP)</a:t>
            </a:r>
            <a:r>
              <a:rPr lang="ko-KR" altLang="en-US" sz="1300">
                <a:solidFill>
                  <a:srgbClr val="5B6B74"/>
                </a:solidFill>
                <a:latin typeface="Noto Sans KR"/>
                <a:ea typeface="Noto Sans KR"/>
              </a:rPr>
              <a:t>도 메시지를 </a:t>
            </a:r>
            <a:r>
              <a:rPr lang="en-US" altLang="ko-KR" sz="1300">
                <a:solidFill>
                  <a:srgbClr val="5B6B74"/>
                </a:solidFill>
                <a:latin typeface="Noto Sans KR"/>
                <a:ea typeface="Noto Sans KR"/>
              </a:rPr>
              <a:t>JSON</a:t>
            </a:r>
            <a:r>
              <a:rPr lang="ko-KR" altLang="en-US" sz="1300">
                <a:solidFill>
                  <a:srgbClr val="5B6B74"/>
                </a:solidFill>
                <a:latin typeface="Noto Sans KR"/>
                <a:ea typeface="Noto Sans KR"/>
              </a:rPr>
              <a:t>으로 주고받습니다</a:t>
            </a:r>
            <a:r>
              <a:rPr lang="en-US" altLang="ko-KR" sz="1300">
                <a:solidFill>
                  <a:srgbClr val="5B6B74"/>
                </a:solidFill>
                <a:latin typeface="Noto Sans KR"/>
                <a:ea typeface="Noto Sans KR"/>
              </a:rPr>
              <a:t>. </a:t>
            </a:r>
            <a:r>
              <a:rPr lang="ko-KR" altLang="en-US" sz="1300">
                <a:solidFill>
                  <a:srgbClr val="5B6B74"/>
                </a:solidFill>
                <a:latin typeface="Noto Sans KR"/>
                <a:ea typeface="Noto Sans KR"/>
              </a:rPr>
              <a:t>위 예시는 이해를 돕기 위해 단순화했습니다</a:t>
            </a:r>
            <a:r>
              <a:rPr lang="en-US" altLang="ko-KR" sz="1300">
                <a:solidFill>
                  <a:srgbClr val="5B6B74"/>
                </a:solidFill>
                <a:latin typeface="Noto Sans KR"/>
                <a:ea typeface="Noto Sans KR"/>
              </a:rPr>
              <a:t>.</a:t>
            </a:r>
            <a:endParaRPr lang="ko-KR" altLang="en-US" sz="13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9663659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18CFC99-C849-4E35-8E77-6B2AB9DCDA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D918DD7-8812-49FE-A2A6-A7BBB280E61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58C8D85-D987-4127-B6AC-84B9ABD26CB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JSON 오류를 찾아 고치기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B9021D5-DD2C-4189-B44A-82981CE6E2B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6028ADC-5BA1-4F92-A06F-148939884258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37E9CA-4605-40AE-B2B2-A3B7AD7A2D46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{"device_id": "D01", "active": False,}를 받았습니다.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2BC2598-4A20-4F72-ACF3-DFEC6358BE04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3EE7A21-65BB-416D-8055-9BA9AB205513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JSON의 불리언과 마지막 쉼표 규칙을 적용해 고치세요.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0A1389-A0C9-46B4-90C1-283D35056A28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0FAB390-84B1-4237-B3E6-B378D214CD75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수량 0과 미확인 시각 null도 추가하고 각각의 뜻을 적으세요.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91BFC20-1785-4E90-9196-DCE611D0687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04577ABF-C24D-443C-98F8-2D9B37F60878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415970C2-53EE-44BA-A763-28FA7F2303A9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ED6E5919-C0D6-4C3C-B2BE-6B17DFD8B2C1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00D7521-3A78-452A-AD03-F9DD90B964D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084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2618655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DAEC2571-14BD-40D2-9457-634EBF4C860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AE1079C-2F47-4872-A9ED-F2391E8D6A0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JSON의 값과 쉼표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35481A4-5434-42F5-8F52-90829B4CDFA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ED3C0BD-7031-4A99-80D8-7EA3C153484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4036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A9D3C47-F4C8-4CB4-BB1F-3337F2FD1D2C}"/>
              </a:ext>
            </a:extLst>
          </p:cNvPr>
          <p:cNvSpPr>
            <a:spLocks noGrp="1"/>
          </p:cNvSpPr>
          <p:nvPr/>
        </p:nvSpPr>
        <p:spPr>
          <a:xfrm>
            <a:off x="838200" y="2101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4F8EB90-472F-4D2E-B551-DF861C0D34A3}"/>
              </a:ext>
            </a:extLst>
          </p:cNvPr>
          <p:cNvSpPr>
            <a:spLocks noGrp="1"/>
          </p:cNvSpPr>
          <p:nvPr/>
        </p:nvSpPr>
        <p:spPr>
          <a:xfrm>
            <a:off x="1320800" y="2101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{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50CDCD4-E2E5-4406-AE6C-4E986C6F5C2D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55E3AC0-B846-486C-97D8-528786AFAABC}"/>
              </a:ext>
            </a:extLst>
          </p:cNvPr>
          <p:cNvSpPr>
            <a:spLocks noGrp="1"/>
          </p:cNvSpPr>
          <p:nvPr/>
        </p:nvSpPr>
        <p:spPr>
          <a:xfrm>
            <a:off x="1320800" y="2609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"device_id": "D01",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3DB0275-27F5-4959-A7D7-71CF0BD859DE}"/>
              </a:ext>
            </a:extLst>
          </p:cNvPr>
          <p:cNvSpPr>
            <a:spLocks noGrp="1"/>
          </p:cNvSpPr>
          <p:nvPr/>
        </p:nvSpPr>
        <p:spPr>
          <a:xfrm>
            <a:off x="838200" y="3117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D12DEAF-885E-430F-B72F-FBD423766638}"/>
              </a:ext>
            </a:extLst>
          </p:cNvPr>
          <p:cNvSpPr>
            <a:spLocks noGrp="1"/>
          </p:cNvSpPr>
          <p:nvPr/>
        </p:nvSpPr>
        <p:spPr>
          <a:xfrm>
            <a:off x="1320800" y="3117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"active": false,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BBEAE26-0C79-446D-BA93-CD594A6577F1}"/>
              </a:ext>
            </a:extLst>
          </p:cNvPr>
          <p:cNvSpPr>
            <a:spLocks noGrp="1"/>
          </p:cNvSpPr>
          <p:nvPr/>
        </p:nvSpPr>
        <p:spPr>
          <a:xfrm>
            <a:off x="838200" y="3625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04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E227CC2-510A-45F9-A47F-527976B16AC3}"/>
              </a:ext>
            </a:extLst>
          </p:cNvPr>
          <p:cNvSpPr>
            <a:spLocks noGrp="1"/>
          </p:cNvSpPr>
          <p:nvPr/>
        </p:nvSpPr>
        <p:spPr>
          <a:xfrm>
            <a:off x="1320800" y="3625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"stock": 0,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A7FBDE-24DD-43CA-9446-D63E1ED5B735}"/>
              </a:ext>
            </a:extLst>
          </p:cNvPr>
          <p:cNvSpPr>
            <a:spLocks noGrp="1"/>
          </p:cNvSpPr>
          <p:nvPr/>
        </p:nvSpPr>
        <p:spPr>
          <a:xfrm>
            <a:off x="838200" y="4133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05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F792316-D0AB-4C69-BA01-0DE6C336E4CD}"/>
              </a:ext>
            </a:extLst>
          </p:cNvPr>
          <p:cNvSpPr>
            <a:spLocks noGrp="1"/>
          </p:cNvSpPr>
          <p:nvPr/>
        </p:nvSpPr>
        <p:spPr>
          <a:xfrm>
            <a:off x="1320800" y="4133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"checked_at": null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89E4EC1-A8D2-4637-BBBE-6101C4168076}"/>
              </a:ext>
            </a:extLst>
          </p:cNvPr>
          <p:cNvSpPr>
            <a:spLocks noGrp="1"/>
          </p:cNvSpPr>
          <p:nvPr/>
        </p:nvSpPr>
        <p:spPr>
          <a:xfrm>
            <a:off x="838200" y="4641850"/>
            <a:ext cx="381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06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C3000AA-036A-47A8-BBD9-FDA020677590}"/>
              </a:ext>
            </a:extLst>
          </p:cNvPr>
          <p:cNvSpPr>
            <a:spLocks noGrp="1"/>
          </p:cNvSpPr>
          <p:nvPr/>
        </p:nvSpPr>
        <p:spPr>
          <a:xfrm>
            <a:off x="1320800" y="4641850"/>
            <a:ext cx="10033000" cy="5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}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A3E759A-883B-483F-AEA0-3EEEA7E922A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CB87174-4962-4559-B6B0-31F7FC1E2FE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085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7033879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0D7DDDC-B8F3-4B15-B80B-39382B1B0B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BD08FA1-28F3-442E-A181-BBA8471945C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0D2386B-3C9C-448E-A7FB-927C60F005F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한 건의 JSON 작성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B72B8B4-65CD-40B7-8268-FA13CD2FDD3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155392B-FDA3-4433-A064-B6E0D25A06B3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B875F25-4A5D-40DF-8EBF-23C10CFE03D1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L03은 잠김, 수량은 미확인, 비고는 의도적으로 빈 문장입니다.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D174F65-F434-44A6-AF30-FF790D5E11A7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E4164A8-608E-4A1D-B8A1-0F857273C5EE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locker_id·locked·quantity·note 네 키로 JSON 객체를 작성하세요.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BB9908B-02CD-4171-B154-7A733158B367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7A19220-BF5F-4A3F-AF1D-6BB1D1A48682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true·null·빈 문자열의 뜻을 구별하고 마지막 쉼표를 확인하세요.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B949CD2-60A2-4F57-82C0-CBCEF8EEB06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2E60607E-7967-4A84-99C3-58A4ABEF55C9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E98B7454-C644-4886-A08E-BF90873D39B3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B9EBB1B8-6275-4DF7-AF73-1317CAA03A59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A9DFB07-6A6D-4C8C-B0F8-16471275557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086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0622928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7194EB5-B485-4133-AEBB-89F3FF4D08B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F00DD73-6A82-444B-95ED-F2D8AD94914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잠긴 보관함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DBE9A0A-872D-47B8-B910-301DA36CD9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0551503-B00B-4ECE-B3C0-ADEE5A05171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잠김은 true, 모르는 수량은 null, 의도적으로 빈 비고는 ""입니다.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BC6DA14-557A-47CD-B04A-BFCFABEB6868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null을 0으로 쓰면 실제 수량을 확인했다는 잘못된 뜻이 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87CC7BE-E97E-46CB-AB2D-968399B9AB3D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3288029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36F7432-D1B9-410D-AC5F-455F7F301920}"/>
              </a:ext>
            </a:extLst>
          </p:cNvPr>
          <p:cNvSpPr>
            <a:spLocks noGrp="1"/>
          </p:cNvSpPr>
          <p:nvPr/>
        </p:nvSpPr>
        <p:spPr>
          <a:xfrm>
            <a:off x="838200" y="3138170"/>
            <a:ext cx="381000" cy="4887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01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D598FA5-2B29-4617-8638-62229332CE47}"/>
              </a:ext>
            </a:extLst>
          </p:cNvPr>
          <p:cNvSpPr>
            <a:spLocks noGrp="1"/>
          </p:cNvSpPr>
          <p:nvPr/>
        </p:nvSpPr>
        <p:spPr>
          <a:xfrm>
            <a:off x="1320800" y="3138170"/>
            <a:ext cx="10033000" cy="4887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{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C5FC23-F4F4-4854-B77D-96CDD7D2A2FB}"/>
              </a:ext>
            </a:extLst>
          </p:cNvPr>
          <p:cNvSpPr>
            <a:spLocks noGrp="1"/>
          </p:cNvSpPr>
          <p:nvPr/>
        </p:nvSpPr>
        <p:spPr>
          <a:xfrm>
            <a:off x="838200" y="3626908"/>
            <a:ext cx="381000" cy="4887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02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07E46D0-4074-4A5A-B81E-8530E3B067AC}"/>
              </a:ext>
            </a:extLst>
          </p:cNvPr>
          <p:cNvSpPr>
            <a:spLocks noGrp="1"/>
          </p:cNvSpPr>
          <p:nvPr/>
        </p:nvSpPr>
        <p:spPr>
          <a:xfrm>
            <a:off x="1320800" y="3626908"/>
            <a:ext cx="10033000" cy="4887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"locker_id": "L03",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7F2254D-0A5D-416E-8D96-D53A5E4FADF2}"/>
              </a:ext>
            </a:extLst>
          </p:cNvPr>
          <p:cNvSpPr>
            <a:spLocks noGrp="1"/>
          </p:cNvSpPr>
          <p:nvPr/>
        </p:nvSpPr>
        <p:spPr>
          <a:xfrm>
            <a:off x="838200" y="4115646"/>
            <a:ext cx="381000" cy="4887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03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7A293A3-1713-4C9C-A194-236045DCE355}"/>
              </a:ext>
            </a:extLst>
          </p:cNvPr>
          <p:cNvSpPr>
            <a:spLocks noGrp="1"/>
          </p:cNvSpPr>
          <p:nvPr/>
        </p:nvSpPr>
        <p:spPr>
          <a:xfrm>
            <a:off x="1320800" y="4115646"/>
            <a:ext cx="10033000" cy="4887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"locked": true,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1723D5C-7D12-471F-8C5F-61027E9FCCB2}"/>
              </a:ext>
            </a:extLst>
          </p:cNvPr>
          <p:cNvSpPr>
            <a:spLocks noGrp="1"/>
          </p:cNvSpPr>
          <p:nvPr/>
        </p:nvSpPr>
        <p:spPr>
          <a:xfrm>
            <a:off x="838200" y="4604384"/>
            <a:ext cx="381000" cy="4887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04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1DACB93-D90D-4E91-96AB-722D3F912B65}"/>
              </a:ext>
            </a:extLst>
          </p:cNvPr>
          <p:cNvSpPr>
            <a:spLocks noGrp="1"/>
          </p:cNvSpPr>
          <p:nvPr/>
        </p:nvSpPr>
        <p:spPr>
          <a:xfrm>
            <a:off x="1320800" y="4604384"/>
            <a:ext cx="10033000" cy="4887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"quantity": null,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808D1BA-A41C-4CB3-BDA2-6534F91E54AB}"/>
              </a:ext>
            </a:extLst>
          </p:cNvPr>
          <p:cNvSpPr>
            <a:spLocks noGrp="1"/>
          </p:cNvSpPr>
          <p:nvPr/>
        </p:nvSpPr>
        <p:spPr>
          <a:xfrm>
            <a:off x="838200" y="5093123"/>
            <a:ext cx="381000" cy="4887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05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4EE1101-F502-4901-8660-DEBD6C1F9F14}"/>
              </a:ext>
            </a:extLst>
          </p:cNvPr>
          <p:cNvSpPr>
            <a:spLocks noGrp="1"/>
          </p:cNvSpPr>
          <p:nvPr/>
        </p:nvSpPr>
        <p:spPr>
          <a:xfrm>
            <a:off x="1320800" y="5093123"/>
            <a:ext cx="10033000" cy="4887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  "note": ""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03EA1F6-4DC2-45AE-9D32-65DDF7F8044D}"/>
              </a:ext>
            </a:extLst>
          </p:cNvPr>
          <p:cNvSpPr>
            <a:spLocks noGrp="1"/>
          </p:cNvSpPr>
          <p:nvPr/>
        </p:nvSpPr>
        <p:spPr>
          <a:xfrm>
            <a:off x="838200" y="5581861"/>
            <a:ext cx="381000" cy="4887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rPr sz="1400"/>
              <a:t>06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F6AEA49-DB00-4972-93B2-4AA55F19BC6D}"/>
              </a:ext>
            </a:extLst>
          </p:cNvPr>
          <p:cNvSpPr>
            <a:spLocks noGrp="1"/>
          </p:cNvSpPr>
          <p:nvPr/>
        </p:nvSpPr>
        <p:spPr>
          <a:xfrm>
            <a:off x="1320800" y="5581861"/>
            <a:ext cx="10033000" cy="4887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00"/>
              <a:t>}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2B08365-C3E3-4EF2-B22A-48FD0775913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FFFBC29-46D3-420A-9699-D5340420771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087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8357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5</a:t>
            </a:r>
            <a:r>
              <a:rPr lang="ko-KR" altLang="en-US"/>
              <a:t>교시   도전 과제 </a:t>
            </a:r>
            <a:r>
              <a:rPr lang="en-US" altLang="ko-KR"/>
              <a:t>· </a:t>
            </a:r>
            <a:r>
              <a:rPr lang="ko-KR" altLang="en-US"/>
              <a:t>빨리 끝낸 분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도전 </a:t>
            </a:r>
            <a:r>
              <a:rPr lang="en-US" altLang="ko-KR"/>
              <a:t>· </a:t>
            </a:r>
            <a:r>
              <a:rPr lang="ko-KR" altLang="en-US"/>
              <a:t>측정 목록이 있는 장치 </a:t>
            </a:r>
            <a:r>
              <a:rPr lang="en-US" altLang="ko-KR"/>
              <a:t>JSON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문제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장치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D02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는 가동 중이고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10:00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에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21.5℃, 10:05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에는 측정값이 없습니다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조건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device_id, active, readings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키를 쓰고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readings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는 목록으로 만듭니다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힌트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목록은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[ ],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측정 한 건은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{ },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모르는 값은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null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00" b="1">
                <a:solidFill>
                  <a:srgbClr val="C2571A"/>
                </a:solidFill>
                <a:latin typeface="Noto Sans KR"/>
                <a:ea typeface="Noto Sans KR"/>
              </a:rPr>
              <a:t>풀이 예</a:t>
            </a:r>
            <a:r>
              <a:rPr lang="en-US" altLang="ko-KR" sz="1700" b="1">
                <a:solidFill>
                  <a:srgbClr val="C2571A"/>
                </a:solidFill>
                <a:latin typeface="Noto Sans KR"/>
                <a:ea typeface="Noto Sans KR"/>
              </a:rPr>
              <a:t>: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 {"device_id":"D02", "active":true, "readings":[{"time":"10:00","temp_c":21.5}, {"time":"10:05","temp_c":null}]}</a:t>
            </a:r>
            <a:endParaRPr sz="17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088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83782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2AB305-8F64-4980-9FAF-BC360362A9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E29FF8E-C351-466B-B640-7D9B6A5358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5</a:t>
            </a:r>
            <a:r>
              <a:rPr lang="ko-KR" altLang="en-US"/>
              <a:t>교시 확인 퀴즈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D4A9C6E-2943-44BA-A6DB-DCABE3BB6D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확인 퀴즈 </a:t>
            </a:r>
            <a:r>
              <a:rPr lang="en-US" altLang="ko-KR"/>
              <a:t>· JSON </a:t>
            </a:r>
            <a:r>
              <a:rPr lang="ko-KR" altLang="en-US"/>
              <a:t>표기 규칙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5FAA46-92DA-40F2-8034-3F9D15FA5C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34B94-05FB-4723-BDE2-842C7DC44B91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756AF40-FA5B-4514-980E-36A250D2D30F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2100">
                <a:solidFill>
                  <a:srgbClr val="FFFFFF"/>
                </a:solidFill>
              </a:rPr>
              <a:t>{"count": "3"}</a:t>
            </a:r>
            <a:r>
              <a:rPr lang="ko-KR" altLang="en-US" sz="2100">
                <a:solidFill>
                  <a:srgbClr val="FFFFFF"/>
                </a:solidFill>
              </a:rPr>
              <a:t>과 </a:t>
            </a:r>
            <a:r>
              <a:rPr lang="en-US" altLang="ko-KR" sz="2100">
                <a:solidFill>
                  <a:srgbClr val="FFFFFF"/>
                </a:solidFill>
              </a:rPr>
              <a:t>{"count": 3}</a:t>
            </a:r>
            <a:r>
              <a:rPr lang="ko-KR" altLang="en-US" sz="2100">
                <a:solidFill>
                  <a:srgbClr val="FFFFFF"/>
                </a:solidFill>
              </a:rPr>
              <a:t>의 차이는 무엇인가요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391FAB-8484-458B-85DF-30B3C473A0FE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DB4828-8F96-4CFE-8217-3A32A78B4FFC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2100">
                <a:solidFill>
                  <a:srgbClr val="FFFFFF"/>
                </a:solidFill>
              </a:rPr>
              <a:t>{"ok": True}</a:t>
            </a:r>
            <a:r>
              <a:rPr lang="ko-KR" altLang="en-US" sz="2100">
                <a:solidFill>
                  <a:srgbClr val="FFFFFF"/>
                </a:solidFill>
              </a:rPr>
              <a:t>는 올바른 </a:t>
            </a:r>
            <a:r>
              <a:rPr lang="en-US" altLang="ko-KR" sz="2100">
                <a:solidFill>
                  <a:srgbClr val="FFFFFF"/>
                </a:solidFill>
              </a:rPr>
              <a:t>JSON</a:t>
            </a:r>
            <a:r>
              <a:rPr lang="ko-KR" altLang="en-US" sz="2100">
                <a:solidFill>
                  <a:srgbClr val="FFFFFF"/>
                </a:solidFill>
              </a:rPr>
              <a:t>인가요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E468B9-6F76-4360-BCC9-6482DD5FEEFC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C3E46D0-B50C-4D1E-A688-081FCB367D94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측정값 두 개를 </a:t>
            </a:r>
            <a:r>
              <a:rPr lang="en-US" altLang="ko-KR" sz="2100">
                <a:solidFill>
                  <a:srgbClr val="FFFFFF"/>
                </a:solidFill>
              </a:rPr>
              <a:t>readings </a:t>
            </a:r>
            <a:r>
              <a:rPr lang="ko-KR" altLang="en-US" sz="2100">
                <a:solidFill>
                  <a:srgbClr val="FFFFFF"/>
                </a:solidFill>
              </a:rPr>
              <a:t>키 아래 목록으로 묶을 때 쓰는 기호는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6645A2-DAD4-4958-BA5C-867295967A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C4FCE9C4-2373-4846-80E5-CF1BCE20CF5E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01537A45-E21E-448F-A944-92119A7EFB55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A8BA8D4B-D18E-47CE-9D5E-2F9C6B1FB823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B6BF4B3-6AB7-4574-9866-EC5F209644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089</a:t>
            </a:r>
            <a:endParaRPr/>
          </a:p>
        </p:txBody>
      </p:sp>
      <p:sp>
        <p:nvSpPr>
          <p:cNvPr id="18" name="QuizHow">
            <a:extLst>
              <a:ext uri="{FF2B5EF4-FFF2-40B4-BE49-F238E27FC236}">
                <a16:creationId xmlns:a16="http://schemas.microsoft.com/office/drawing/2014/main" id="{C106D19D-58BA-43FB-9E2F-F3782789ED30}"/>
              </a:ext>
            </a:extLst>
          </p:cNvPr>
          <p:cNvSpPr txBox="1"/>
          <p:nvPr/>
        </p:nvSpPr>
        <p:spPr>
          <a:xfrm>
            <a:off x="685800" y="5435600"/>
            <a:ext cx="8534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답하는 방법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문제마다 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1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분 생각한 뒤 손을 들어 답합니다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정답은 다음 장에 있습니다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9FD9CF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59150904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5</a:t>
            </a:r>
            <a:r>
              <a:rPr lang="ko-KR" altLang="en-US"/>
              <a:t>교시 퀴즈 정답과 정리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정답 </a:t>
            </a:r>
            <a:r>
              <a:rPr lang="en-US" altLang="ko-KR"/>
              <a:t>· </a:t>
            </a:r>
            <a:r>
              <a:rPr lang="ko-KR" altLang="en-US"/>
              <a:t>값은 자료형에 맞는 표기로 씁니다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1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"3"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은 문자열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3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은 숫자입니다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계산할 값은 숫자로 씁니다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둘 다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3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으로 보여도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"3"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은 계산에 쓸 수 없습니다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2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아닙니다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JSON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의 불리언은 소문자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true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Python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에서는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True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지만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JSON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에서는 오류입니다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3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대괄호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[ ]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: {"readings": [21.5, 22.0]}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중괄호 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{ }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는 객체 한 건을 묶는 기호입니다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정리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키는 큰따옴표로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마지막 항목 뒤에는 쉼표를 쓰지 않습니다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090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364691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FAB653E-3399-4522-8DEA-BC5291BCB35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AC0529-6E7D-40DB-951D-F207D9721F3B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업무를 설계하고 검수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2A2BB96-4B56-4821-BEA4-151DC92060A0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16:00~16:50 · 50분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F25993E-2E43-44BA-874D-016621B40BA1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9276938-9F99-4DDA-81EB-99476FE7FC2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28473BE-62FD-434A-BF30-A6531F56BDB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091</a:t>
            </a:r>
            <a:endParaRPr/>
          </a:p>
        </p:txBody>
      </p:sp>
      <p:sp>
        <p:nvSpPr>
          <p:cNvPr id="9" name="MiniMap">
            <a:extLst>
              <a:ext uri="{FF2B5EF4-FFF2-40B4-BE49-F238E27FC236}">
                <a16:creationId xmlns:a16="http://schemas.microsoft.com/office/drawing/2014/main" id="{1DDB47F0-2750-48BA-8564-A6FF64245653}"/>
              </a:ext>
            </a:extLst>
          </p:cNvPr>
          <p:cNvSpPr/>
          <p:nvPr/>
        </p:nvSpPr>
        <p:spPr>
          <a:xfrm>
            <a:off x="6858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1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데이터의 뜻</a:t>
            </a:r>
          </a:p>
        </p:txBody>
      </p:sp>
      <p:sp>
        <p:nvSpPr>
          <p:cNvPr id="10" name="MiniMap">
            <a:extLst>
              <a:ext uri="{FF2B5EF4-FFF2-40B4-BE49-F238E27FC236}">
                <a16:creationId xmlns:a16="http://schemas.microsoft.com/office/drawing/2014/main" id="{9F1CCE99-62D7-4AA4-89A1-880C1254DA9E}"/>
              </a:ext>
            </a:extLst>
          </p:cNvPr>
          <p:cNvSpPr/>
          <p:nvPr/>
        </p:nvSpPr>
        <p:spPr>
          <a:xfrm>
            <a:off x="20066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2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값의 의미</a:t>
            </a:r>
          </a:p>
        </p:txBody>
      </p:sp>
      <p:sp>
        <p:nvSpPr>
          <p:cNvPr id="11" name="MiniMap">
            <a:extLst>
              <a:ext uri="{FF2B5EF4-FFF2-40B4-BE49-F238E27FC236}">
                <a16:creationId xmlns:a16="http://schemas.microsoft.com/office/drawing/2014/main" id="{3E4F1534-7EBD-4021-93EC-C2962E6E0AE4}"/>
              </a:ext>
            </a:extLst>
          </p:cNvPr>
          <p:cNvSpPr/>
          <p:nvPr/>
        </p:nvSpPr>
        <p:spPr>
          <a:xfrm>
            <a:off x="33274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3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행과 키</a:t>
            </a:r>
          </a:p>
        </p:txBody>
      </p:sp>
      <p:sp>
        <p:nvSpPr>
          <p:cNvPr id="12" name="MiniMap">
            <a:extLst>
              <a:ext uri="{FF2B5EF4-FFF2-40B4-BE49-F238E27FC236}">
                <a16:creationId xmlns:a16="http://schemas.microsoft.com/office/drawing/2014/main" id="{0B84F5E8-8B54-412B-AD06-9C013B54C54F}"/>
              </a:ext>
            </a:extLst>
          </p:cNvPr>
          <p:cNvSpPr/>
          <p:nvPr/>
        </p:nvSpPr>
        <p:spPr>
          <a:xfrm>
            <a:off x="46482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4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CSV</a:t>
            </a:r>
            <a:endParaRPr lang="ko-KR" altLang="en-US" sz="1300">
              <a:solidFill>
                <a:srgbClr val="9FB3BC"/>
              </a:solidFill>
              <a:latin typeface="Noto Sans KR"/>
              <a:ea typeface="Noto Sans KR"/>
            </a:endParaRPr>
          </a:p>
        </p:txBody>
      </p:sp>
      <p:sp>
        <p:nvSpPr>
          <p:cNvPr id="13" name="MiniMap">
            <a:extLst>
              <a:ext uri="{FF2B5EF4-FFF2-40B4-BE49-F238E27FC236}">
                <a16:creationId xmlns:a16="http://schemas.microsoft.com/office/drawing/2014/main" id="{2B911CD8-05A5-45A8-B7DD-942056F13A6E}"/>
              </a:ext>
            </a:extLst>
          </p:cNvPr>
          <p:cNvSpPr/>
          <p:nvPr/>
        </p:nvSpPr>
        <p:spPr>
          <a:xfrm>
            <a:off x="5969000" y="5334000"/>
            <a:ext cx="1219200" cy="660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6B879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5</a:t>
            </a:r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교시
</a:t>
            </a:r>
            <a:r>
              <a:rPr lang="en-US" altLang="ko-KR" sz="1300">
                <a:solidFill>
                  <a:srgbClr val="9FB3BC"/>
                </a:solidFill>
                <a:latin typeface="Noto Sans KR"/>
                <a:ea typeface="Noto Sans KR"/>
              </a:rPr>
              <a:t>JSON</a:t>
            </a:r>
            <a:endParaRPr lang="ko-KR" altLang="en-US" sz="1300">
              <a:solidFill>
                <a:srgbClr val="9FB3BC"/>
              </a:solidFill>
              <a:latin typeface="Noto Sans KR"/>
              <a:ea typeface="Noto Sans KR"/>
            </a:endParaRPr>
          </a:p>
        </p:txBody>
      </p:sp>
      <p:sp>
        <p:nvSpPr>
          <p:cNvPr id="14" name="MiniMap">
            <a:extLst>
              <a:ext uri="{FF2B5EF4-FFF2-40B4-BE49-F238E27FC236}">
                <a16:creationId xmlns:a16="http://schemas.microsoft.com/office/drawing/2014/main" id="{160F519C-3BEC-430B-84B1-7514DB832EDA}"/>
              </a:ext>
            </a:extLst>
          </p:cNvPr>
          <p:cNvSpPr/>
          <p:nvPr/>
        </p:nvSpPr>
        <p:spPr>
          <a:xfrm>
            <a:off x="7289800" y="5334000"/>
            <a:ext cx="1219200" cy="660400"/>
          </a:xfrm>
          <a:prstGeom prst="roundRect">
            <a:avLst/>
          </a:prstGeom>
          <a:solidFill>
            <a:srgbClr val="4FD1B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5400" tIns="25400" rIns="25400" bIns="25400" rtlCol="0" anchor="ctr" anchorCtr="0">
            <a:noAutofit/>
          </a:bodyPr>
          <a:lstStyle/>
          <a:p>
            <a:pPr algn="ctr"/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6</a:t>
            </a:r>
            <a:r>
              <a:rPr lang="ko-KR" altLang="en-US" sz="1300" b="1">
                <a:solidFill>
                  <a:srgbClr val="0F2A3A"/>
                </a:solidFill>
                <a:latin typeface="Noto Sans KR"/>
                <a:ea typeface="Noto Sans KR"/>
              </a:rPr>
              <a:t>교시
설계</a:t>
            </a:r>
            <a:r>
              <a:rPr lang="en-US" altLang="ko-KR" sz="1300" b="1">
                <a:solidFill>
                  <a:srgbClr val="0F2A3A"/>
                </a:solidFill>
                <a:latin typeface="Noto Sans KR"/>
                <a:ea typeface="Noto Sans KR"/>
              </a:rPr>
              <a:t>·</a:t>
            </a:r>
            <a:r>
              <a:rPr lang="ko-KR" altLang="en-US" sz="1300" b="1">
                <a:solidFill>
                  <a:srgbClr val="0F2A3A"/>
                </a:solidFill>
                <a:latin typeface="Noto Sans KR"/>
                <a:ea typeface="Noto Sans KR"/>
              </a:rPr>
              <a:t>검수</a:t>
            </a:r>
          </a:p>
        </p:txBody>
      </p:sp>
      <p:sp>
        <p:nvSpPr>
          <p:cNvPr id="15" name="MiniMap">
            <a:extLst>
              <a:ext uri="{FF2B5EF4-FFF2-40B4-BE49-F238E27FC236}">
                <a16:creationId xmlns:a16="http://schemas.microsoft.com/office/drawing/2014/main" id="{D1D4B1D4-1F9D-4589-85D6-3A324CE0BD64}"/>
              </a:ext>
            </a:extLst>
          </p:cNvPr>
          <p:cNvSpPr txBox="1"/>
          <p:nvPr/>
        </p:nvSpPr>
        <p:spPr>
          <a:xfrm>
            <a:off x="685800" y="4978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300">
                <a:solidFill>
                  <a:srgbClr val="9FB3BC"/>
                </a:solidFill>
                <a:latin typeface="Noto Sans KR"/>
                <a:ea typeface="Noto Sans KR"/>
              </a:rPr>
              <a:t>오늘의 지도</a:t>
            </a:r>
          </a:p>
        </p:txBody>
      </p:sp>
    </p:spTree>
    <p:extLst>
      <p:ext uri="{BB962C8B-B14F-4D97-AF65-F5344CB8AC3E}">
        <p14:creationId xmlns:p14="http://schemas.microsoft.com/office/powerpoint/2010/main" val="22548218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6</a:t>
            </a:r>
            <a:r>
              <a:rPr lang="ko-KR" altLang="en-US"/>
              <a:t>교시 목표와 진행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6</a:t>
            </a:r>
            <a:r>
              <a:rPr lang="ko-KR" altLang="en-US"/>
              <a:t>교시 목표 </a:t>
            </a:r>
            <a:r>
              <a:rPr lang="en-US" altLang="ko-KR"/>
              <a:t>· </a:t>
            </a:r>
            <a:r>
              <a:rPr lang="ko-KR" altLang="en-US"/>
              <a:t>새 업무를 설계하고 검수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1: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업무 질문에서 필요한 항목을 고릅니다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2: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같은 기록을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CSV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와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JSON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으로 표현합니다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목표 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3: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자료형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빈값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기준을 검수합니다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진행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개념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직접 해 보기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20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 → 풀이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퀴즈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15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분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092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17407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ED68C3C6-A98B-4492-B908-8D641AA37CA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9D71CC4-BB93-4032-90BA-1C02D361E49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질문에서 출발해 한 행을 설계합니다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CDB4480-37AB-4F92-BEE0-126B15DDC25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BC5417B-7F1F-42D3-A79B-80D0DA6F41B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E4D9B4-D1FC-4689-AD80-32B782F99ED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093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15881806-0AFA-4A0D-B071-D84FDED6FD06}"/>
              </a:ext>
            </a:extLst>
          </p:cNvPr>
          <p:cNvSpPr/>
          <p:nvPr/>
        </p:nvSpPr>
        <p:spPr>
          <a:xfrm>
            <a:off x="685800" y="2032000"/>
            <a:ext cx="1981200" cy="558800"/>
          </a:xfrm>
          <a:prstGeom prst="round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1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질문</a:t>
            </a: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680CA598-1CA7-434B-8E52-93E2BA7A5BEB}"/>
              </a:ext>
            </a:extLst>
          </p:cNvPr>
          <p:cNvSpPr/>
          <p:nvPr/>
        </p:nvSpPr>
        <p:spPr>
          <a:xfrm>
            <a:off x="685800" y="2667000"/>
            <a:ext cx="1981200" cy="1397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어느 구역에 물품이 부족한가요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22BA2B81-C35C-481F-A7E7-B8449F65FEA1}"/>
              </a:ext>
            </a:extLst>
          </p:cNvPr>
          <p:cNvSpPr/>
          <p:nvPr/>
        </p:nvSpPr>
        <p:spPr>
          <a:xfrm>
            <a:off x="2692400" y="3175000"/>
            <a:ext cx="177800" cy="2540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14BB8414-BE5B-4A74-9916-D8BAFD126EEA}"/>
              </a:ext>
            </a:extLst>
          </p:cNvPr>
          <p:cNvSpPr/>
          <p:nvPr/>
        </p:nvSpPr>
        <p:spPr>
          <a:xfrm>
            <a:off x="2895600" y="2032000"/>
            <a:ext cx="1981200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2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필요한 항목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0CD03832-5DDE-4E8F-B9C8-D2BECFDA4D03}"/>
              </a:ext>
            </a:extLst>
          </p:cNvPr>
          <p:cNvSpPr/>
          <p:nvPr/>
        </p:nvSpPr>
        <p:spPr>
          <a:xfrm>
            <a:off x="2895600" y="2667000"/>
            <a:ext cx="1981200" cy="1397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구역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상품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시각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수량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기준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9163E3E1-4CE4-4BDC-950A-C732354EDD56}"/>
              </a:ext>
            </a:extLst>
          </p:cNvPr>
          <p:cNvSpPr/>
          <p:nvPr/>
        </p:nvSpPr>
        <p:spPr>
          <a:xfrm>
            <a:off x="4902200" y="3175000"/>
            <a:ext cx="177800" cy="2540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D2DF59AA-9F6F-4112-8C5A-DDE34B64A66C}"/>
              </a:ext>
            </a:extLst>
          </p:cNvPr>
          <p:cNvSpPr/>
          <p:nvPr/>
        </p:nvSpPr>
        <p:spPr>
          <a:xfrm>
            <a:off x="5105400" y="2032000"/>
            <a:ext cx="1981200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3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한 행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424C7F67-B43E-4DDD-9DD3-824207CC41A2}"/>
              </a:ext>
            </a:extLst>
          </p:cNvPr>
          <p:cNvSpPr/>
          <p:nvPr/>
        </p:nvSpPr>
        <p:spPr>
          <a:xfrm>
            <a:off x="5105400" y="2667000"/>
            <a:ext cx="1981200" cy="1397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한 구역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한 상품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·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한 시각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59D2A1EE-45DA-414E-847A-614F96B8ADDC}"/>
              </a:ext>
            </a:extLst>
          </p:cNvPr>
          <p:cNvSpPr/>
          <p:nvPr/>
        </p:nvSpPr>
        <p:spPr>
          <a:xfrm>
            <a:off x="7112000" y="3175000"/>
            <a:ext cx="177800" cy="2540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5ACCE377-D083-43EA-8E5A-DBAEB6CFC9E7}"/>
              </a:ext>
            </a:extLst>
          </p:cNvPr>
          <p:cNvSpPr/>
          <p:nvPr/>
        </p:nvSpPr>
        <p:spPr>
          <a:xfrm>
            <a:off x="7315200" y="2032000"/>
            <a:ext cx="1981200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4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키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1CFAD384-343E-426C-BAD7-2B9425FD6C5E}"/>
              </a:ext>
            </a:extLst>
          </p:cNvPr>
          <p:cNvSpPr/>
          <p:nvPr/>
        </p:nvSpPr>
        <p:spPr>
          <a:xfrm>
            <a:off x="7315200" y="2667000"/>
            <a:ext cx="1981200" cy="1397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구역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+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상품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+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시각</a:t>
            </a: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B332380A-0FD2-4518-8390-41E8F707AB0C}"/>
              </a:ext>
            </a:extLst>
          </p:cNvPr>
          <p:cNvSpPr/>
          <p:nvPr/>
        </p:nvSpPr>
        <p:spPr>
          <a:xfrm>
            <a:off x="9321800" y="3175000"/>
            <a:ext cx="177800" cy="254000"/>
          </a:xfrm>
          <a:prstGeom prst="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9D44B43F-03A2-4082-97D5-BEC1AC271A3D}"/>
              </a:ext>
            </a:extLst>
          </p:cNvPr>
          <p:cNvSpPr/>
          <p:nvPr/>
        </p:nvSpPr>
        <p:spPr>
          <a:xfrm>
            <a:off x="9525000" y="2032000"/>
            <a:ext cx="1981200" cy="558800"/>
          </a:xfrm>
          <a:prstGeom prst="round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FFFFFF"/>
                </a:solidFill>
                <a:latin typeface="Noto Sans KR"/>
                <a:ea typeface="Noto Sans KR"/>
              </a:rPr>
              <a:t>5 </a:t>
            </a:r>
            <a:r>
              <a:rPr lang="ko-KR" altLang="en-US" sz="1700" b="1">
                <a:solidFill>
                  <a:srgbClr val="FFFFFF"/>
                </a:solidFill>
                <a:latin typeface="Noto Sans KR"/>
                <a:ea typeface="Noto Sans KR"/>
              </a:rPr>
              <a:t>모르는 값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A42E89E4-0329-4F41-BAB6-A35D6CEA6C00}"/>
              </a:ext>
            </a:extLst>
          </p:cNvPr>
          <p:cNvSpPr/>
          <p:nvPr/>
        </p:nvSpPr>
        <p:spPr>
          <a:xfrm>
            <a:off x="9525000" y="2667000"/>
            <a:ext cx="1981200" cy="1397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미확인 수량은 비워 두고 표시</a:t>
            </a: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BB3EF90B-0B14-40F5-BD68-5ADF7E0D46ED}"/>
              </a:ext>
            </a:extLst>
          </p:cNvPr>
          <p:cNvSpPr/>
          <p:nvPr/>
        </p:nvSpPr>
        <p:spPr>
          <a:xfrm>
            <a:off x="685800" y="4292600"/>
            <a:ext cx="10820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완성된 한 행 </a:t>
            </a:r>
            <a:r>
              <a:rPr lang="en-US" altLang="ko-KR" sz="1500" b="1">
                <a:solidFill>
                  <a:srgbClr val="5B6B74"/>
                </a:solidFill>
                <a:latin typeface="Noto Sans KR"/>
                <a:ea typeface="Noto Sans KR"/>
              </a:rPr>
              <a:t>(</a:t>
            </a:r>
            <a:r>
              <a:rPr lang="ko-KR" altLang="en-US" sz="1500" b="1">
                <a:solidFill>
                  <a:srgbClr val="5B6B74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 b="1">
                <a:solidFill>
                  <a:srgbClr val="5B6B74"/>
                </a:solidFill>
                <a:latin typeface="Noto Sans KR"/>
                <a:ea typeface="Noto Sans KR"/>
              </a:rPr>
              <a:t>)</a:t>
            </a:r>
            <a:endParaRPr lang="ko-KR" altLang="en-US" sz="1500" b="1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A74984B6-0C74-4DCF-B3F6-3275D04ED290}"/>
              </a:ext>
            </a:extLst>
          </p:cNvPr>
          <p:cNvSpPr/>
          <p:nvPr/>
        </p:nvSpPr>
        <p:spPr>
          <a:xfrm>
            <a:off x="685800" y="4699000"/>
            <a:ext cx="1600200" cy="457200"/>
          </a:xfrm>
          <a:prstGeom prst="rect">
            <a:avLst/>
          </a:prstGeom>
          <a:solidFill>
            <a:srgbClr val="0E5E57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Consolas"/>
              </a:rPr>
              <a:t>zone</a:t>
            </a:r>
            <a:endParaRPr lang="ko-KR" altLang="en-US" sz="15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CB2D1EEE-232E-431F-966C-9A7CD42B1B29}"/>
              </a:ext>
            </a:extLst>
          </p:cNvPr>
          <p:cNvSpPr/>
          <p:nvPr/>
        </p:nvSpPr>
        <p:spPr>
          <a:xfrm>
            <a:off x="685800" y="5181600"/>
            <a:ext cx="1600200" cy="508000"/>
          </a:xfrm>
          <a:prstGeom prst="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A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7BB18C04-7D11-44B7-A909-1E8733D4B809}"/>
              </a:ext>
            </a:extLst>
          </p:cNvPr>
          <p:cNvSpPr/>
          <p:nvPr/>
        </p:nvSpPr>
        <p:spPr>
          <a:xfrm>
            <a:off x="2336800" y="4699000"/>
            <a:ext cx="1600200" cy="457200"/>
          </a:xfrm>
          <a:prstGeom prst="rect">
            <a:avLst/>
          </a:prstGeom>
          <a:solidFill>
            <a:srgbClr val="0E5E57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Consolas"/>
              </a:rPr>
              <a:t>item</a:t>
            </a:r>
            <a:endParaRPr lang="ko-KR" altLang="en-US" sz="15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3973F66C-38A1-441F-9F73-296E7EE67871}"/>
              </a:ext>
            </a:extLst>
          </p:cNvPr>
          <p:cNvSpPr/>
          <p:nvPr/>
        </p:nvSpPr>
        <p:spPr>
          <a:xfrm>
            <a:off x="2336800" y="5181600"/>
            <a:ext cx="1600200" cy="508000"/>
          </a:xfrm>
          <a:prstGeom prst="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장갑</a:t>
            </a: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512AC2EE-7B85-41DC-AF44-7A6F0F527FE9}"/>
              </a:ext>
            </a:extLst>
          </p:cNvPr>
          <p:cNvSpPr/>
          <p:nvPr/>
        </p:nvSpPr>
        <p:spPr>
          <a:xfrm>
            <a:off x="3987800" y="4699000"/>
            <a:ext cx="1600200" cy="457200"/>
          </a:xfrm>
          <a:prstGeom prst="rect">
            <a:avLst/>
          </a:prstGeom>
          <a:solidFill>
            <a:srgbClr val="0E5E57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Consolas"/>
              </a:rPr>
              <a:t>time</a:t>
            </a:r>
            <a:endParaRPr lang="ko-KR" altLang="en-US" sz="15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B2AEFF29-A900-4E62-93C2-52B4A2AEE000}"/>
              </a:ext>
            </a:extLst>
          </p:cNvPr>
          <p:cNvSpPr/>
          <p:nvPr/>
        </p:nvSpPr>
        <p:spPr>
          <a:xfrm>
            <a:off x="3987800" y="5181600"/>
            <a:ext cx="1600200" cy="508000"/>
          </a:xfrm>
          <a:prstGeom prst="rect">
            <a:avLst/>
          </a:prstGeom>
          <a:solidFill>
            <a:srgbClr val="D5EDE9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10:00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6FFD66D5-A393-4355-A043-CF8B69344FDD}"/>
              </a:ext>
            </a:extLst>
          </p:cNvPr>
          <p:cNvSpPr/>
          <p:nvPr/>
        </p:nvSpPr>
        <p:spPr>
          <a:xfrm>
            <a:off x="5638800" y="4699000"/>
            <a:ext cx="1600200" cy="4572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Consolas"/>
              </a:rPr>
              <a:t>quantity</a:t>
            </a:r>
            <a:endParaRPr lang="ko-KR" altLang="en-US" sz="1500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CAC40076-FC31-48B9-8212-512C310BBEED}"/>
              </a:ext>
            </a:extLst>
          </p:cNvPr>
          <p:cNvSpPr/>
          <p:nvPr/>
        </p:nvSpPr>
        <p:spPr>
          <a:xfrm>
            <a:off x="5638800" y="5181600"/>
            <a:ext cx="1600200" cy="5080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6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AD1B24CD-003A-42B3-A792-C7D9B44652CF}"/>
              </a:ext>
            </a:extLst>
          </p:cNvPr>
          <p:cNvSpPr/>
          <p:nvPr/>
        </p:nvSpPr>
        <p:spPr>
          <a:xfrm>
            <a:off x="685800" y="5740400"/>
            <a:ext cx="48768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08776D"/>
                </a:solidFill>
                <a:latin typeface="Noto Sans KR"/>
                <a:ea typeface="Noto Sans KR"/>
              </a:rPr>
              <a:t>▲ 초록 세 칸이 키입니다</a:t>
            </a: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DD9178C6-DEB0-472B-A2EC-429FEDDB5EC3}"/>
              </a:ext>
            </a:extLst>
          </p:cNvPr>
          <p:cNvSpPr/>
          <p:nvPr/>
        </p:nvSpPr>
        <p:spPr>
          <a:xfrm>
            <a:off x="7543800" y="4699000"/>
            <a:ext cx="3962400" cy="1422400"/>
          </a:xfrm>
          <a:prstGeom prst="rect">
            <a:avLst/>
          </a:prstGeom>
          <a:solidFill>
            <a:srgbClr val="FBEDE3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AccentBar">
            <a:extLst>
              <a:ext uri="{FF2B5EF4-FFF2-40B4-BE49-F238E27FC236}">
                <a16:creationId xmlns:a16="http://schemas.microsoft.com/office/drawing/2014/main" id="{19C88D25-A599-4066-ACBB-FC311E8FC745}"/>
              </a:ext>
            </a:extLst>
          </p:cNvPr>
          <p:cNvSpPr/>
          <p:nvPr/>
        </p:nvSpPr>
        <p:spPr>
          <a:xfrm>
            <a:off x="7543800" y="4699000"/>
            <a:ext cx="76200" cy="14224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BF2761E8-B50B-4800-ACB0-6996CD29E739}"/>
              </a:ext>
            </a:extLst>
          </p:cNvPr>
          <p:cNvSpPr/>
          <p:nvPr/>
        </p:nvSpPr>
        <p:spPr>
          <a:xfrm>
            <a:off x="7747000" y="4775200"/>
            <a:ext cx="3683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자주 하는 실수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7CB924E0-FCC5-406A-9817-5646987E9C91}"/>
              </a:ext>
            </a:extLst>
          </p:cNvPr>
          <p:cNvSpPr/>
          <p:nvPr/>
        </p:nvSpPr>
        <p:spPr>
          <a:xfrm>
            <a:off x="7747000" y="5130800"/>
            <a:ext cx="3683000" cy="939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질문보다 표를 먼저 만들면 필요한 항목이 빠지거나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쓸모없는 칸이 생깁니다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41204062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31BB58D-C3EC-4BEC-A8AB-5706BFE5CA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2EB15EE-D216-4ECF-B1AA-2996020C6C1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행 설계 예 · 재고 관찰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344D909-8D58-4CA6-BE5C-ED1B9C75B9A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17806A4-7064-4813-BCAA-A07CDD7CD2BA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같은 구역·상품도 시각이 다르면 서로 다른 관찰 기록입니다.</a:t>
            </a:r>
          </a:p>
        </p:txBody>
      </p:sp>
      <p:graphicFrame>
        <p:nvGraphicFramePr>
          <p:cNvPr id="14" name="표 13"/>
          <p:cNvGraphicFramePr/>
          <p:nvPr>
            <p:extLst>
              <p:ext uri="{D42A27DB-BD31-4B8C-83A1-F6EECF244321}">
                <p14:modId xmlns:p14="http://schemas.microsoft.com/office/powerpoint/2010/main" val="2854293220"/>
              </p:ext>
            </p:extLst>
          </p:nvPr>
        </p:nvGraphicFramePr>
        <p:xfrm>
          <a:off x="685800" y="2548890"/>
          <a:ext cx="10820400" cy="2209800"/>
        </p:xfrm>
        <a:graphic>
          <a:graphicData uri="http://schemas.openxmlformats.org/drawingml/2006/table">
            <a:tbl>
              <a:tblPr firstRow="1"/>
              <a:tblGrid>
                <a:gridCol w="24297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9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46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63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구역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시각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수량(개)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장갑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10:00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장갑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11:00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00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11E72360-A5FC-4813-B8D7-1096ED7E31A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FE788B4-D3AC-4502-BF7A-525C8E524E6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094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398871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5471ED9-6159-47F6-852B-48ED6D0A28C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84A567-291A-49E2-8757-B2D9D9F6211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같은 재고 기록을 </a:t>
            </a:r>
            <a:r>
              <a:rPr lang="en-US" altLang="ko-KR"/>
              <a:t>CSV</a:t>
            </a:r>
            <a:r>
              <a:rPr lang="ko-KR" altLang="en-US"/>
              <a:t>와 </a:t>
            </a:r>
            <a:r>
              <a:rPr lang="en-US" altLang="ko-KR"/>
              <a:t>JSON</a:t>
            </a:r>
            <a:r>
              <a:rPr lang="ko-KR" altLang="en-US"/>
              <a:t>으로 쓰기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E24C13-AC7B-40C7-BD23-B2BA8EF572A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9E069DD-1FD8-4570-810A-8AE142CF26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1BB684F-21F3-4B8F-9ED3-CD5E9B6E722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095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66879CF8-D9D1-447F-82E8-C16D64D38F03}"/>
              </a:ext>
            </a:extLst>
          </p:cNvPr>
          <p:cNvSpPr/>
          <p:nvPr/>
        </p:nvSpPr>
        <p:spPr>
          <a:xfrm>
            <a:off x="685800" y="1930400"/>
            <a:ext cx="4826000" cy="406400"/>
          </a:xfrm>
          <a:prstGeom prst="rect">
            <a:avLst/>
          </a:prstGeom>
          <a:solidFill>
            <a:srgbClr val="0F2A3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FFFFFF"/>
                </a:solidFill>
                <a:latin typeface="Noto Sans KR"/>
                <a:ea typeface="Noto Sans KR"/>
              </a:rPr>
              <a:t>CSV · </a:t>
            </a:r>
            <a:r>
              <a:rPr lang="ko-KR" altLang="en-US" sz="1600" b="1">
                <a:solidFill>
                  <a:srgbClr val="FFFFFF"/>
                </a:solidFill>
                <a:latin typeface="Noto Sans KR"/>
                <a:ea typeface="Noto Sans KR"/>
              </a:rPr>
              <a:t>공통 열로 나란히</a:t>
            </a: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BB863C65-BB65-4380-9F3B-3CC895BAD373}"/>
              </a:ext>
            </a:extLst>
          </p:cNvPr>
          <p:cNvSpPr/>
          <p:nvPr/>
        </p:nvSpPr>
        <p:spPr>
          <a:xfrm>
            <a:off x="6045200" y="1930400"/>
            <a:ext cx="5461000" cy="406400"/>
          </a:xfrm>
          <a:prstGeom prst="rect">
            <a:avLst/>
          </a:prstGeom>
          <a:solidFill>
            <a:srgbClr val="2F6A8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FFFFFF"/>
                </a:solidFill>
                <a:latin typeface="Noto Sans KR"/>
                <a:ea typeface="Noto Sans KR"/>
              </a:rPr>
              <a:t>JSON · </a:t>
            </a:r>
            <a:r>
              <a:rPr lang="ko-KR" altLang="en-US" sz="1600" b="1">
                <a:solidFill>
                  <a:srgbClr val="FFFFFF"/>
                </a:solidFill>
                <a:latin typeface="Noto Sans KR"/>
                <a:ea typeface="Noto Sans KR"/>
              </a:rPr>
              <a:t>이름과 묶음으로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A4D5C448-8ED2-43CD-898B-FCDAB34B234E}"/>
              </a:ext>
            </a:extLst>
          </p:cNvPr>
          <p:cNvSpPr/>
          <p:nvPr/>
        </p:nvSpPr>
        <p:spPr>
          <a:xfrm>
            <a:off x="685800" y="2387600"/>
            <a:ext cx="4826000" cy="1905000"/>
          </a:xfrm>
          <a:prstGeom prst="rect">
            <a:avLst/>
          </a:prstGeom>
          <a:solidFill>
            <a:srgbClr val="13303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6B9BF593-3474-490E-A1A2-5F383CAE403F}"/>
              </a:ext>
            </a:extLst>
          </p:cNvPr>
          <p:cNvSpPr/>
          <p:nvPr/>
        </p:nvSpPr>
        <p:spPr>
          <a:xfrm>
            <a:off x="838200" y="2514600"/>
            <a:ext cx="4572000" cy="457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C5D3D9"/>
                </a:solidFill>
                <a:latin typeface="Consolas"/>
              </a:rPr>
              <a:t>zone,item,time,quantity</a:t>
            </a:r>
            <a:endParaRPr lang="ko-KR" altLang="en-US" sz="1600">
              <a:solidFill>
                <a:srgbClr val="C5D3D9"/>
              </a:solidFill>
              <a:latin typeface="Consolas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AE5DB6D3-5956-4593-9A73-FC137A10E44E}"/>
              </a:ext>
            </a:extLst>
          </p:cNvPr>
          <p:cNvSpPr/>
          <p:nvPr/>
        </p:nvSpPr>
        <p:spPr>
          <a:xfrm>
            <a:off x="838200" y="3073400"/>
            <a:ext cx="4572000" cy="508000"/>
          </a:xfrm>
          <a:prstGeom prst="rect">
            <a:avLst/>
          </a:prstGeom>
          <a:solidFill>
            <a:srgbClr val="1E5B5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FFFFFF"/>
                </a:solidFill>
                <a:latin typeface="Consolas"/>
              </a:rPr>
              <a:t>A,</a:t>
            </a:r>
            <a:r>
              <a:rPr lang="ko-KR" altLang="en-US" b="1">
                <a:solidFill>
                  <a:srgbClr val="FFFFFF"/>
                </a:solidFill>
                <a:latin typeface="Consolas"/>
              </a:rPr>
              <a:t>장갑</a:t>
            </a:r>
            <a:r>
              <a:rPr lang="en-US" altLang="ko-KR" b="1">
                <a:solidFill>
                  <a:srgbClr val="FFFFFF"/>
                </a:solidFill>
                <a:latin typeface="Consolas"/>
              </a:rPr>
              <a:t>,10:00,6</a:t>
            </a:r>
            <a:endParaRPr lang="ko-KR" altLang="en-US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54BE78A3-F35D-4B98-94C6-A8D8B71A03A0}"/>
              </a:ext>
            </a:extLst>
          </p:cNvPr>
          <p:cNvSpPr/>
          <p:nvPr/>
        </p:nvSpPr>
        <p:spPr>
          <a:xfrm>
            <a:off x="838200" y="3657600"/>
            <a:ext cx="4572000" cy="508000"/>
          </a:xfrm>
          <a:prstGeom prst="rect">
            <a:avLst/>
          </a:prstGeom>
          <a:solidFill>
            <a:srgbClr val="6B3A1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FFFFFF"/>
                </a:solidFill>
                <a:latin typeface="Consolas"/>
              </a:rPr>
              <a:t>A,</a:t>
            </a:r>
            <a:r>
              <a:rPr lang="ko-KR" altLang="en-US" b="1">
                <a:solidFill>
                  <a:srgbClr val="FFFFFF"/>
                </a:solidFill>
                <a:latin typeface="Consolas"/>
              </a:rPr>
              <a:t>장갑</a:t>
            </a:r>
            <a:r>
              <a:rPr lang="en-US" altLang="ko-KR" b="1">
                <a:solidFill>
                  <a:srgbClr val="FFFFFF"/>
                </a:solidFill>
                <a:latin typeface="Consolas"/>
              </a:rPr>
              <a:t>,11:00,4</a:t>
            </a:r>
            <a:endParaRPr lang="ko-KR" altLang="en-US" b="1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0DE0CD1F-08E6-4306-9F99-0EF1A81D1492}"/>
              </a:ext>
            </a:extLst>
          </p:cNvPr>
          <p:cNvSpPr/>
          <p:nvPr/>
        </p:nvSpPr>
        <p:spPr>
          <a:xfrm>
            <a:off x="6045200" y="2387600"/>
            <a:ext cx="5461000" cy="2717800"/>
          </a:xfrm>
          <a:prstGeom prst="rect">
            <a:avLst/>
          </a:prstGeom>
          <a:solidFill>
            <a:srgbClr val="13303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DBC9F26D-52E4-458E-8B11-AECE384C625B}"/>
              </a:ext>
            </a:extLst>
          </p:cNvPr>
          <p:cNvSpPr/>
          <p:nvPr/>
        </p:nvSpPr>
        <p:spPr>
          <a:xfrm>
            <a:off x="6197600" y="2463800"/>
            <a:ext cx="381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700" b="1">
                <a:solidFill>
                  <a:srgbClr val="E6EEF1"/>
                </a:solidFill>
                <a:latin typeface="Consolas"/>
              </a:rPr>
              <a:t>[</a:t>
            </a:r>
            <a:endParaRPr lang="ko-KR" altLang="en-US" sz="1700" b="1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B5947F78-F9AD-4932-A5E2-A933BC1CFED1}"/>
              </a:ext>
            </a:extLst>
          </p:cNvPr>
          <p:cNvSpPr/>
          <p:nvPr/>
        </p:nvSpPr>
        <p:spPr>
          <a:xfrm>
            <a:off x="6350000" y="2819400"/>
            <a:ext cx="5003800" cy="914400"/>
          </a:xfrm>
          <a:prstGeom prst="rect">
            <a:avLst/>
          </a:prstGeom>
          <a:solidFill>
            <a:srgbClr val="1E5B5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500">
                <a:solidFill>
                  <a:srgbClr val="FFFFFF"/>
                </a:solidFill>
                <a:latin typeface="Consolas"/>
              </a:rPr>
              <a:t>{"zone":"A", "item":"</a:t>
            </a:r>
            <a:r>
              <a:rPr lang="ko-KR" altLang="en-US" sz="1500">
                <a:solidFill>
                  <a:srgbClr val="FFFFFF"/>
                </a:solidFill>
                <a:latin typeface="Consolas"/>
              </a:rPr>
              <a:t>장갑</a:t>
            </a:r>
            <a:r>
              <a:rPr lang="en-US" altLang="ko-KR" sz="1500">
                <a:solidFill>
                  <a:srgbClr val="FFFFFF"/>
                </a:solidFill>
                <a:latin typeface="Consolas"/>
              </a:rPr>
              <a:t>",
 "time":"10:00", "quantity":6},</a:t>
            </a:r>
            <a:endParaRPr lang="ko-KR" altLang="en-US" sz="1500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2514D730-2884-485A-98A2-31E70D82AA4A}"/>
              </a:ext>
            </a:extLst>
          </p:cNvPr>
          <p:cNvSpPr/>
          <p:nvPr/>
        </p:nvSpPr>
        <p:spPr>
          <a:xfrm>
            <a:off x="6350000" y="3810000"/>
            <a:ext cx="5003800" cy="914400"/>
          </a:xfrm>
          <a:prstGeom prst="rect">
            <a:avLst/>
          </a:prstGeom>
          <a:solidFill>
            <a:srgbClr val="6B3A1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500">
                <a:solidFill>
                  <a:srgbClr val="FFFFFF"/>
                </a:solidFill>
                <a:latin typeface="Consolas"/>
              </a:rPr>
              <a:t>{"zone":"A", "item":"</a:t>
            </a:r>
            <a:r>
              <a:rPr lang="ko-KR" altLang="en-US" sz="1500">
                <a:solidFill>
                  <a:srgbClr val="FFFFFF"/>
                </a:solidFill>
                <a:latin typeface="Consolas"/>
              </a:rPr>
              <a:t>장갑</a:t>
            </a:r>
            <a:r>
              <a:rPr lang="en-US" altLang="ko-KR" sz="1500">
                <a:solidFill>
                  <a:srgbClr val="FFFFFF"/>
                </a:solidFill>
                <a:latin typeface="Consolas"/>
              </a:rPr>
              <a:t>",
 "time":"11:00", "quantity":4}</a:t>
            </a:r>
            <a:endParaRPr lang="ko-KR" altLang="en-US" sz="1500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195B0400-F63D-4B7C-971A-AFE4A24C7F23}"/>
              </a:ext>
            </a:extLst>
          </p:cNvPr>
          <p:cNvSpPr/>
          <p:nvPr/>
        </p:nvSpPr>
        <p:spPr>
          <a:xfrm>
            <a:off x="6197600" y="4749800"/>
            <a:ext cx="381000" cy="3048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700" b="1">
                <a:solidFill>
                  <a:srgbClr val="E6EEF1"/>
                </a:solidFill>
                <a:latin typeface="Consolas"/>
              </a:rPr>
              <a:t>]</a:t>
            </a:r>
            <a:endParaRPr lang="ko-KR" altLang="en-US" sz="1700" b="1">
              <a:solidFill>
                <a:srgbClr val="E6EEF1"/>
              </a:solidFill>
              <a:latin typeface="Consolas"/>
            </a:endParaRPr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F086A48F-8540-446E-9EBB-A2D8A7AB74C0}"/>
              </a:ext>
            </a:extLst>
          </p:cNvPr>
          <p:cNvSpPr/>
          <p:nvPr/>
        </p:nvSpPr>
        <p:spPr>
          <a:xfrm>
            <a:off x="5588000" y="3238500"/>
            <a:ext cx="381000" cy="279400"/>
          </a:xfrm>
          <a:prstGeom prst="leftRightArrow">
            <a:avLst/>
          </a:prstGeom>
          <a:solidFill>
            <a:srgbClr val="9AA7A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7861C10D-2287-403D-B572-69FD2E43BFE8}"/>
              </a:ext>
            </a:extLst>
          </p:cNvPr>
          <p:cNvSpPr/>
          <p:nvPr/>
        </p:nvSpPr>
        <p:spPr>
          <a:xfrm>
            <a:off x="685800" y="4394200"/>
            <a:ext cx="4826000" cy="711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01600" bIns="25400" rtlCol="0" anchor="t" anchorCtr="0">
            <a:noAutofit/>
          </a:bodyPr>
          <a:lstStyle/>
          <a:p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같은 색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=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같은 기록입니다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 CSV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한 행이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JSON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객체 하나에 대응합니다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44359012-94C1-427E-ABDA-270B35CE8E9C}"/>
              </a:ext>
            </a:extLst>
          </p:cNvPr>
          <p:cNvSpPr/>
          <p:nvPr/>
        </p:nvSpPr>
        <p:spPr>
          <a:xfrm>
            <a:off x="685800" y="5257800"/>
            <a:ext cx="3454400" cy="9398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AccentBar">
            <a:extLst>
              <a:ext uri="{FF2B5EF4-FFF2-40B4-BE49-F238E27FC236}">
                <a16:creationId xmlns:a16="http://schemas.microsoft.com/office/drawing/2014/main" id="{1E35A396-CA40-4F01-B479-C3455B42D511}"/>
              </a:ext>
            </a:extLst>
          </p:cNvPr>
          <p:cNvSpPr/>
          <p:nvPr/>
        </p:nvSpPr>
        <p:spPr>
          <a:xfrm>
            <a:off x="685800" y="5257800"/>
            <a:ext cx="76200" cy="939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42003F44-11C6-4ED9-B75F-EC3BF3462A49}"/>
              </a:ext>
            </a:extLst>
          </p:cNvPr>
          <p:cNvSpPr/>
          <p:nvPr/>
        </p:nvSpPr>
        <p:spPr>
          <a:xfrm>
            <a:off x="889000" y="5308600"/>
            <a:ext cx="3175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CSV</a:t>
            </a:r>
            <a:endParaRPr lang="ko-KR" altLang="en-US" sz="16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D9D1E96D-4C08-4E19-98C3-5591AC813E94}"/>
              </a:ext>
            </a:extLst>
          </p:cNvPr>
          <p:cNvSpPr/>
          <p:nvPr/>
        </p:nvSpPr>
        <p:spPr>
          <a:xfrm>
            <a:off x="889000" y="5638800"/>
            <a:ext cx="3175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헤더는 한 번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행마다 값만 씁니다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4D3DA838-B8D4-4732-96DD-44D1405D1E08}"/>
              </a:ext>
            </a:extLst>
          </p:cNvPr>
          <p:cNvSpPr/>
          <p:nvPr/>
        </p:nvSpPr>
        <p:spPr>
          <a:xfrm>
            <a:off x="4368800" y="5257800"/>
            <a:ext cx="3454400" cy="9398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AccentBar">
            <a:extLst>
              <a:ext uri="{FF2B5EF4-FFF2-40B4-BE49-F238E27FC236}">
                <a16:creationId xmlns:a16="http://schemas.microsoft.com/office/drawing/2014/main" id="{7E17B9FF-1843-4EEF-BA77-BF9524FDEB24}"/>
              </a:ext>
            </a:extLst>
          </p:cNvPr>
          <p:cNvSpPr/>
          <p:nvPr/>
        </p:nvSpPr>
        <p:spPr>
          <a:xfrm>
            <a:off x="4368800" y="5257800"/>
            <a:ext cx="76200" cy="939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9DD018EA-8806-4089-A9FA-87270ADDF15F}"/>
              </a:ext>
            </a:extLst>
          </p:cNvPr>
          <p:cNvSpPr/>
          <p:nvPr/>
        </p:nvSpPr>
        <p:spPr>
          <a:xfrm>
            <a:off x="4572000" y="5308600"/>
            <a:ext cx="3175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JSON</a:t>
            </a:r>
            <a:endParaRPr lang="ko-KR" altLang="en-US" sz="16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2A0E1500-37C5-498C-9B87-DECDDF46C34D}"/>
              </a:ext>
            </a:extLst>
          </p:cNvPr>
          <p:cNvSpPr/>
          <p:nvPr/>
        </p:nvSpPr>
        <p:spPr>
          <a:xfrm>
            <a:off x="4572000" y="5638800"/>
            <a:ext cx="3175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기록마다 키를 붙여 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[ ]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로 묶습니다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64631A29-8774-49A3-96AA-97DEBA5D9D9C}"/>
              </a:ext>
            </a:extLst>
          </p:cNvPr>
          <p:cNvSpPr/>
          <p:nvPr/>
        </p:nvSpPr>
        <p:spPr>
          <a:xfrm>
            <a:off x="8051800" y="5257800"/>
            <a:ext cx="3454400" cy="9398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6" name="AccentBar">
            <a:extLst>
              <a:ext uri="{FF2B5EF4-FFF2-40B4-BE49-F238E27FC236}">
                <a16:creationId xmlns:a16="http://schemas.microsoft.com/office/drawing/2014/main" id="{320B0280-21AF-406C-A233-96894B4DF72A}"/>
              </a:ext>
            </a:extLst>
          </p:cNvPr>
          <p:cNvSpPr/>
          <p:nvPr/>
        </p:nvSpPr>
        <p:spPr>
          <a:xfrm>
            <a:off x="8051800" y="5257800"/>
            <a:ext cx="76200" cy="939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E3F63490-60BA-4645-9808-8DB3B06353A8}"/>
              </a:ext>
            </a:extLst>
          </p:cNvPr>
          <p:cNvSpPr/>
          <p:nvPr/>
        </p:nvSpPr>
        <p:spPr>
          <a:xfrm>
            <a:off x="8255000" y="5308600"/>
            <a:ext cx="31750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공통</a:t>
            </a: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45EBAC4A-D332-4BAA-9D0C-51B064174E6C}"/>
              </a:ext>
            </a:extLst>
          </p:cNvPr>
          <p:cNvSpPr/>
          <p:nvPr/>
        </p:nvSpPr>
        <p:spPr>
          <a:xfrm>
            <a:off x="8255000" y="5638800"/>
            <a:ext cx="3175000" cy="533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한 행 단위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뜻은 그대로입니다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47133004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EF8A2BC-5E86-4C41-AE13-E7E29238ACF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F9398F4-EEA0-4A58-A2E0-67390DDFC85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검수할 네 관점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82735F5-BF65-4447-B6FD-09F30B0AA0B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8F31CC9-28B0-402D-B768-1CD3EFA00B5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C83BAAE-07EC-45FD-A563-427E1FA73DF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096</a:t>
            </a:r>
            <a:endParaRPr/>
          </a:p>
        </p:txBody>
      </p:sp>
      <p:sp>
        <p:nvSpPr>
          <p:cNvPr id="5" name="Viz">
            <a:extLst>
              <a:ext uri="{FF2B5EF4-FFF2-40B4-BE49-F238E27FC236}">
                <a16:creationId xmlns:a16="http://schemas.microsoft.com/office/drawing/2014/main" id="{9EE40D95-CDD2-4C98-AE51-2DADCCE6C4CA}"/>
              </a:ext>
            </a:extLst>
          </p:cNvPr>
          <p:cNvSpPr/>
          <p:nvPr/>
        </p:nvSpPr>
        <p:spPr>
          <a:xfrm>
            <a:off x="685800" y="2006600"/>
            <a:ext cx="2540000" cy="3810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Viz">
            <a:extLst>
              <a:ext uri="{FF2B5EF4-FFF2-40B4-BE49-F238E27FC236}">
                <a16:creationId xmlns:a16="http://schemas.microsoft.com/office/drawing/2014/main" id="{8F263F9D-C7E6-4080-87B5-E21A8985F946}"/>
              </a:ext>
            </a:extLst>
          </p:cNvPr>
          <p:cNvSpPr/>
          <p:nvPr/>
        </p:nvSpPr>
        <p:spPr>
          <a:xfrm>
            <a:off x="1511300" y="2209800"/>
            <a:ext cx="889000" cy="8890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27000" bIns="25400" rtlCol="0" anchor="ctr" anchorCtr="0">
            <a:noAutofit/>
          </a:bodyPr>
          <a:lstStyle/>
          <a:p>
            <a:pPr algn="ctr"/>
            <a:r>
              <a:rPr lang="en-US" altLang="ko-KR" sz="3000" b="1">
                <a:solidFill>
                  <a:srgbClr val="FFFFFF"/>
                </a:solidFill>
                <a:latin typeface="Noto Sans KR"/>
                <a:ea typeface="Noto Sans KR"/>
              </a:rPr>
              <a:t>1</a:t>
            </a:r>
            <a:endParaRPr lang="ko-KR" altLang="en-US" sz="30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10" name="Viz">
            <a:extLst>
              <a:ext uri="{FF2B5EF4-FFF2-40B4-BE49-F238E27FC236}">
                <a16:creationId xmlns:a16="http://schemas.microsoft.com/office/drawing/2014/main" id="{34C7A8AC-BA15-4682-B3D3-FE9312666D32}"/>
              </a:ext>
            </a:extLst>
          </p:cNvPr>
          <p:cNvSpPr/>
          <p:nvPr/>
        </p:nvSpPr>
        <p:spPr>
          <a:xfrm>
            <a:off x="685800" y="3225800"/>
            <a:ext cx="2540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2400" b="1">
                <a:solidFill>
                  <a:srgbClr val="08776D"/>
                </a:solidFill>
                <a:latin typeface="Noto Sans KR"/>
                <a:ea typeface="Noto Sans KR"/>
              </a:rPr>
              <a:t>의미</a:t>
            </a:r>
          </a:p>
        </p:txBody>
      </p:sp>
      <p:sp>
        <p:nvSpPr>
          <p:cNvPr id="11" name="Viz">
            <a:extLst>
              <a:ext uri="{FF2B5EF4-FFF2-40B4-BE49-F238E27FC236}">
                <a16:creationId xmlns:a16="http://schemas.microsoft.com/office/drawing/2014/main" id="{96A12EEC-7CC0-41EC-AFC9-BCCA4FA1BA19}"/>
              </a:ext>
            </a:extLst>
          </p:cNvPr>
          <p:cNvSpPr/>
          <p:nvPr/>
        </p:nvSpPr>
        <p:spPr>
          <a:xfrm>
            <a:off x="685800" y="3784600"/>
            <a:ext cx="2540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원문과 같은 뜻인가요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3" name="Viz">
            <a:extLst>
              <a:ext uri="{FF2B5EF4-FFF2-40B4-BE49-F238E27FC236}">
                <a16:creationId xmlns:a16="http://schemas.microsoft.com/office/drawing/2014/main" id="{DA20C1D7-15B8-487B-909A-6D080DBF4A8C}"/>
              </a:ext>
            </a:extLst>
          </p:cNvPr>
          <p:cNvSpPr/>
          <p:nvPr/>
        </p:nvSpPr>
        <p:spPr>
          <a:xfrm>
            <a:off x="863600" y="4699000"/>
            <a:ext cx="2184400" cy="8890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미확인을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0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으로 바꾸지 않았나</a:t>
            </a:r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06DD7FE2-45DD-42D7-806B-27FF31EE822C}"/>
              </a:ext>
            </a:extLst>
          </p:cNvPr>
          <p:cNvSpPr/>
          <p:nvPr/>
        </p:nvSpPr>
        <p:spPr>
          <a:xfrm>
            <a:off x="3445510" y="2006600"/>
            <a:ext cx="2540000" cy="3810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34AE2852-6E3F-4ED2-9B99-F6848D72C546}"/>
              </a:ext>
            </a:extLst>
          </p:cNvPr>
          <p:cNvSpPr/>
          <p:nvPr/>
        </p:nvSpPr>
        <p:spPr>
          <a:xfrm>
            <a:off x="4271010" y="2209800"/>
            <a:ext cx="889000" cy="8890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27000" bIns="25400" rtlCol="0" anchor="ctr" anchorCtr="0">
            <a:noAutofit/>
          </a:bodyPr>
          <a:lstStyle/>
          <a:p>
            <a:pPr algn="ctr"/>
            <a:r>
              <a:rPr lang="en-US" altLang="ko-KR" sz="3000" b="1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  <a:endParaRPr lang="ko-KR" altLang="en-US" sz="30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83EB74A4-1614-4CC0-9B24-FA95C93C1255}"/>
              </a:ext>
            </a:extLst>
          </p:cNvPr>
          <p:cNvSpPr/>
          <p:nvPr/>
        </p:nvSpPr>
        <p:spPr>
          <a:xfrm>
            <a:off x="3445510" y="3225800"/>
            <a:ext cx="2540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2400" b="1">
                <a:solidFill>
                  <a:srgbClr val="08776D"/>
                </a:solidFill>
                <a:latin typeface="Noto Sans KR"/>
                <a:ea typeface="Noto Sans KR"/>
              </a:rPr>
              <a:t>구조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87C9D26F-BB44-49E4-83FA-00D95BC1F027}"/>
              </a:ext>
            </a:extLst>
          </p:cNvPr>
          <p:cNvSpPr/>
          <p:nvPr/>
        </p:nvSpPr>
        <p:spPr>
          <a:xfrm>
            <a:off x="3445510" y="3784600"/>
            <a:ext cx="2540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행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키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관계가 맞나요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6A95371B-B875-4592-BDFC-B34160CA101D}"/>
              </a:ext>
            </a:extLst>
          </p:cNvPr>
          <p:cNvSpPr/>
          <p:nvPr/>
        </p:nvSpPr>
        <p:spPr>
          <a:xfrm>
            <a:off x="3623310" y="4699000"/>
            <a:ext cx="2184400" cy="8890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같은 키가 두 줄 있지 않나</a:t>
            </a:r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E06DF52B-74EE-47A0-AF6A-5AFD57EA787D}"/>
              </a:ext>
            </a:extLst>
          </p:cNvPr>
          <p:cNvSpPr/>
          <p:nvPr/>
        </p:nvSpPr>
        <p:spPr>
          <a:xfrm>
            <a:off x="6205220" y="2006600"/>
            <a:ext cx="2540000" cy="3810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3BDF30CE-56BF-4495-9034-77DEC8FB7D34}"/>
              </a:ext>
            </a:extLst>
          </p:cNvPr>
          <p:cNvSpPr/>
          <p:nvPr/>
        </p:nvSpPr>
        <p:spPr>
          <a:xfrm>
            <a:off x="7030720" y="2209800"/>
            <a:ext cx="889000" cy="8890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27000" bIns="25400" rtlCol="0" anchor="ctr" anchorCtr="0">
            <a:noAutofit/>
          </a:bodyPr>
          <a:lstStyle/>
          <a:p>
            <a:pPr algn="ctr"/>
            <a:r>
              <a:rPr lang="en-US" altLang="ko-KR" sz="3000" b="1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  <a:endParaRPr lang="ko-KR" altLang="en-US" sz="30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FBE6955A-918C-4559-8710-1B2D58F307A3}"/>
              </a:ext>
            </a:extLst>
          </p:cNvPr>
          <p:cNvSpPr/>
          <p:nvPr/>
        </p:nvSpPr>
        <p:spPr>
          <a:xfrm>
            <a:off x="6205220" y="3225800"/>
            <a:ext cx="2540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2400" b="1">
                <a:solidFill>
                  <a:srgbClr val="08776D"/>
                </a:solidFill>
                <a:latin typeface="Noto Sans KR"/>
                <a:ea typeface="Noto Sans KR"/>
              </a:rPr>
              <a:t>자료형</a:t>
            </a: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983C9B52-159A-4A8D-B2A4-C2F91FE6101D}"/>
              </a:ext>
            </a:extLst>
          </p:cNvPr>
          <p:cNvSpPr/>
          <p:nvPr/>
        </p:nvSpPr>
        <p:spPr>
          <a:xfrm>
            <a:off x="6205220" y="3784600"/>
            <a:ext cx="2540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문자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숫자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없음이 맞나요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0489ACD9-A1C5-4214-8B76-89D5D3D590E3}"/>
              </a:ext>
            </a:extLst>
          </p:cNvPr>
          <p:cNvSpPr/>
          <p:nvPr/>
        </p:nvSpPr>
        <p:spPr>
          <a:xfrm>
            <a:off x="6383020" y="4699000"/>
            <a:ext cx="2184400" cy="8890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: 0007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을 문자열로 지켰나</a:t>
            </a:r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3DB55BB7-4959-419C-B431-3D831B3198F2}"/>
              </a:ext>
            </a:extLst>
          </p:cNvPr>
          <p:cNvSpPr/>
          <p:nvPr/>
        </p:nvSpPr>
        <p:spPr>
          <a:xfrm>
            <a:off x="8964930" y="2006600"/>
            <a:ext cx="2540000" cy="3810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D5DBDE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649C3BEA-37BE-458B-87FD-64EB86FEA3B0}"/>
              </a:ext>
            </a:extLst>
          </p:cNvPr>
          <p:cNvSpPr/>
          <p:nvPr/>
        </p:nvSpPr>
        <p:spPr>
          <a:xfrm>
            <a:off x="9790430" y="2209800"/>
            <a:ext cx="889000" cy="889000"/>
          </a:xfrm>
          <a:prstGeom prst="ellipse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27000" bIns="25400" rtlCol="0" anchor="ctr" anchorCtr="0">
            <a:noAutofit/>
          </a:bodyPr>
          <a:lstStyle/>
          <a:p>
            <a:pPr algn="ctr"/>
            <a:r>
              <a:rPr lang="en-US" altLang="ko-KR" sz="3000" b="1">
                <a:solidFill>
                  <a:srgbClr val="FFFFFF"/>
                </a:solidFill>
                <a:latin typeface="Noto Sans KR"/>
                <a:ea typeface="Noto Sans KR"/>
              </a:rPr>
              <a:t>4</a:t>
            </a:r>
            <a:endParaRPr lang="ko-KR" altLang="en-US" sz="3000" b="1">
              <a:solidFill>
                <a:srgbClr val="FFFFFF"/>
              </a:solidFill>
              <a:latin typeface="Noto Sans KR"/>
              <a:ea typeface="Noto Sans KR"/>
            </a:endParaRP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FEA4623A-B850-44F2-9453-2088504E9F6A}"/>
              </a:ext>
            </a:extLst>
          </p:cNvPr>
          <p:cNvSpPr/>
          <p:nvPr/>
        </p:nvSpPr>
        <p:spPr>
          <a:xfrm>
            <a:off x="8964930" y="3225800"/>
            <a:ext cx="2540000" cy="508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2400" b="1">
                <a:solidFill>
                  <a:srgbClr val="08776D"/>
                </a:solidFill>
                <a:latin typeface="Noto Sans KR"/>
                <a:ea typeface="Noto Sans KR"/>
              </a:rPr>
              <a:t>형식</a:t>
            </a: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AA1CCF2E-1AA5-4517-9B7F-D299D5DA3138}"/>
              </a:ext>
            </a:extLst>
          </p:cNvPr>
          <p:cNvSpPr/>
          <p:nvPr/>
        </p:nvSpPr>
        <p:spPr>
          <a:xfrm>
            <a:off x="8964930" y="3784600"/>
            <a:ext cx="2540000" cy="762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1700" b="1">
                <a:solidFill>
                  <a:srgbClr val="172E3A"/>
                </a:solidFill>
                <a:latin typeface="Noto Sans KR"/>
                <a:ea typeface="Noto Sans KR"/>
              </a:rPr>
              <a:t>기호와 문법이 맞나요</a:t>
            </a:r>
            <a:r>
              <a:rPr lang="en-US" altLang="ko-KR" sz="1700" b="1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700" b="1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4A5E204F-4A72-4C32-B128-E11D30D0C2FD}"/>
              </a:ext>
            </a:extLst>
          </p:cNvPr>
          <p:cNvSpPr/>
          <p:nvPr/>
        </p:nvSpPr>
        <p:spPr>
          <a:xfrm>
            <a:off x="9142730" y="4699000"/>
            <a:ext cx="2184400" cy="889000"/>
          </a:xfrm>
          <a:prstGeom prst="round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27000" bIns="25400" rtlCol="0" anchor="ctr" anchorCtr="0">
            <a:noAutofit/>
          </a:bodyPr>
          <a:lstStyle/>
          <a:p>
            <a:pPr algn="ctr"/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예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따옴표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쉼표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500">
                <a:solidFill>
                  <a:srgbClr val="172E3A"/>
                </a:solidFill>
                <a:latin typeface="Noto Sans KR"/>
                <a:ea typeface="Noto Sans KR"/>
              </a:rPr>
              <a:t>소문자 </a:t>
            </a:r>
            <a:r>
              <a:rPr lang="en-US" altLang="ko-KR" sz="1500">
                <a:solidFill>
                  <a:srgbClr val="172E3A"/>
                </a:solidFill>
                <a:latin typeface="Noto Sans KR"/>
                <a:ea typeface="Noto Sans KR"/>
              </a:rPr>
              <a:t>true</a:t>
            </a:r>
            <a:endParaRPr lang="ko-KR" altLang="en-US" sz="15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4DD903E1-7DE3-4E3B-9AE4-57C1256333F6}"/>
              </a:ext>
            </a:extLst>
          </p:cNvPr>
          <p:cNvSpPr/>
          <p:nvPr/>
        </p:nvSpPr>
        <p:spPr>
          <a:xfrm>
            <a:off x="685800" y="5918200"/>
            <a:ext cx="10820400" cy="3302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0" tIns="25400" rIns="127000" bIns="25400" rtlCol="0" anchor="ctr" anchorCtr="0">
            <a:noAutofit/>
          </a:bodyPr>
          <a:lstStyle/>
          <a:p>
            <a:r>
              <a:rPr lang="ko-KR" altLang="en-US" sz="1500">
                <a:solidFill>
                  <a:srgbClr val="5B6B74"/>
                </a:solidFill>
                <a:latin typeface="Noto Sans KR"/>
                <a:ea typeface="Noto Sans KR"/>
              </a:rPr>
              <a:t>네 관점을 순서대로 한 번씩 확인한 뒤 제출합니다</a:t>
            </a:r>
            <a:r>
              <a:rPr lang="en-US" altLang="ko-KR" sz="1500">
                <a:solidFill>
                  <a:srgbClr val="5B6B74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78866170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E44BDE2-3516-45DC-9FFE-D3D33A5C30C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F93FAC4-8A67-4F2E-B1AD-CCA8D7BCB3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 보는 업무에 적용하기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1739DE2-E4B8-4396-BA57-83DAB7F6218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072BED3-468D-4198-BF0A-58C7717511A7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알아야 할 내용과 지금 가진 자료를 따로 적습니다.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4ADAF5D-27DF-4ADB-8CAA-9B4ECF370C4B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왜 그 항목과 자료형을 골랐는지 설명합니다.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C1647C6-03DC-425D-9F1C-58435F6B3983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다음 담당자에게 확인한 결과와 아직 모르는 값을 알려 줍니다.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29D8B0A-AFEE-4D72-A0F6-87191F3F662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49E39D-31B1-4C64-A028-E3AEA077988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097</a:t>
            </a:r>
            <a:endParaRPr/>
          </a:p>
        </p:txBody>
      </p:sp>
      <p:sp>
        <p:nvSpPr>
          <p:cNvPr id="11" name="AccentBar">
            <a:extLst>
              <a:ext uri="{FF2B5EF4-FFF2-40B4-BE49-F238E27FC236}">
                <a16:creationId xmlns:a16="http://schemas.microsoft.com/office/drawing/2014/main" id="{C48A016F-AF44-4A49-A6EC-7B964A8033E9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463D8814-1CDA-4B31-8C33-5B409640F899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D1368D09-DA97-447D-B92C-3B8558B957E5}"/>
              </a:ext>
            </a:extLst>
          </p:cNvPr>
          <p:cNvSpPr/>
          <p:nvPr/>
        </p:nvSpPr>
        <p:spPr>
          <a:xfrm>
            <a:off x="685800" y="42672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593907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DB8B616-C6D3-4814-81F7-088BC3B495E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2568FB0-92EE-4A9F-8E4A-56A94B49150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현재 수량을 기준 </a:t>
            </a:r>
            <a:r>
              <a:rPr lang="en-US" altLang="ko-KR"/>
              <a:t>10</a:t>
            </a:r>
            <a:r>
              <a:rPr lang="ko-KR" altLang="en-US"/>
              <a:t>개와 비교하기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8184ADD-C41D-40C3-91F2-6AEA9595277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E46134B-E858-4062-967E-4D20DA1349C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3B73B80-F8C6-4CD8-9B18-C24EE735503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098</a:t>
            </a:r>
            <a:endParaRPr/>
          </a:p>
        </p:txBody>
      </p:sp>
      <p:graphicFrame>
        <p:nvGraphicFramePr>
          <p:cNvPr id="10" name="Chart"/>
          <p:cNvGraphicFramePr/>
          <p:nvPr/>
        </p:nvGraphicFramePr>
        <p:xfrm>
          <a:off x="685800" y="2133600"/>
          <a:ext cx="6096000" cy="3962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Viz">
            <a:extLst>
              <a:ext uri="{FF2B5EF4-FFF2-40B4-BE49-F238E27FC236}">
                <a16:creationId xmlns:a16="http://schemas.microsoft.com/office/drawing/2014/main" id="{7B00611F-841F-4493-8AC7-EFA76076F191}"/>
              </a:ext>
            </a:extLst>
          </p:cNvPr>
          <p:cNvSpPr/>
          <p:nvPr/>
        </p:nvSpPr>
        <p:spPr>
          <a:xfrm>
            <a:off x="685800" y="1828800"/>
            <a:ext cx="6096000" cy="279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88900" tIns="25400" rIns="101600" bIns="25400" rtlCol="0" anchor="ctr" anchorCtr="0">
            <a:noAutofit/>
          </a:bodyPr>
          <a:lstStyle/>
          <a:p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구역별 장갑 현재 수량 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(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기준 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10</a:t>
            </a:r>
            <a:r>
              <a:rPr lang="ko-KR" altLang="en-US" sz="1400">
                <a:solidFill>
                  <a:srgbClr val="5B6B74"/>
                </a:solidFill>
                <a:latin typeface="Noto Sans KR"/>
                <a:ea typeface="Noto Sans KR"/>
              </a:rPr>
              <a:t>개</a:t>
            </a:r>
            <a:r>
              <a:rPr lang="en-US" altLang="ko-KR" sz="1400">
                <a:solidFill>
                  <a:srgbClr val="5B6B74"/>
                </a:solidFill>
                <a:latin typeface="Noto Sans KR"/>
                <a:ea typeface="Noto Sans KR"/>
              </a:rPr>
              <a:t>)</a:t>
            </a:r>
            <a:endParaRPr lang="ko-KR" altLang="en-US" sz="14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6" name="Threshold">
            <a:extLst>
              <a:ext uri="{FF2B5EF4-FFF2-40B4-BE49-F238E27FC236}">
                <a16:creationId xmlns:a16="http://schemas.microsoft.com/office/drawing/2014/main" id="{48E01E36-C513-4A58-A701-782669716CFF}"/>
              </a:ext>
            </a:extLst>
          </p:cNvPr>
          <p:cNvSpPr/>
          <p:nvPr/>
        </p:nvSpPr>
        <p:spPr>
          <a:xfrm>
            <a:off x="1016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Threshold">
            <a:extLst>
              <a:ext uri="{FF2B5EF4-FFF2-40B4-BE49-F238E27FC236}">
                <a16:creationId xmlns:a16="http://schemas.microsoft.com/office/drawing/2014/main" id="{8FBB3464-1945-4EB2-8455-AB1BAEBFD8C8}"/>
              </a:ext>
            </a:extLst>
          </p:cNvPr>
          <p:cNvSpPr/>
          <p:nvPr/>
        </p:nvSpPr>
        <p:spPr>
          <a:xfrm>
            <a:off x="1270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Threshold">
            <a:extLst>
              <a:ext uri="{FF2B5EF4-FFF2-40B4-BE49-F238E27FC236}">
                <a16:creationId xmlns:a16="http://schemas.microsoft.com/office/drawing/2014/main" id="{C029530D-1742-4329-A4B5-D96731EE58E3}"/>
              </a:ext>
            </a:extLst>
          </p:cNvPr>
          <p:cNvSpPr/>
          <p:nvPr/>
        </p:nvSpPr>
        <p:spPr>
          <a:xfrm>
            <a:off x="1524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Threshold">
            <a:extLst>
              <a:ext uri="{FF2B5EF4-FFF2-40B4-BE49-F238E27FC236}">
                <a16:creationId xmlns:a16="http://schemas.microsoft.com/office/drawing/2014/main" id="{396AA079-5A3F-428E-9FE1-8DC6B8004BAE}"/>
              </a:ext>
            </a:extLst>
          </p:cNvPr>
          <p:cNvSpPr/>
          <p:nvPr/>
        </p:nvSpPr>
        <p:spPr>
          <a:xfrm>
            <a:off x="1778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Threshold">
            <a:extLst>
              <a:ext uri="{FF2B5EF4-FFF2-40B4-BE49-F238E27FC236}">
                <a16:creationId xmlns:a16="http://schemas.microsoft.com/office/drawing/2014/main" id="{2CE39C66-ACCF-474D-AC4B-BF1838756379}"/>
              </a:ext>
            </a:extLst>
          </p:cNvPr>
          <p:cNvSpPr/>
          <p:nvPr/>
        </p:nvSpPr>
        <p:spPr>
          <a:xfrm>
            <a:off x="2032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Threshold">
            <a:extLst>
              <a:ext uri="{FF2B5EF4-FFF2-40B4-BE49-F238E27FC236}">
                <a16:creationId xmlns:a16="http://schemas.microsoft.com/office/drawing/2014/main" id="{EFCE0195-FC77-4060-B54B-7DF1C2546192}"/>
              </a:ext>
            </a:extLst>
          </p:cNvPr>
          <p:cNvSpPr/>
          <p:nvPr/>
        </p:nvSpPr>
        <p:spPr>
          <a:xfrm>
            <a:off x="2286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Threshold">
            <a:extLst>
              <a:ext uri="{FF2B5EF4-FFF2-40B4-BE49-F238E27FC236}">
                <a16:creationId xmlns:a16="http://schemas.microsoft.com/office/drawing/2014/main" id="{EF28A9FF-F25E-449D-AF5E-B9054E18BE37}"/>
              </a:ext>
            </a:extLst>
          </p:cNvPr>
          <p:cNvSpPr/>
          <p:nvPr/>
        </p:nvSpPr>
        <p:spPr>
          <a:xfrm>
            <a:off x="2540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Threshold">
            <a:extLst>
              <a:ext uri="{FF2B5EF4-FFF2-40B4-BE49-F238E27FC236}">
                <a16:creationId xmlns:a16="http://schemas.microsoft.com/office/drawing/2014/main" id="{6194CB08-903B-45ED-A279-BFD61DF7ED51}"/>
              </a:ext>
            </a:extLst>
          </p:cNvPr>
          <p:cNvSpPr/>
          <p:nvPr/>
        </p:nvSpPr>
        <p:spPr>
          <a:xfrm>
            <a:off x="2794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Threshold">
            <a:extLst>
              <a:ext uri="{FF2B5EF4-FFF2-40B4-BE49-F238E27FC236}">
                <a16:creationId xmlns:a16="http://schemas.microsoft.com/office/drawing/2014/main" id="{165E2C07-6238-478E-B0C2-7166BB602431}"/>
              </a:ext>
            </a:extLst>
          </p:cNvPr>
          <p:cNvSpPr/>
          <p:nvPr/>
        </p:nvSpPr>
        <p:spPr>
          <a:xfrm>
            <a:off x="3048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Threshold">
            <a:extLst>
              <a:ext uri="{FF2B5EF4-FFF2-40B4-BE49-F238E27FC236}">
                <a16:creationId xmlns:a16="http://schemas.microsoft.com/office/drawing/2014/main" id="{53C569F5-3079-4762-BB39-945889D13E0A}"/>
              </a:ext>
            </a:extLst>
          </p:cNvPr>
          <p:cNvSpPr/>
          <p:nvPr/>
        </p:nvSpPr>
        <p:spPr>
          <a:xfrm>
            <a:off x="3302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Threshold">
            <a:extLst>
              <a:ext uri="{FF2B5EF4-FFF2-40B4-BE49-F238E27FC236}">
                <a16:creationId xmlns:a16="http://schemas.microsoft.com/office/drawing/2014/main" id="{63290629-5F1E-42BC-843A-2A6ACD75379C}"/>
              </a:ext>
            </a:extLst>
          </p:cNvPr>
          <p:cNvSpPr/>
          <p:nvPr/>
        </p:nvSpPr>
        <p:spPr>
          <a:xfrm>
            <a:off x="3556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Threshold">
            <a:extLst>
              <a:ext uri="{FF2B5EF4-FFF2-40B4-BE49-F238E27FC236}">
                <a16:creationId xmlns:a16="http://schemas.microsoft.com/office/drawing/2014/main" id="{3B525529-A399-4B24-99D5-7CA1832E037E}"/>
              </a:ext>
            </a:extLst>
          </p:cNvPr>
          <p:cNvSpPr/>
          <p:nvPr/>
        </p:nvSpPr>
        <p:spPr>
          <a:xfrm>
            <a:off x="3810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Threshold">
            <a:extLst>
              <a:ext uri="{FF2B5EF4-FFF2-40B4-BE49-F238E27FC236}">
                <a16:creationId xmlns:a16="http://schemas.microsoft.com/office/drawing/2014/main" id="{9903B914-1025-4704-AF02-0B3886063A26}"/>
              </a:ext>
            </a:extLst>
          </p:cNvPr>
          <p:cNvSpPr/>
          <p:nvPr/>
        </p:nvSpPr>
        <p:spPr>
          <a:xfrm>
            <a:off x="4064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Threshold">
            <a:extLst>
              <a:ext uri="{FF2B5EF4-FFF2-40B4-BE49-F238E27FC236}">
                <a16:creationId xmlns:a16="http://schemas.microsoft.com/office/drawing/2014/main" id="{A6A18991-ECD2-49D2-B9BF-A7FF7321FB13}"/>
              </a:ext>
            </a:extLst>
          </p:cNvPr>
          <p:cNvSpPr/>
          <p:nvPr/>
        </p:nvSpPr>
        <p:spPr>
          <a:xfrm>
            <a:off x="4318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Threshold">
            <a:extLst>
              <a:ext uri="{FF2B5EF4-FFF2-40B4-BE49-F238E27FC236}">
                <a16:creationId xmlns:a16="http://schemas.microsoft.com/office/drawing/2014/main" id="{CB3AB707-8092-4996-9E65-9157ED2B83FE}"/>
              </a:ext>
            </a:extLst>
          </p:cNvPr>
          <p:cNvSpPr/>
          <p:nvPr/>
        </p:nvSpPr>
        <p:spPr>
          <a:xfrm>
            <a:off x="4572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Threshold">
            <a:extLst>
              <a:ext uri="{FF2B5EF4-FFF2-40B4-BE49-F238E27FC236}">
                <a16:creationId xmlns:a16="http://schemas.microsoft.com/office/drawing/2014/main" id="{F2F0B284-228A-4A7A-B23D-3BBA36B7DFED}"/>
              </a:ext>
            </a:extLst>
          </p:cNvPr>
          <p:cNvSpPr/>
          <p:nvPr/>
        </p:nvSpPr>
        <p:spPr>
          <a:xfrm>
            <a:off x="4826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Threshold">
            <a:extLst>
              <a:ext uri="{FF2B5EF4-FFF2-40B4-BE49-F238E27FC236}">
                <a16:creationId xmlns:a16="http://schemas.microsoft.com/office/drawing/2014/main" id="{942CDF13-07C5-4BD9-97FD-CFB4A5DFC1DF}"/>
              </a:ext>
            </a:extLst>
          </p:cNvPr>
          <p:cNvSpPr/>
          <p:nvPr/>
        </p:nvSpPr>
        <p:spPr>
          <a:xfrm>
            <a:off x="5080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Threshold">
            <a:extLst>
              <a:ext uri="{FF2B5EF4-FFF2-40B4-BE49-F238E27FC236}">
                <a16:creationId xmlns:a16="http://schemas.microsoft.com/office/drawing/2014/main" id="{4DF27B6E-7560-48AB-B0B7-4912A724372F}"/>
              </a:ext>
            </a:extLst>
          </p:cNvPr>
          <p:cNvSpPr/>
          <p:nvPr/>
        </p:nvSpPr>
        <p:spPr>
          <a:xfrm>
            <a:off x="5334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Threshold">
            <a:extLst>
              <a:ext uri="{FF2B5EF4-FFF2-40B4-BE49-F238E27FC236}">
                <a16:creationId xmlns:a16="http://schemas.microsoft.com/office/drawing/2014/main" id="{FA531C03-151A-4D10-B9A2-045B0EEB764D}"/>
              </a:ext>
            </a:extLst>
          </p:cNvPr>
          <p:cNvSpPr/>
          <p:nvPr/>
        </p:nvSpPr>
        <p:spPr>
          <a:xfrm>
            <a:off x="5588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Threshold">
            <a:extLst>
              <a:ext uri="{FF2B5EF4-FFF2-40B4-BE49-F238E27FC236}">
                <a16:creationId xmlns:a16="http://schemas.microsoft.com/office/drawing/2014/main" id="{BA9B9B47-66F0-47D3-8623-9DA7E9127799}"/>
              </a:ext>
            </a:extLst>
          </p:cNvPr>
          <p:cNvSpPr/>
          <p:nvPr/>
        </p:nvSpPr>
        <p:spPr>
          <a:xfrm>
            <a:off x="5842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Threshold">
            <a:extLst>
              <a:ext uri="{FF2B5EF4-FFF2-40B4-BE49-F238E27FC236}">
                <a16:creationId xmlns:a16="http://schemas.microsoft.com/office/drawing/2014/main" id="{AF374733-0645-426A-984D-F5BB31274DA5}"/>
              </a:ext>
            </a:extLst>
          </p:cNvPr>
          <p:cNvSpPr/>
          <p:nvPr/>
        </p:nvSpPr>
        <p:spPr>
          <a:xfrm>
            <a:off x="6096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1" name="Threshold">
            <a:extLst>
              <a:ext uri="{FF2B5EF4-FFF2-40B4-BE49-F238E27FC236}">
                <a16:creationId xmlns:a16="http://schemas.microsoft.com/office/drawing/2014/main" id="{2FEF94F6-F6E8-47B4-8EF7-49C01CCA5281}"/>
              </a:ext>
            </a:extLst>
          </p:cNvPr>
          <p:cNvSpPr/>
          <p:nvPr/>
        </p:nvSpPr>
        <p:spPr>
          <a:xfrm>
            <a:off x="6350000" y="3012440"/>
            <a:ext cx="152400" cy="2794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5B2D6B4C-030E-49EA-9AE9-265D5AC360FC}"/>
              </a:ext>
            </a:extLst>
          </p:cNvPr>
          <p:cNvSpPr/>
          <p:nvPr/>
        </p:nvSpPr>
        <p:spPr>
          <a:xfrm>
            <a:off x="5334000" y="2720340"/>
            <a:ext cx="1397000" cy="254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pPr algn="r"/>
            <a:r>
              <a:rPr lang="ko-KR" altLang="en-US" sz="1300" b="1">
                <a:solidFill>
                  <a:srgbClr val="08776D"/>
                </a:solidFill>
                <a:latin typeface="Noto Sans KR"/>
                <a:ea typeface="Noto Sans KR"/>
              </a:rPr>
              <a:t>기준 </a:t>
            </a:r>
            <a:r>
              <a:rPr lang="en-US" altLang="ko-KR" sz="1300" b="1">
                <a:solidFill>
                  <a:srgbClr val="08776D"/>
                </a:solidFill>
                <a:latin typeface="Noto Sans KR"/>
                <a:ea typeface="Noto Sans KR"/>
              </a:rPr>
              <a:t>10</a:t>
            </a:r>
            <a:r>
              <a:rPr lang="ko-KR" altLang="en-US" sz="1300" b="1">
                <a:solidFill>
                  <a:srgbClr val="08776D"/>
                </a:solidFill>
                <a:latin typeface="Noto Sans KR"/>
                <a:ea typeface="Noto Sans KR"/>
              </a:rPr>
              <a:t>개</a:t>
            </a: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84F0B0B4-6573-42B0-B6BF-CC545684ED1B}"/>
              </a:ext>
            </a:extLst>
          </p:cNvPr>
          <p:cNvSpPr/>
          <p:nvPr/>
        </p:nvSpPr>
        <p:spPr>
          <a:xfrm>
            <a:off x="7112000" y="21336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AccentBar">
            <a:extLst>
              <a:ext uri="{FF2B5EF4-FFF2-40B4-BE49-F238E27FC236}">
                <a16:creationId xmlns:a16="http://schemas.microsoft.com/office/drawing/2014/main" id="{C904859C-EB96-48F7-AE76-A6012BA20470}"/>
              </a:ext>
            </a:extLst>
          </p:cNvPr>
          <p:cNvSpPr/>
          <p:nvPr/>
        </p:nvSpPr>
        <p:spPr>
          <a:xfrm>
            <a:off x="7112000" y="2133600"/>
            <a:ext cx="76200" cy="1193800"/>
          </a:xfrm>
          <a:prstGeom prst="rect">
            <a:avLst/>
          </a:prstGeom>
          <a:solidFill>
            <a:srgbClr val="A6451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4EFB3F97-8AC4-4C9C-91C2-DC1449CE15C2}"/>
              </a:ext>
            </a:extLst>
          </p:cNvPr>
          <p:cNvSpPr/>
          <p:nvPr/>
        </p:nvSpPr>
        <p:spPr>
          <a:xfrm>
            <a:off x="7340600" y="22352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A64512"/>
                </a:solidFill>
                <a:latin typeface="Noto Sans KR"/>
                <a:ea typeface="Noto Sans KR"/>
              </a:rPr>
              <a:t>A</a:t>
            </a:r>
            <a:r>
              <a:rPr lang="ko-KR" altLang="en-US" b="1">
                <a:solidFill>
                  <a:srgbClr val="A64512"/>
                </a:solidFill>
                <a:latin typeface="Noto Sans KR"/>
                <a:ea typeface="Noto Sans KR"/>
              </a:rPr>
              <a:t>구역 </a:t>
            </a:r>
            <a:r>
              <a:rPr lang="en-US" altLang="ko-KR" b="1">
                <a:solidFill>
                  <a:srgbClr val="A64512"/>
                </a:solidFill>
                <a:latin typeface="Noto Sans KR"/>
                <a:ea typeface="Noto Sans KR"/>
              </a:rPr>
              <a:t>· 4</a:t>
            </a:r>
            <a:r>
              <a:rPr lang="ko-KR" altLang="en-US" b="1">
                <a:solidFill>
                  <a:srgbClr val="A64512"/>
                </a:solidFill>
                <a:latin typeface="Noto Sans KR"/>
                <a:ea typeface="Noto Sans KR"/>
              </a:rPr>
              <a:t>개 부족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5760D26F-C3C2-49D2-8884-1B47BE89F6F0}"/>
              </a:ext>
            </a:extLst>
          </p:cNvPr>
          <p:cNvSpPr/>
          <p:nvPr/>
        </p:nvSpPr>
        <p:spPr>
          <a:xfrm>
            <a:off x="7340600" y="26162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10 − 6 = 4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A1B7A715-50A6-4A46-9683-A340A689F7BF}"/>
              </a:ext>
            </a:extLst>
          </p:cNvPr>
          <p:cNvSpPr/>
          <p:nvPr/>
        </p:nvSpPr>
        <p:spPr>
          <a:xfrm>
            <a:off x="7112000" y="34544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AccentBar">
            <a:extLst>
              <a:ext uri="{FF2B5EF4-FFF2-40B4-BE49-F238E27FC236}">
                <a16:creationId xmlns:a16="http://schemas.microsoft.com/office/drawing/2014/main" id="{6933DDEF-FCE3-4B0C-91AA-702779BEFC6C}"/>
              </a:ext>
            </a:extLst>
          </p:cNvPr>
          <p:cNvSpPr/>
          <p:nvPr/>
        </p:nvSpPr>
        <p:spPr>
          <a:xfrm>
            <a:off x="7112000" y="3454400"/>
            <a:ext cx="76200" cy="11938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4704569D-F374-44E7-A586-2671B1D08408}"/>
              </a:ext>
            </a:extLst>
          </p:cNvPr>
          <p:cNvSpPr/>
          <p:nvPr/>
        </p:nvSpPr>
        <p:spPr>
          <a:xfrm>
            <a:off x="7340600" y="35560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B</a:t>
            </a:r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구역 </a:t>
            </a:r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· </a:t>
            </a:r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부족 없음</a:t>
            </a:r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D94C2911-4BB6-4809-A102-0C33F99CA680}"/>
              </a:ext>
            </a:extLst>
          </p:cNvPr>
          <p:cNvSpPr/>
          <p:nvPr/>
        </p:nvSpPr>
        <p:spPr>
          <a:xfrm>
            <a:off x="7340600" y="39370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현재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10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개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=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기준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10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개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11D050BF-7318-4FCB-8CDA-8504B16A9261}"/>
              </a:ext>
            </a:extLst>
          </p:cNvPr>
          <p:cNvSpPr/>
          <p:nvPr/>
        </p:nvSpPr>
        <p:spPr>
          <a:xfrm>
            <a:off x="7112000" y="4775200"/>
            <a:ext cx="4394200" cy="11938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2" name="AccentBar">
            <a:extLst>
              <a:ext uri="{FF2B5EF4-FFF2-40B4-BE49-F238E27FC236}">
                <a16:creationId xmlns:a16="http://schemas.microsoft.com/office/drawing/2014/main" id="{1EC91B8F-8607-41AD-B791-CE7ECB5C0B86}"/>
              </a:ext>
            </a:extLst>
          </p:cNvPr>
          <p:cNvSpPr/>
          <p:nvPr/>
        </p:nvSpPr>
        <p:spPr>
          <a:xfrm>
            <a:off x="7112000" y="4775200"/>
            <a:ext cx="76200" cy="1193800"/>
          </a:xfrm>
          <a:prstGeom prst="rect">
            <a:avLst/>
          </a:prstGeom>
          <a:solidFill>
            <a:srgbClr val="5B6B7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Viz">
            <a:extLst>
              <a:ext uri="{FF2B5EF4-FFF2-40B4-BE49-F238E27FC236}">
                <a16:creationId xmlns:a16="http://schemas.microsoft.com/office/drawing/2014/main" id="{B0ECA667-CDCA-4385-AF39-706F3BD41038}"/>
              </a:ext>
            </a:extLst>
          </p:cNvPr>
          <p:cNvSpPr/>
          <p:nvPr/>
        </p:nvSpPr>
        <p:spPr>
          <a:xfrm>
            <a:off x="7340600" y="4876800"/>
            <a:ext cx="4064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5B6B74"/>
                </a:solidFill>
                <a:latin typeface="Noto Sans KR"/>
                <a:ea typeface="Noto Sans KR"/>
              </a:rPr>
              <a:t>C</a:t>
            </a:r>
            <a:r>
              <a:rPr lang="ko-KR" altLang="en-US" b="1">
                <a:solidFill>
                  <a:srgbClr val="5B6B74"/>
                </a:solidFill>
                <a:latin typeface="Noto Sans KR"/>
                <a:ea typeface="Noto Sans KR"/>
              </a:rPr>
              <a:t>구역 </a:t>
            </a:r>
            <a:r>
              <a:rPr lang="en-US" altLang="ko-KR" b="1">
                <a:solidFill>
                  <a:srgbClr val="5B6B74"/>
                </a:solidFill>
                <a:latin typeface="Noto Sans KR"/>
                <a:ea typeface="Noto Sans KR"/>
              </a:rPr>
              <a:t>· </a:t>
            </a:r>
            <a:r>
              <a:rPr lang="ko-KR" altLang="en-US" b="1">
                <a:solidFill>
                  <a:srgbClr val="5B6B74"/>
                </a:solidFill>
                <a:latin typeface="Noto Sans KR"/>
                <a:ea typeface="Noto Sans KR"/>
              </a:rPr>
              <a:t>판정 보류</a:t>
            </a:r>
          </a:p>
        </p:txBody>
      </p:sp>
      <p:sp>
        <p:nvSpPr>
          <p:cNvPr id="44" name="Viz">
            <a:extLst>
              <a:ext uri="{FF2B5EF4-FFF2-40B4-BE49-F238E27FC236}">
                <a16:creationId xmlns:a16="http://schemas.microsoft.com/office/drawing/2014/main" id="{747BE622-1FBF-412E-BBCE-8B7AEA797CAC}"/>
              </a:ext>
            </a:extLst>
          </p:cNvPr>
          <p:cNvSpPr/>
          <p:nvPr/>
        </p:nvSpPr>
        <p:spPr>
          <a:xfrm>
            <a:off x="7340600" y="5257800"/>
            <a:ext cx="4064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27000" tIns="25400" rIns="101600" bIns="25400" rtlCol="0" anchor="t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현재 수량 미확인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 0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으로 채우지 않고 확인을 요청합니다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08787998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F8E9173-5A0B-4996-9FCB-7ECE76CD10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F8CFFFA-9F6A-4B60-9D58-ED5239C90B2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5ABAE5-0814-41D7-AAF7-3E5A423F6EF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부족 물품표 만들기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2BD20D2-98C2-4B54-B3C0-901461D86A2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FEBB34C-693F-4716-9021-6DA27A2BA345}"/>
              </a:ext>
            </a:extLst>
          </p:cNvPr>
          <p:cNvSpPr>
            <a:spLocks noGrp="1"/>
          </p:cNvSpPr>
          <p:nvPr/>
        </p:nvSpPr>
        <p:spPr>
          <a:xfrm>
            <a:off x="889000" y="22352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1DD0735-E96B-4C77-BE27-786C719153C3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장갑 현재 6개·기준 10개, 마스크 현재 15개·기준 10개입니다.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2793861-0EEC-4825-BBC4-2FF597417500}"/>
              </a:ext>
            </a:extLst>
          </p:cNvPr>
          <p:cNvSpPr>
            <a:spLocks noGrp="1"/>
          </p:cNvSpPr>
          <p:nvPr/>
        </p:nvSpPr>
        <p:spPr>
          <a:xfrm>
            <a:off x="889000" y="33274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0513D36-44AD-483F-8849-206EA1CDAE8B}"/>
              </a:ext>
            </a:extLst>
          </p:cNvPr>
          <p:cNvSpPr>
            <a:spLocks noGrp="1"/>
          </p:cNvSpPr>
          <p:nvPr/>
        </p:nvSpPr>
        <p:spPr>
          <a:xfrm>
            <a:off x="1524000" y="3124200"/>
            <a:ext cx="7493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미확인 수량의 물품은 별도로 보류하고 임의로 0을 넣지 않습니다.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056ABE5-A07A-4D56-AFAC-9726794E9878}"/>
              </a:ext>
            </a:extLst>
          </p:cNvPr>
          <p:cNvSpPr>
            <a:spLocks noGrp="1"/>
          </p:cNvSpPr>
          <p:nvPr/>
        </p:nvSpPr>
        <p:spPr>
          <a:xfrm>
            <a:off x="889000" y="44196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1B347A-2D4F-4F7F-8842-59E5BE7FE7BC}"/>
              </a:ext>
            </a:extLst>
          </p:cNvPr>
          <p:cNvSpPr>
            <a:spLocks noGrp="1"/>
          </p:cNvSpPr>
          <p:nvPr/>
        </p:nvSpPr>
        <p:spPr>
          <a:xfrm>
            <a:off x="1524000" y="4216400"/>
            <a:ext cx="7493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상품·현재수량·기준수량·부족수량을 표로 쓴 뒤 CSV로 옮기세요.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6CC14F3-CDC8-4AB3-818B-BA2AAF6C9289}"/>
              </a:ext>
            </a:extLst>
          </p:cNvPr>
          <p:cNvSpPr>
            <a:spLocks noGrp="1"/>
          </p:cNvSpPr>
          <p:nvPr/>
        </p:nvSpPr>
        <p:spPr>
          <a:xfrm>
            <a:off x="889000" y="55118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04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8D69101-14EA-4031-A047-99A5286A0D67}"/>
              </a:ext>
            </a:extLst>
          </p:cNvPr>
          <p:cNvSpPr>
            <a:spLocks noGrp="1"/>
          </p:cNvSpPr>
          <p:nvPr/>
        </p:nvSpPr>
        <p:spPr>
          <a:xfrm>
            <a:off x="1524000" y="5308600"/>
            <a:ext cx="7493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부족수량은 기준보다 적을 때만 기준−현재로 계산합니다.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C978570-899B-410C-BF80-8320A782094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D17621EF-8720-4F52-86A0-7DBECBCBBA72}"/>
              </a:ext>
            </a:extLst>
          </p:cNvPr>
          <p:cNvSpPr/>
          <p:nvPr/>
        </p:nvSpPr>
        <p:spPr>
          <a:xfrm>
            <a:off x="685800" y="2032000"/>
            <a:ext cx="8534400" cy="914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RowCard">
            <a:extLst>
              <a:ext uri="{FF2B5EF4-FFF2-40B4-BE49-F238E27FC236}">
                <a16:creationId xmlns:a16="http://schemas.microsoft.com/office/drawing/2014/main" id="{E0984278-5921-4CD3-8B90-945CDB690F9B}"/>
              </a:ext>
            </a:extLst>
          </p:cNvPr>
          <p:cNvSpPr/>
          <p:nvPr/>
        </p:nvSpPr>
        <p:spPr>
          <a:xfrm>
            <a:off x="685800" y="3124200"/>
            <a:ext cx="8534400" cy="914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RowCard">
            <a:extLst>
              <a:ext uri="{FF2B5EF4-FFF2-40B4-BE49-F238E27FC236}">
                <a16:creationId xmlns:a16="http://schemas.microsoft.com/office/drawing/2014/main" id="{803498BE-9388-46BD-BBED-436CC1E3B72A}"/>
              </a:ext>
            </a:extLst>
          </p:cNvPr>
          <p:cNvSpPr/>
          <p:nvPr/>
        </p:nvSpPr>
        <p:spPr>
          <a:xfrm>
            <a:off x="685800" y="4216400"/>
            <a:ext cx="8534400" cy="914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RowCard">
            <a:extLst>
              <a:ext uri="{FF2B5EF4-FFF2-40B4-BE49-F238E27FC236}">
                <a16:creationId xmlns:a16="http://schemas.microsoft.com/office/drawing/2014/main" id="{B93417A0-E37E-49E6-95BF-903F70843D5F}"/>
              </a:ext>
            </a:extLst>
          </p:cNvPr>
          <p:cNvSpPr/>
          <p:nvPr/>
        </p:nvSpPr>
        <p:spPr>
          <a:xfrm>
            <a:off x="685800" y="5308600"/>
            <a:ext cx="8534400" cy="9144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F297AB7-C23F-4E25-A85F-CFF2891187D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099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0119186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2C07A4-C5D5-47D2-8AB3-FEB37294531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A4A5921-A8B1-413A-96C1-072C8E0DAE3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부족 물품표 만들기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4B01190-683C-4685-B6CA-8B0C2856FB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0BB1FE2-8F4A-415A-9410-DEF15A5B7D9C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장갑은 10−6=4개 부족, 마스크는 부족 0개입니다.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D3F2234-877F-4BEB-AA50-839DE2E7445C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미확인은 현재 수량 확인 후 계산합니다. 미확인과 0은 다릅니다.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5C7928-F9BB-4099-8B37-51312C68185A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08776D"/>
                </a:solidFill>
                <a:latin typeface="Noto Sans KR"/>
                <a:ea typeface="Noto Sans KR"/>
              </a:rPr>
              <a:t>장갑 행 예:</a:t>
            </a: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 장갑,6,10,4. 헤더 네 칸과 데이터 네 칸을 맞춥니다.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2932955-0204-4EC4-8570-C383E1A564C1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CSV와 표에서 수량·단위·빈값의 뜻이 같은지 대조합니다.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E6EC2E-4724-43DD-9B09-FA0C61243E9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98EC919-9DAB-412D-B086-AF118B9D0EC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100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CBDD1B57-B642-4120-B6EF-1354095031B5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E4B4ABCE-0496-4017-B0B4-1DE2964D3D95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CBBEB12B-4D21-48E8-AAE0-A91914979C56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53A5E685-96CE-4E63-B8F1-4AD8BD501560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249703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E0D9D07-CF6C-4B72-8570-B1E11EC21B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5879509-BE33-4BB9-B558-535B59930FD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80E69F1-D972-442C-B896-B2B1F195918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새 문제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441DE58-F7DB-4D2C-A793-A5F1667650B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BD29446-94BA-4106-B151-E5BC016AA5CC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27C1885-762C-4321-8596-EC940853B394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추가 복습: 충전율 E01=80%, E02=미확인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466A58B-ED73-4D3A-BD45-A6110D39CC7E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4CE06C0-DCA2-485B-B114-975908BD75EE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E03=0%, 기준은 20% 미만입니다.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B7CC860-C2D3-4D18-9025-9363F36C8E87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80DD05B-8F16-4580-AC5B-007E9464E18F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>
                <a:solidFill>
                  <a:srgbClr val="FFFFFF"/>
                </a:solidFill>
              </a:rPr>
              <a:t>충전 대상과 보류를 구별하세요.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62FEE49-5EAC-4A03-AF57-19EE731154E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D78FB0BE-24B4-46BC-B586-7A2DEF612EAB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86E06AE8-B0F5-47E2-B0B6-685599578C0B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A34B14BA-C1FF-479D-BBC8-F3D6F7BCC147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F8B4D27-7A60-4F21-A9CB-A7CF4DC1709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101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446509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6365820-BD8D-410A-A6A8-DF71E954CE2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1ABFAEA-68CB-4669-B495-9F99332F8EE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충전 대상과 확인할 장치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BE293AF-8FAE-43B4-B771-86FAEAEB810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D23CB06-C713-4027-A541-425612E1C506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E01은 대상 아님, E03은 대상입니다.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CEAFAF6-2D3A-4D70-B7B8-C7B97EB80F58}"/>
              </a:ext>
            </a:extLst>
          </p:cNvPr>
          <p:cNvSpPr>
            <a:spLocks noGrp="1"/>
          </p:cNvSpPr>
          <p:nvPr/>
        </p:nvSpPr>
        <p:spPr>
          <a:xfrm>
            <a:off x="685800" y="3149600"/>
            <a:ext cx="10820400" cy="96520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172E3A"/>
                </a:solidFill>
                <a:latin typeface="Noto Sans KR"/>
                <a:ea typeface="Noto Sans KR"/>
              </a:rPr>
              <a:t>E02는 보류하며 임의로 0을 채우지 않습니다.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F3E08B1-3C67-4960-B14A-3940EC161CB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F59407A-C718-4A84-86CF-692C221A438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102</a:t>
            </a:r>
            <a:endParaRPr/>
          </a:p>
        </p:txBody>
      </p:sp>
      <p:sp>
        <p:nvSpPr>
          <p:cNvPr id="10" name="AccentBar">
            <a:extLst>
              <a:ext uri="{FF2B5EF4-FFF2-40B4-BE49-F238E27FC236}">
                <a16:creationId xmlns:a16="http://schemas.microsoft.com/office/drawing/2014/main" id="{5800D845-24EE-49A5-B07B-FD5C153FF210}"/>
              </a:ext>
            </a:extLst>
          </p:cNvPr>
          <p:cNvSpPr/>
          <p:nvPr/>
        </p:nvSpPr>
        <p:spPr>
          <a:xfrm>
            <a:off x="685800" y="20320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AccentBar">
            <a:extLst>
              <a:ext uri="{FF2B5EF4-FFF2-40B4-BE49-F238E27FC236}">
                <a16:creationId xmlns:a16="http://schemas.microsoft.com/office/drawing/2014/main" id="{F13269A4-2529-4D28-ADA0-B1E5AE9CB079}"/>
              </a:ext>
            </a:extLst>
          </p:cNvPr>
          <p:cNvSpPr/>
          <p:nvPr/>
        </p:nvSpPr>
        <p:spPr>
          <a:xfrm>
            <a:off x="685800" y="3149600"/>
            <a:ext cx="76200" cy="9652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992934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6</a:t>
            </a:r>
            <a:r>
              <a:rPr lang="ko-KR" altLang="en-US"/>
              <a:t>교시   도전 과제 </a:t>
            </a:r>
            <a:r>
              <a:rPr lang="en-US" altLang="ko-KR"/>
              <a:t>· </a:t>
            </a:r>
            <a:r>
              <a:rPr lang="ko-KR" altLang="en-US"/>
              <a:t>빨리 끝낸 분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도전 </a:t>
            </a:r>
            <a:r>
              <a:rPr lang="en-US" altLang="ko-KR"/>
              <a:t>· </a:t>
            </a:r>
            <a:r>
              <a:rPr lang="ko-KR" altLang="en-US"/>
              <a:t>회의실 예약 자료 설계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문제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오늘 오후 비어 있는 회의실은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?'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에 답할 자료를 설계합니다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조건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한 행의 단위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키를 정하고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CSV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헤더를 쓰세요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힌트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회의실 하나의 한 시간대가 한 행입니다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00" b="1">
                <a:solidFill>
                  <a:srgbClr val="C2571A"/>
                </a:solidFill>
                <a:latin typeface="Noto Sans KR"/>
                <a:ea typeface="Noto Sans KR"/>
              </a:rPr>
              <a:t>풀이 예</a:t>
            </a:r>
            <a:r>
              <a:rPr lang="en-US" altLang="ko-KR" sz="1700" b="1">
                <a:solidFill>
                  <a:srgbClr val="C2571A"/>
                </a:solidFill>
                <a:latin typeface="Noto Sans KR"/>
                <a:ea typeface="Noto Sans KR"/>
              </a:rPr>
              <a:t>: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 room,date,slot,status · 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키 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= room+date+slot · status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는 예약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/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비어 있음</a:t>
            </a:r>
            <a:r>
              <a:rPr lang="en-US" altLang="ko-KR" sz="1700">
                <a:solidFill>
                  <a:srgbClr val="5B6B74"/>
                </a:solidFill>
                <a:latin typeface="Noto Sans KR"/>
                <a:ea typeface="Noto Sans KR"/>
              </a:rPr>
              <a:t>/</a:t>
            </a:r>
            <a:r>
              <a:rPr lang="ko-KR" altLang="en-US" sz="1700">
                <a:solidFill>
                  <a:srgbClr val="5B6B74"/>
                </a:solidFill>
                <a:latin typeface="Noto Sans KR"/>
                <a:ea typeface="Noto Sans KR"/>
              </a:rPr>
              <a:t>확인 필요</a:t>
            </a:r>
            <a:endParaRPr sz="1700">
              <a:solidFill>
                <a:srgbClr val="5B6B74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103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19677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2AB305-8F64-4980-9FAF-BC360362A9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E29FF8E-C351-466B-B640-7D9B6A5358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6</a:t>
            </a:r>
            <a:r>
              <a:rPr lang="ko-KR" altLang="en-US"/>
              <a:t>교시 확인 퀴즈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D4A9C6E-2943-44BA-A6DB-DCABE3BB6D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확인 퀴즈 </a:t>
            </a:r>
            <a:r>
              <a:rPr lang="en-US" altLang="ko-KR"/>
              <a:t>· </a:t>
            </a:r>
            <a:r>
              <a:rPr lang="ko-KR" altLang="en-US"/>
              <a:t>설계와 검수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5FAA46-92DA-40F2-8034-3F9D15FA5C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34B94-05FB-4723-BDE2-842C7DC44B91}"/>
              </a:ext>
            </a:extLst>
          </p:cNvPr>
          <p:cNvSpPr>
            <a:spLocks noGrp="1"/>
          </p:cNvSpPr>
          <p:nvPr/>
        </p:nvSpPr>
        <p:spPr>
          <a:xfrm>
            <a:off x="889000" y="22479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756AF40-FA5B-4514-980E-36A250D2D30F}"/>
              </a:ext>
            </a:extLst>
          </p:cNvPr>
          <p:cNvSpPr>
            <a:spLocks noGrp="1"/>
          </p:cNvSpPr>
          <p:nvPr/>
        </p:nvSpPr>
        <p:spPr>
          <a:xfrm>
            <a:off x="1524000" y="20320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2100">
                <a:solidFill>
                  <a:srgbClr val="FFFFFF"/>
                </a:solidFill>
              </a:rPr>
              <a:t>'</a:t>
            </a:r>
            <a:r>
              <a:rPr lang="ko-KR" altLang="en-US" sz="2100">
                <a:solidFill>
                  <a:srgbClr val="FFFFFF"/>
                </a:solidFill>
              </a:rPr>
              <a:t>어느 회의실이 오후에 비어 있나</a:t>
            </a:r>
            <a:r>
              <a:rPr lang="en-US" altLang="ko-KR" sz="2100">
                <a:solidFill>
                  <a:srgbClr val="FFFFFF"/>
                </a:solidFill>
              </a:rPr>
              <a:t>?'</a:t>
            </a:r>
            <a:r>
              <a:rPr lang="ko-KR" altLang="en-US" sz="2100">
                <a:solidFill>
                  <a:srgbClr val="FFFFFF"/>
                </a:solidFill>
              </a:rPr>
              <a:t>에 답하려면 필요한 항목 세 가지는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391FAB-8484-458B-85DF-30B3C473A0FE}"/>
              </a:ext>
            </a:extLst>
          </p:cNvPr>
          <p:cNvSpPr>
            <a:spLocks noGrp="1"/>
          </p:cNvSpPr>
          <p:nvPr/>
        </p:nvSpPr>
        <p:spPr>
          <a:xfrm>
            <a:off x="889000" y="33655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02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DB4828-8F96-4CFE-8217-3A32A78B4FFC}"/>
              </a:ext>
            </a:extLst>
          </p:cNvPr>
          <p:cNvSpPr>
            <a:spLocks noGrp="1"/>
          </p:cNvSpPr>
          <p:nvPr/>
        </p:nvSpPr>
        <p:spPr>
          <a:xfrm>
            <a:off x="1524000" y="31496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2100">
                <a:solidFill>
                  <a:srgbClr val="FFFFFF"/>
                </a:solidFill>
              </a:rPr>
              <a:t>CSV </a:t>
            </a:r>
            <a:r>
              <a:rPr lang="ko-KR" altLang="en-US" sz="2100">
                <a:solidFill>
                  <a:srgbClr val="FFFFFF"/>
                </a:solidFill>
              </a:rPr>
              <a:t>한 행은 </a:t>
            </a:r>
            <a:r>
              <a:rPr lang="en-US" altLang="ko-KR" sz="2100">
                <a:solidFill>
                  <a:srgbClr val="FFFFFF"/>
                </a:solidFill>
              </a:rPr>
              <a:t>JSON</a:t>
            </a:r>
            <a:r>
              <a:rPr lang="ko-KR" altLang="en-US" sz="2100">
                <a:solidFill>
                  <a:srgbClr val="FFFFFF"/>
                </a:solidFill>
              </a:rPr>
              <a:t>에서 무엇에 대응하나요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E468B9-6F76-4360-BCC9-6482DD5FEEFC}"/>
              </a:ext>
            </a:extLst>
          </p:cNvPr>
          <p:cNvSpPr>
            <a:spLocks noGrp="1"/>
          </p:cNvSpPr>
          <p:nvPr/>
        </p:nvSpPr>
        <p:spPr>
          <a:xfrm>
            <a:off x="889000" y="4483100"/>
            <a:ext cx="508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rPr sz="2000" b="1">
                <a:solidFill>
                  <a:srgbClr val="4FD1BC"/>
                </a:solidFill>
              </a:rPr>
              <a:t>03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C3E46D0-B50C-4D1E-A688-081FCB367D94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7493000" cy="939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100">
                <a:solidFill>
                  <a:srgbClr val="FFFFFF"/>
                </a:solidFill>
              </a:rPr>
              <a:t>검수 중 수량 칸이 빈 행을 발견했습니다</a:t>
            </a:r>
            <a:r>
              <a:rPr lang="en-US" altLang="ko-KR" sz="2100">
                <a:solidFill>
                  <a:srgbClr val="FFFFFF"/>
                </a:solidFill>
              </a:rPr>
              <a:t>. </a:t>
            </a:r>
            <a:r>
              <a:rPr lang="ko-KR" altLang="en-US" sz="2100">
                <a:solidFill>
                  <a:srgbClr val="FFFFFF"/>
                </a:solidFill>
              </a:rPr>
              <a:t>어떻게 처리할까요</a:t>
            </a:r>
            <a:r>
              <a:rPr lang="en-US" altLang="ko-KR" sz="2100">
                <a:solidFill>
                  <a:srgbClr val="FFFFFF"/>
                </a:solidFill>
              </a:rPr>
              <a:t>?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6645A2-DAD4-4958-BA5C-867295967A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5" name="RowCard">
            <a:extLst>
              <a:ext uri="{FF2B5EF4-FFF2-40B4-BE49-F238E27FC236}">
                <a16:creationId xmlns:a16="http://schemas.microsoft.com/office/drawing/2014/main" id="{C4FCE9C4-2373-4846-80E5-CF1BCE20CF5E}"/>
              </a:ext>
            </a:extLst>
          </p:cNvPr>
          <p:cNvSpPr/>
          <p:nvPr/>
        </p:nvSpPr>
        <p:spPr>
          <a:xfrm>
            <a:off x="685800" y="20320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RowCard">
            <a:extLst>
              <a:ext uri="{FF2B5EF4-FFF2-40B4-BE49-F238E27FC236}">
                <a16:creationId xmlns:a16="http://schemas.microsoft.com/office/drawing/2014/main" id="{01537A45-E21E-448F-A944-92119A7EFB55}"/>
              </a:ext>
            </a:extLst>
          </p:cNvPr>
          <p:cNvSpPr/>
          <p:nvPr/>
        </p:nvSpPr>
        <p:spPr>
          <a:xfrm>
            <a:off x="685800" y="31496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RowCard">
            <a:extLst>
              <a:ext uri="{FF2B5EF4-FFF2-40B4-BE49-F238E27FC236}">
                <a16:creationId xmlns:a16="http://schemas.microsoft.com/office/drawing/2014/main" id="{A8BA8D4B-D18E-47CE-9D5E-2F9C6B1FB823}"/>
              </a:ext>
            </a:extLst>
          </p:cNvPr>
          <p:cNvSpPr/>
          <p:nvPr/>
        </p:nvSpPr>
        <p:spPr>
          <a:xfrm>
            <a:off x="685800" y="4267200"/>
            <a:ext cx="8534400" cy="939800"/>
          </a:xfrm>
          <a:prstGeom prst="roundRect">
            <a:avLst/>
          </a:prstGeom>
          <a:solidFill>
            <a:srgbClr val="FFFFFF">
              <a:alpha val="10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B6BF4B3-6AB7-4574-9866-EC5F209644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104</a:t>
            </a:r>
            <a:endParaRPr/>
          </a:p>
        </p:txBody>
      </p:sp>
      <p:sp>
        <p:nvSpPr>
          <p:cNvPr id="18" name="QuizHow">
            <a:extLst>
              <a:ext uri="{FF2B5EF4-FFF2-40B4-BE49-F238E27FC236}">
                <a16:creationId xmlns:a16="http://schemas.microsoft.com/office/drawing/2014/main" id="{B21764A0-E77A-4D08-B2B4-5DD701B94256}"/>
              </a:ext>
            </a:extLst>
          </p:cNvPr>
          <p:cNvSpPr txBox="1"/>
          <p:nvPr/>
        </p:nvSpPr>
        <p:spPr>
          <a:xfrm>
            <a:off x="685800" y="5435600"/>
            <a:ext cx="85344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답하는 방법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: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문제마다 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1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분 생각한 뒤 손을 들어 답합니다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 </a:t>
            </a:r>
            <a:r>
              <a:rPr lang="ko-KR" altLang="en-US" sz="1500">
                <a:solidFill>
                  <a:srgbClr val="9FD9CF"/>
                </a:solidFill>
                <a:latin typeface="Noto Sans KR"/>
                <a:ea typeface="Noto Sans KR"/>
              </a:rPr>
              <a:t>정답은 다음 장에 있습니다</a:t>
            </a:r>
            <a:r>
              <a:rPr lang="en-US" altLang="ko-KR" sz="1500">
                <a:solidFill>
                  <a:srgbClr val="9FD9CF"/>
                </a:solidFill>
                <a:latin typeface="Noto Sans KR"/>
                <a:ea typeface="Noto Sans KR"/>
              </a:rPr>
              <a:t>.</a:t>
            </a:r>
            <a:endParaRPr lang="ko-KR" altLang="en-US" sz="1500">
              <a:solidFill>
                <a:srgbClr val="9FD9CF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09554068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/>
              <a:t>6</a:t>
            </a:r>
            <a:r>
              <a:rPr lang="ko-KR" altLang="en-US"/>
              <a:t>교시 퀴즈 정답과 정리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정답 </a:t>
            </a:r>
            <a:r>
              <a:rPr lang="en-US" altLang="ko-KR"/>
              <a:t>· </a:t>
            </a:r>
            <a:r>
              <a:rPr lang="ko-KR" altLang="en-US"/>
              <a:t>질문에서 출발해 설계하고 검수합니다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1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회의실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시간대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예약 상태입니다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회의실 이름만으로는 비어 있는지 알 수 없습니다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2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배열 안의 객체 하나입니다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열 이름이 키가 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배열 전체가 아니라 그 안의 객체 하나입니다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3</a:t>
            </a:r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번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임의로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0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을 넣지 않고 보류로 표시한 뒤 확인을 요청합니다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
</a:t>
            </a:r>
            <a:r>
              <a:rPr lang="ko-KR" altLang="en-US" sz="1600" b="1">
                <a:solidFill>
                  <a:srgbClr val="A64512"/>
                </a:solidFill>
                <a:latin typeface="Noto Sans KR"/>
                <a:ea typeface="Noto Sans KR"/>
              </a:rPr>
              <a:t>틀리기 쉬운 답</a:t>
            </a:r>
            <a:r>
              <a:rPr lang="en-US" altLang="ko-KR" sz="1600" b="1">
                <a:solidFill>
                  <a:srgbClr val="A64512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 0</a:t>
            </a:r>
            <a:r>
              <a:rPr lang="ko-KR" altLang="en-US" sz="1600">
                <a:solidFill>
                  <a:srgbClr val="A64512"/>
                </a:solidFill>
                <a:latin typeface="Noto Sans KR"/>
                <a:ea typeface="Noto Sans KR"/>
              </a:rPr>
              <a:t>을 넣으면 재고가 없다는 잘못된 기록이 됩니다</a:t>
            </a:r>
            <a:r>
              <a:rPr lang="en-US" altLang="ko-KR" sz="1600">
                <a:solidFill>
                  <a:srgbClr val="A64512"/>
                </a:solidFill>
                <a:latin typeface="Noto Sans KR"/>
                <a:ea typeface="Noto Sans KR"/>
              </a:rPr>
              <a:t>.</a:t>
            </a:r>
            <a:endParaRPr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정리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질문 → 한 행 설계 → 표현 → 검수 순서로 작업합니다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105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751427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0BF3890-C42C-47C9-8BE8-EBF10F6032A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오늘의 산출물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D0BC264-5D1A-4A14-92A1-6AF6993D3B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제출 전 점검표 </a:t>
            </a:r>
            <a:r>
              <a:rPr lang="en-US" altLang="ko-KR"/>
              <a:t>· supply.csv</a:t>
            </a:r>
            <a:r>
              <a:rPr lang="ko-KR" altLang="en-US"/>
              <a:t>와 </a:t>
            </a:r>
            <a:r>
              <a:rPr lang="en-US" altLang="ko-KR"/>
              <a:t>device.json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14817AC-AB2C-4D53-9400-CF5616B0DDD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1245277-4EBB-4E8E-B2A4-0865055555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05350FA-455E-443E-BADC-52210A10A73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106</a:t>
            </a:r>
            <a:endParaRPr/>
          </a:p>
        </p:txBody>
      </p:sp>
      <p:sp>
        <p:nvSpPr>
          <p:cNvPr id="14" name="Viz">
            <a:extLst>
              <a:ext uri="{FF2B5EF4-FFF2-40B4-BE49-F238E27FC236}">
                <a16:creationId xmlns:a16="http://schemas.microsoft.com/office/drawing/2014/main" id="{9808EAAE-E66F-47E0-B1C4-0642A08F6764}"/>
              </a:ext>
            </a:extLst>
          </p:cNvPr>
          <p:cNvSpPr/>
          <p:nvPr/>
        </p:nvSpPr>
        <p:spPr>
          <a:xfrm>
            <a:off x="685800" y="1930400"/>
            <a:ext cx="10820400" cy="3810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5" name="Viz">
            <a:extLst>
              <a:ext uri="{FF2B5EF4-FFF2-40B4-BE49-F238E27FC236}">
                <a16:creationId xmlns:a16="http://schemas.microsoft.com/office/drawing/2014/main" id="{3E484728-2A14-4696-986A-5291315E31F8}"/>
              </a:ext>
            </a:extLst>
          </p:cNvPr>
          <p:cNvSpPr/>
          <p:nvPr/>
        </p:nvSpPr>
        <p:spPr>
          <a:xfrm>
            <a:off x="1397000" y="1930400"/>
            <a:ext cx="2540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5B6B74"/>
                </a:solidFill>
                <a:latin typeface="Noto Sans KR"/>
                <a:ea typeface="Noto Sans KR"/>
              </a:rPr>
              <a:t>확인할 것</a:t>
            </a:r>
          </a:p>
        </p:txBody>
      </p:sp>
      <p:sp>
        <p:nvSpPr>
          <p:cNvPr id="16" name="Viz">
            <a:extLst>
              <a:ext uri="{FF2B5EF4-FFF2-40B4-BE49-F238E27FC236}">
                <a16:creationId xmlns:a16="http://schemas.microsoft.com/office/drawing/2014/main" id="{A0145552-5A25-4B46-87D4-6B3E6EEAA862}"/>
              </a:ext>
            </a:extLst>
          </p:cNvPr>
          <p:cNvSpPr/>
          <p:nvPr/>
        </p:nvSpPr>
        <p:spPr>
          <a:xfrm>
            <a:off x="4064000" y="1930400"/>
            <a:ext cx="41910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5B6B74"/>
                </a:solidFill>
                <a:latin typeface="Noto Sans KR"/>
                <a:ea typeface="Noto Sans KR"/>
              </a:rPr>
              <a:t>질문</a:t>
            </a:r>
          </a:p>
        </p:txBody>
      </p:sp>
      <p:sp>
        <p:nvSpPr>
          <p:cNvPr id="17" name="Viz">
            <a:extLst>
              <a:ext uri="{FF2B5EF4-FFF2-40B4-BE49-F238E27FC236}">
                <a16:creationId xmlns:a16="http://schemas.microsoft.com/office/drawing/2014/main" id="{DB164C46-DE26-417A-95B7-FA6E57102E3A}"/>
              </a:ext>
            </a:extLst>
          </p:cNvPr>
          <p:cNvSpPr/>
          <p:nvPr/>
        </p:nvSpPr>
        <p:spPr>
          <a:xfrm>
            <a:off x="8382000" y="1930400"/>
            <a:ext cx="3124200" cy="3556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400" b="1">
                <a:solidFill>
                  <a:srgbClr val="5B6B74"/>
                </a:solidFill>
                <a:latin typeface="Noto Sans KR"/>
                <a:ea typeface="Noto Sans KR"/>
              </a:rPr>
              <a:t>예</a:t>
            </a:r>
          </a:p>
        </p:txBody>
      </p:sp>
      <p:sp>
        <p:nvSpPr>
          <p:cNvPr id="18" name="Viz">
            <a:extLst>
              <a:ext uri="{FF2B5EF4-FFF2-40B4-BE49-F238E27FC236}">
                <a16:creationId xmlns:a16="http://schemas.microsoft.com/office/drawing/2014/main" id="{CBCC19D0-87AF-4554-A951-3E8ED982B199}"/>
              </a:ext>
            </a:extLst>
          </p:cNvPr>
          <p:cNvSpPr/>
          <p:nvPr/>
        </p:nvSpPr>
        <p:spPr>
          <a:xfrm>
            <a:off x="685800" y="2336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Viz">
            <a:extLst>
              <a:ext uri="{FF2B5EF4-FFF2-40B4-BE49-F238E27FC236}">
                <a16:creationId xmlns:a16="http://schemas.microsoft.com/office/drawing/2014/main" id="{CC05400C-E6D3-4791-A84C-65EE888BD48F}"/>
              </a:ext>
            </a:extLst>
          </p:cNvPr>
          <p:cNvSpPr/>
          <p:nvPr/>
        </p:nvSpPr>
        <p:spPr>
          <a:xfrm>
            <a:off x="863600" y="2501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Viz">
            <a:extLst>
              <a:ext uri="{FF2B5EF4-FFF2-40B4-BE49-F238E27FC236}">
                <a16:creationId xmlns:a16="http://schemas.microsoft.com/office/drawing/2014/main" id="{C48B1EE4-DB15-47FA-807F-CF0D0AB94C35}"/>
              </a:ext>
            </a:extLst>
          </p:cNvPr>
          <p:cNvSpPr/>
          <p:nvPr/>
        </p:nvSpPr>
        <p:spPr>
          <a:xfrm>
            <a:off x="1397000" y="2336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CSV </a:t>
            </a:r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칸</a:t>
            </a:r>
          </a:p>
        </p:txBody>
      </p:sp>
      <p:sp>
        <p:nvSpPr>
          <p:cNvPr id="21" name="Viz">
            <a:extLst>
              <a:ext uri="{FF2B5EF4-FFF2-40B4-BE49-F238E27FC236}">
                <a16:creationId xmlns:a16="http://schemas.microsoft.com/office/drawing/2014/main" id="{A9DAF1BA-A463-4144-8626-D3A090E6BCFA}"/>
              </a:ext>
            </a:extLst>
          </p:cNvPr>
          <p:cNvSpPr/>
          <p:nvPr/>
        </p:nvSpPr>
        <p:spPr>
          <a:xfrm>
            <a:off x="4064000" y="2336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모든 줄이 헤더와 같은 칸 수인가요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2" name="Viz">
            <a:extLst>
              <a:ext uri="{FF2B5EF4-FFF2-40B4-BE49-F238E27FC236}">
                <a16:creationId xmlns:a16="http://schemas.microsoft.com/office/drawing/2014/main" id="{11EA1EF7-AF68-49C6-9B17-AB96499AD9B1}"/>
              </a:ext>
            </a:extLst>
          </p:cNvPr>
          <p:cNvSpPr/>
          <p:nvPr/>
        </p:nvSpPr>
        <p:spPr>
          <a:xfrm>
            <a:off x="8382000" y="2336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item,quantity,bin → 3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칸</a:t>
            </a:r>
          </a:p>
        </p:txBody>
      </p:sp>
      <p:sp>
        <p:nvSpPr>
          <p:cNvPr id="23" name="Viz">
            <a:extLst>
              <a:ext uri="{FF2B5EF4-FFF2-40B4-BE49-F238E27FC236}">
                <a16:creationId xmlns:a16="http://schemas.microsoft.com/office/drawing/2014/main" id="{75632FD4-823B-42A3-8CAB-37AA0CDB4E2B}"/>
              </a:ext>
            </a:extLst>
          </p:cNvPr>
          <p:cNvSpPr/>
          <p:nvPr/>
        </p:nvSpPr>
        <p:spPr>
          <a:xfrm>
            <a:off x="685800" y="3098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Viz">
            <a:extLst>
              <a:ext uri="{FF2B5EF4-FFF2-40B4-BE49-F238E27FC236}">
                <a16:creationId xmlns:a16="http://schemas.microsoft.com/office/drawing/2014/main" id="{8FAC732A-4628-408F-9287-C16B3A19E457}"/>
              </a:ext>
            </a:extLst>
          </p:cNvPr>
          <p:cNvSpPr/>
          <p:nvPr/>
        </p:nvSpPr>
        <p:spPr>
          <a:xfrm>
            <a:off x="863600" y="3263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Viz">
            <a:extLst>
              <a:ext uri="{FF2B5EF4-FFF2-40B4-BE49-F238E27FC236}">
                <a16:creationId xmlns:a16="http://schemas.microsoft.com/office/drawing/2014/main" id="{83B1DE07-1895-4954-A1B7-B3D73D72489A}"/>
              </a:ext>
            </a:extLst>
          </p:cNvPr>
          <p:cNvSpPr/>
          <p:nvPr/>
        </p:nvSpPr>
        <p:spPr>
          <a:xfrm>
            <a:off x="1397000" y="3098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CSV </a:t>
            </a:r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따옴표</a:t>
            </a:r>
          </a:p>
        </p:txBody>
      </p:sp>
      <p:sp>
        <p:nvSpPr>
          <p:cNvPr id="26" name="Viz">
            <a:extLst>
              <a:ext uri="{FF2B5EF4-FFF2-40B4-BE49-F238E27FC236}">
                <a16:creationId xmlns:a16="http://schemas.microsoft.com/office/drawing/2014/main" id="{1A201056-79F4-462A-8B9C-0FEAD5F5C9DE}"/>
              </a:ext>
            </a:extLst>
          </p:cNvPr>
          <p:cNvSpPr/>
          <p:nvPr/>
        </p:nvSpPr>
        <p:spPr>
          <a:xfrm>
            <a:off x="4064000" y="3098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쉼표가 든 물품명을 큰따옴표로 감쌌나요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7" name="Viz">
            <a:extLst>
              <a:ext uri="{FF2B5EF4-FFF2-40B4-BE49-F238E27FC236}">
                <a16:creationId xmlns:a16="http://schemas.microsoft.com/office/drawing/2014/main" id="{8778C36E-6D9F-4A1E-8B0E-874A8E221FE3}"/>
              </a:ext>
            </a:extLst>
          </p:cNvPr>
          <p:cNvSpPr/>
          <p:nvPr/>
        </p:nvSpPr>
        <p:spPr>
          <a:xfrm>
            <a:off x="8382000" y="3098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볼트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400">
                <a:solidFill>
                  <a:srgbClr val="172E3A"/>
                </a:solidFill>
                <a:latin typeface="Noto Sans KR"/>
                <a:ea typeface="Noto Sans KR"/>
              </a:rPr>
              <a:t>소형</a:t>
            </a:r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"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8" name="Viz">
            <a:extLst>
              <a:ext uri="{FF2B5EF4-FFF2-40B4-BE49-F238E27FC236}">
                <a16:creationId xmlns:a16="http://schemas.microsoft.com/office/drawing/2014/main" id="{95EBA334-49FC-40E6-BC3F-2FEFA454B926}"/>
              </a:ext>
            </a:extLst>
          </p:cNvPr>
          <p:cNvSpPr/>
          <p:nvPr/>
        </p:nvSpPr>
        <p:spPr>
          <a:xfrm>
            <a:off x="685800" y="3860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Viz">
            <a:extLst>
              <a:ext uri="{FF2B5EF4-FFF2-40B4-BE49-F238E27FC236}">
                <a16:creationId xmlns:a16="http://schemas.microsoft.com/office/drawing/2014/main" id="{FFC54844-96A4-4F69-9D49-5ED7DA6EE870}"/>
              </a:ext>
            </a:extLst>
          </p:cNvPr>
          <p:cNvSpPr/>
          <p:nvPr/>
        </p:nvSpPr>
        <p:spPr>
          <a:xfrm>
            <a:off x="863600" y="4025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Viz">
            <a:extLst>
              <a:ext uri="{FF2B5EF4-FFF2-40B4-BE49-F238E27FC236}">
                <a16:creationId xmlns:a16="http://schemas.microsoft.com/office/drawing/2014/main" id="{292B2607-CAA3-449B-ADEA-1755D63EC8B3}"/>
              </a:ext>
            </a:extLst>
          </p:cNvPr>
          <p:cNvSpPr/>
          <p:nvPr/>
        </p:nvSpPr>
        <p:spPr>
          <a:xfrm>
            <a:off x="1397000" y="3860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JSON </a:t>
            </a:r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기호</a:t>
            </a:r>
          </a:p>
        </p:txBody>
      </p:sp>
      <p:sp>
        <p:nvSpPr>
          <p:cNvPr id="31" name="Viz">
            <a:extLst>
              <a:ext uri="{FF2B5EF4-FFF2-40B4-BE49-F238E27FC236}">
                <a16:creationId xmlns:a16="http://schemas.microsoft.com/office/drawing/2014/main" id="{10D9DF2E-49D5-4E88-A8F2-FEFD1264F90D}"/>
              </a:ext>
            </a:extLst>
          </p:cNvPr>
          <p:cNvSpPr/>
          <p:nvPr/>
        </p:nvSpPr>
        <p:spPr>
          <a:xfrm>
            <a:off x="4064000" y="3860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키는 큰따옴표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마지막 항목 뒤 쉼표가 없나요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2" name="Viz">
            <a:extLst>
              <a:ext uri="{FF2B5EF4-FFF2-40B4-BE49-F238E27FC236}">
                <a16:creationId xmlns:a16="http://schemas.microsoft.com/office/drawing/2014/main" id="{18676EA1-9318-4883-A8C2-764F6870163D}"/>
              </a:ext>
            </a:extLst>
          </p:cNvPr>
          <p:cNvSpPr/>
          <p:nvPr/>
        </p:nvSpPr>
        <p:spPr>
          <a:xfrm>
            <a:off x="8382000" y="3860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"stock": 0 }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3" name="Viz">
            <a:extLst>
              <a:ext uri="{FF2B5EF4-FFF2-40B4-BE49-F238E27FC236}">
                <a16:creationId xmlns:a16="http://schemas.microsoft.com/office/drawing/2014/main" id="{F1A29D2A-3629-43F4-AEEF-D5F6FAF73754}"/>
              </a:ext>
            </a:extLst>
          </p:cNvPr>
          <p:cNvSpPr/>
          <p:nvPr/>
        </p:nvSpPr>
        <p:spPr>
          <a:xfrm>
            <a:off x="685800" y="4622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Viz">
            <a:extLst>
              <a:ext uri="{FF2B5EF4-FFF2-40B4-BE49-F238E27FC236}">
                <a16:creationId xmlns:a16="http://schemas.microsoft.com/office/drawing/2014/main" id="{74195CC4-96EA-4882-9DB2-7BB464A13CFB}"/>
              </a:ext>
            </a:extLst>
          </p:cNvPr>
          <p:cNvSpPr/>
          <p:nvPr/>
        </p:nvSpPr>
        <p:spPr>
          <a:xfrm>
            <a:off x="863600" y="4787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Viz">
            <a:extLst>
              <a:ext uri="{FF2B5EF4-FFF2-40B4-BE49-F238E27FC236}">
                <a16:creationId xmlns:a16="http://schemas.microsoft.com/office/drawing/2014/main" id="{51CD8FC9-721F-4113-83F5-15F3DB5431B0}"/>
              </a:ext>
            </a:extLst>
          </p:cNvPr>
          <p:cNvSpPr/>
          <p:nvPr/>
        </p:nvSpPr>
        <p:spPr>
          <a:xfrm>
            <a:off x="1397000" y="4622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b="1">
                <a:solidFill>
                  <a:srgbClr val="08776D"/>
                </a:solidFill>
                <a:latin typeface="Noto Sans KR"/>
                <a:ea typeface="Noto Sans KR"/>
              </a:rPr>
              <a:t>JSON </a:t>
            </a:r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값</a:t>
            </a:r>
          </a:p>
        </p:txBody>
      </p:sp>
      <p:sp>
        <p:nvSpPr>
          <p:cNvPr id="36" name="Viz">
            <a:extLst>
              <a:ext uri="{FF2B5EF4-FFF2-40B4-BE49-F238E27FC236}">
                <a16:creationId xmlns:a16="http://schemas.microsoft.com/office/drawing/2014/main" id="{5E0384F2-F7DF-4226-A1A6-24C5B12F145D}"/>
              </a:ext>
            </a:extLst>
          </p:cNvPr>
          <p:cNvSpPr/>
          <p:nvPr/>
        </p:nvSpPr>
        <p:spPr>
          <a:xfrm>
            <a:off x="4064000" y="4622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false·0·null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을 뜻에 맞게 썼나요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7" name="Viz">
            <a:extLst>
              <a:ext uri="{FF2B5EF4-FFF2-40B4-BE49-F238E27FC236}">
                <a16:creationId xmlns:a16="http://schemas.microsoft.com/office/drawing/2014/main" id="{1666E06F-A7A9-494B-9FC8-9DDA6686DC92}"/>
              </a:ext>
            </a:extLst>
          </p:cNvPr>
          <p:cNvSpPr/>
          <p:nvPr/>
        </p:nvSpPr>
        <p:spPr>
          <a:xfrm>
            <a:off x="8382000" y="4622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400">
                <a:solidFill>
                  <a:srgbClr val="172E3A"/>
                </a:solidFill>
                <a:latin typeface="Noto Sans KR"/>
                <a:ea typeface="Noto Sans KR"/>
              </a:rPr>
              <a:t>checked_at: null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38" name="Viz">
            <a:extLst>
              <a:ext uri="{FF2B5EF4-FFF2-40B4-BE49-F238E27FC236}">
                <a16:creationId xmlns:a16="http://schemas.microsoft.com/office/drawing/2014/main" id="{5274B04E-A1C9-4FDB-9929-77B3657925AC}"/>
              </a:ext>
            </a:extLst>
          </p:cNvPr>
          <p:cNvSpPr/>
          <p:nvPr/>
        </p:nvSpPr>
        <p:spPr>
          <a:xfrm>
            <a:off x="685800" y="5384800"/>
            <a:ext cx="10820400" cy="660400"/>
          </a:xfrm>
          <a:prstGeom prst="rect">
            <a:avLst/>
          </a:prstGeom>
          <a:solidFill>
            <a:srgbClr val="FFFFFF">
              <a:alpha val="94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Viz">
            <a:extLst>
              <a:ext uri="{FF2B5EF4-FFF2-40B4-BE49-F238E27FC236}">
                <a16:creationId xmlns:a16="http://schemas.microsoft.com/office/drawing/2014/main" id="{496538A5-46A5-4FB6-89AC-9C90EB442AF3}"/>
              </a:ext>
            </a:extLst>
          </p:cNvPr>
          <p:cNvSpPr/>
          <p:nvPr/>
        </p:nvSpPr>
        <p:spPr>
          <a:xfrm>
            <a:off x="863600" y="5549900"/>
            <a:ext cx="330200" cy="33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8776D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0" name="Viz">
            <a:extLst>
              <a:ext uri="{FF2B5EF4-FFF2-40B4-BE49-F238E27FC236}">
                <a16:creationId xmlns:a16="http://schemas.microsoft.com/office/drawing/2014/main" id="{38596D57-968C-43C9-922F-6FC7F7D78512}"/>
              </a:ext>
            </a:extLst>
          </p:cNvPr>
          <p:cNvSpPr/>
          <p:nvPr/>
        </p:nvSpPr>
        <p:spPr>
          <a:xfrm>
            <a:off x="1397000" y="5384800"/>
            <a:ext cx="2540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ko-KR" altLang="en-US" b="1">
                <a:solidFill>
                  <a:srgbClr val="08776D"/>
                </a:solidFill>
                <a:latin typeface="Noto Sans KR"/>
                <a:ea typeface="Noto Sans KR"/>
              </a:rPr>
              <a:t>저장</a:t>
            </a:r>
          </a:p>
        </p:txBody>
      </p:sp>
      <p:sp>
        <p:nvSpPr>
          <p:cNvPr id="41" name="Viz">
            <a:extLst>
              <a:ext uri="{FF2B5EF4-FFF2-40B4-BE49-F238E27FC236}">
                <a16:creationId xmlns:a16="http://schemas.microsoft.com/office/drawing/2014/main" id="{A8F9DD84-1348-4733-AD9B-13E1AFC5135E}"/>
              </a:ext>
            </a:extLst>
          </p:cNvPr>
          <p:cNvSpPr/>
          <p:nvPr/>
        </p:nvSpPr>
        <p:spPr>
          <a:xfrm>
            <a:off x="4064000" y="5384800"/>
            <a:ext cx="4191000" cy="660400"/>
          </a:xfrm>
          <a:prstGeom prst="rect">
            <a:avLst/>
          </a:prstGeom>
          <a:noFill/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work 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폴더에 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UTF-8</a:t>
            </a:r>
            <a:r>
              <a:rPr lang="ko-KR" altLang="en-US" sz="1600">
                <a:solidFill>
                  <a:srgbClr val="172E3A"/>
                </a:solidFill>
                <a:latin typeface="Noto Sans KR"/>
                <a:ea typeface="Noto Sans KR"/>
              </a:rPr>
              <a:t>로 저장했나요</a:t>
            </a:r>
            <a:r>
              <a:rPr lang="en-US" altLang="ko-KR" sz="1600">
                <a:solidFill>
                  <a:srgbClr val="172E3A"/>
                </a:solidFill>
                <a:latin typeface="Noto Sans KR"/>
                <a:ea typeface="Noto Sans KR"/>
              </a:rPr>
              <a:t>?</a:t>
            </a:r>
            <a:endParaRPr lang="ko-KR" altLang="en-US" sz="16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42" name="Viz">
            <a:extLst>
              <a:ext uri="{FF2B5EF4-FFF2-40B4-BE49-F238E27FC236}">
                <a16:creationId xmlns:a16="http://schemas.microsoft.com/office/drawing/2014/main" id="{A74771FB-312A-4BB6-8697-8200BD5DFEF4}"/>
              </a:ext>
            </a:extLst>
          </p:cNvPr>
          <p:cNvSpPr/>
          <p:nvPr/>
        </p:nvSpPr>
        <p:spPr>
          <a:xfrm>
            <a:off x="8382000" y="5384800"/>
            <a:ext cx="3048000" cy="660400"/>
          </a:xfrm>
          <a:prstGeom prst="rect">
            <a:avLst/>
          </a:prstGeom>
          <a:solidFill>
            <a:srgbClr val="EEF2F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r>
              <a:rPr lang="pt-BR" altLang="ko-KR" sz="1400">
                <a:solidFill>
                  <a:srgbClr val="172E3A"/>
                </a:solidFill>
                <a:latin typeface="Noto Sans KR"/>
                <a:ea typeface="Noto Sans KR"/>
              </a:rPr>
              <a:t>device.json (O) / .json.txt (X)</a:t>
            </a:r>
            <a:endParaRPr lang="ko-KR" altLang="en-US" sz="14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41571862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2A4C1CD-3BDF-4496-BC51-2354F24C97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오늘 정리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9554F8-1C8B-41C5-AF1C-835DA794FD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오늘 정리와 다음 수업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6B4E2A-B9F3-41D8-A796-A50D58C62D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F1CF85-2D25-4BC7-A85B-49AF306EC309}"/>
              </a:ext>
            </a:extLst>
          </p:cNvPr>
          <p:cNvSpPr>
            <a:spLocks noGrp="1"/>
          </p:cNvSpPr>
          <p:nvPr/>
        </p:nvSpPr>
        <p:spPr>
          <a:xfrm>
            <a:off x="685800" y="20320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오늘 만든 파일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work/supply.csv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와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work/device.json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A16E73-ACC2-4E23-A95D-74081622294F}"/>
              </a:ext>
            </a:extLst>
          </p:cNvPr>
          <p:cNvSpPr>
            <a:spLocks noGrp="1"/>
          </p:cNvSpPr>
          <p:nvPr/>
        </p:nvSpPr>
        <p:spPr>
          <a:xfrm>
            <a:off x="685800" y="31178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오늘의 순서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값의 뜻 → 행과 키 →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CSV·JSON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표현 → 검수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D58E14E-B59F-4193-A463-40D003786B2B}"/>
              </a:ext>
            </a:extLst>
          </p:cNvPr>
          <p:cNvSpPr>
            <a:spLocks noGrp="1"/>
          </p:cNvSpPr>
          <p:nvPr/>
        </p:nvSpPr>
        <p:spPr>
          <a:xfrm>
            <a:off x="685800" y="420370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다음 담당 수업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10/14(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수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) 6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일차 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기초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오늘 만든 파일을 코드로 읽습니다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E2518F-0273-431A-88D5-CF4B152FC767}"/>
              </a:ext>
            </a:extLst>
          </p:cNvPr>
          <p:cNvSpPr>
            <a:spLocks noGrp="1"/>
          </p:cNvSpPr>
          <p:nvPr/>
        </p:nvSpPr>
        <p:spPr>
          <a:xfrm>
            <a:off x="685800" y="5289550"/>
            <a:ext cx="10820400" cy="933450"/>
          </a:xfrm>
          <a:prstGeom prst="rect">
            <a:avLst/>
          </a:prstGeom>
          <a:solidFill>
            <a:srgbClr val="FFFFFF">
              <a:alpha val="88000"/>
            </a:srgbClr>
          </a:solidFill>
          <a:ln w="0">
            <a:noFill/>
          </a:ln>
        </p:spPr>
        <p:txBody>
          <a:bodyPr wrap="square" lIns="330200" tIns="50800" rIns="203200" bIns="50800" anchor="ctr" anchorCtr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200" b="1">
                <a:solidFill>
                  <a:srgbClr val="08776D"/>
                </a:solidFill>
                <a:latin typeface="Noto Sans KR"/>
                <a:ea typeface="Noto Sans KR"/>
              </a:rPr>
              <a:t>준비</a:t>
            </a:r>
            <a:r>
              <a:rPr lang="en-US" altLang="ko-KR" sz="22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 foundations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폴더를 그대로 보관하고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2200">
                <a:solidFill>
                  <a:srgbClr val="172E3A"/>
                </a:solidFill>
                <a:latin typeface="Noto Sans KR"/>
                <a:ea typeface="Noto Sans KR"/>
              </a:rPr>
              <a:t>질문은 다음 수업 시작 때 받습니다</a:t>
            </a:r>
            <a:r>
              <a:rPr lang="en-US" altLang="ko-KR" sz="22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sz="22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AFD03F-54C2-43CF-AAB9-3D86B00C7D6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B35827-824C-44CA-8A8A-BF9D819D1F0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107</a:t>
            </a:r>
            <a:endParaRPr/>
          </a:p>
        </p:txBody>
      </p:sp>
      <p:sp>
        <p:nvSpPr>
          <p:cNvPr id="12" name="AccentBar">
            <a:extLst>
              <a:ext uri="{FF2B5EF4-FFF2-40B4-BE49-F238E27FC236}">
                <a16:creationId xmlns:a16="http://schemas.microsoft.com/office/drawing/2014/main" id="{AC1EC25B-B32A-4A04-A22F-2BEB061C34F0}"/>
              </a:ext>
            </a:extLst>
          </p:cNvPr>
          <p:cNvSpPr/>
          <p:nvPr/>
        </p:nvSpPr>
        <p:spPr>
          <a:xfrm>
            <a:off x="685800" y="20320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FC9ABB3C-0125-40F9-9422-B72598D9FD6A}"/>
              </a:ext>
            </a:extLst>
          </p:cNvPr>
          <p:cNvSpPr/>
          <p:nvPr/>
        </p:nvSpPr>
        <p:spPr>
          <a:xfrm>
            <a:off x="685800" y="31178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AccentBar">
            <a:extLst>
              <a:ext uri="{FF2B5EF4-FFF2-40B4-BE49-F238E27FC236}">
                <a16:creationId xmlns:a16="http://schemas.microsoft.com/office/drawing/2014/main" id="{8FABAD84-87F1-4DBA-9A4B-AD8DC09124A3}"/>
              </a:ext>
            </a:extLst>
          </p:cNvPr>
          <p:cNvSpPr/>
          <p:nvPr/>
        </p:nvSpPr>
        <p:spPr>
          <a:xfrm>
            <a:off x="685800" y="420370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CDB5F9F0-6E74-4C4E-A6C8-1FF5BB38549A}"/>
              </a:ext>
            </a:extLst>
          </p:cNvPr>
          <p:cNvSpPr/>
          <p:nvPr/>
        </p:nvSpPr>
        <p:spPr>
          <a:xfrm>
            <a:off x="685800" y="5289550"/>
            <a:ext cx="76200" cy="93345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988761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EA6FAA73-1DF2-4010-A030-C4F281E1457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A18AE16-FF12-40CF-93DA-DF8EEFD3B51C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참고 자료 원문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344EAA7-FC12-47F4-84CF-E33C8C5C8353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공식 문서 </a:t>
            </a:r>
            <a:r>
              <a:rPr lang="en-US" altLang="ko-KR"/>
              <a:t>3</a:t>
            </a:r>
            <a:r>
              <a:rPr lang="ko-KR" altLang="en-US"/>
              <a:t>건 </a:t>
            </a:r>
            <a:r>
              <a:rPr lang="en-US" altLang="ko-KR"/>
              <a:t>· </a:t>
            </a:r>
            <a:r>
              <a:rPr lang="ko-KR" altLang="en-US"/>
              <a:t>사례 영상과 기사 </a:t>
            </a:r>
            <a:r>
              <a:rPr lang="en-US" altLang="ko-KR"/>
              <a:t>6</a:t>
            </a:r>
            <a:r>
              <a:rPr lang="ko-KR" altLang="en-US"/>
              <a:t>건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E563E30-5C5B-4B9F-9EA3-1184F8ED4B7B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수업 중에는 넘어가고</a:t>
            </a:r>
            <a:r>
              <a:rPr lang="en-US" altLang="ko-KR"/>
              <a:t>, </a:t>
            </a:r>
            <a:r>
              <a:rPr lang="ko-KR" altLang="en-US"/>
              <a:t>복습할 때 출처와 요약을 확인합니다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A63B48F-E7E4-4BAA-BFEC-DDB8AE7C1C4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0D27A0B-02EF-4FCB-98FE-76161D371CE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108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7690194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9A9E34F8-39B5-404A-847A-22F94AF923D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참고 자료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0384330-248A-402C-A666-B6DF93BD12F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자료 · 통계적 변수 분류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23223A5-C23C-411D-AB44-55D2E5BC732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E6B22D1-CC38-4D80-B9FE-F543AB88033D}"/>
              </a:ext>
            </a:extLst>
          </p:cNvPr>
          <p:cNvSpPr>
            <a:spLocks noGrp="1"/>
          </p:cNvSpPr>
          <p:nvPr/>
        </p:nvSpPr>
        <p:spPr>
          <a:xfrm>
            <a:off x="685800" y="5842000"/>
            <a:ext cx="19050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hlinkClick r:id="rId3"/>
              </a:rPr>
              <a:t>호주통계청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E75C0E3-C998-4E26-9BBF-841FB08DD61F}"/>
              </a:ext>
            </a:extLst>
          </p:cNvPr>
          <p:cNvSpPr>
            <a:spLocks noGrp="1"/>
          </p:cNvSpPr>
          <p:nvPr/>
        </p:nvSpPr>
        <p:spPr>
          <a:xfrm>
            <a:off x="2667000" y="5842000"/>
            <a:ext cx="8839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4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sz="1200" u="sng">
                <a:hlinkClick r:id="rId3"/>
              </a:rPr>
              <a:t>https://www.abs.gov.au/statistics/understanding-statistics/statistical-terms-and-concepts/variables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B85CD9F-73A5-4E86-81C3-6709DC341E4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3586510-A2F8-4553-B184-CDDF421B83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109</a:t>
            </a: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76B2FE-7748-4E59-B5CF-4A987F1C48E3}"/>
              </a:ext>
            </a:extLst>
          </p:cNvPr>
          <p:cNvSpPr txBox="1"/>
          <p:nvPr/>
        </p:nvSpPr>
        <p:spPr>
          <a:xfrm>
            <a:off x="685800" y="19050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호주통계청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(ABS) ·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통계 용어와 개념 중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'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변수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'</a:t>
            </a:r>
            <a:endParaRPr lang="ko-KR" altLang="en-US" sz="1600" b="1">
              <a:solidFill>
                <a:srgbClr val="08776D"/>
              </a:solidFill>
              <a:latin typeface="Noto Sans KR"/>
              <a:ea typeface="Noto Sans KR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AC7259-62FF-45F9-BD63-082215A94E3F}"/>
              </a:ext>
            </a:extLst>
          </p:cNvPr>
          <p:cNvSpPr txBox="1"/>
          <p:nvPr/>
        </p:nvSpPr>
        <p:spPr>
          <a:xfrm>
            <a:off x="685800" y="23368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4A5A63"/>
                </a:solidFill>
                <a:latin typeface="Noto Sans KR"/>
                <a:ea typeface="Noto Sans KR"/>
              </a:rPr>
              <a:t>핵심 요약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98DBBF5-E9CC-4947-AE8F-4B7A8B6BCBA4}"/>
              </a:ext>
            </a:extLst>
          </p:cNvPr>
          <p:cNvSpPr/>
          <p:nvPr/>
        </p:nvSpPr>
        <p:spPr>
          <a:xfrm>
            <a:off x="685800" y="2692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범주형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값이 종류를 나타냅니다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순서가 없으면 명목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있으면 순서 범주입니다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12F16CC3-F600-472C-8F55-8E008245283F}"/>
              </a:ext>
            </a:extLst>
          </p:cNvPr>
          <p:cNvSpPr/>
          <p:nvPr/>
        </p:nvSpPr>
        <p:spPr>
          <a:xfrm>
            <a:off x="685800" y="2692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B97A49D-F461-4482-9387-2D294194A53A}"/>
              </a:ext>
            </a:extLst>
          </p:cNvPr>
          <p:cNvSpPr/>
          <p:nvPr/>
        </p:nvSpPr>
        <p:spPr>
          <a:xfrm>
            <a:off x="685800" y="3581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수치형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값이 양을 나타냅니다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셀 수 있으면 이산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잴 수 있으면 연속입니다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7" name="AccentBar">
            <a:extLst>
              <a:ext uri="{FF2B5EF4-FFF2-40B4-BE49-F238E27FC236}">
                <a16:creationId xmlns:a16="http://schemas.microsoft.com/office/drawing/2014/main" id="{D5439D46-1330-4258-822E-C33067EF4A66}"/>
              </a:ext>
            </a:extLst>
          </p:cNvPr>
          <p:cNvSpPr/>
          <p:nvPr/>
        </p:nvSpPr>
        <p:spPr>
          <a:xfrm>
            <a:off x="685800" y="3581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1D67877-5A44-4FDB-9BF4-14017FCE087F}"/>
              </a:ext>
            </a:extLst>
          </p:cNvPr>
          <p:cNvSpPr/>
          <p:nvPr/>
        </p:nvSpPr>
        <p:spPr>
          <a:xfrm>
            <a:off x="685800" y="4470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연결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2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교시에서 쓴 범주형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수치형 분류의 근거가 되는 원문입니다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9" name="AccentBar">
            <a:extLst>
              <a:ext uri="{FF2B5EF4-FFF2-40B4-BE49-F238E27FC236}">
                <a16:creationId xmlns:a16="http://schemas.microsoft.com/office/drawing/2014/main" id="{11698DB9-EE47-4859-B6D6-D1C7C1540662}"/>
              </a:ext>
            </a:extLst>
          </p:cNvPr>
          <p:cNvSpPr/>
          <p:nvPr/>
        </p:nvSpPr>
        <p:spPr>
          <a:xfrm>
            <a:off x="685800" y="4470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175885D-0122-4AA2-8D53-F9451E71AF5C}"/>
              </a:ext>
            </a:extLst>
          </p:cNvPr>
          <p:cNvSpPr txBox="1"/>
          <p:nvPr/>
        </p:nvSpPr>
        <p:spPr>
          <a:xfrm>
            <a:off x="685800" y="53848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읽는 법</a:t>
            </a:r>
            <a:r>
              <a:rPr lang="en-US" altLang="ko-KR" sz="1600" b="1">
                <a:solidFill>
                  <a:srgbClr val="172E3A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오늘은 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코드를 작성하지 않고 자료의 규칙을 읽습니다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67778328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58B07BA-5430-4F4C-8556-51277021F73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참고 자료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0977C09-4482-4882-9D76-967A595268F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자료 · CSV 형식 읽기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649FE97-7C54-4042-8D17-D50E3A40541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C6B88F9-A1B5-4A76-8AE5-BEA39A2E9298}"/>
              </a:ext>
            </a:extLst>
          </p:cNvPr>
          <p:cNvSpPr>
            <a:spLocks noGrp="1"/>
          </p:cNvSpPr>
          <p:nvPr/>
        </p:nvSpPr>
        <p:spPr>
          <a:xfrm>
            <a:off x="685800" y="5842000"/>
            <a:ext cx="19050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hlinkClick r:id="rId3"/>
              </a:rPr>
              <a:t>Python 공식 문서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47C66F1-817B-4C9D-B642-1BD8E6CEAEFB}"/>
              </a:ext>
            </a:extLst>
          </p:cNvPr>
          <p:cNvSpPr>
            <a:spLocks noGrp="1"/>
          </p:cNvSpPr>
          <p:nvPr/>
        </p:nvSpPr>
        <p:spPr>
          <a:xfrm>
            <a:off x="2667000" y="5842000"/>
            <a:ext cx="8839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sz="1200" u="sng">
                <a:hlinkClick r:id="rId3"/>
              </a:rPr>
              <a:t>https://docs.python.org/3/library/csv.html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62D5F0F-ABAE-41D7-89A9-41715E73D4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3A6E3-A5CD-4E7B-AA90-40DBA9E8CF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110</a:t>
            </a: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C199C6-651C-4F05-B05F-6BD9B3DC798F}"/>
              </a:ext>
            </a:extLst>
          </p:cNvPr>
          <p:cNvSpPr txBox="1"/>
          <p:nvPr/>
        </p:nvSpPr>
        <p:spPr>
          <a:xfrm>
            <a:off x="685800" y="19050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공식 문서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· csv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모듈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84A13E-0060-40B2-9B37-2C5006F41CA3}"/>
              </a:ext>
            </a:extLst>
          </p:cNvPr>
          <p:cNvSpPr txBox="1"/>
          <p:nvPr/>
        </p:nvSpPr>
        <p:spPr>
          <a:xfrm>
            <a:off x="685800" y="23368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4A5A63"/>
                </a:solidFill>
                <a:latin typeface="Noto Sans KR"/>
                <a:ea typeface="Noto Sans KR"/>
              </a:rPr>
              <a:t>핵심 요약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E391C8C-3AAE-41AA-8372-3BCCFA1048DC}"/>
              </a:ext>
            </a:extLst>
          </p:cNvPr>
          <p:cNvSpPr/>
          <p:nvPr/>
        </p:nvSpPr>
        <p:spPr>
          <a:xfrm>
            <a:off x="685800" y="2692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기능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csv.reader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csv.writer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로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CSV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를 한 줄씩 읽고 씁니다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AD62549E-8315-4BBB-AB0D-B7BE48D446F7}"/>
              </a:ext>
            </a:extLst>
          </p:cNvPr>
          <p:cNvSpPr/>
          <p:nvPr/>
        </p:nvSpPr>
        <p:spPr>
          <a:xfrm>
            <a:off x="685800" y="2692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C8C8E94-82C4-4A67-8995-F44606B46509}"/>
              </a:ext>
            </a:extLst>
          </p:cNvPr>
          <p:cNvSpPr/>
          <p:nvPr/>
        </p:nvSpPr>
        <p:spPr>
          <a:xfrm>
            <a:off x="685800" y="3581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규칙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기본 구분자는 쉼표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기본 따옴표는 큰따옴표입니다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쉼표가 든 값은 감쌉니다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7" name="AccentBar">
            <a:extLst>
              <a:ext uri="{FF2B5EF4-FFF2-40B4-BE49-F238E27FC236}">
                <a16:creationId xmlns:a16="http://schemas.microsoft.com/office/drawing/2014/main" id="{D16B5357-8176-4E22-9D0D-E6113EAB1CCB}"/>
              </a:ext>
            </a:extLst>
          </p:cNvPr>
          <p:cNvSpPr/>
          <p:nvPr/>
        </p:nvSpPr>
        <p:spPr>
          <a:xfrm>
            <a:off x="685800" y="3581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DAE1667-0857-439A-8FCA-EBF8E8DA5A1E}"/>
              </a:ext>
            </a:extLst>
          </p:cNvPr>
          <p:cNvSpPr/>
          <p:nvPr/>
        </p:nvSpPr>
        <p:spPr>
          <a:xfrm>
            <a:off x="685800" y="4470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팁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파일은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newline=''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으로 열고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헤더 이름으로 읽으려면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DictReader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를 씁니다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9" name="AccentBar">
            <a:extLst>
              <a:ext uri="{FF2B5EF4-FFF2-40B4-BE49-F238E27FC236}">
                <a16:creationId xmlns:a16="http://schemas.microsoft.com/office/drawing/2014/main" id="{198337AA-FD73-4519-9D59-4D4DFBB3D540}"/>
              </a:ext>
            </a:extLst>
          </p:cNvPr>
          <p:cNvSpPr/>
          <p:nvPr/>
        </p:nvSpPr>
        <p:spPr>
          <a:xfrm>
            <a:off x="685800" y="4470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7CE0C0-0BED-4DB6-90BA-40F5CEAE1AD0}"/>
              </a:ext>
            </a:extLst>
          </p:cNvPr>
          <p:cNvSpPr txBox="1"/>
          <p:nvPr/>
        </p:nvSpPr>
        <p:spPr>
          <a:xfrm>
            <a:off x="685800" y="53848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읽는 법</a:t>
            </a:r>
            <a:r>
              <a:rPr lang="en-US" altLang="ko-KR" sz="1600" b="1">
                <a:solidFill>
                  <a:srgbClr val="172E3A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오늘은 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코드를 작성하지 않고 자료의 규칙을 읽습니다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02611342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73F49EF-A7DA-4A39-8824-D6D8B53A6D7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참고 자료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AE3B1C-642D-4701-AAB5-AA75D2A552A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자료 · JSON 형식 읽기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16C565B-D4D9-4EC7-A267-4DC990FAA7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4B9F0FF-DFEF-49B6-8461-B9B5FC7A0862}"/>
              </a:ext>
            </a:extLst>
          </p:cNvPr>
          <p:cNvSpPr>
            <a:spLocks noGrp="1"/>
          </p:cNvSpPr>
          <p:nvPr/>
        </p:nvSpPr>
        <p:spPr>
          <a:xfrm>
            <a:off x="685800" y="5842000"/>
            <a:ext cx="19050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hlinkClick r:id="rId3"/>
              </a:rPr>
              <a:t>Python 공식 문서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E902A00-5D6C-46D5-AC98-80C178C34162}"/>
              </a:ext>
            </a:extLst>
          </p:cNvPr>
          <p:cNvSpPr>
            <a:spLocks noGrp="1"/>
          </p:cNvSpPr>
          <p:nvPr/>
        </p:nvSpPr>
        <p:spPr>
          <a:xfrm>
            <a:off x="2667000" y="5842000"/>
            <a:ext cx="8839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sz="1200" u="sng">
                <a:hlinkClick r:id="rId3"/>
              </a:rPr>
              <a:t>https://docs.python.org/3/library/json.html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AECF724-8F2B-4C33-A56F-63974A0D26D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D28F9F7-6EA8-49E7-A0BB-1D3A3A010C5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111</a:t>
            </a: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14513E-8CD0-4F1D-9EC1-9E99FCE0A4C8}"/>
              </a:ext>
            </a:extLst>
          </p:cNvPr>
          <p:cNvSpPr txBox="1"/>
          <p:nvPr/>
        </p:nvSpPr>
        <p:spPr>
          <a:xfrm>
            <a:off x="685800" y="19050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공식 문서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· json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모듈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8E6244-5DD2-40F0-814A-334D1D384064}"/>
              </a:ext>
            </a:extLst>
          </p:cNvPr>
          <p:cNvSpPr txBox="1"/>
          <p:nvPr/>
        </p:nvSpPr>
        <p:spPr>
          <a:xfrm>
            <a:off x="685800" y="23368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4A5A63"/>
                </a:solidFill>
                <a:latin typeface="Noto Sans KR"/>
                <a:ea typeface="Noto Sans KR"/>
              </a:rPr>
              <a:t>핵심 요약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5E767A7-0097-4BFA-9C9D-983FE6E8CCE7}"/>
              </a:ext>
            </a:extLst>
          </p:cNvPr>
          <p:cNvSpPr/>
          <p:nvPr/>
        </p:nvSpPr>
        <p:spPr>
          <a:xfrm>
            <a:off x="685800" y="2692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기능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json.load·loads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로 읽고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json.dump·dumps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로 씁니다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B0A71DF5-6EA1-4803-943A-98999184179C}"/>
              </a:ext>
            </a:extLst>
          </p:cNvPr>
          <p:cNvSpPr/>
          <p:nvPr/>
        </p:nvSpPr>
        <p:spPr>
          <a:xfrm>
            <a:off x="685800" y="2692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B05B1B1-0E97-42E1-95A0-9A5B3927F3BE}"/>
              </a:ext>
            </a:extLst>
          </p:cNvPr>
          <p:cNvSpPr/>
          <p:nvPr/>
        </p:nvSpPr>
        <p:spPr>
          <a:xfrm>
            <a:off x="685800" y="3581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변환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객체→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dict,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배열→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list, true/false→True/False, null→None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7" name="AccentBar">
            <a:extLst>
              <a:ext uri="{FF2B5EF4-FFF2-40B4-BE49-F238E27FC236}">
                <a16:creationId xmlns:a16="http://schemas.microsoft.com/office/drawing/2014/main" id="{5F99E037-C463-47AB-A0D0-641A785E5BAF}"/>
              </a:ext>
            </a:extLst>
          </p:cNvPr>
          <p:cNvSpPr/>
          <p:nvPr/>
        </p:nvSpPr>
        <p:spPr>
          <a:xfrm>
            <a:off x="685800" y="3581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2165008-6881-473B-A265-6C3B521CF2DA}"/>
              </a:ext>
            </a:extLst>
          </p:cNvPr>
          <p:cNvSpPr/>
          <p:nvPr/>
        </p:nvSpPr>
        <p:spPr>
          <a:xfrm>
            <a:off x="685800" y="4470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팁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한글을 그대로 저장하려면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ensure_ascii=False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를 지정합니다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9" name="AccentBar">
            <a:extLst>
              <a:ext uri="{FF2B5EF4-FFF2-40B4-BE49-F238E27FC236}">
                <a16:creationId xmlns:a16="http://schemas.microsoft.com/office/drawing/2014/main" id="{E8801808-6859-452E-A048-A0E51D390A46}"/>
              </a:ext>
            </a:extLst>
          </p:cNvPr>
          <p:cNvSpPr/>
          <p:nvPr/>
        </p:nvSpPr>
        <p:spPr>
          <a:xfrm>
            <a:off x="685800" y="4470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C24AC7-0950-4E75-BA59-B37E2DF7A2CD}"/>
              </a:ext>
            </a:extLst>
          </p:cNvPr>
          <p:cNvSpPr txBox="1"/>
          <p:nvPr/>
        </p:nvSpPr>
        <p:spPr>
          <a:xfrm>
            <a:off x="685800" y="53848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읽는 법</a:t>
            </a:r>
            <a:r>
              <a:rPr lang="en-US" altLang="ko-KR" sz="1600" b="1">
                <a:solidFill>
                  <a:srgbClr val="172E3A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오늘은 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Python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코드를 작성하지 않고 자료의 규칙을 읽습니다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57394596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39862F7-7100-4818-B4B3-CAFB1509F36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사례 영상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D192C2E-7E76-4C08-A23C-1DB7400404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Atlas · 물체를 보고 옮기기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B3AF969-6E80-4004-B18E-5FFBB044AD3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5800" y="1930400"/>
            <a:ext cx="3810000" cy="28575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E524588-F80E-48E6-9636-5BAD2A43D154}"/>
              </a:ext>
            </a:extLst>
          </p:cNvPr>
          <p:cNvSpPr>
            <a:spLocks noGrp="1"/>
          </p:cNvSpPr>
          <p:nvPr/>
        </p:nvSpPr>
        <p:spPr>
          <a:xfrm>
            <a:off x="4826000" y="4267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0:00부터 약 45초. 물체를 찾고 옮기는 장면을 관찰합니다.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C23AE08-0190-4341-9D04-968156DB5DE6}"/>
              </a:ext>
            </a:extLst>
          </p:cNvPr>
          <p:cNvSpPr>
            <a:spLocks noGrp="1"/>
          </p:cNvSpPr>
          <p:nvPr/>
        </p:nvSpPr>
        <p:spPr>
          <a:xfrm>
            <a:off x="4826000" y="4775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카메라가 읽는 대상과 팔이 하는 동작을 하나씩 적으세요.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2529EB1-C54F-4B8E-A04C-82EC73176F30}"/>
              </a:ext>
            </a:extLst>
          </p:cNvPr>
          <p:cNvSpPr>
            <a:spLocks noGrp="1"/>
          </p:cNvSpPr>
          <p:nvPr/>
        </p:nvSpPr>
        <p:spPr>
          <a:xfrm>
            <a:off x="4826000" y="5283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물체를 잡기 전과 잡은 뒤의 팔 움직임을 비교하세요.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61C75DA-788C-4564-8DB4-0AF2024CA63B}"/>
              </a:ext>
            </a:extLst>
          </p:cNvPr>
          <p:cNvSpPr>
            <a:spLocks noGrp="1"/>
          </p:cNvSpPr>
          <p:nvPr/>
        </p:nvSpPr>
        <p:spPr>
          <a:xfrm>
            <a:off x="4826000" y="5791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영상에 없는 생산 속도·실패율·안전 조건은 확인 필요로 남깁니다.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8720EC-1644-42BF-876F-E1129F87C269}"/>
              </a:ext>
            </a:extLst>
          </p:cNvPr>
          <p:cNvSpPr>
            <a:spLocks noGrp="1"/>
          </p:cNvSpPr>
          <p:nvPr/>
        </p:nvSpPr>
        <p:spPr>
          <a:xfrm>
            <a:off x="685800" y="4940300"/>
            <a:ext cx="3810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hlinkClick r:id="rId4"/>
              </a:rPr>
              <a:t>영상 재생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CC472D-7498-4CB5-B429-3702E899BF48}"/>
              </a:ext>
            </a:extLst>
          </p:cNvPr>
          <p:cNvSpPr>
            <a:spLocks noGrp="1"/>
          </p:cNvSpPr>
          <p:nvPr/>
        </p:nvSpPr>
        <p:spPr>
          <a:xfrm>
            <a:off x="685800" y="5270500"/>
            <a:ext cx="3810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172E3A"/>
                </a:solidFill>
                <a:latin typeface="Consolas"/>
                <a:ea typeface="Consolas"/>
                <a:cs typeface="Consolas"/>
              </a:defRPr>
            </a:pPr>
            <a:r>
              <a:rPr sz="1100" u="sng">
                <a:hlinkClick r:id="rId4"/>
              </a:rPr>
              <a:t>https://www.youtube.com/watch?v=F_7IPm7f1vI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E60342C-D0D1-4EC4-B515-A5CAC893FF3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57EF21-3C4F-4BE1-AFBC-94752D0968D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112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B25A157-088A-4F05-96D0-B0D291A87FAF}"/>
              </a:ext>
            </a:extLst>
          </p:cNvPr>
          <p:cNvSpPr/>
          <p:nvPr/>
        </p:nvSpPr>
        <p:spPr>
          <a:xfrm>
            <a:off x="4826000" y="1930400"/>
            <a:ext cx="6680200" cy="21844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3F5FC019-62DB-48AB-B5BA-10410ABA0D1F}"/>
              </a:ext>
            </a:extLst>
          </p:cNvPr>
          <p:cNvSpPr/>
          <p:nvPr/>
        </p:nvSpPr>
        <p:spPr>
          <a:xfrm>
            <a:off x="4826000" y="1930400"/>
            <a:ext cx="76200" cy="2184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8E80B8-CCF7-4279-9629-97D20757B229}"/>
              </a:ext>
            </a:extLst>
          </p:cNvPr>
          <p:cNvSpPr txBox="1"/>
          <p:nvPr/>
        </p:nvSpPr>
        <p:spPr>
          <a:xfrm>
            <a:off x="5080000" y="1981200"/>
            <a:ext cx="6299200" cy="2082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영상 요약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· Boston Dynamics </a:t>
            </a:r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공식 영상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
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•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엔진 커버를 부품 용기에서 대차로 스스로 옮깁니다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
• ML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비전 모델이 설비와 보관함 위치를 찾습니다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
•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원격 조종 없이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센서로 실패를 알아채고 다시 시도합니다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98486400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3F567A2-FC76-49D0-BD4B-A226915D17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사례 영상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E0704AE-1E5F-4C4F-99A3-F84532B8A2A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Spot · 이동하며 설비 점검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2992966-F1E2-4096-815D-21ACC5D9225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5800" y="1930400"/>
            <a:ext cx="3810000" cy="28575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F7FCA4CA-090F-40F7-A4F0-B4AE16AC4804}"/>
              </a:ext>
            </a:extLst>
          </p:cNvPr>
          <p:cNvSpPr>
            <a:spLocks noGrp="1"/>
          </p:cNvSpPr>
          <p:nvPr/>
        </p:nvSpPr>
        <p:spPr>
          <a:xfrm>
            <a:off x="4826000" y="4267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0:00부터 약 45초. 이동·관찰·설비측정을 구별합니다.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92DBBFD-AFF9-4358-AE6C-902D9D32EBCB}"/>
              </a:ext>
            </a:extLst>
          </p:cNvPr>
          <p:cNvSpPr>
            <a:spLocks noGrp="1"/>
          </p:cNvSpPr>
          <p:nvPr/>
        </p:nvSpPr>
        <p:spPr>
          <a:xfrm>
            <a:off x="4826000" y="4775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영상의 카메라 영상과 열화상에서 읽을 수 있는 것을 적으세요.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4378593-2EF3-4C57-B8B4-79B99848C541}"/>
              </a:ext>
            </a:extLst>
          </p:cNvPr>
          <p:cNvSpPr>
            <a:spLocks noGrp="1"/>
          </p:cNvSpPr>
          <p:nvPr/>
        </p:nvSpPr>
        <p:spPr>
          <a:xfrm>
            <a:off x="4826000" y="5283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이동, 측정, 담당자의 판단이 각각 어디에 해당하는지 구별합니다.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4C8068-1CED-474D-8DBE-4A1F30AC2D7F}"/>
              </a:ext>
            </a:extLst>
          </p:cNvPr>
          <p:cNvSpPr>
            <a:spLocks noGrp="1"/>
          </p:cNvSpPr>
          <p:nvPr/>
        </p:nvSpPr>
        <p:spPr>
          <a:xfrm>
            <a:off x="4826000" y="5791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관찰 장면만으로 자율 판단의 범위를 단정하지 않습니다.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7D2B3D6-FA78-4944-8927-A17A4D96D747}"/>
              </a:ext>
            </a:extLst>
          </p:cNvPr>
          <p:cNvSpPr>
            <a:spLocks noGrp="1"/>
          </p:cNvSpPr>
          <p:nvPr/>
        </p:nvSpPr>
        <p:spPr>
          <a:xfrm>
            <a:off x="685800" y="4940300"/>
            <a:ext cx="3810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hlinkClick r:id="rId4"/>
              </a:rPr>
              <a:t>영상 재생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DC6C3F1-4AC5-4BFA-91C3-E12B279A29AA}"/>
              </a:ext>
            </a:extLst>
          </p:cNvPr>
          <p:cNvSpPr>
            <a:spLocks noGrp="1"/>
          </p:cNvSpPr>
          <p:nvPr/>
        </p:nvSpPr>
        <p:spPr>
          <a:xfrm>
            <a:off x="685800" y="5270500"/>
            <a:ext cx="3810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172E3A"/>
                </a:solidFill>
                <a:latin typeface="Consolas"/>
                <a:ea typeface="Consolas"/>
                <a:cs typeface="Consolas"/>
              </a:defRPr>
            </a:pPr>
            <a:r>
              <a:rPr sz="1100" u="sng">
                <a:hlinkClick r:id="rId4"/>
              </a:rPr>
              <a:t>https://www.youtube.com/watch?v=iubgWPHsuWM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232A174-8786-4E44-A3DF-D95A5E84798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15DF8DF-2C3F-46C6-B488-2EB83797FFB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113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920DBFD-6DA5-4830-9D9E-4B6F48E9E769}"/>
              </a:ext>
            </a:extLst>
          </p:cNvPr>
          <p:cNvSpPr/>
          <p:nvPr/>
        </p:nvSpPr>
        <p:spPr>
          <a:xfrm>
            <a:off x="4826000" y="1930400"/>
            <a:ext cx="6680200" cy="21844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9DBDD8E0-E2A9-4899-B376-F57031FDCFEC}"/>
              </a:ext>
            </a:extLst>
          </p:cNvPr>
          <p:cNvSpPr/>
          <p:nvPr/>
        </p:nvSpPr>
        <p:spPr>
          <a:xfrm>
            <a:off x="4826000" y="1930400"/>
            <a:ext cx="76200" cy="2184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8C9006-3B40-4D38-A6EE-B4E374052642}"/>
              </a:ext>
            </a:extLst>
          </p:cNvPr>
          <p:cNvSpPr txBox="1"/>
          <p:nvPr/>
        </p:nvSpPr>
        <p:spPr>
          <a:xfrm>
            <a:off x="5080000" y="1981200"/>
            <a:ext cx="6299200" cy="2082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영상 요약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· Boston Dynamics × National Grid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
•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미국 전력회사의 고전압 설비 점검 사례입니다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
•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목적은 작업자 안전과 설비 가동 유지입니다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
•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위험 구역을 순회하며 영상과 열화상을 기록합니다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999438131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153B628-4C11-41F9-87C3-0423E5F655D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참고 자료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C9E2B9F-2EE4-46D0-B9A7-B0D1F9DBC05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WEF · 피지컬 AI 산업 보고서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33B52BA-4BB2-4DAB-AEC6-B5D90D8D04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073360-160E-4E09-AC9D-2ECDF959B4E2}"/>
              </a:ext>
            </a:extLst>
          </p:cNvPr>
          <p:cNvSpPr>
            <a:spLocks noGrp="1"/>
          </p:cNvSpPr>
          <p:nvPr/>
        </p:nvSpPr>
        <p:spPr>
          <a:xfrm>
            <a:off x="685800" y="5842000"/>
            <a:ext cx="19050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50800" rIns="203200" bIns="50800" anchor="ctr" anchorCtr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solidFill>
                  <a:srgbClr val="172E3A"/>
                </a:solidFill>
                <a:latin typeface="Noto Sans KR"/>
                <a:ea typeface="Noto Sans KR"/>
                <a:hlinkClick r:id="rId3"/>
              </a:rPr>
              <a:t>원문 읽기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C25B5A9-6C43-43AD-918D-2331E4AB515A}"/>
              </a:ext>
            </a:extLst>
          </p:cNvPr>
          <p:cNvSpPr>
            <a:spLocks noGrp="1"/>
          </p:cNvSpPr>
          <p:nvPr/>
        </p:nvSpPr>
        <p:spPr>
          <a:xfrm>
            <a:off x="2667000" y="5842000"/>
            <a:ext cx="8839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50800" rIns="203200" bIns="50800" anchor="ctr" anchorCtr="0">
            <a:noAutofit/>
          </a:bodyPr>
          <a:lstStyle/>
          <a:p>
            <a:pPr>
              <a:defRPr sz="14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sz="1200" u="sng">
                <a:solidFill>
                  <a:srgbClr val="08776D"/>
                </a:solidFill>
                <a:latin typeface="Noto Sans KR"/>
                <a:ea typeface="Noto Sans KR"/>
                <a:hlinkClick r:id="rId3"/>
              </a:rPr>
              <a:t>https:</a:t>
            </a:r>
            <a:r>
              <a:rPr sz="1200" u="sng">
                <a:solidFill>
                  <a:srgbClr val="172E3A"/>
                </a:solidFill>
                <a:latin typeface="Noto Sans KR"/>
                <a:ea typeface="Noto Sans KR"/>
                <a:hlinkClick r:id="rId3"/>
              </a:rPr>
              <a:t>//www.weforum.org/publications/physical-ai-powering-the-new-age-of-industrial-operations/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BAACE2A-4C62-4F08-8674-8F0E68CA7C8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22D03F3-E980-4205-B7CA-5D4523486D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114</a:t>
            </a: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D8BE85-1646-4AF2-84AA-8DBC7ECB6C15}"/>
              </a:ext>
            </a:extLst>
          </p:cNvPr>
          <p:cNvSpPr txBox="1"/>
          <p:nvPr/>
        </p:nvSpPr>
        <p:spPr>
          <a:xfrm>
            <a:off x="685800" y="19050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세계경제포럼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(WEF)·BCG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공동 백서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· 2025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년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9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월 발행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CCA824-1A1A-461E-A000-1344FE1CFCFC}"/>
              </a:ext>
            </a:extLst>
          </p:cNvPr>
          <p:cNvSpPr txBox="1"/>
          <p:nvPr/>
        </p:nvSpPr>
        <p:spPr>
          <a:xfrm>
            <a:off x="685800" y="23368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4A5A63"/>
                </a:solidFill>
                <a:latin typeface="Noto Sans KR"/>
                <a:ea typeface="Noto Sans KR"/>
              </a:rPr>
              <a:t>핵심 요약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10205D8-FB0B-40F9-8753-FE26AF2BBC27}"/>
              </a:ext>
            </a:extLst>
          </p:cNvPr>
          <p:cNvSpPr/>
          <p:nvPr/>
        </p:nvSpPr>
        <p:spPr>
          <a:xfrm>
            <a:off x="685800" y="2692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정의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스스로 인지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추론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행동하는 로봇 시스템을 피지컬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AI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라고 부릅니다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9" name="AccentBar">
            <a:extLst>
              <a:ext uri="{FF2B5EF4-FFF2-40B4-BE49-F238E27FC236}">
                <a16:creationId xmlns:a16="http://schemas.microsoft.com/office/drawing/2014/main" id="{E3140108-40DB-470E-9A4A-BC21B3B41CE3}"/>
              </a:ext>
            </a:extLst>
          </p:cNvPr>
          <p:cNvSpPr/>
          <p:nvPr/>
        </p:nvSpPr>
        <p:spPr>
          <a:xfrm>
            <a:off x="685800" y="2692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2839B57-EC88-4088-8BAF-C5A4ACE5D120}"/>
              </a:ext>
            </a:extLst>
          </p:cNvPr>
          <p:cNvSpPr/>
          <p:nvPr/>
        </p:nvSpPr>
        <p:spPr>
          <a:xfrm>
            <a:off x="685800" y="3581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분류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규칙 기반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학습 기반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맥락 기반 로봇이 현장에서 함께 쓰인다고 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1" name="AccentBar">
            <a:extLst>
              <a:ext uri="{FF2B5EF4-FFF2-40B4-BE49-F238E27FC236}">
                <a16:creationId xmlns:a16="http://schemas.microsoft.com/office/drawing/2014/main" id="{AAE0C467-C888-41BB-A4AD-879407659115}"/>
              </a:ext>
            </a:extLst>
          </p:cNvPr>
          <p:cNvSpPr/>
          <p:nvPr/>
        </p:nvSpPr>
        <p:spPr>
          <a:xfrm>
            <a:off x="685800" y="3581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3789213-B37A-4779-8201-8B7213363B76}"/>
              </a:ext>
            </a:extLst>
          </p:cNvPr>
          <p:cNvSpPr/>
          <p:nvPr/>
        </p:nvSpPr>
        <p:spPr>
          <a:xfrm>
            <a:off x="685800" y="4470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사례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Amazon·Foxconn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을 들고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확산 조건으로 기술 스택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협력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·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인력 전환을 꼽습니다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3" name="AccentBar">
            <a:extLst>
              <a:ext uri="{FF2B5EF4-FFF2-40B4-BE49-F238E27FC236}">
                <a16:creationId xmlns:a16="http://schemas.microsoft.com/office/drawing/2014/main" id="{664F44A2-C396-40EC-A35E-DBBF93FF6603}"/>
              </a:ext>
            </a:extLst>
          </p:cNvPr>
          <p:cNvSpPr/>
          <p:nvPr/>
        </p:nvSpPr>
        <p:spPr>
          <a:xfrm>
            <a:off x="685800" y="4470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59A0FFB-8923-4289-A63F-F44F2054782C}"/>
              </a:ext>
            </a:extLst>
          </p:cNvPr>
          <p:cNvSpPr txBox="1"/>
          <p:nvPr/>
        </p:nvSpPr>
        <p:spPr>
          <a:xfrm>
            <a:off x="685800" y="53848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읽는 법</a:t>
            </a:r>
            <a:r>
              <a:rPr lang="en-US" altLang="ko-KR" sz="1600" b="1">
                <a:solidFill>
                  <a:srgbClr val="172E3A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발행 주체와 날짜를 확인하고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현재 운영 사례와 앞으로의 계획을 구별합니다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29829424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C57C5E1-08C6-4DB2-8D70-F80EBD124B8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참고 자료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0EE8CF8-11D6-49D8-9507-FE8FFE2BCBF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Amazon · 로봇과 이동 조정 모델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D807F0-F6AB-4C6F-9C85-F34EF6D1C4C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8341DB1-5276-4F19-99AE-4F0FD9CD7DAA}"/>
              </a:ext>
            </a:extLst>
          </p:cNvPr>
          <p:cNvSpPr>
            <a:spLocks noGrp="1"/>
          </p:cNvSpPr>
          <p:nvPr/>
        </p:nvSpPr>
        <p:spPr>
          <a:xfrm>
            <a:off x="685800" y="5842000"/>
            <a:ext cx="19050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50800" rIns="203200" bIns="50800" anchor="ctr" anchorCtr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solidFill>
                  <a:srgbClr val="172E3A"/>
                </a:solidFill>
                <a:latin typeface="Noto Sans KR"/>
                <a:ea typeface="Noto Sans KR"/>
                <a:hlinkClick r:id="rId3"/>
              </a:rPr>
              <a:t>원문 읽기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193A57E-8426-4D76-B6AC-2D39A9AFA0B2}"/>
              </a:ext>
            </a:extLst>
          </p:cNvPr>
          <p:cNvSpPr>
            <a:spLocks noGrp="1"/>
          </p:cNvSpPr>
          <p:nvPr/>
        </p:nvSpPr>
        <p:spPr>
          <a:xfrm>
            <a:off x="2667000" y="5842000"/>
            <a:ext cx="8839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50800" rIns="203200" bIns="50800" anchor="ctr" anchorCtr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sz="1200" u="sng">
                <a:solidFill>
                  <a:srgbClr val="08776D"/>
                </a:solidFill>
                <a:latin typeface="Noto Sans KR"/>
                <a:ea typeface="Noto Sans KR"/>
                <a:hlinkClick r:id="rId3"/>
              </a:rPr>
              <a:t>https:</a:t>
            </a:r>
            <a:r>
              <a:rPr sz="1200" u="sng">
                <a:solidFill>
                  <a:srgbClr val="172E3A"/>
                </a:solidFill>
                <a:latin typeface="Noto Sans KR"/>
                <a:ea typeface="Noto Sans KR"/>
                <a:hlinkClick r:id="rId3"/>
              </a:rPr>
              <a:t>//www.aboutamazon.com/news/operations/amazon-million-robots-ai-foundation-model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D3A8FA0-BA7B-4698-84C1-497ECCFC8D0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71B604E-6A8F-420F-958E-8F501E91651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115</a:t>
            </a: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4F57DC-C21C-4AC5-8926-69DD88F51A6A}"/>
              </a:ext>
            </a:extLst>
          </p:cNvPr>
          <p:cNvSpPr txBox="1"/>
          <p:nvPr/>
        </p:nvSpPr>
        <p:spPr>
          <a:xfrm>
            <a:off x="685800" y="19050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Amazon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공식 뉴스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· 2025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년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6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월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30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일 발표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FBD97A-A8AF-4871-A8D8-AF2AF6007641}"/>
              </a:ext>
            </a:extLst>
          </p:cNvPr>
          <p:cNvSpPr txBox="1"/>
          <p:nvPr/>
        </p:nvSpPr>
        <p:spPr>
          <a:xfrm>
            <a:off x="685800" y="23368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4A5A63"/>
                </a:solidFill>
                <a:latin typeface="Noto Sans KR"/>
                <a:ea typeface="Noto Sans KR"/>
              </a:rPr>
              <a:t>핵심 요약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E9822CF-505C-40FE-BB58-0C6EEA043739}"/>
              </a:ext>
            </a:extLst>
          </p:cNvPr>
          <p:cNvSpPr/>
          <p:nvPr/>
        </p:nvSpPr>
        <p:spPr>
          <a:xfrm>
            <a:off x="685800" y="2692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규모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100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만 번째 로봇을 일본 물류센터에 배치했습니다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전 세계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300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곳 이상입니다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19" name="AccentBar">
            <a:extLst>
              <a:ext uri="{FF2B5EF4-FFF2-40B4-BE49-F238E27FC236}">
                <a16:creationId xmlns:a16="http://schemas.microsoft.com/office/drawing/2014/main" id="{A3482C71-F458-41E5-93A9-DE27E9EB64E4}"/>
              </a:ext>
            </a:extLst>
          </p:cNvPr>
          <p:cNvSpPr/>
          <p:nvPr/>
        </p:nvSpPr>
        <p:spPr>
          <a:xfrm>
            <a:off x="685800" y="2692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7D1035F-9C90-4D13-9E27-42AD9D04BC81}"/>
              </a:ext>
            </a:extLst>
          </p:cNvPr>
          <p:cNvSpPr/>
          <p:nvPr/>
        </p:nvSpPr>
        <p:spPr>
          <a:xfrm>
            <a:off x="685800" y="3581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모델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DeepFleet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은 로봇 무리의 이동 경로를 조정하는 생성형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AI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기반 모델입니다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1" name="AccentBar">
            <a:extLst>
              <a:ext uri="{FF2B5EF4-FFF2-40B4-BE49-F238E27FC236}">
                <a16:creationId xmlns:a16="http://schemas.microsoft.com/office/drawing/2014/main" id="{9E887316-2286-46C6-A73D-0112ED92B8B0}"/>
              </a:ext>
            </a:extLst>
          </p:cNvPr>
          <p:cNvSpPr/>
          <p:nvPr/>
        </p:nvSpPr>
        <p:spPr>
          <a:xfrm>
            <a:off x="685800" y="3581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F6CD989-8B83-4EF7-A81C-1ACABB880706}"/>
              </a:ext>
            </a:extLst>
          </p:cNvPr>
          <p:cNvSpPr/>
          <p:nvPr/>
        </p:nvSpPr>
        <p:spPr>
          <a:xfrm>
            <a:off x="685800" y="4470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효과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로봇 이동 시간이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10%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개선된다고 밝혔습니다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회사가 발표한 수치입니다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3" name="AccentBar">
            <a:extLst>
              <a:ext uri="{FF2B5EF4-FFF2-40B4-BE49-F238E27FC236}">
                <a16:creationId xmlns:a16="http://schemas.microsoft.com/office/drawing/2014/main" id="{1E38FE0F-AAA1-474E-9F06-E6DDEB237854}"/>
              </a:ext>
            </a:extLst>
          </p:cNvPr>
          <p:cNvSpPr/>
          <p:nvPr/>
        </p:nvSpPr>
        <p:spPr>
          <a:xfrm>
            <a:off x="685800" y="4470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28CE66B-DA53-4653-9B5F-C6C9542DD68B}"/>
              </a:ext>
            </a:extLst>
          </p:cNvPr>
          <p:cNvSpPr txBox="1"/>
          <p:nvPr/>
        </p:nvSpPr>
        <p:spPr>
          <a:xfrm>
            <a:off x="685800" y="53848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읽는 법</a:t>
            </a:r>
            <a:r>
              <a:rPr lang="en-US" altLang="ko-KR" sz="1600" b="1">
                <a:solidFill>
                  <a:srgbClr val="172E3A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발행 주체와 날짜를 확인하고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현재 운영 사례와 앞으로의 계획을 구별합니다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71262902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C4F0094-E77F-40E0-B982-90BC63BA9D5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참고 자료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B63E7D7-FC1A-48A8-961C-4383A0B3712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기사의 시연 결과와 계획 읽기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67B19C9-5387-4B6A-8016-6F5D43CEC13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A09EDB6-0724-47EB-9290-001C2D89B5A1}"/>
              </a:ext>
            </a:extLst>
          </p:cNvPr>
          <p:cNvSpPr>
            <a:spLocks noGrp="1"/>
          </p:cNvSpPr>
          <p:nvPr/>
        </p:nvSpPr>
        <p:spPr>
          <a:xfrm>
            <a:off x="685800" y="5842000"/>
            <a:ext cx="19050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50800" rIns="203200" bIns="50800" anchor="ctr" anchorCtr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solidFill>
                  <a:srgbClr val="172E3A"/>
                </a:solidFill>
                <a:latin typeface="Noto Sans KR"/>
                <a:ea typeface="Noto Sans KR"/>
                <a:hlinkClick r:id="rId3"/>
              </a:rPr>
              <a:t>참고 자료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8CA03A1-E2C0-4317-9629-EC71D51E870B}"/>
              </a:ext>
            </a:extLst>
          </p:cNvPr>
          <p:cNvSpPr>
            <a:spLocks noGrp="1"/>
          </p:cNvSpPr>
          <p:nvPr/>
        </p:nvSpPr>
        <p:spPr>
          <a:xfrm>
            <a:off x="2667000" y="5842000"/>
            <a:ext cx="8839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50800" rIns="203200" bIns="50800" anchor="ctr" anchorCtr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sz="1200" u="sng">
                <a:solidFill>
                  <a:srgbClr val="08776D"/>
                </a:solidFill>
                <a:latin typeface="Noto Sans KR"/>
                <a:ea typeface="Noto Sans KR"/>
                <a:hlinkClick r:id="rId3"/>
              </a:rPr>
              <a:t>https:</a:t>
            </a:r>
            <a:r>
              <a:rPr sz="1200" u="sng">
                <a:solidFill>
                  <a:srgbClr val="172E3A"/>
                </a:solidFill>
                <a:latin typeface="Noto Sans KR"/>
                <a:ea typeface="Noto Sans KR"/>
                <a:hlinkClick r:id="rId3"/>
              </a:rPr>
              <a:t>//apnews.com/article/8de7b2470c23f5f22441ad1ad7555136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EE788B3-BC4F-485C-ADFD-7A3282A4200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FD6FE81-27F7-4CB1-B1D3-2937AE3628A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116</a:t>
            </a: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7DF7C2-E747-40E3-A7C5-8B461AC390CA}"/>
              </a:ext>
            </a:extLst>
          </p:cNvPr>
          <p:cNvSpPr txBox="1"/>
          <p:nvPr/>
        </p:nvSpPr>
        <p:spPr>
          <a:xfrm>
            <a:off x="685800" y="19050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AP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통신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· 2026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년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1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월 </a:t>
            </a:r>
            <a:r>
              <a:rPr lang="en-US" altLang="ko-KR" sz="1600" b="1">
                <a:solidFill>
                  <a:srgbClr val="08776D"/>
                </a:solidFill>
                <a:latin typeface="Noto Sans KR"/>
                <a:ea typeface="Noto Sans KR"/>
              </a:rPr>
              <a:t>CES </a:t>
            </a:r>
            <a:r>
              <a:rPr lang="ko-KR" altLang="en-US" sz="1600" b="1">
                <a:solidFill>
                  <a:srgbClr val="08776D"/>
                </a:solidFill>
                <a:latin typeface="Noto Sans KR"/>
                <a:ea typeface="Noto Sans KR"/>
              </a:rPr>
              <a:t>현장 보도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E1D47E-0917-4333-9A8A-6675C357D22F}"/>
              </a:ext>
            </a:extLst>
          </p:cNvPr>
          <p:cNvSpPr txBox="1"/>
          <p:nvPr/>
        </p:nvSpPr>
        <p:spPr>
          <a:xfrm>
            <a:off x="685800" y="233680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4A5A63"/>
                </a:solidFill>
                <a:latin typeface="Noto Sans KR"/>
                <a:ea typeface="Noto Sans KR"/>
              </a:rPr>
              <a:t>핵심 요약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2BA3AF8-015F-4023-BA59-73A6A1F97ABE}"/>
              </a:ext>
            </a:extLst>
          </p:cNvPr>
          <p:cNvSpPr/>
          <p:nvPr/>
        </p:nvSpPr>
        <p:spPr>
          <a:xfrm>
            <a:off x="685800" y="2692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시연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Atlas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가 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CES 2026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무대에서 처음 공개 시연했습니다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1" name="AccentBar">
            <a:extLst>
              <a:ext uri="{FF2B5EF4-FFF2-40B4-BE49-F238E27FC236}">
                <a16:creationId xmlns:a16="http://schemas.microsoft.com/office/drawing/2014/main" id="{C5F3F765-B3C2-4470-92D6-C0F3740D31B8}"/>
              </a:ext>
            </a:extLst>
          </p:cNvPr>
          <p:cNvSpPr/>
          <p:nvPr/>
        </p:nvSpPr>
        <p:spPr>
          <a:xfrm>
            <a:off x="685800" y="2692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67D8775-F8DD-409C-96A5-A1A379044CFF}"/>
              </a:ext>
            </a:extLst>
          </p:cNvPr>
          <p:cNvSpPr/>
          <p:nvPr/>
        </p:nvSpPr>
        <p:spPr>
          <a:xfrm>
            <a:off x="685800" y="3581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조종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무대 시연은 엔지니어가 원격 조종했고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현장에서는 자율 동작할 계획입니다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3" name="AccentBar">
            <a:extLst>
              <a:ext uri="{FF2B5EF4-FFF2-40B4-BE49-F238E27FC236}">
                <a16:creationId xmlns:a16="http://schemas.microsoft.com/office/drawing/2014/main" id="{9B43474B-8CD2-4D2C-A14D-BCFF0C04F00D}"/>
              </a:ext>
            </a:extLst>
          </p:cNvPr>
          <p:cNvSpPr/>
          <p:nvPr/>
        </p:nvSpPr>
        <p:spPr>
          <a:xfrm>
            <a:off x="685800" y="3581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A560802-B40B-47AC-ADB7-6F14C4A5C0E3}"/>
              </a:ext>
            </a:extLst>
          </p:cNvPr>
          <p:cNvSpPr/>
          <p:nvPr/>
        </p:nvSpPr>
        <p:spPr>
          <a:xfrm>
            <a:off x="685800" y="4470400"/>
            <a:ext cx="10820400" cy="7620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30200" rIns="203200" rtlCol="0" anchor="ctr" anchorCtr="0">
            <a:noAutofit/>
          </a:bodyPr>
          <a:lstStyle/>
          <a:p>
            <a:r>
              <a:rPr lang="ko-KR" altLang="en-US" sz="1900" b="1">
                <a:solidFill>
                  <a:srgbClr val="08776D"/>
                </a:solidFill>
                <a:latin typeface="Noto Sans KR"/>
                <a:ea typeface="Noto Sans KR"/>
              </a:rPr>
              <a:t>계획</a:t>
            </a:r>
            <a:r>
              <a:rPr lang="en-US" altLang="ko-KR" sz="1900" b="1">
                <a:solidFill>
                  <a:srgbClr val="08776D"/>
                </a:solidFill>
                <a:latin typeface="Noto Sans KR"/>
                <a:ea typeface="Noto Sans KR"/>
              </a:rPr>
              <a:t>: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 2028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년까지 현대차 조지아 전기차 공장에 배치할 계획입니다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 </a:t>
            </a:r>
            <a:r>
              <a:rPr lang="ko-KR" altLang="en-US" sz="1900">
                <a:solidFill>
                  <a:srgbClr val="172E3A"/>
                </a:solidFill>
                <a:latin typeface="Noto Sans KR"/>
                <a:ea typeface="Noto Sans KR"/>
              </a:rPr>
              <a:t>아직 완료가 아닙니다</a:t>
            </a:r>
            <a:r>
              <a:rPr lang="en-US" altLang="ko-KR" sz="19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9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  <p:sp>
        <p:nvSpPr>
          <p:cNvPr id="25" name="AccentBar">
            <a:extLst>
              <a:ext uri="{FF2B5EF4-FFF2-40B4-BE49-F238E27FC236}">
                <a16:creationId xmlns:a16="http://schemas.microsoft.com/office/drawing/2014/main" id="{7120E00C-7FBE-42E1-BB2B-9DD76746406D}"/>
              </a:ext>
            </a:extLst>
          </p:cNvPr>
          <p:cNvSpPr/>
          <p:nvPr/>
        </p:nvSpPr>
        <p:spPr>
          <a:xfrm>
            <a:off x="685800" y="4470400"/>
            <a:ext cx="76200" cy="7620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E2B98C-B012-4383-A305-E8AFBECF552B}"/>
              </a:ext>
            </a:extLst>
          </p:cNvPr>
          <p:cNvSpPr txBox="1"/>
          <p:nvPr/>
        </p:nvSpPr>
        <p:spPr>
          <a:xfrm>
            <a:off x="685800" y="5384800"/>
            <a:ext cx="10820400" cy="355600"/>
          </a:xfrm>
          <a:prstGeom prst="rect">
            <a:avLst/>
          </a:prstGeom>
          <a:noFill/>
        </p:spPr>
        <p:txBody>
          <a:bodyPr vertOverflow="overflow" vert="horz" wrap="square" lIns="0" rtlCol="0" anchor="t">
            <a:spAutoFit/>
          </a:bodyPr>
          <a:lstStyle/>
          <a:p>
            <a:pPr algn="l"/>
            <a:r>
              <a:rPr lang="ko-KR" altLang="en-US" sz="1600" b="1">
                <a:solidFill>
                  <a:srgbClr val="172E3A"/>
                </a:solidFill>
                <a:latin typeface="Noto Sans KR"/>
                <a:ea typeface="Noto Sans KR"/>
              </a:rPr>
              <a:t>읽는 법</a:t>
            </a:r>
            <a:r>
              <a:rPr lang="en-US" altLang="ko-KR" sz="1600" b="1">
                <a:solidFill>
                  <a:srgbClr val="172E3A"/>
                </a:solidFill>
                <a:latin typeface="Noto Sans KR"/>
                <a:ea typeface="Noto Sans KR"/>
              </a:rPr>
              <a:t>: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원격 조종 시연과 자율 동작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, </a:t>
            </a:r>
            <a:r>
              <a:rPr lang="ko-KR" altLang="en-US" sz="1600">
                <a:solidFill>
                  <a:srgbClr val="4A5A63"/>
                </a:solidFill>
                <a:latin typeface="Noto Sans KR"/>
                <a:ea typeface="Noto Sans KR"/>
              </a:rPr>
              <a:t>배치 계획과 완료된 운영을 구별합니다</a:t>
            </a:r>
            <a:r>
              <a:rPr lang="en-US" altLang="ko-KR" sz="1600">
                <a:solidFill>
                  <a:srgbClr val="4A5A63"/>
                </a:solidFill>
                <a:latin typeface="Noto Sans KR"/>
                <a:ea typeface="Noto Sans KR"/>
              </a:rPr>
              <a:t>.</a:t>
            </a:r>
            <a:endParaRPr lang="ko-KR" altLang="en-US" sz="1600">
              <a:solidFill>
                <a:srgbClr val="4A5A63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94474259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286E1713-246B-4113-AAEA-FE19A19A189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/>
              <a:t>부록 </a:t>
            </a:r>
            <a:r>
              <a:rPr lang="en-US" altLang="ko-KR"/>
              <a:t>· </a:t>
            </a:r>
            <a:r>
              <a:rPr lang="ko-KR" altLang="en-US"/>
              <a:t>사례 영상</a:t>
            </a:r>
            <a:endParaRPr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E8C52E0-369F-4937-8904-68955DFAE49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인터뷰 · Physical AI의 전망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8227FB4-ADB5-472F-850C-BD3EE1C5F4B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5800" y="1930400"/>
            <a:ext cx="3810000" cy="28575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C69EA1B1-C899-41C9-A3DB-85673C55A58D}"/>
              </a:ext>
            </a:extLst>
          </p:cNvPr>
          <p:cNvSpPr>
            <a:spLocks noGrp="1"/>
          </p:cNvSpPr>
          <p:nvPr/>
        </p:nvSpPr>
        <p:spPr>
          <a:xfrm>
            <a:off x="4826000" y="4267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10:47부터 약 60초. Physical AI 발언의 사례와 전망을 구별합니다.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7E33C8E-10F4-41B4-80C0-C3D599E2D785}"/>
              </a:ext>
            </a:extLst>
          </p:cNvPr>
          <p:cNvSpPr>
            <a:spLocks noGrp="1"/>
          </p:cNvSpPr>
          <p:nvPr/>
        </p:nvSpPr>
        <p:spPr>
          <a:xfrm>
            <a:off x="4826000" y="4775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발언 한 개를 골라 현재의 사례인지 앞으로의 전망인지 적으세요.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68706E6-8A96-4026-9439-0F17EF20B8F3}"/>
              </a:ext>
            </a:extLst>
          </p:cNvPr>
          <p:cNvSpPr>
            <a:spLocks noGrp="1"/>
          </p:cNvSpPr>
          <p:nvPr/>
        </p:nvSpPr>
        <p:spPr>
          <a:xfrm>
            <a:off x="4826000" y="5283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주장이 성립하려면 필요한 장비·데이터·운영 조건을 적으세요.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4786E1C-40A4-4352-8F0B-3A94863E1DFA}"/>
              </a:ext>
            </a:extLst>
          </p:cNvPr>
          <p:cNvSpPr>
            <a:spLocks noGrp="1"/>
          </p:cNvSpPr>
          <p:nvPr/>
        </p:nvSpPr>
        <p:spPr>
          <a:xfrm>
            <a:off x="4826000" y="5791200"/>
            <a:ext cx="6680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>
              <a:defRPr sz="21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sz="1600"/>
              <a:t>인터뷰 발언과 실제 현장 운영 결과를 구별합니다.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9613290-89AF-4FB8-8D8C-31472DEC9DDD}"/>
              </a:ext>
            </a:extLst>
          </p:cNvPr>
          <p:cNvSpPr>
            <a:spLocks noGrp="1"/>
          </p:cNvSpPr>
          <p:nvPr/>
        </p:nvSpPr>
        <p:spPr>
          <a:xfrm>
            <a:off x="685800" y="4940300"/>
            <a:ext cx="3810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sz="1600" u="sng">
                <a:hlinkClick r:id="rId4"/>
              </a:rPr>
              <a:t>영상 재생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0076A71-3D8A-424A-A5EB-ED57CEF30982}"/>
              </a:ext>
            </a:extLst>
          </p:cNvPr>
          <p:cNvSpPr>
            <a:spLocks noGrp="1"/>
          </p:cNvSpPr>
          <p:nvPr/>
        </p:nvSpPr>
        <p:spPr>
          <a:xfrm>
            <a:off x="685800" y="5270500"/>
            <a:ext cx="38100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172E3A"/>
                </a:solidFill>
                <a:latin typeface="Consolas"/>
                <a:ea typeface="Consolas"/>
                <a:cs typeface="Consolas"/>
              </a:defRPr>
            </a:pPr>
            <a:r>
              <a:rPr sz="1100" u="sng">
                <a:hlinkClick r:id="rId4"/>
              </a:rPr>
              <a:t>https://www.youtube.com/watch?v=gwW8GKwHB3I&amp;t=647s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D9AB76-1DCC-4A7F-A6AA-FB3AFC779E2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데이터 기초 · 표에서 CSV와 JSON까지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8088E42-77CE-49C3-87CC-9DD0F2C0543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/>
              <a:t>117</a:t>
            </a:r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6376872-5EFC-40AD-96F4-E99230D54C99}"/>
              </a:ext>
            </a:extLst>
          </p:cNvPr>
          <p:cNvSpPr/>
          <p:nvPr/>
        </p:nvSpPr>
        <p:spPr>
          <a:xfrm>
            <a:off x="4826000" y="1930400"/>
            <a:ext cx="6680200" cy="2184400"/>
          </a:xfrm>
          <a:prstGeom prst="rect">
            <a:avLst/>
          </a:prstGeom>
          <a:solidFill>
            <a:srgbClr val="FFFFFF">
              <a:alpha val="88000"/>
            </a:srgbClr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AccentBar">
            <a:extLst>
              <a:ext uri="{FF2B5EF4-FFF2-40B4-BE49-F238E27FC236}">
                <a16:creationId xmlns:a16="http://schemas.microsoft.com/office/drawing/2014/main" id="{1B5AA7FD-41D9-4E73-B06C-8C80DA0C3E7B}"/>
              </a:ext>
            </a:extLst>
          </p:cNvPr>
          <p:cNvSpPr/>
          <p:nvPr/>
        </p:nvSpPr>
        <p:spPr>
          <a:xfrm>
            <a:off x="4826000" y="1930400"/>
            <a:ext cx="76200" cy="2184400"/>
          </a:xfrm>
          <a:prstGeom prst="rect">
            <a:avLst/>
          </a:prstGeom>
          <a:solidFill>
            <a:srgbClr val="08776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65C842-5FE1-4253-BCE8-A3FE5A20EB2E}"/>
              </a:ext>
            </a:extLst>
          </p:cNvPr>
          <p:cNvSpPr txBox="1"/>
          <p:nvPr/>
        </p:nvSpPr>
        <p:spPr>
          <a:xfrm>
            <a:off x="5080000" y="1981200"/>
            <a:ext cx="6299200" cy="2082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영상 요약 </a:t>
            </a:r>
            <a:r>
              <a:rPr lang="en-US" altLang="ko-KR" sz="1700" b="1">
                <a:solidFill>
                  <a:srgbClr val="08776D"/>
                </a:solidFill>
                <a:latin typeface="Noto Sans KR"/>
                <a:ea typeface="Noto Sans KR"/>
              </a:rPr>
              <a:t>· All-In Podcast, </a:t>
            </a:r>
            <a:r>
              <a:rPr lang="ko-KR" altLang="en-US" sz="1700" b="1">
                <a:solidFill>
                  <a:srgbClr val="08776D"/>
                </a:solidFill>
                <a:latin typeface="Noto Sans KR"/>
                <a:ea typeface="Noto Sans KR"/>
              </a:rPr>
              <a:t>젠슨 황 인터뷰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
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• 10:47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부터 피지컬 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AI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의 사례와 전망을 이야기합니다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
• AI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에이전트와 추론 수요 증가도 함께 다룹니다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
•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기업 대표의 전망이며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, </a:t>
            </a:r>
            <a:r>
              <a:rPr lang="ko-KR" altLang="en-US" sz="1700">
                <a:solidFill>
                  <a:srgbClr val="172E3A"/>
                </a:solidFill>
                <a:latin typeface="Noto Sans KR"/>
                <a:ea typeface="Noto Sans KR"/>
              </a:rPr>
              <a:t>검증된 운영 결과는 아닙니다</a:t>
            </a:r>
            <a:r>
              <a:rPr lang="en-US" altLang="ko-KR" sz="1700">
                <a:solidFill>
                  <a:srgbClr val="172E3A"/>
                </a:solidFill>
                <a:latin typeface="Noto Sans KR"/>
                <a:ea typeface="Noto Sans KR"/>
              </a:rPr>
              <a:t>.</a:t>
            </a:r>
            <a:endParaRPr lang="ko-KR" altLang="en-US" sz="1700">
              <a:solidFill>
                <a:srgbClr val="172E3A"/>
              </a:solidFill>
              <a:latin typeface="Noto Sans KR"/>
              <a:ea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642529061"/>
      </p:ext>
    </p:extLst>
  </p:cSld>
  <p:clrMapOvr>
    <a:masterClrMapping/>
  </p:clrMapOvr>
</p:sld>
</file>

<file path=ppt/slides/slide1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e33017541fe24c2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9F070AC-4033-4355-8B58-722ECE36877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2219E014-FDC7-4204-974C-A69E701C806C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CSV·JSON 실습</a:t>
            </a:r>
          </a:p>
        </p:txBody>
      </p:sp>
      <p:sp>
        <p:nvSpPr>
          <p:cNvPr id="4" name="">
            <a:extLst>
              <a:ext uri="{FF2B5EF4-FFF2-40B4-BE49-F238E27FC236}">
                <ns3:creationId id="{0FEFAF78-549F-4DB2-B2DA-88ADA4F6A5DB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2026-10-08 · 데이터 기초</a:t>
            </a:r>
          </a:p>
        </p:txBody>
      </p:sp>
      <p:sp>
        <p:nvSpPr>
          <p:cNvPr id="5" name="">
            <a:extLst>
              <a:ext uri="{FF2B5EF4-FFF2-40B4-BE49-F238E27FC236}">
                <ns3:creationId id="{3BC59E23-C17E-4F73-A5EA-544E83533B93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파일을 읽고, 직접 고치고, 새로 작성합니다.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0F2B1EC-362E-4C04-8E1D-39BACBEE8ED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7" name="">
            <a:extLst>
              <a:ext uri="{FF2B5EF4-FFF2-40B4-BE49-F238E27FC236}">
                <ns3:creationId id="{7DB928E5-3214-4602-8C97-72C8EB90BD6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1273107560"/>
      </p:ext>
    </p:extLst>
  </p:cSld>
</p:sld>
</file>

<file path=ppt/slides/slide1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0c7069086ae2413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AF3C8AE-8ACE-469B-AED5-39FE102EDA9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04F7A3B-0A19-4B05-BBB7-16809503773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실습 파일을 준비하세요</a:t>
            </a:r>
          </a:p>
        </p:txBody>
      </p:sp>
      <p:sp>
        <p:nvSpPr>
          <p:cNvPr id="4" name="">
            <a:extLst>
              <a:ext uri="{FF2B5EF4-FFF2-40B4-BE49-F238E27FC236}">
                <ns3:creationId id="{8C4C6396-9D2A-4F7F-B0B1-D969FB91101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2A99C57-A69A-44FB-B9FE-921B4039566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웹의 CSV 또는 JSON 원문만 복사합니다.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3217B39D-155D-4C07-A312-EF155394E1D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데이터 실습실 입력칸 또는 텍스트 편집기에 붙여넣습니다.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AE9DA1A0-55D8-4F71-B3A0-A9446EC8765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UTF-8로 저장하고 .csv.txt나 .json.txt가 아닌지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F27D8EB-561C-4D47-BDF5-A5009FE69C2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9" name="">
            <a:extLst>
              <a:ext uri="{FF2B5EF4-FFF2-40B4-BE49-F238E27FC236}">
                <ns3:creationId id="{C91E2A0E-9A26-4518-B94A-FC05187765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1976243466"/>
      </p:ext>
    </p:extLst>
  </p:cSld>
</p:sld>
</file>

<file path=ppt/slides/slide1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93effd8f1c3460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5D0C10F-70DA-4693-852F-3817B378E82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6EEBCBC-4A28-467D-B3D4-823F8C7C28A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필수 다섯 활동부터 진행합니다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EEBDE557-FD87-44CD-926B-F771AC61A00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57CE13A-389B-4B59-A46D-CC4B49F7095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4교시: A13 주문표 작성 / A14 쉼표와 따옴표</a:t>
            </a:r>
          </a:p>
        </p:txBody>
      </p:sp>
      <p:sp>
        <p:nvSpPr>
          <p:cNvPr id="6" name="">
            <a:extLst>
              <a:ext uri="{FF2B5EF4-FFF2-40B4-BE49-F238E27FC236}">
                <ns3:creationId id="{9DA62EFE-1328-466B-876B-B7D56BDC31F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5교시: A17 JSON 자료형 / A19 문법과 값 고치기</a:t>
            </a:r>
          </a:p>
        </p:txBody>
      </p:sp>
      <p:sp>
        <p:nvSpPr>
          <p:cNvPr id="7" name="">
            <a:extLst>
              <a:ext uri="{FF2B5EF4-FFF2-40B4-BE49-F238E27FC236}">
                <ns3:creationId id="{7C371D2E-2F4F-4AA7-A042-F7C7581AA68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6교시: A22 CSV·JSON 종합 작성</a:t>
            </a:r>
          </a:p>
        </p:txBody>
      </p:sp>
      <p:sp>
        <p:nvSpPr>
          <p:cNvPr id="8" name="">
            <a:extLst>
              <a:ext uri="{FF2B5EF4-FFF2-40B4-BE49-F238E27FC236}">
                <ns3:creationId id="{EC1C4121-7014-4DD3-91B3-8A6886D55EE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더 해보기: A15·A16·A18·A20. Python 문법을 작성할 필요는 없습니다.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49B21080-B9EA-4FA1-AF36-6D28542596B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0" name="">
            <a:extLst>
              <a:ext uri="{FF2B5EF4-FFF2-40B4-BE49-F238E27FC236}">
                <ns3:creationId id="{DFDB2B13-6464-4458-B584-F79091933A8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359466326"/>
      </p:ext>
    </p:extLst>
  </p:cSld>
</p:sld>
</file>

<file path=ppt/slides/slide1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443dba392e44b2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CB5A542-44FF-49C9-B515-5D14438D56E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FBD677B-BD12-40E0-A14B-25FF499DA94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A13 · 주문표를 CSV로 직접 작성하기</a:t>
            </a:r>
          </a:p>
        </p:txBody>
      </p:sp>
      <p:sp>
        <p:nvSpPr>
          <p:cNvPr id="4" name="">
            <a:extLst>
              <a:ext uri="{FF2B5EF4-FFF2-40B4-BE49-F238E27FC236}">
                <ns3:creationId id="{1F814FA5-F264-4EA1-A61F-806F7E0F51E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B5500A9-82E3-40C9-8198-EA7D1358945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업무 메모를 열 이름과 기록으로 나누어 파일로 작성합니다.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E8A3364-3041-4BE7-A087-E52B3656FD6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행은 주문 한 건입니다. 첫 줄의 order_id는 주문 번호, item은 상품명입니다.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352800F-5A6A-490B-B18B-EA9FD38D32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DECB062C-79BA-45C7-BC99-543018E4FA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1834239259"/>
      </p:ext>
    </p:extLst>
  </p:cSld>
</p:sld>
</file>

<file path=ppt/slides/slide1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9447d14139ca43c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4ED3DE5-E431-4320-9305-2A73604B52D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3BFB1C0-237E-434A-8FB4-AC545969065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A13 · 정상 파일</a:t>
            </a:r>
          </a:p>
        </p:txBody>
      </p:sp>
      <p:sp>
        <p:nvSpPr>
          <p:cNvPr id="4" name="">
            <a:extLst>
              <a:ext uri="{FF2B5EF4-FFF2-40B4-BE49-F238E27FC236}">
                <ns3:creationId id="{D84463D5-AF30-4E92-A106-FB217374578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1AA4E69-C891-418C-867F-9A19F55C295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CSV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6BE1226B-B847-47BC-8798-BD4193A61A9A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03F6E9BF-46B6-4973-8159-79152DEE4495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181E44F7-96D5-46BE-90C4-BB1B71D04CEC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order_id,item,quantity,status,note</a:t>
            </a:r>
          </a:p>
        </p:txBody>
      </p:sp>
      <p:sp>
        <p:nvSpPr>
          <p:cNvPr id="9" name="">
            <a:extLst>
              <a:ext uri="{FF2B5EF4-FFF2-40B4-BE49-F238E27FC236}">
                <ns3:creationId id="{0BD39355-D4E7-4409-A4E2-DE684A71CBFC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85661F99-1D05-4612-92B7-9EF578899D4C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001,볼트,3,접수,오전 수령</a:t>
            </a:r>
          </a:p>
        </p:txBody>
      </p:sp>
      <p:sp>
        <p:nvSpPr>
          <p:cNvPr id="11" name="">
            <a:extLst>
              <a:ext uri="{FF2B5EF4-FFF2-40B4-BE49-F238E27FC236}">
                <ns3:creationId id="{93EDE700-61F4-4575-AEF1-ED5388F36BD9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BBDB0624-F553-4829-8C87-E07F9BAE04B9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002,너트,0,보류,수량 확인</a:t>
            </a:r>
          </a:p>
        </p:txBody>
      </p:sp>
      <p:sp>
        <p:nvSpPr>
          <p:cNvPr id="13" name="">
            <a:extLst>
              <a:ext uri="{FF2B5EF4-FFF2-40B4-BE49-F238E27FC236}">
                <ns3:creationId id="{7D0C5CDE-D810-4AE8-A7AA-14A231883319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719F0971-3093-4D83-9C21-D78B5661E880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003,와셔,,보류,수량 미확인</a:t>
            </a:r>
          </a:p>
        </p:txBody>
      </p:sp>
      <p:sp>
        <p:nvSpPr>
          <p:cNvPr id="15" name="">
            <a:extLst>
              <a:ext uri="{FF2B5EF4-FFF2-40B4-BE49-F238E27FC236}">
                <ns3:creationId id="{3E0063EF-D162-49E5-8DD7-D49D9AB62AC2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BF6CB7FF-2624-43D5-88AF-E63952E17CD1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004,케이블,2,접수,</a:t>
            </a:r>
          </a:p>
        </p:txBody>
      </p:sp>
      <p:sp>
        <p:nvSpPr>
          <p:cNvPr id="17" name="">
            <a:extLst>
              <a:ext uri="{FF2B5EF4-FFF2-40B4-BE49-F238E27FC236}">
                <ns3:creationId id="{FB6CE294-8679-41E5-BCB9-A065C08EA488}"/>
              </a:ext>
            </a:extLst>
          </p:cNvPr>
          <p:cNvSpPr>
            <a:spLocks noGrp="1"/>
          </p:cNvSpPr>
          <p:nvPr/>
        </p:nvSpPr>
        <p:spPr>
          <a:xfrm>
            <a:off x="838200" y="419957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8" name="">
            <a:extLst>
              <a:ext uri="{FF2B5EF4-FFF2-40B4-BE49-F238E27FC236}">
                <ns3:creationId id="{2C3056E9-B3F0-407B-8256-216135DAFC27}"/>
              </a:ext>
            </a:extLst>
          </p:cNvPr>
          <p:cNvSpPr>
            <a:spLocks noGrp="1"/>
          </p:cNvSpPr>
          <p:nvPr/>
        </p:nvSpPr>
        <p:spPr>
          <a:xfrm>
            <a:off x="1257300" y="417099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005,테이프,1,접수,오후 수령</a:t>
            </a:r>
          </a:p>
        </p:txBody>
      </p:sp>
      <p:sp>
        <p:nvSpPr>
          <p:cNvPr id="19" name="">
            <a:extLst>
              <a:ext uri="{FF2B5EF4-FFF2-40B4-BE49-F238E27FC236}">
                <ns3:creationId id="{3BB7C312-677E-411F-A480-46AF94499E8F}"/>
              </a:ext>
            </a:extLst>
          </p:cNvPr>
          <p:cNvSpPr>
            <a:spLocks noGrp="1"/>
          </p:cNvSpPr>
          <p:nvPr/>
        </p:nvSpPr>
        <p:spPr>
          <a:xfrm>
            <a:off x="685800" y="4804410"/>
            <a:ext cx="10820400" cy="12915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열 5개 · 기록 5건 · 빈값 2개</a:t>
            </a:r>
          </a:p>
        </p:txBody>
      </p:sp>
      <p:sp>
        <p:nvSpPr>
          <p:cNvPr id="20" name="">
            <a:extLst>
              <a:ext uri="{FF2B5EF4-FFF2-40B4-BE49-F238E27FC236}">
                <ns3:creationId id="{CC75373B-1108-4985-A0D2-4F9CD7AFA8B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21" name="">
            <a:extLst>
              <a:ext uri="{FF2B5EF4-FFF2-40B4-BE49-F238E27FC236}">
                <ns3:creationId id="{88254A66-A6C1-4F5F-92E2-301EAB61223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1247410276"/>
      </p:ext>
    </p:extLst>
  </p:cSld>
</p:sld>
</file>

<file path=ppt/slides/slide1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de045d8775aa404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685B3AF-ECAF-409A-8E60-4BEE5967663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DCA9251-B4A8-4740-9172-D2501DB052F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A13 · 직접 고칠 파일</a:t>
            </a:r>
          </a:p>
        </p:txBody>
      </p:sp>
      <p:sp>
        <p:nvSpPr>
          <p:cNvPr id="4" name="">
            <a:extLst>
              <a:ext uri="{FF2B5EF4-FFF2-40B4-BE49-F238E27FC236}">
                <ns3:creationId id="{E7A64531-3A04-4A72-B178-7EDA530F26B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F3DC249-18BB-4C28-B6DF-F74ABC50D413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CSV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FB1215B4-E91C-4908-8C59-5403CCB99C7E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EDE5B7D6-3DBA-45B3-9576-FBF590601414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3166A13F-9283-4E98-A3B3-C40B7388FDBC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order_id,item,quantity,status,note</a:t>
            </a:r>
          </a:p>
        </p:txBody>
      </p:sp>
      <p:sp>
        <p:nvSpPr>
          <p:cNvPr id="9" name="">
            <a:extLst>
              <a:ext uri="{FF2B5EF4-FFF2-40B4-BE49-F238E27FC236}">
                <ns3:creationId id="{20AD1A5F-1CB6-488C-9A89-D7993A23BCC6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832DD063-B8B5-4DC4-B41C-7D5208FB2DB3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001,볼트,3,접수,오전 수령</a:t>
            </a:r>
          </a:p>
        </p:txBody>
      </p:sp>
      <p:sp>
        <p:nvSpPr>
          <p:cNvPr id="11" name="">
            <a:extLst>
              <a:ext uri="{FF2B5EF4-FFF2-40B4-BE49-F238E27FC236}">
                <ns3:creationId id="{C4C723FF-B003-4379-B6BF-26B86E0F1F1C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D7E50B89-F24F-4D98-97E7-CB45F242FF75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002,너트,0,보류,수량 확인</a:t>
            </a:r>
          </a:p>
        </p:txBody>
      </p:sp>
      <p:sp>
        <p:nvSpPr>
          <p:cNvPr id="13" name="">
            <a:extLst>
              <a:ext uri="{FF2B5EF4-FFF2-40B4-BE49-F238E27FC236}">
                <ns3:creationId id="{CD118ADB-2D50-4371-BFD0-8E2750D46A24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FBA9487D-91F6-45D5-BB52-28DB1C96E8A5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003,와셔,,보류,수량 미확인</a:t>
            </a:r>
          </a:p>
        </p:txBody>
      </p:sp>
      <p:sp>
        <p:nvSpPr>
          <p:cNvPr id="15" name="">
            <a:extLst>
              <a:ext uri="{FF2B5EF4-FFF2-40B4-BE49-F238E27FC236}">
                <ns3:creationId id="{6FA267F2-F052-4142-9903-9624B8195721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1FB234E7-3F94-4371-8F9F-4028B6EDB368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004,케이블,2,접수</a:t>
            </a:r>
          </a:p>
        </p:txBody>
      </p:sp>
      <p:sp>
        <p:nvSpPr>
          <p:cNvPr id="17" name="">
            <a:extLst>
              <a:ext uri="{FF2B5EF4-FFF2-40B4-BE49-F238E27FC236}">
                <ns3:creationId id="{FA3EB7FB-5881-4B8D-B876-905D94719F5C}"/>
              </a:ext>
            </a:extLst>
          </p:cNvPr>
          <p:cNvSpPr>
            <a:spLocks noGrp="1"/>
          </p:cNvSpPr>
          <p:nvPr/>
        </p:nvSpPr>
        <p:spPr>
          <a:xfrm>
            <a:off x="838200" y="419957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8" name="">
            <a:extLst>
              <a:ext uri="{FF2B5EF4-FFF2-40B4-BE49-F238E27FC236}">
                <ns3:creationId id="{DF107A0C-3CFA-4643-8DBB-99BDC9912FF5}"/>
              </a:ext>
            </a:extLst>
          </p:cNvPr>
          <p:cNvSpPr>
            <a:spLocks noGrp="1"/>
          </p:cNvSpPr>
          <p:nvPr/>
        </p:nvSpPr>
        <p:spPr>
          <a:xfrm>
            <a:off x="1257300" y="417099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005,테이프,1,접수,오후 수령</a:t>
            </a:r>
          </a:p>
        </p:txBody>
      </p:sp>
      <p:sp>
        <p:nvSpPr>
          <p:cNvPr id="19" name="">
            <a:extLst>
              <a:ext uri="{FF2B5EF4-FFF2-40B4-BE49-F238E27FC236}">
                <ns3:creationId id="{FE48A99A-BFD9-4B61-927A-865D53492507}"/>
              </a:ext>
            </a:extLst>
          </p:cNvPr>
          <p:cNvSpPr>
            <a:spLocks noGrp="1"/>
          </p:cNvSpPr>
          <p:nvPr/>
        </p:nvSpPr>
        <p:spPr>
          <a:xfrm>
            <a:off x="685800" y="4804410"/>
            <a:ext cx="10820400" cy="12915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형식 검사 후 잘못된 부분을 한 곳씩 고치세요.</a:t>
            </a:r>
          </a:p>
        </p:txBody>
      </p:sp>
      <p:sp>
        <p:nvSpPr>
          <p:cNvPr id="20" name="">
            <a:extLst>
              <a:ext uri="{FF2B5EF4-FFF2-40B4-BE49-F238E27FC236}">
                <ns3:creationId id="{9043470E-5DB6-41F8-B327-27D273D5BF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21" name="">
            <a:extLst>
              <a:ext uri="{FF2B5EF4-FFF2-40B4-BE49-F238E27FC236}">
                <ns3:creationId id="{41E599E4-197B-4C8B-81C3-282901D408B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657811968"/>
      </p:ext>
    </p:extLst>
  </p:cSld>
</p:sld>
</file>

<file path=ppt/slides/slide1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e9cb9522afc5497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9B0BAD-C616-4C3F-BD4F-6B2B87FB48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FBE95F19-5427-43F3-8B4D-DA9023AA705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544C8A42-7979-4ECB-A340-6A2BBE9A384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A13 · 새 데이터를 직접 작성하세요</a:t>
            </a:r>
          </a:p>
        </p:txBody>
      </p:sp>
      <p:sp>
        <p:nvSpPr>
          <p:cNvPr id="5" name="">
            <a:extLst>
              <a:ext uri="{FF2B5EF4-FFF2-40B4-BE49-F238E27FC236}">
                <ns3:creationId id="{11E5BDEC-2FF0-4CDD-837B-6C9E570437B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073ED9B-DE90-4D97-B1AC-4EF37D81258F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12153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ED2A9BA-7655-4F99-880D-9A9C70B7929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11487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예제를 보지 않고 006번 장갑 4개와 007번 마스크 수량 미확인을 추가하세요. 상태는 각각 접수·보류이고 메모는 비웁니다.</a:t>
            </a:r>
          </a:p>
        </p:txBody>
      </p:sp>
      <p:sp>
        <p:nvSpPr>
          <p:cNvPr id="8" name="">
            <a:extLst>
              <a:ext uri="{FF2B5EF4-FFF2-40B4-BE49-F238E27FC236}">
                <ns3:creationId id="{3971BFCC-EC7F-49C2-AED8-891AFCE66606}"/>
              </a:ext>
            </a:extLst>
          </p:cNvPr>
          <p:cNvSpPr>
            <a:spLocks noGrp="1"/>
          </p:cNvSpPr>
          <p:nvPr/>
        </p:nvSpPr>
        <p:spPr>
          <a:xfrm>
            <a:off x="685800" y="33013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21AED2F-BDE1-4190-A9CF-4B160DBC78F7}"/>
              </a:ext>
            </a:extLst>
          </p:cNvPr>
          <p:cNvSpPr>
            <a:spLocks noGrp="1"/>
          </p:cNvSpPr>
          <p:nvPr/>
        </p:nvSpPr>
        <p:spPr>
          <a:xfrm>
            <a:off x="1209675" y="33013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작성한 파일을 다시 열고 예상과 비교하세요.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B4C33B2A-3D9C-4A9C-8FA9-0034E2328BB8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F47ABBAF-854F-4F69-A172-08780C15329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2" name="">
            <a:extLst>
              <a:ext uri="{FF2B5EF4-FFF2-40B4-BE49-F238E27FC236}">
                <ns3:creationId id="{7B3AA11E-D729-4D70-A9EA-D3450BCAC9D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665026453"/>
      </p:ext>
    </p:extLst>
  </p:cSld>
</p:sld>
</file>

<file path=ppt/slides/slide1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9f670805f2bf4dc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7A037CC-E741-4E70-9279-86C20FAA995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7E7B7037-CAB4-4FBB-B14A-23E491D2D30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A13 · 수정 이유와 확인</a:t>
            </a:r>
          </a:p>
        </p:txBody>
      </p:sp>
      <p:sp>
        <p:nvSpPr>
          <p:cNvPr id="4" name="">
            <a:extLst>
              <a:ext uri="{FF2B5EF4-FFF2-40B4-BE49-F238E27FC236}">
                <ns3:creationId id="{60DBFB84-D44B-4D4A-BDAF-41095CB0FC0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9C24F41-3CB3-4CC4-8C6C-BC592051D78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004번 줄의 마지막 쉼표가 빠져 4칸이 됩니다. 메모가 없어도 마지막 빈칸을 남겨야 5칸입니다.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DBCDFCE-60CE-4B5E-B038-5823616D3596}"/>
              </a:ext>
            </a:extLst>
          </p:cNvPr>
          <p:cNvSpPr>
            <a:spLocks noGrp="1"/>
          </p:cNvSpPr>
          <p:nvPr/>
        </p:nvSpPr>
        <p:spPr>
          <a:xfrm>
            <a:off x="685800" y="291846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줄 모두 5칸입니다. 006의 수량은 4, 007의 수량은 빈칸이며 빈값은 모두 3개입니다. 전체 표에 붙이면 기록 7건·빈값 5개입니다.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C5398F2-B636-46A3-965C-6D7A09922B2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3B2618AF-5FF9-46ED-8457-06F63C5CD3C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555364418"/>
      </p:ext>
    </p:extLst>
  </p:cSld>
</p:sld>
</file>

<file path=ppt/slides/slide1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0bea580eea864ec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8737F06-8908-43CE-B610-4C68DA663D3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DF6F583-C496-43C6-BB27-5AC3E7848E6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A14 · 쉼표와 큰따옴표가 든 메모 고치기</a:t>
            </a:r>
          </a:p>
        </p:txBody>
      </p:sp>
      <p:sp>
        <p:nvSpPr>
          <p:cNvPr id="4" name="">
            <a:extLst>
              <a:ext uri="{FF2B5EF4-FFF2-40B4-BE49-F238E27FC236}">
                <ns3:creationId id="{B7CE0667-8B51-4719-B702-DA4394A77C8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374D26F-E19D-4261-A688-D4EF8D9258F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구분용 쉼표와 값 안의 쉼표를 나누고 큰따옴표 자체를 표현합니다.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888A734-694F-4B7B-8F85-E8108FA4D91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쉼표는 다음 칸으로 넘어가는 표시입니다. 값 안의 쉼표는 큰따옴표로 감쌉니다.</a:t>
            </a:r>
          </a:p>
        </p:txBody>
      </p:sp>
      <p:sp>
        <p:nvSpPr>
          <p:cNvPr id="7" name="">
            <a:extLst>
              <a:ext uri="{FF2B5EF4-FFF2-40B4-BE49-F238E27FC236}">
                <ns3:creationId id="{58CD480A-9F5C-4B62-9ED9-7D0DC0121A4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33B1AEA1-86F6-4C1E-B187-C6FC136834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1645180104"/>
      </p:ext>
    </p:extLst>
  </p:cSld>
</p:sld>
</file>

<file path=ppt/slides/slide1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ce0a077ec29f45a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9CB48DE-0C72-4959-80A9-C02874382BB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215BC16-283A-4A62-BD74-C77D9D6683F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A14 · 정상 파일</a:t>
            </a:r>
          </a:p>
        </p:txBody>
      </p:sp>
      <p:sp>
        <p:nvSpPr>
          <p:cNvPr id="4" name="">
            <a:extLst>
              <a:ext uri="{FF2B5EF4-FFF2-40B4-BE49-F238E27FC236}">
                <ns3:creationId id="{66BC1A37-C5F2-47C7-AACA-DEE123B036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69F6E4E-EAB6-40DA-B54F-CE27E46E770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CSV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C4427A72-8FCB-4756-B896-48CDBDD4A850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56046C94-51BC-4CAD-A976-0A47BAB12B13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E9E5FD35-15EA-4F56-8BDA-AEE6519D9FAE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order_id,item,quantity,note</a:t>
            </a:r>
          </a:p>
        </p:txBody>
      </p:sp>
      <p:sp>
        <p:nvSpPr>
          <p:cNvPr id="9" name="">
            <a:extLst>
              <a:ext uri="{FF2B5EF4-FFF2-40B4-BE49-F238E27FC236}">
                <ns3:creationId id="{6D305ED7-133D-443E-8D77-C869ECEDB188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F6604848-ED81-422A-9EB3-D7884ED6E4CE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001,볼트,3,"창고, 안쪽"</a:t>
            </a:r>
          </a:p>
        </p:txBody>
      </p:sp>
      <p:sp>
        <p:nvSpPr>
          <p:cNvPr id="11" name="">
            <a:extLst>
              <a:ext uri="{FF2B5EF4-FFF2-40B4-BE49-F238E27FC236}">
                <ns3:creationId id="{FDD61D70-F568-4709-A3DB-C91DF0D5D09D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B1BEC87D-15D0-434E-B020-DEB48CD01BF8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002,너트,2,"포장 ""주의"""</a:t>
            </a:r>
          </a:p>
        </p:txBody>
      </p:sp>
      <p:sp>
        <p:nvSpPr>
          <p:cNvPr id="13" name="">
            <a:extLst>
              <a:ext uri="{FF2B5EF4-FFF2-40B4-BE49-F238E27FC236}">
                <ns3:creationId id="{DAFB78C8-70C3-491A-8361-2FAE133C8C82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BC6BF3C6-A7A3-41D2-9163-B2C9AF0FE0EC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003,와셔,1,</a:t>
            </a:r>
          </a:p>
        </p:txBody>
      </p:sp>
      <p:sp>
        <p:nvSpPr>
          <p:cNvPr id="15" name="">
            <a:extLst>
              <a:ext uri="{FF2B5EF4-FFF2-40B4-BE49-F238E27FC236}">
                <ns3:creationId id="{ECDD8D40-1389-499A-9E43-84D266744AF8}"/>
              </a:ext>
            </a:extLst>
          </p:cNvPr>
          <p:cNvSpPr>
            <a:spLocks noGrp="1"/>
          </p:cNvSpPr>
          <p:nvPr/>
        </p:nvSpPr>
        <p:spPr>
          <a:xfrm>
            <a:off x="685800" y="4185285"/>
            <a:ext cx="10820400" cy="19107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열 4개 · 기록 3건 · 메모 1개는 빈칸</a:t>
            </a:r>
          </a:p>
        </p:txBody>
      </p:sp>
      <p:sp>
        <p:nvSpPr>
          <p:cNvPr id="16" name="">
            <a:extLst>
              <a:ext uri="{FF2B5EF4-FFF2-40B4-BE49-F238E27FC236}">
                <ns3:creationId id="{7E7E96A7-1260-40B9-8E0C-73944C4F323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7" name="">
            <a:extLst>
              <a:ext uri="{FF2B5EF4-FFF2-40B4-BE49-F238E27FC236}">
                <ns3:creationId id="{99D563D8-44F7-480B-BFDD-1EB20341068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1686360142"/>
      </p:ext>
    </p:extLst>
  </p:cSld>
</p:sld>
</file>

<file path=ppt/slides/slide1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01c83001b9c845d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B0DE4EE-DE18-440D-88C3-5B5F721A03E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05F08B2-4764-4C1D-B3C5-97D963A86B5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A14 · 직접 고칠 파일</a:t>
            </a:r>
          </a:p>
        </p:txBody>
      </p:sp>
      <p:sp>
        <p:nvSpPr>
          <p:cNvPr id="4" name="">
            <a:extLst>
              <a:ext uri="{FF2B5EF4-FFF2-40B4-BE49-F238E27FC236}">
                <ns3:creationId id="{4858D5FB-94C3-43B8-9C47-06C16963FB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B218C46-FCC0-4C05-A04E-06883256978E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CSV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F4F781C5-3C1E-495B-A1C9-B386C74EA5F1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229A1A5E-C321-42B6-9366-B4562ECDACDB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1B19DF08-94FD-4B0C-9B8E-C4C205AC7F57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order_id,item,quantity,note</a:t>
            </a:r>
          </a:p>
        </p:txBody>
      </p:sp>
      <p:sp>
        <p:nvSpPr>
          <p:cNvPr id="9" name="">
            <a:extLst>
              <a:ext uri="{FF2B5EF4-FFF2-40B4-BE49-F238E27FC236}">
                <ns3:creationId id="{529602AE-6581-4176-9AC2-A973DA1FE003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A8186815-F963-4324-87B8-8262DECCB908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001,볼트,3,창고, 안쪽</a:t>
            </a:r>
          </a:p>
        </p:txBody>
      </p:sp>
      <p:sp>
        <p:nvSpPr>
          <p:cNvPr id="11" name="">
            <a:extLst>
              <a:ext uri="{FF2B5EF4-FFF2-40B4-BE49-F238E27FC236}">
                <ns3:creationId id="{EC88FCB4-2F42-4CDC-B173-4AF1FCAA2946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214EAAD6-F3A8-429F-8913-4DFF035FE785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002,너트,2,"포장 "주의""</a:t>
            </a:r>
          </a:p>
        </p:txBody>
      </p:sp>
      <p:sp>
        <p:nvSpPr>
          <p:cNvPr id="13" name="">
            <a:extLst>
              <a:ext uri="{FF2B5EF4-FFF2-40B4-BE49-F238E27FC236}">
                <ns3:creationId id="{9CC70921-B99F-4C02-9CB4-4CB935EDBE43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96F9A806-CF67-4879-AAF0-0BACCC958BA8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003,와셔,1,</a:t>
            </a:r>
          </a:p>
        </p:txBody>
      </p:sp>
      <p:sp>
        <p:nvSpPr>
          <p:cNvPr id="15" name="">
            <a:extLst>
              <a:ext uri="{FF2B5EF4-FFF2-40B4-BE49-F238E27FC236}">
                <ns3:creationId id="{F565A39F-1DFE-4EAD-8701-D04BB0ABFFDD}"/>
              </a:ext>
            </a:extLst>
          </p:cNvPr>
          <p:cNvSpPr>
            <a:spLocks noGrp="1"/>
          </p:cNvSpPr>
          <p:nvPr/>
        </p:nvSpPr>
        <p:spPr>
          <a:xfrm>
            <a:off x="685800" y="4185285"/>
            <a:ext cx="10820400" cy="19107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형식 검사 후 잘못된 부분을 한 곳씩 고치세요.</a:t>
            </a:r>
          </a:p>
        </p:txBody>
      </p:sp>
      <p:sp>
        <p:nvSpPr>
          <p:cNvPr id="16" name="">
            <a:extLst>
              <a:ext uri="{FF2B5EF4-FFF2-40B4-BE49-F238E27FC236}">
                <ns3:creationId id="{9E72EE7C-81F4-43A4-AB52-921B7AC57EF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7" name="">
            <a:extLst>
              <a:ext uri="{FF2B5EF4-FFF2-40B4-BE49-F238E27FC236}">
                <ns3:creationId id="{589CDE2B-FD50-4EBA-8FEB-72A5C6F3CE6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1184269951"/>
      </p:ext>
    </p:extLst>
  </p:cSld>
</p:sld>
</file>

<file path=ppt/slides/slide1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e545eda7a6c4424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FCD5031-BF1B-4838-911E-9941B70DFC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9B3C01E-951E-4AEE-8667-1A9875238F8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A7988248-C731-47E6-9FE7-6412325EA23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A14 · 새 데이터를 직접 작성하세요</a:t>
            </a:r>
          </a:p>
        </p:txBody>
      </p:sp>
      <p:sp>
        <p:nvSpPr>
          <p:cNvPr id="5" name="">
            <a:extLst>
              <a:ext uri="{FF2B5EF4-FFF2-40B4-BE49-F238E27FC236}">
                <ns3:creationId id="{F92F7547-8640-4C3E-A867-8A20365CC88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DE98D02-E16C-4A9A-B408-88908B28595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12153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92E0C20-203A-4EFE-8678-9D239284E797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11487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004번 상품명은 볼트, 소형이고 수량은 5입니다. 메모는 담당자 "김" 확인입니다. 값의 쉼표와 큰따옴표를 모두 보존해 새 줄을 쓰세요.</a:t>
            </a:r>
          </a:p>
        </p:txBody>
      </p:sp>
      <p:sp>
        <p:nvSpPr>
          <p:cNvPr id="8" name="">
            <a:extLst>
              <a:ext uri="{FF2B5EF4-FFF2-40B4-BE49-F238E27FC236}">
                <ns3:creationId id="{2296184A-4F6B-47C9-A3C6-F684D5301549}"/>
              </a:ext>
            </a:extLst>
          </p:cNvPr>
          <p:cNvSpPr>
            <a:spLocks noGrp="1"/>
          </p:cNvSpPr>
          <p:nvPr/>
        </p:nvSpPr>
        <p:spPr>
          <a:xfrm>
            <a:off x="685800" y="33013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384510D-E59A-4429-BC16-F3F27F11EA8A}"/>
              </a:ext>
            </a:extLst>
          </p:cNvPr>
          <p:cNvSpPr>
            <a:spLocks noGrp="1"/>
          </p:cNvSpPr>
          <p:nvPr/>
        </p:nvSpPr>
        <p:spPr>
          <a:xfrm>
            <a:off x="1209675" y="33013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작성한 파일을 다시 열고 예상과 비교하세요.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3AA160D4-C0FB-46DB-BFD4-81A4277A73D8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7E6003F3-8415-4220-A26A-EE839E5698D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2" name="">
            <a:extLst>
              <a:ext uri="{FF2B5EF4-FFF2-40B4-BE49-F238E27FC236}">
                <ns3:creationId id="{04AC2F82-2672-405A-9DFE-BD4C056C8DE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616756749"/>
      </p:ext>
    </p:extLst>
  </p:cSld>
</p:sld>
</file>

<file path=ppt/slides/slide1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552e3027e0d4c4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626FC20-2B35-4B40-BAAC-90E6837A6F1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50369F9-AEB9-4AF1-A63B-7E20FFA46FE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A14 · 수정 이유와 확인</a:t>
            </a:r>
          </a:p>
        </p:txBody>
      </p:sp>
      <p:sp>
        <p:nvSpPr>
          <p:cNvPr id="4" name="">
            <a:extLst>
              <a:ext uri="{FF2B5EF4-FFF2-40B4-BE49-F238E27FC236}">
                <ns3:creationId id="{63FF2A67-2106-44F0-B10B-05E94B270C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8500955-12C0-4A2C-B8B8-D8C18F25A62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001은 따옴표가 없어 5칸이 됩니다. 002는 메모 안의 큰따옴표를 두 번 쓰지 않았습니다. 한 곳씩 고치고 다시 표로 보세요.</a:t>
            </a:r>
          </a:p>
        </p:txBody>
      </p:sp>
      <p:sp>
        <p:nvSpPr>
          <p:cNvPr id="6" name="">
            <a:extLst>
              <a:ext uri="{FF2B5EF4-FFF2-40B4-BE49-F238E27FC236}">
                <ns3:creationId id="{66E1B011-A736-4EB2-B2BA-1E088CF297E2}"/>
              </a:ext>
            </a:extLst>
          </p:cNvPr>
          <p:cNvSpPr>
            <a:spLocks noGrp="1"/>
          </p:cNvSpPr>
          <p:nvPr/>
        </p:nvSpPr>
        <p:spPr>
          <a:xfrm>
            <a:off x="685800" y="291846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상품명과 메모는 각각 한 칸입니다. 읽은 메모에는 큰따옴표가 한 쌍만 남습니다. 따옴표가 늘어도 열은 4개입니다.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D2C3D50-969E-4695-911D-797586B3386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E159ADC4-1E0B-4C1D-A1F5-A7EEC34A261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1157186636"/>
      </p:ext>
    </p:extLst>
  </p:cSld>
</p:sld>
</file>

<file path=ppt/slides/slide1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e6292841bd8412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21A7CFB-4B90-42B8-B9A5-8C511EE341D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386E8DA-1251-4C0F-9908-EA3486DCEEB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A15 · 형식은 맞지만 잘못된 주문표 찾기 · 더 해보기</a:t>
            </a:r>
          </a:p>
        </p:txBody>
      </p:sp>
      <p:sp>
        <p:nvSpPr>
          <p:cNvPr id="4" name="">
            <a:extLst>
              <a:ext uri="{FF2B5EF4-FFF2-40B4-BE49-F238E27FC236}">
                <ns3:creationId id="{4BD1D19F-44F0-4EA2-921A-6283014C920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761447C-C539-436A-8F5E-B6D3C8C68EE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표로 열리는 파일도 중복 번호나 잘못된 수량을 가질 수 있음을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8007374-1380-4B1B-BF03-B3F0CB97B7D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연습에서는 주문 번호가 겹치면 안 됩니다. 수량은 0 이상의 정수 또는 미확인 빈칸입니다.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50C9B26-E463-46C0-B8AE-F75C226392D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854B99F1-CCB5-4778-B8B2-D9FB1F1A22D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513306109"/>
      </p:ext>
    </p:extLst>
  </p:cSld>
</p:sld>
</file>

<file path=ppt/slides/slide1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2fc6b50ef5e84a6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CF55C0C-AA98-4707-9C3C-2035B352ACC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5411818-04DF-48EF-B89A-88E0A48EEBD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A15 · 정상 파일</a:t>
            </a:r>
          </a:p>
        </p:txBody>
      </p:sp>
      <p:sp>
        <p:nvSpPr>
          <p:cNvPr id="4" name="">
            <a:extLst>
              <a:ext uri="{FF2B5EF4-FFF2-40B4-BE49-F238E27FC236}">
                <ns3:creationId id="{918B98CC-3E25-4AF5-BB2E-571F54549E8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36D161B-761E-4573-BD4A-0641D2A7CFA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CSV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6AFFE683-69CA-4232-81C7-71BEB1648C46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656B6AD3-D4C5-417A-851B-0C656137198A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6D7504FB-9A04-43AD-98E6-DFE690D4DB68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order_id,item,quantity</a:t>
            </a:r>
          </a:p>
        </p:txBody>
      </p:sp>
      <p:sp>
        <p:nvSpPr>
          <p:cNvPr id="9" name="">
            <a:extLst>
              <a:ext uri="{FF2B5EF4-FFF2-40B4-BE49-F238E27FC236}">
                <ns3:creationId id="{4F4C30F0-33D7-4A56-A1F2-94970ED74CEE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D9CB32E0-BD0D-460B-A5BE-DFDC8C922066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001,볼트,3</a:t>
            </a:r>
          </a:p>
        </p:txBody>
      </p:sp>
      <p:sp>
        <p:nvSpPr>
          <p:cNvPr id="11" name="">
            <a:extLst>
              <a:ext uri="{FF2B5EF4-FFF2-40B4-BE49-F238E27FC236}">
                <ns3:creationId id="{CDE827FE-296A-4D60-BEDC-B0A91875A527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45419D24-42F8-4A20-8074-7152209B848E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002,너트,0</a:t>
            </a:r>
          </a:p>
        </p:txBody>
      </p:sp>
      <p:sp>
        <p:nvSpPr>
          <p:cNvPr id="13" name="">
            <a:extLst>
              <a:ext uri="{FF2B5EF4-FFF2-40B4-BE49-F238E27FC236}">
                <ns3:creationId id="{4C6DFC80-39E0-4698-A92A-708FC181412B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2A8FB428-8981-424B-B8C4-7B7999F52215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003,와셔,4</a:t>
            </a:r>
          </a:p>
        </p:txBody>
      </p:sp>
      <p:sp>
        <p:nvSpPr>
          <p:cNvPr id="15" name="">
            <a:extLst>
              <a:ext uri="{FF2B5EF4-FFF2-40B4-BE49-F238E27FC236}">
                <ns3:creationId id="{9BBC69E0-0D07-47C2-B07F-8A1B7FDF8487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D5327B2A-9426-43DF-BA54-BD4A34D7E4FE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004,테이프,</a:t>
            </a:r>
          </a:p>
        </p:txBody>
      </p:sp>
      <p:sp>
        <p:nvSpPr>
          <p:cNvPr id="17" name="">
            <a:extLst>
              <a:ext uri="{FF2B5EF4-FFF2-40B4-BE49-F238E27FC236}">
                <ns3:creationId id="{9EC3A7C4-147D-4921-BBF9-8910B10D8E39}"/>
              </a:ext>
            </a:extLst>
          </p:cNvPr>
          <p:cNvSpPr>
            <a:spLocks noGrp="1"/>
          </p:cNvSpPr>
          <p:nvPr/>
        </p:nvSpPr>
        <p:spPr>
          <a:xfrm>
            <a:off x="685800" y="4494848"/>
            <a:ext cx="10820400" cy="160115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열 3개 · 기록 4건 · 0과 빈칸 각각 1개</a:t>
            </a:r>
          </a:p>
        </p:txBody>
      </p:sp>
      <p:sp>
        <p:nvSpPr>
          <p:cNvPr id="18" name="">
            <a:extLst>
              <a:ext uri="{FF2B5EF4-FFF2-40B4-BE49-F238E27FC236}">
                <ns3:creationId id="{40DE169F-81AE-422B-88F1-50A7518B396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9" name="">
            <a:extLst>
              <a:ext uri="{FF2B5EF4-FFF2-40B4-BE49-F238E27FC236}">
                <ns3:creationId id="{BFDCA369-A7DA-4038-AA34-CC612EB33AC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139879076"/>
      </p:ext>
    </p:extLst>
  </p:cSld>
</p:sld>
</file>

<file path=ppt/slides/slide1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1db684cf667b417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A3A2544-3EB2-448B-B608-CB6167824CB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E00CDFB5-68E3-41DF-804A-8D293F79692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A15 · 직접 고칠 파일</a:t>
            </a:r>
          </a:p>
        </p:txBody>
      </p:sp>
      <p:sp>
        <p:nvSpPr>
          <p:cNvPr id="4" name="">
            <a:extLst>
              <a:ext uri="{FF2B5EF4-FFF2-40B4-BE49-F238E27FC236}">
                <ns3:creationId id="{4AF093E4-36C8-4CAD-9CF5-9C89EC59838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C27DBE3-540C-4F63-96AF-72528E58265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CSV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E6D60D30-DFBF-4E99-85FB-3AC856413345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3091CDFB-40AD-4C07-957E-9C8EC1ABBAA7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7CCF9C36-8B2A-42D2-8E38-CFBD0DF7BDED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order_id,item,quantity</a:t>
            </a:r>
          </a:p>
        </p:txBody>
      </p:sp>
      <p:sp>
        <p:nvSpPr>
          <p:cNvPr id="9" name="">
            <a:extLst>
              <a:ext uri="{FF2B5EF4-FFF2-40B4-BE49-F238E27FC236}">
                <ns3:creationId id="{A5A443CD-E78C-45D7-96CB-1D5D9EF4C106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10ECFB0A-B233-4348-AB03-C624A2DA6A76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001,볼트,3</a:t>
            </a:r>
          </a:p>
        </p:txBody>
      </p:sp>
      <p:sp>
        <p:nvSpPr>
          <p:cNvPr id="11" name="">
            <a:extLst>
              <a:ext uri="{FF2B5EF4-FFF2-40B4-BE49-F238E27FC236}">
                <ns3:creationId id="{E06332A1-EC13-48CC-BD77-B90F7FF22C19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E1BB0BEB-C9FD-4CE4-B777-CE9E82718F90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002,너트,0</a:t>
            </a:r>
          </a:p>
        </p:txBody>
      </p:sp>
      <p:sp>
        <p:nvSpPr>
          <p:cNvPr id="13" name="">
            <a:extLst>
              <a:ext uri="{FF2B5EF4-FFF2-40B4-BE49-F238E27FC236}">
                <ns3:creationId id="{ADE1F00B-46C5-4B7E-9422-0D3E787A1B55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D353F25D-6C42-4255-B824-27CF27854B68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002,와셔,-4</a:t>
            </a:r>
          </a:p>
        </p:txBody>
      </p:sp>
      <p:sp>
        <p:nvSpPr>
          <p:cNvPr id="15" name="">
            <a:extLst>
              <a:ext uri="{FF2B5EF4-FFF2-40B4-BE49-F238E27FC236}">
                <ns3:creationId id="{E698BA60-EBF2-4B5C-8027-3F5239479F20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D3CB444B-1086-458C-A9F1-AED3CF1CA4AF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004,테이프,미확인</a:t>
            </a:r>
          </a:p>
        </p:txBody>
      </p:sp>
      <p:sp>
        <p:nvSpPr>
          <p:cNvPr id="17" name="">
            <a:extLst>
              <a:ext uri="{FF2B5EF4-FFF2-40B4-BE49-F238E27FC236}">
                <ns3:creationId id="{929D7684-DD66-4E35-B0DB-9810FA69362D}"/>
              </a:ext>
            </a:extLst>
          </p:cNvPr>
          <p:cNvSpPr>
            <a:spLocks noGrp="1"/>
          </p:cNvSpPr>
          <p:nvPr/>
        </p:nvSpPr>
        <p:spPr>
          <a:xfrm>
            <a:off x="685800" y="4494848"/>
            <a:ext cx="10820400" cy="160115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형식은 맞습니다. 값의 뜻과 종류를 확인하세요.</a:t>
            </a:r>
          </a:p>
        </p:txBody>
      </p:sp>
      <p:sp>
        <p:nvSpPr>
          <p:cNvPr id="18" name="">
            <a:extLst>
              <a:ext uri="{FF2B5EF4-FFF2-40B4-BE49-F238E27FC236}">
                <ns3:creationId id="{8C65A057-8F85-4875-8609-C0660B88AC7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9" name="">
            <a:extLst>
              <a:ext uri="{FF2B5EF4-FFF2-40B4-BE49-F238E27FC236}">
                <ns3:creationId id="{16141B4C-6B56-426C-81AC-7A15575E99A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260041784"/>
      </p:ext>
    </p:extLst>
  </p:cSld>
</p:sld>
</file>

<file path=ppt/slides/slide1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1677eaf1415e473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E1770A5-EC48-479E-AFDC-F694D06769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BF5D0B97-8C82-469C-AEBB-ECF553CE51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E69001F-9D7F-477B-8C9A-08E9AA4F57B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A15 · 새 데이터를 직접 작성하세요 · 더 해보기</a:t>
            </a:r>
          </a:p>
        </p:txBody>
      </p:sp>
      <p:sp>
        <p:nvSpPr>
          <p:cNvPr id="5" name="">
            <a:extLst>
              <a:ext uri="{FF2B5EF4-FFF2-40B4-BE49-F238E27FC236}">
                <ns3:creationId id="{727C41BB-74C9-4E7E-9BAA-8FD9DFE9A57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55535AD-EE7A-469F-A096-ADF96F066D5E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12153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AD0117D-C929-4724-ADA1-2ED4C2323D7E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11487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번호가 001인 새 주문이 왔습니다. 바로 덧붙이지 않고 무엇을 확인할지 쓰세요. 수량 0과 미확인도 각 한 줄로 구별해 작성하세요.</a:t>
            </a:r>
          </a:p>
        </p:txBody>
      </p:sp>
      <p:sp>
        <p:nvSpPr>
          <p:cNvPr id="8" name="">
            <a:extLst>
              <a:ext uri="{FF2B5EF4-FFF2-40B4-BE49-F238E27FC236}">
                <ns3:creationId id="{5072A8F1-3A78-4E40-B04E-2FB8A582E21F}"/>
              </a:ext>
            </a:extLst>
          </p:cNvPr>
          <p:cNvSpPr>
            <a:spLocks noGrp="1"/>
          </p:cNvSpPr>
          <p:nvPr/>
        </p:nvSpPr>
        <p:spPr>
          <a:xfrm>
            <a:off x="685800" y="33013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E6C7433-AA12-44CC-9605-84375FA10539}"/>
              </a:ext>
            </a:extLst>
          </p:cNvPr>
          <p:cNvSpPr>
            <a:spLocks noGrp="1"/>
          </p:cNvSpPr>
          <p:nvPr/>
        </p:nvSpPr>
        <p:spPr>
          <a:xfrm>
            <a:off x="1209675" y="33013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작성한 파일을 다시 열고 예상과 비교하세요.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8A20E947-6290-48E6-8F3A-999C6CE9FE25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23C79EEB-ACDF-4D72-93DE-599B1E3584B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2" name="">
            <a:extLst>
              <a:ext uri="{FF2B5EF4-FFF2-40B4-BE49-F238E27FC236}">
                <ns3:creationId id="{7320ED66-B3E9-4273-AD59-552EB27EC12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1779059367"/>
      </p:ext>
    </p:extLst>
  </p:cSld>
</p:sld>
</file>

<file path=ppt/slides/slide1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0c33f30dc73949e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8BE3EC1-3496-4943-A1D6-6894B7E9835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CA9A3E3-6484-4FF5-A694-F64D43DB0DE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A15 · 수정 이유와 확인</a:t>
            </a:r>
          </a:p>
        </p:txBody>
      </p:sp>
      <p:sp>
        <p:nvSpPr>
          <p:cNvPr id="4" name="">
            <a:extLst>
              <a:ext uri="{FF2B5EF4-FFF2-40B4-BE49-F238E27FC236}">
                <ns3:creationId id="{8B22315E-A3B8-41AA-8DEE-D927D6464C7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F065E26-1F6D-484B-AC95-D70D9F4A315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셋째 기록은 번호가 중복되고 수량이 음수입니다. 확인 메모에 따라 003과 4로 고칩니다. 넷째 수량은 약속에 따라 빈칸으로 씁니다.</a:t>
            </a:r>
          </a:p>
        </p:txBody>
      </p:sp>
      <p:sp>
        <p:nvSpPr>
          <p:cNvPr id="6" name="">
            <a:extLst>
              <a:ext uri="{FF2B5EF4-FFF2-40B4-BE49-F238E27FC236}">
                <ns3:creationId id="{0BA1FFB6-6081-491F-B7BE-4148D9761107}"/>
              </a:ext>
            </a:extLst>
          </p:cNvPr>
          <p:cNvSpPr>
            <a:spLocks noGrp="1"/>
          </p:cNvSpPr>
          <p:nvPr/>
        </p:nvSpPr>
        <p:spPr>
          <a:xfrm>
            <a:off x="685800" y="291846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001은 기존 주문의 수정인지 별개의 주문인지 확인해야 합니다. 새 번호를 임의로 만들지 않습니다. 005의 0은 확인된 값, 006의 빈칸은 미확인입니다.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DDD8899-61B3-4680-93D0-51CA1DBDA2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33D7614A-FA8E-4FB8-B3A0-67630408108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1696380928"/>
      </p:ext>
    </p:extLst>
  </p:cSld>
</p:sld>
</file>

<file path=ppt/slides/slide1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4cc7b263f464c7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15D12D8-B2A2-4BC5-9B97-F5A15D3CBA0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1E91F29-E13A-48CF-8CBF-D7DF3EC1997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A16 · 다른 구분자의 파일을 CSV로 옮기기 · 더 해보기</a:t>
            </a:r>
          </a:p>
        </p:txBody>
      </p:sp>
      <p:sp>
        <p:nvSpPr>
          <p:cNvPr id="4" name="">
            <a:extLst>
              <a:ext uri="{FF2B5EF4-FFF2-40B4-BE49-F238E27FC236}">
                <ns3:creationId id="{BC4AD306-F237-4782-8CF4-502AC3A6C02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262D2CE-2B1C-467C-8078-0C6DF392D4D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확장자와 화면 모양만 믿지 않고 구분자·한글·앞 0을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5DEDD5C-7297-45B1-A97D-BEC0923845D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받은 파일은 세미콜론으로 나뉘었습니다. 이 실습실은 쉼표로 나눈 CSV를 읽습니다.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108A1A44-B679-43A2-8435-823571AF7E0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97C82A80-D124-42B0-AC93-9BD23885D08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294065725"/>
      </p:ext>
    </p:extLst>
  </p:cSld>
</p:sld>
</file>

<file path=ppt/slides/slide1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2294f8b887a047d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58AA9CC-D49D-470E-BB07-B19208992D4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38880662-C4CC-4A69-99D8-57A82E47CDE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A16 · 정상 파일</a:t>
            </a:r>
          </a:p>
        </p:txBody>
      </p:sp>
      <p:sp>
        <p:nvSpPr>
          <p:cNvPr id="4" name="">
            <a:extLst>
              <a:ext uri="{FF2B5EF4-FFF2-40B4-BE49-F238E27FC236}">
                <ns3:creationId id="{EBD9FDAF-D7C8-4F02-9461-2F00AEF1D8A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247E82E-84B2-42D5-8685-B560AD2EF8C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CSV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5CAB3D4-AFD5-4912-8D52-4CAD4DB872F1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4E415C78-36D4-49C9-A26C-9A47AB00CF26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EEC1B094-8C5B-4266-8C6F-AED038A5B7F0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employee_id,team,active</a:t>
            </a:r>
          </a:p>
        </p:txBody>
      </p:sp>
      <p:sp>
        <p:nvSpPr>
          <p:cNvPr id="9" name="">
            <a:extLst>
              <a:ext uri="{FF2B5EF4-FFF2-40B4-BE49-F238E27FC236}">
                <ns3:creationId id="{6E05B750-1435-4F91-AC0A-B9437EB2D814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F10FBBF2-8A53-46F2-9DF6-F1D5E69AD189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001,생산,true</a:t>
            </a:r>
          </a:p>
        </p:txBody>
      </p:sp>
      <p:sp>
        <p:nvSpPr>
          <p:cNvPr id="11" name="">
            <a:extLst>
              <a:ext uri="{FF2B5EF4-FFF2-40B4-BE49-F238E27FC236}">
                <ns3:creationId id="{AB96B6AF-8798-4A0E-ADE1-A4C3BB0A522A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59848A9B-1572-4333-BF21-2741BA3B08A5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002,품질,false</a:t>
            </a:r>
          </a:p>
        </p:txBody>
      </p:sp>
      <p:sp>
        <p:nvSpPr>
          <p:cNvPr id="13" name="">
            <a:extLst>
              <a:ext uri="{FF2B5EF4-FFF2-40B4-BE49-F238E27FC236}">
                <ns3:creationId id="{73B6ECEC-6F01-4600-A101-D8FA61640724}"/>
              </a:ext>
            </a:extLst>
          </p:cNvPr>
          <p:cNvSpPr>
            <a:spLocks noGrp="1"/>
          </p:cNvSpPr>
          <p:nvPr/>
        </p:nvSpPr>
        <p:spPr>
          <a:xfrm>
            <a:off x="685800" y="3875723"/>
            <a:ext cx="10820400" cy="222027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쉼표로 옮긴 뒤 열 3개 · 기록 2건</a:t>
            </a:r>
          </a:p>
        </p:txBody>
      </p:sp>
      <p:sp>
        <p:nvSpPr>
          <p:cNvPr id="14" name="">
            <a:extLst>
              <a:ext uri="{FF2B5EF4-FFF2-40B4-BE49-F238E27FC236}">
                <ns3:creationId id="{066D505A-98F9-4DBC-8168-BAB47E2FFC8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5" name="">
            <a:extLst>
              <a:ext uri="{FF2B5EF4-FFF2-40B4-BE49-F238E27FC236}">
                <ns3:creationId id="{071F8002-E9D2-4014-8A61-DDDAAF900E7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1037091986"/>
      </p:ext>
    </p:extLst>
  </p:cSld>
</p:sld>
</file>

<file path=ppt/slides/slide1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18f2717a4b504cc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0430E6F-78EA-437C-BC54-E913C80F664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FBAC7DE-9D86-43AC-8F49-7D07687BD27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A16 · 직접 고칠 파일</a:t>
            </a:r>
          </a:p>
        </p:txBody>
      </p:sp>
      <p:sp>
        <p:nvSpPr>
          <p:cNvPr id="4" name="">
            <a:extLst>
              <a:ext uri="{FF2B5EF4-FFF2-40B4-BE49-F238E27FC236}">
                <ns3:creationId id="{60F6A24E-2E59-49B6-A2D6-316AA997C3C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3DE149D-C1F7-411D-943F-8422CB8861B5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CSV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DAFAF113-A130-43C2-9319-49D5792907D8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BB3E229D-BC60-486D-9290-AAC4F7F5F957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283888BA-6A73-484A-A0D6-3AC671371ABC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employee_id;team;active</a:t>
            </a:r>
          </a:p>
        </p:txBody>
      </p:sp>
      <p:sp>
        <p:nvSpPr>
          <p:cNvPr id="9" name="">
            <a:extLst>
              <a:ext uri="{FF2B5EF4-FFF2-40B4-BE49-F238E27FC236}">
                <ns3:creationId id="{95CB75F4-F64F-414F-89DC-59B816DAD54D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9045E27E-7F49-47DE-9420-D1F65C8F5D2D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001;생산;true</a:t>
            </a:r>
          </a:p>
        </p:txBody>
      </p:sp>
      <p:sp>
        <p:nvSpPr>
          <p:cNvPr id="11" name="">
            <a:extLst>
              <a:ext uri="{FF2B5EF4-FFF2-40B4-BE49-F238E27FC236}">
                <ns3:creationId id="{362E0D2F-CCF2-420E-9180-4F27146511C5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81C81BD0-B23A-4053-A9B6-8DE99C87F306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002;품질;false</a:t>
            </a:r>
          </a:p>
        </p:txBody>
      </p:sp>
      <p:sp>
        <p:nvSpPr>
          <p:cNvPr id="13" name="">
            <a:extLst>
              <a:ext uri="{FF2B5EF4-FFF2-40B4-BE49-F238E27FC236}">
                <ns3:creationId id="{FC341E21-6D86-4FA1-AEE4-BD0CB0F153C9}"/>
              </a:ext>
            </a:extLst>
          </p:cNvPr>
          <p:cNvSpPr>
            <a:spLocks noGrp="1"/>
          </p:cNvSpPr>
          <p:nvPr/>
        </p:nvSpPr>
        <p:spPr>
          <a:xfrm>
            <a:off x="685800" y="3875723"/>
            <a:ext cx="10820400" cy="222027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형식은 맞습니다. 값의 뜻과 종류를 확인하세요.</a:t>
            </a:r>
          </a:p>
        </p:txBody>
      </p:sp>
      <p:sp>
        <p:nvSpPr>
          <p:cNvPr id="14" name="">
            <a:extLst>
              <a:ext uri="{FF2B5EF4-FFF2-40B4-BE49-F238E27FC236}">
                <ns3:creationId id="{EAAB15DC-E584-41AF-A9DF-31D7889766B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5" name="">
            <a:extLst>
              <a:ext uri="{FF2B5EF4-FFF2-40B4-BE49-F238E27FC236}">
                <ns3:creationId id="{D345D0C6-31B5-4327-8CDE-D842CCDDB73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876457264"/>
      </p:ext>
    </p:extLst>
  </p:cSld>
</p:sld>
</file>

<file path=ppt/slides/slide1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bd2b0953a0e640d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6C6EB1E-FDED-4AD6-A22D-A32F40A2766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70A5AC8-7E44-4ED7-9C37-86A76D937B9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F80BBE53-9681-4A5D-A57B-17BD7023EEB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A16 · 새 데이터를 직접 작성하세요 · 더 해보기</a:t>
            </a:r>
          </a:p>
        </p:txBody>
      </p:sp>
      <p:sp>
        <p:nvSpPr>
          <p:cNvPr id="5" name="">
            <a:extLst>
              <a:ext uri="{FF2B5EF4-FFF2-40B4-BE49-F238E27FC236}">
                <ns3:creationId id="{9CDE9407-1ECA-4AD4-9DD3-B3F28C735DC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7512D5B-8D9A-4118-AAE2-D95CEB1AEAB9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12153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4F71874-269B-42DB-B889-4F894A91B410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11487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003번 직원은 물류팀이고 active는 true입니다. 쉼표 방식으로 직접 작성하세요. 다시 열었을 때 001이 1로 바뀌면 어느 열의 가져오기 설정을 확인할까요?</a:t>
            </a:r>
          </a:p>
        </p:txBody>
      </p:sp>
      <p:sp>
        <p:nvSpPr>
          <p:cNvPr id="8" name="">
            <a:extLst>
              <a:ext uri="{FF2B5EF4-FFF2-40B4-BE49-F238E27FC236}">
                <ns3:creationId id="{4F0A35BC-2279-4937-9121-D9F1DE62258B}"/>
              </a:ext>
            </a:extLst>
          </p:cNvPr>
          <p:cNvSpPr>
            <a:spLocks noGrp="1"/>
          </p:cNvSpPr>
          <p:nvPr/>
        </p:nvSpPr>
        <p:spPr>
          <a:xfrm>
            <a:off x="685800" y="33013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D021C8A-B428-4568-8ACE-8FA0B8D8C841}"/>
              </a:ext>
            </a:extLst>
          </p:cNvPr>
          <p:cNvSpPr>
            <a:spLocks noGrp="1"/>
          </p:cNvSpPr>
          <p:nvPr/>
        </p:nvSpPr>
        <p:spPr>
          <a:xfrm>
            <a:off x="1209675" y="33013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작성한 파일을 다시 열고 예상과 비교하세요.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DF6ECD60-A0F5-4C2B-8675-9DC883B8EC86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6FC6162D-C036-4353-BFC3-536091AB35E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2" name="">
            <a:extLst>
              <a:ext uri="{FF2B5EF4-FFF2-40B4-BE49-F238E27FC236}">
                <ns3:creationId id="{F5E1DBCF-092C-4691-B525-2536389C2F8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1744230363"/>
      </p:ext>
    </p:extLst>
  </p:cSld>
</p:sld>
</file>

<file path=ppt/slides/slide1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42726766ede5472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7AE7760-4EB7-4BE6-90BB-97BF74CA0D0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F522B735-8A82-4D1B-B536-C7258F1E56F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A16 · 수정 이유와 확인</a:t>
            </a:r>
          </a:p>
        </p:txBody>
      </p:sp>
      <p:sp>
        <p:nvSpPr>
          <p:cNvPr id="4" name="">
            <a:extLst>
              <a:ext uri="{FF2B5EF4-FFF2-40B4-BE49-F238E27FC236}">
                <ns3:creationId id="{AA2C9F26-10CF-4163-BA12-3167DD5C0E9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3C1784D-7BA8-4B7F-BBEF-CFD5E149A73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세미콜론 파일을 쉼표 방식으로 읽으면 한 열로 보입니다. 세미콜론 파일 자체가 항상 잘못된 것은 아닙니다. 전달받은 구분자 약속을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49A307C-CBE5-4514-9665-718EFA98BE08}"/>
              </a:ext>
            </a:extLst>
          </p:cNvPr>
          <p:cNvSpPr>
            <a:spLocks noGrp="1"/>
          </p:cNvSpPr>
          <p:nvPr/>
        </p:nvSpPr>
        <p:spPr>
          <a:xfrm>
            <a:off x="685800" y="291846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employee_id 열을 텍스트로 가져왔는지 확인합니다. 파일에는 001인데 표 화면만 1이라면 원문을 바꾸기 전에 불러오기 설정을 점검합니다.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D23E806-FDC8-4633-8E68-C7C320B9DF2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FEE16A77-6B21-41D3-8F12-F70F55FC258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800923384"/>
      </p:ext>
    </p:extLst>
  </p:cSld>
</p:sld>
</file>

<file path=ppt/slides/slide1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93b4808df5b5405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DBA0BFA-D17C-4D93-A9B3-67BC9C4589A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B8F9A75-2E27-4281-BCAD-26B278C36A5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A17 · JSON 객체에 글자·숫자·상태 넣기</a:t>
            </a:r>
          </a:p>
        </p:txBody>
      </p:sp>
      <p:sp>
        <p:nvSpPr>
          <p:cNvPr id="4" name="">
            <a:extLst>
              <a:ext uri="{FF2B5EF4-FFF2-40B4-BE49-F238E27FC236}">
                <ns3:creationId id="{1676E98B-349E-4AEA-BCEF-9F567B75244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D37367C-D222-44C2-BCCB-85634E772E4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열 이름 대신 키를 붙이고 값의 종류에 맞는 표기를 직접 씁니다.</a:t>
            </a:r>
          </a:p>
        </p:txBody>
      </p:sp>
      <p:sp>
        <p:nvSpPr>
          <p:cNvPr id="6" name="">
            <a:extLst>
              <a:ext uri="{FF2B5EF4-FFF2-40B4-BE49-F238E27FC236}">
                <ns3:creationId id="{1A2F15A2-2228-4190-B855-B08A75B7D8B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{ }는 한 객체를 감쌉니다. 키는 큰따옴표로 쓰고 콜론 뒤에 값을 놓습니다.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326C281-646E-4E96-B5EA-38A2D92A9BD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A257EC13-7164-4E06-9863-5905E9B8F74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1277844232"/>
      </p:ext>
    </p:extLst>
  </p:cSld>
</p:sld>
</file>

<file path=ppt/slides/slide1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9d65e759fd90414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2C7A5D0-C7B3-4024-AC1F-034A4F33422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A8F8BFCD-36C3-4B46-B1DE-EA41D0F574D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A17 · 정상 파일</a:t>
            </a:r>
          </a:p>
        </p:txBody>
      </p:sp>
      <p:sp>
        <p:nvSpPr>
          <p:cNvPr id="4" name="">
            <a:extLst>
              <a:ext uri="{FF2B5EF4-FFF2-40B4-BE49-F238E27FC236}">
                <ns3:creationId id="{BA672855-3A9A-4BB6-8A91-01ACF88DB14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A133022-ED3D-41BD-A01E-FA3D61A276C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JSON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32A7635-5BA2-4EC1-8F56-A99D7817FF97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7876E8F7-A0CE-4A64-8FD4-BB48964F0109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5220DB3B-B89A-4D63-8DB2-60CC9A5A6D3C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{</a:t>
            </a:r>
          </a:p>
        </p:txBody>
      </p:sp>
      <p:sp>
        <p:nvSpPr>
          <p:cNvPr id="9" name="">
            <a:extLst>
              <a:ext uri="{FF2B5EF4-FFF2-40B4-BE49-F238E27FC236}">
                <ns3:creationId id="{EE22BC86-0584-48EE-B672-0CE7C117602B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4ECC6193-33A0-42E7-B667-453752F09286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"order_id": "001",</a:t>
            </a:r>
          </a:p>
        </p:txBody>
      </p:sp>
      <p:sp>
        <p:nvSpPr>
          <p:cNvPr id="11" name="">
            <a:extLst>
              <a:ext uri="{FF2B5EF4-FFF2-40B4-BE49-F238E27FC236}">
                <ns3:creationId id="{B367B392-9E3E-42BF-8C3F-790C196DF681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8AFE8084-3F82-4715-B0B3-42455566A5CB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"item": "볼트",</a:t>
            </a:r>
          </a:p>
        </p:txBody>
      </p:sp>
      <p:sp>
        <p:nvSpPr>
          <p:cNvPr id="13" name="">
            <a:extLst>
              <a:ext uri="{FF2B5EF4-FFF2-40B4-BE49-F238E27FC236}">
                <ns3:creationId id="{D3D893B5-2378-4B86-8CC8-152565915208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A09689B9-BCDE-4642-9DB4-530C3B1FDD82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"quantity": 3,</a:t>
            </a:r>
          </a:p>
        </p:txBody>
      </p:sp>
      <p:sp>
        <p:nvSpPr>
          <p:cNvPr id="15" name="">
            <a:extLst>
              <a:ext uri="{FF2B5EF4-FFF2-40B4-BE49-F238E27FC236}">
                <ns3:creationId id="{87352622-9647-4F1C-BB77-BABA4F704927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D9542750-7E44-4645-BDBF-886693C41B38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"paid": false,</a:t>
            </a:r>
          </a:p>
        </p:txBody>
      </p:sp>
      <p:sp>
        <p:nvSpPr>
          <p:cNvPr id="17" name="">
            <a:extLst>
              <a:ext uri="{FF2B5EF4-FFF2-40B4-BE49-F238E27FC236}">
                <ns3:creationId id="{7FC5515B-9F11-4C50-AE8F-1A32AA7CEDDB}"/>
              </a:ext>
            </a:extLst>
          </p:cNvPr>
          <p:cNvSpPr>
            <a:spLocks noGrp="1"/>
          </p:cNvSpPr>
          <p:nvPr/>
        </p:nvSpPr>
        <p:spPr>
          <a:xfrm>
            <a:off x="838200" y="419957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8" name="">
            <a:extLst>
              <a:ext uri="{FF2B5EF4-FFF2-40B4-BE49-F238E27FC236}">
                <ns3:creationId id="{69D4388F-DD9D-4EFC-A842-0031B61EE166}"/>
              </a:ext>
            </a:extLst>
          </p:cNvPr>
          <p:cNvSpPr>
            <a:spLocks noGrp="1"/>
          </p:cNvSpPr>
          <p:nvPr/>
        </p:nvSpPr>
        <p:spPr>
          <a:xfrm>
            <a:off x="1257300" y="417099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"note": null</a:t>
            </a:r>
          </a:p>
        </p:txBody>
      </p:sp>
      <p:sp>
        <p:nvSpPr>
          <p:cNvPr id="19" name="">
            <a:extLst>
              <a:ext uri="{FF2B5EF4-FFF2-40B4-BE49-F238E27FC236}">
                <ns3:creationId id="{CE4A9D07-08BF-4281-B282-CF2A7CA08B3A}"/>
              </a:ext>
            </a:extLst>
          </p:cNvPr>
          <p:cNvSpPr>
            <a:spLocks noGrp="1"/>
          </p:cNvSpPr>
          <p:nvPr/>
        </p:nvSpPr>
        <p:spPr>
          <a:xfrm>
            <a:off x="838200" y="450913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0" name="">
            <a:extLst>
              <a:ext uri="{FF2B5EF4-FFF2-40B4-BE49-F238E27FC236}">
                <ns3:creationId id="{E65DC0A0-1B46-4C7C-B8EB-2C52902840FF}"/>
              </a:ext>
            </a:extLst>
          </p:cNvPr>
          <p:cNvSpPr>
            <a:spLocks noGrp="1"/>
          </p:cNvSpPr>
          <p:nvPr/>
        </p:nvSpPr>
        <p:spPr>
          <a:xfrm>
            <a:off x="1257300" y="448056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21" name="">
            <a:extLst>
              <a:ext uri="{FF2B5EF4-FFF2-40B4-BE49-F238E27FC236}">
                <ns3:creationId id="{D67A7A73-9146-469B-AD6E-3A4EEBDCFE98}"/>
              </a:ext>
            </a:extLst>
          </p:cNvPr>
          <p:cNvSpPr>
            <a:spLocks noGrp="1"/>
          </p:cNvSpPr>
          <p:nvPr/>
        </p:nvSpPr>
        <p:spPr>
          <a:xfrm>
            <a:off x="685800" y="5113973"/>
            <a:ext cx="10820400" cy="9820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객체 · 문자열 2개 · 숫자 1개 · 불리언 1개 · null 1개</a:t>
            </a:r>
          </a:p>
        </p:txBody>
      </p:sp>
      <p:sp>
        <p:nvSpPr>
          <p:cNvPr id="22" name="">
            <a:extLst>
              <a:ext uri="{FF2B5EF4-FFF2-40B4-BE49-F238E27FC236}">
                <ns3:creationId id="{010E698B-00D8-4067-A3E6-D7CEC99F064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23" name="">
            <a:extLst>
              <a:ext uri="{FF2B5EF4-FFF2-40B4-BE49-F238E27FC236}">
                <ns3:creationId id="{878B0FC2-AD65-4252-BF7C-DE9E5656996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563572355"/>
      </p:ext>
    </p:extLst>
  </p:cSld>
</p:sld>
</file>

<file path=ppt/slides/slide1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e00cf3b97bd741b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D60580-B71F-4906-8184-4633D05F2A9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40FFD55-587F-4240-B68A-B409442A6BE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A17 · 직접 고칠 파일</a:t>
            </a:r>
          </a:p>
        </p:txBody>
      </p:sp>
      <p:sp>
        <p:nvSpPr>
          <p:cNvPr id="4" name="">
            <a:extLst>
              <a:ext uri="{FF2B5EF4-FFF2-40B4-BE49-F238E27FC236}">
                <ns3:creationId id="{95643B90-26CF-4131-B242-7090D752791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13D0FBB-A3BC-4772-96C2-F2BFC705938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JSON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B75981E9-64AF-41A7-B6F4-0C837EBDD24C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998ABA3A-0326-4BEA-892B-0539D05826C1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67AAB6B6-B995-45D8-8DA3-BAFB4B638E1B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{</a:t>
            </a:r>
          </a:p>
        </p:txBody>
      </p:sp>
      <p:sp>
        <p:nvSpPr>
          <p:cNvPr id="9" name="">
            <a:extLst>
              <a:ext uri="{FF2B5EF4-FFF2-40B4-BE49-F238E27FC236}">
                <ns3:creationId id="{1A8AD1D4-7035-485B-BB07-400F1577AD3D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C2EFB11C-2178-4437-A227-E870AAC14C44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"order_id": "001",</a:t>
            </a:r>
          </a:p>
        </p:txBody>
      </p:sp>
      <p:sp>
        <p:nvSpPr>
          <p:cNvPr id="11" name="">
            <a:extLst>
              <a:ext uri="{FF2B5EF4-FFF2-40B4-BE49-F238E27FC236}">
                <ns3:creationId id="{15D6A1C4-62C7-40D7-80DC-BAD23E38381E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038689DF-D2E4-4AA2-A9CA-970547339307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"item": "볼트",</a:t>
            </a:r>
          </a:p>
        </p:txBody>
      </p:sp>
      <p:sp>
        <p:nvSpPr>
          <p:cNvPr id="13" name="">
            <a:extLst>
              <a:ext uri="{FF2B5EF4-FFF2-40B4-BE49-F238E27FC236}">
                <ns3:creationId id="{265AE774-7946-41C3-9680-485D3BD2F142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0B14915F-96D3-42B1-BAD5-AE83EA24501D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"quantity": 3,</a:t>
            </a:r>
          </a:p>
        </p:txBody>
      </p:sp>
      <p:sp>
        <p:nvSpPr>
          <p:cNvPr id="15" name="">
            <a:extLst>
              <a:ext uri="{FF2B5EF4-FFF2-40B4-BE49-F238E27FC236}">
                <ns3:creationId id="{2EB30C0D-E0A6-471D-B718-43969285A003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D9021B82-60F1-44B4-9556-008AC10F3EDB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"paid": False,</a:t>
            </a:r>
          </a:p>
        </p:txBody>
      </p:sp>
      <p:sp>
        <p:nvSpPr>
          <p:cNvPr id="17" name="">
            <a:extLst>
              <a:ext uri="{FF2B5EF4-FFF2-40B4-BE49-F238E27FC236}">
                <ns3:creationId id="{029FDFC0-177F-45FE-91C1-F2728EBB85F9}"/>
              </a:ext>
            </a:extLst>
          </p:cNvPr>
          <p:cNvSpPr>
            <a:spLocks noGrp="1"/>
          </p:cNvSpPr>
          <p:nvPr/>
        </p:nvSpPr>
        <p:spPr>
          <a:xfrm>
            <a:off x="838200" y="419957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8" name="">
            <a:extLst>
              <a:ext uri="{FF2B5EF4-FFF2-40B4-BE49-F238E27FC236}">
                <ns3:creationId id="{76EDB986-D4D4-4951-A400-0AE070F8862B}"/>
              </a:ext>
            </a:extLst>
          </p:cNvPr>
          <p:cNvSpPr>
            <a:spLocks noGrp="1"/>
          </p:cNvSpPr>
          <p:nvPr/>
        </p:nvSpPr>
        <p:spPr>
          <a:xfrm>
            <a:off x="1257300" y="417099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"note": null,</a:t>
            </a:r>
          </a:p>
        </p:txBody>
      </p:sp>
      <p:sp>
        <p:nvSpPr>
          <p:cNvPr id="19" name="">
            <a:extLst>
              <a:ext uri="{FF2B5EF4-FFF2-40B4-BE49-F238E27FC236}">
                <ns3:creationId id="{F5D86C44-59C9-4B0E-BDE0-70937EF387CA}"/>
              </a:ext>
            </a:extLst>
          </p:cNvPr>
          <p:cNvSpPr>
            <a:spLocks noGrp="1"/>
          </p:cNvSpPr>
          <p:nvPr/>
        </p:nvSpPr>
        <p:spPr>
          <a:xfrm>
            <a:off x="838200" y="450913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0" name="">
            <a:extLst>
              <a:ext uri="{FF2B5EF4-FFF2-40B4-BE49-F238E27FC236}">
                <ns3:creationId id="{95F3308D-4DFC-4774-9927-9D18735D40FB}"/>
              </a:ext>
            </a:extLst>
          </p:cNvPr>
          <p:cNvSpPr>
            <a:spLocks noGrp="1"/>
          </p:cNvSpPr>
          <p:nvPr/>
        </p:nvSpPr>
        <p:spPr>
          <a:xfrm>
            <a:off x="1257300" y="448056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21" name="">
            <a:extLst>
              <a:ext uri="{FF2B5EF4-FFF2-40B4-BE49-F238E27FC236}">
                <ns3:creationId id="{3633611D-26DD-4A7F-92AA-72A107294B60}"/>
              </a:ext>
            </a:extLst>
          </p:cNvPr>
          <p:cNvSpPr>
            <a:spLocks noGrp="1"/>
          </p:cNvSpPr>
          <p:nvPr/>
        </p:nvSpPr>
        <p:spPr>
          <a:xfrm>
            <a:off x="685800" y="5113973"/>
            <a:ext cx="10820400" cy="9820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형식 검사 후 잘못된 부분을 한 곳씩 고치세요.</a:t>
            </a:r>
          </a:p>
        </p:txBody>
      </p:sp>
      <p:sp>
        <p:nvSpPr>
          <p:cNvPr id="22" name="">
            <a:extLst>
              <a:ext uri="{FF2B5EF4-FFF2-40B4-BE49-F238E27FC236}">
                <ns3:creationId id="{4914C605-1DFD-4348-BB64-1B44D76244A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23" name="">
            <a:extLst>
              <a:ext uri="{FF2B5EF4-FFF2-40B4-BE49-F238E27FC236}">
                <ns3:creationId id="{1A5B8D70-D83B-4E75-9384-DBD1DDCDD38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994342061"/>
      </p:ext>
    </p:extLst>
  </p:cSld>
</p:sld>
</file>

<file path=ppt/slides/slide1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ef37ba1a9d1f471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74D0296-C7DB-4CF6-8E22-9226AF5FD05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01F37E37-AC7A-4000-9795-85B62936C4C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EE0C0C46-DCF9-43F5-972A-BF0D5E5DC8E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A17 · 새 데이터를 직접 작성하세요</a:t>
            </a:r>
          </a:p>
        </p:txBody>
      </p:sp>
      <p:sp>
        <p:nvSpPr>
          <p:cNvPr id="5" name="">
            <a:extLst>
              <a:ext uri="{FF2B5EF4-FFF2-40B4-BE49-F238E27FC236}">
                <ns3:creationId id="{234CF978-1CFB-45B7-A5C4-5C5B17038DB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859119B-D424-4B5F-9813-CA9A6F283CDE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12153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8BF4BEA-867F-48F6-A7F3-B4BB59AF6B3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11487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002번 너트 주문은 수량 0, 결제 true, 메모는 빈 문자열입니다. JSON 객체를 처음부터 쓰고 null과 빈 문자열이 어떻게 다른지 설명하세요.</a:t>
            </a:r>
          </a:p>
        </p:txBody>
      </p:sp>
      <p:sp>
        <p:nvSpPr>
          <p:cNvPr id="8" name="">
            <a:extLst>
              <a:ext uri="{FF2B5EF4-FFF2-40B4-BE49-F238E27FC236}">
                <ns3:creationId id="{FEA97B66-872F-4072-91CC-29390E560B26}"/>
              </a:ext>
            </a:extLst>
          </p:cNvPr>
          <p:cNvSpPr>
            <a:spLocks noGrp="1"/>
          </p:cNvSpPr>
          <p:nvPr/>
        </p:nvSpPr>
        <p:spPr>
          <a:xfrm>
            <a:off x="685800" y="33013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7155430-542C-44FD-BE81-5F479C7AEB23}"/>
              </a:ext>
            </a:extLst>
          </p:cNvPr>
          <p:cNvSpPr>
            <a:spLocks noGrp="1"/>
          </p:cNvSpPr>
          <p:nvPr/>
        </p:nvSpPr>
        <p:spPr>
          <a:xfrm>
            <a:off x="1209675" y="33013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작성한 파일을 다시 열고 예상과 비교하세요.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E7E5C7AC-C43B-43C1-88D5-FE9F31B39FE9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FE8B252E-3113-4FE6-9974-4C513588367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2" name="">
            <a:extLst>
              <a:ext uri="{FF2B5EF4-FFF2-40B4-BE49-F238E27FC236}">
                <ns3:creationId id="{F9F8BDF8-A727-41A3-BCDA-909B0DF644F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267470634"/>
      </p:ext>
    </p:extLst>
  </p:cSld>
</p:sld>
</file>

<file path=ppt/slides/slide1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66fb9ce64634447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4FD3C00-EDCC-42B5-A24A-0322B6B73F4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6195F0D-33E1-4B71-BA8D-573969321B8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A17 · 수정 이유와 확인</a:t>
            </a:r>
          </a:p>
        </p:txBody>
      </p:sp>
      <p:sp>
        <p:nvSpPr>
          <p:cNvPr id="4" name="">
            <a:extLst>
              <a:ext uri="{FF2B5EF4-FFF2-40B4-BE49-F238E27FC236}">
                <ns3:creationId id="{7D7BE1BE-DA00-4CCE-BCEC-54685C842E8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3426886-6D43-4F79-A3C1-44C225D152E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False는 JSON 표기가 아닙니다. 소문자 false로 고치고 마지막 null 뒤의 쉼표를 지웁니다. null을 따옴표로 감싸면 값 없음이 아닌 문자열입니다.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CCD57F1-1576-4DB5-BA88-237FC5DBE2C3}"/>
              </a:ext>
            </a:extLst>
          </p:cNvPr>
          <p:cNvSpPr>
            <a:spLocks noGrp="1"/>
          </p:cNvSpPr>
          <p:nvPr/>
        </p:nvSpPr>
        <p:spPr>
          <a:xfrm>
            <a:off x="685800" y="291846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quantity는 숫자 0, paid는 불리언 true입니다. note는 글자가 0개인 문자열입니다. null은 값이 없다는 별도의 표기입니다.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96ECAE55-6F65-4590-AC94-D26E4CB9CFB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A6D6911F-64D8-49BB-A3A8-782D3346942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993833246"/>
      </p:ext>
    </p:extLst>
  </p:cSld>
</p:sld>
</file>

<file path=ppt/slides/slide1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cb6167f0abf41e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D487A35-AF21-4272-85F0-54F1AFBE680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DFD1AFF-81E2-4625-AAA6-D621EA7FC9A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A18 · 중첩 JSON에서 값까지 찾아가기 · 더 해보기</a:t>
            </a:r>
          </a:p>
        </p:txBody>
      </p:sp>
      <p:sp>
        <p:nvSpPr>
          <p:cNvPr id="4" name="">
            <a:extLst>
              <a:ext uri="{FF2B5EF4-FFF2-40B4-BE49-F238E27FC236}">
                <ns3:creationId id="{139E07E8-6B2A-47D1-AFD9-FC14DCDE089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4D3F8DB-F4AE-4814-BD8B-01E25E8F51A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객체의 이름표와 배열의 순서를 따라 필요한 값의 위치를 설명합니다.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42988AA-821E-47FA-865F-8C1D93F1EC2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devices는 두 장비를 담은 배열입니다. 배열의 위치는 0부터 셉니다.</a:t>
            </a:r>
          </a:p>
        </p:txBody>
      </p:sp>
      <p:sp>
        <p:nvSpPr>
          <p:cNvPr id="7" name="">
            <a:extLst>
              <a:ext uri="{FF2B5EF4-FFF2-40B4-BE49-F238E27FC236}">
                <ns3:creationId id="{7E6FAF89-B530-464E-A727-CA411A8FB20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6FE25187-6B83-48DA-92C3-69EFBA8F72E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1959355775"/>
      </p:ext>
    </p:extLst>
  </p:cSld>
</p:sld>
</file>

<file path=ppt/slides/slide1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8c2c2161d392476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565BCA6-F4A1-46AA-A109-8829A7FE78F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ADAD70F-C3C4-44CA-B2CD-665D605329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A18 · 정상 파일</a:t>
            </a:r>
          </a:p>
        </p:txBody>
      </p:sp>
      <p:sp>
        <p:nvSpPr>
          <p:cNvPr id="4" name="">
            <a:extLst>
              <a:ext uri="{FF2B5EF4-FFF2-40B4-BE49-F238E27FC236}">
                <ns3:creationId id="{B6529C19-574D-4A19-9E9A-7A00E0111DB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10F9FA0-5120-4739-A4A6-E40BE130489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JSON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17D8D60B-AA2A-43A2-B8C8-E2436C694883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DA6960B4-8E57-4369-919D-CFF5724D0AC1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9FE6CCC7-E74C-4C55-9E85-9692AB5D8964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{</a:t>
            </a:r>
          </a:p>
        </p:txBody>
      </p:sp>
      <p:sp>
        <p:nvSpPr>
          <p:cNvPr id="9" name="">
            <a:extLst>
              <a:ext uri="{FF2B5EF4-FFF2-40B4-BE49-F238E27FC236}">
                <ns3:creationId id="{894A5970-223F-4CBE-817D-416A55D8226C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E049711E-D7AC-4BB3-B282-6AF99FCA7A8A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"site": "창고",</a:t>
            </a:r>
          </a:p>
        </p:txBody>
      </p:sp>
      <p:sp>
        <p:nvSpPr>
          <p:cNvPr id="11" name="">
            <a:extLst>
              <a:ext uri="{FF2B5EF4-FFF2-40B4-BE49-F238E27FC236}">
                <ns3:creationId id="{7A14BDFA-8186-4CC9-98A3-737C8FE55A95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EE9E50DB-B80A-4DFE-A940-CAC064C9EC9D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"devices": [</a:t>
            </a:r>
          </a:p>
        </p:txBody>
      </p:sp>
      <p:sp>
        <p:nvSpPr>
          <p:cNvPr id="13" name="">
            <a:extLst>
              <a:ext uri="{FF2B5EF4-FFF2-40B4-BE49-F238E27FC236}">
                <ns3:creationId id="{873414C0-A00A-474F-AA63-71D706E3B9B5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B34F6748-AA44-482C-8AC0-3CBD4B82C7A0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{"id": "S01", "readings": [22.5, 0, null]},</a:t>
            </a:r>
          </a:p>
        </p:txBody>
      </p:sp>
      <p:sp>
        <p:nvSpPr>
          <p:cNvPr id="15" name="">
            <a:extLst>
              <a:ext uri="{FF2B5EF4-FFF2-40B4-BE49-F238E27FC236}">
                <ns3:creationId id="{F2C16EF4-6D20-41C6-A6AA-DE584E9683EB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CC267ED4-C291-4C1E-9307-E46F6734808E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{"id": "S02", "readings": [23.0, 24.0]}</a:t>
            </a:r>
          </a:p>
        </p:txBody>
      </p:sp>
      <p:sp>
        <p:nvSpPr>
          <p:cNvPr id="17" name="">
            <a:extLst>
              <a:ext uri="{FF2B5EF4-FFF2-40B4-BE49-F238E27FC236}">
                <ns3:creationId id="{BDE32A70-F190-4B2F-A14F-3C0D97A01BD9}"/>
              </a:ext>
            </a:extLst>
          </p:cNvPr>
          <p:cNvSpPr>
            <a:spLocks noGrp="1"/>
          </p:cNvSpPr>
          <p:nvPr/>
        </p:nvSpPr>
        <p:spPr>
          <a:xfrm>
            <a:off x="838200" y="419957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8" name="">
            <a:extLst>
              <a:ext uri="{FF2B5EF4-FFF2-40B4-BE49-F238E27FC236}">
                <ns3:creationId id="{8CFBE3DD-565C-45A6-AF88-3CF1AF7AFBE2}"/>
              </a:ext>
            </a:extLst>
          </p:cNvPr>
          <p:cNvSpPr>
            <a:spLocks noGrp="1"/>
          </p:cNvSpPr>
          <p:nvPr/>
        </p:nvSpPr>
        <p:spPr>
          <a:xfrm>
            <a:off x="1257300" y="417099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]</a:t>
            </a:r>
          </a:p>
        </p:txBody>
      </p:sp>
      <p:sp>
        <p:nvSpPr>
          <p:cNvPr id="19" name="">
            <a:extLst>
              <a:ext uri="{FF2B5EF4-FFF2-40B4-BE49-F238E27FC236}">
                <ns3:creationId id="{CD4569C9-168C-47B3-A0BC-5B257CD6DFDC}"/>
              </a:ext>
            </a:extLst>
          </p:cNvPr>
          <p:cNvSpPr>
            <a:spLocks noGrp="1"/>
          </p:cNvSpPr>
          <p:nvPr/>
        </p:nvSpPr>
        <p:spPr>
          <a:xfrm>
            <a:off x="838200" y="450913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0" name="">
            <a:extLst>
              <a:ext uri="{FF2B5EF4-FFF2-40B4-BE49-F238E27FC236}">
                <ns3:creationId id="{FF3F57D7-BF64-4412-8FE6-4E7B666AAB27}"/>
              </a:ext>
            </a:extLst>
          </p:cNvPr>
          <p:cNvSpPr>
            <a:spLocks noGrp="1"/>
          </p:cNvSpPr>
          <p:nvPr/>
        </p:nvSpPr>
        <p:spPr>
          <a:xfrm>
            <a:off x="1257300" y="448056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21" name="">
            <a:extLst>
              <a:ext uri="{FF2B5EF4-FFF2-40B4-BE49-F238E27FC236}">
                <ns3:creationId id="{1BF07522-AF90-4CCB-86A5-54BE2BAE85D5}"/>
              </a:ext>
            </a:extLst>
          </p:cNvPr>
          <p:cNvSpPr>
            <a:spLocks noGrp="1"/>
          </p:cNvSpPr>
          <p:nvPr/>
        </p:nvSpPr>
        <p:spPr>
          <a:xfrm>
            <a:off x="685800" y="5113973"/>
            <a:ext cx="10820400" cy="9820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장비 2개 · 첫 장비 측정 3개 · 세 번째 값은 null</a:t>
            </a:r>
          </a:p>
        </p:txBody>
      </p:sp>
      <p:sp>
        <p:nvSpPr>
          <p:cNvPr id="22" name="">
            <a:extLst>
              <a:ext uri="{FF2B5EF4-FFF2-40B4-BE49-F238E27FC236}">
                <ns3:creationId id="{CB2D6EBB-7D0B-4303-A5C6-3601C997E89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23" name="">
            <a:extLst>
              <a:ext uri="{FF2B5EF4-FFF2-40B4-BE49-F238E27FC236}">
                <ns3:creationId id="{43FEF977-BDB7-4473-AB62-2EF66128DAF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1072713951"/>
      </p:ext>
    </p:extLst>
  </p:cSld>
</p:sld>
</file>

<file path=ppt/slides/slide1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8bfe92323c1d4c0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709A415-DCBB-4DB5-B182-6166E370A68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7BFDEDF7-14DB-47B8-9E19-BF023331CC7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A18 · 직접 고칠 파일</a:t>
            </a:r>
          </a:p>
        </p:txBody>
      </p:sp>
      <p:sp>
        <p:nvSpPr>
          <p:cNvPr id="4" name="">
            <a:extLst>
              <a:ext uri="{FF2B5EF4-FFF2-40B4-BE49-F238E27FC236}">
                <ns3:creationId id="{C2181BCA-72DC-4052-9C13-D4F21DDA30C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E86E139-E11E-49AE-A79A-DDC809EECF8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JSON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6AAFD07F-C521-4413-95AA-414E1E394007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336F19B9-DF14-46F5-BC02-62D2313DB61E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129A30A8-AEF6-42B8-B0C8-E5030557AEDA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{</a:t>
            </a:r>
          </a:p>
        </p:txBody>
      </p:sp>
      <p:sp>
        <p:nvSpPr>
          <p:cNvPr id="9" name="">
            <a:extLst>
              <a:ext uri="{FF2B5EF4-FFF2-40B4-BE49-F238E27FC236}">
                <ns3:creationId id="{1908F462-9E08-4F54-B765-DD1598F18CCB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4DDAB41F-4B19-4F66-AC06-1B4469CC56F0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"site": "창고",</a:t>
            </a:r>
          </a:p>
        </p:txBody>
      </p:sp>
      <p:sp>
        <p:nvSpPr>
          <p:cNvPr id="11" name="">
            <a:extLst>
              <a:ext uri="{FF2B5EF4-FFF2-40B4-BE49-F238E27FC236}">
                <ns3:creationId id="{CA5CB7A3-2A3D-4A36-B5DD-90B0C4F1C08A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56E4D344-C4DD-437B-AC70-99F367A5DA9B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"devices": [</a:t>
            </a:r>
          </a:p>
        </p:txBody>
      </p:sp>
      <p:sp>
        <p:nvSpPr>
          <p:cNvPr id="13" name="">
            <a:extLst>
              <a:ext uri="{FF2B5EF4-FFF2-40B4-BE49-F238E27FC236}">
                <ns3:creationId id="{BA12F5EB-FB4F-49D2-BB57-BC69ACF2C0B0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9FC5F0D7-152B-47DC-AC1A-56CBAAC1AA85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{"id": "S01", "readings": [22.5, 0, "null"]},</a:t>
            </a:r>
          </a:p>
        </p:txBody>
      </p:sp>
      <p:sp>
        <p:nvSpPr>
          <p:cNvPr id="15" name="">
            <a:extLst>
              <a:ext uri="{FF2B5EF4-FFF2-40B4-BE49-F238E27FC236}">
                <ns3:creationId id="{94CEC9E9-040B-4428-8123-B486E9A298F3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DC846F33-D10E-4688-B651-174B270B3B41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{"id": "S02", "readings": [23.0, 24.0]}</a:t>
            </a:r>
          </a:p>
        </p:txBody>
      </p:sp>
      <p:sp>
        <p:nvSpPr>
          <p:cNvPr id="17" name="">
            <a:extLst>
              <a:ext uri="{FF2B5EF4-FFF2-40B4-BE49-F238E27FC236}">
                <ns3:creationId id="{419EE2D2-5DF0-436E-9DEA-E4A7989CB6D7}"/>
              </a:ext>
            </a:extLst>
          </p:cNvPr>
          <p:cNvSpPr>
            <a:spLocks noGrp="1"/>
          </p:cNvSpPr>
          <p:nvPr/>
        </p:nvSpPr>
        <p:spPr>
          <a:xfrm>
            <a:off x="838200" y="419957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8" name="">
            <a:extLst>
              <a:ext uri="{FF2B5EF4-FFF2-40B4-BE49-F238E27FC236}">
                <ns3:creationId id="{7CA47D98-4CE0-49DF-933A-A805733534B8}"/>
              </a:ext>
            </a:extLst>
          </p:cNvPr>
          <p:cNvSpPr>
            <a:spLocks noGrp="1"/>
          </p:cNvSpPr>
          <p:nvPr/>
        </p:nvSpPr>
        <p:spPr>
          <a:xfrm>
            <a:off x="1257300" y="417099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]</a:t>
            </a:r>
          </a:p>
        </p:txBody>
      </p:sp>
      <p:sp>
        <p:nvSpPr>
          <p:cNvPr id="19" name="">
            <a:extLst>
              <a:ext uri="{FF2B5EF4-FFF2-40B4-BE49-F238E27FC236}">
                <ns3:creationId id="{6E8D552A-4EC1-43E5-BF4F-9794769ADBA3}"/>
              </a:ext>
            </a:extLst>
          </p:cNvPr>
          <p:cNvSpPr>
            <a:spLocks noGrp="1"/>
          </p:cNvSpPr>
          <p:nvPr/>
        </p:nvSpPr>
        <p:spPr>
          <a:xfrm>
            <a:off x="838200" y="450913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0" name="">
            <a:extLst>
              <a:ext uri="{FF2B5EF4-FFF2-40B4-BE49-F238E27FC236}">
                <ns3:creationId id="{51ED48FB-3695-4770-952C-D4C07FEC3322}"/>
              </a:ext>
            </a:extLst>
          </p:cNvPr>
          <p:cNvSpPr>
            <a:spLocks noGrp="1"/>
          </p:cNvSpPr>
          <p:nvPr/>
        </p:nvSpPr>
        <p:spPr>
          <a:xfrm>
            <a:off x="1257300" y="448056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21" name="">
            <a:extLst>
              <a:ext uri="{FF2B5EF4-FFF2-40B4-BE49-F238E27FC236}">
                <ns3:creationId id="{A3B71954-7265-4BA8-BBCB-B6842250527E}"/>
              </a:ext>
            </a:extLst>
          </p:cNvPr>
          <p:cNvSpPr>
            <a:spLocks noGrp="1"/>
          </p:cNvSpPr>
          <p:nvPr/>
        </p:nvSpPr>
        <p:spPr>
          <a:xfrm>
            <a:off x="685800" y="5113973"/>
            <a:ext cx="10820400" cy="9820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형식은 맞습니다. 값의 뜻과 종류를 확인하세요.</a:t>
            </a:r>
          </a:p>
        </p:txBody>
      </p:sp>
      <p:sp>
        <p:nvSpPr>
          <p:cNvPr id="22" name="">
            <a:extLst>
              <a:ext uri="{FF2B5EF4-FFF2-40B4-BE49-F238E27FC236}">
                <ns3:creationId id="{A2842275-B5DA-4B3E-9F54-44DC74AB9F7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23" name="">
            <a:extLst>
              <a:ext uri="{FF2B5EF4-FFF2-40B4-BE49-F238E27FC236}">
                <ns3:creationId id="{4466A83A-9A93-406B-B8D4-E16D9B9CBC7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1889209462"/>
      </p:ext>
    </p:extLst>
  </p:cSld>
</p:sld>
</file>

<file path=ppt/slides/slide1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4cbb53081b874f9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12804F7-5423-496C-AA9E-4A2C2973EE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0A6A8D95-C519-4FF1-AD77-9570E2F2B6C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0D0642A-107B-4B45-907F-104438AA291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A18 · 새 데이터를 직접 작성하세요 · 더 해보기</a:t>
            </a:r>
          </a:p>
        </p:txBody>
      </p:sp>
      <p:sp>
        <p:nvSpPr>
          <p:cNvPr id="5" name="">
            <a:extLst>
              <a:ext uri="{FF2B5EF4-FFF2-40B4-BE49-F238E27FC236}">
                <ns3:creationId id="{FB0BDDA7-8EF4-403F-B1F3-4A13712B063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04E78B5-B2B6-4343-B6B5-9556161E53F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12153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C736BD2-F1B1-4DDB-9FA1-EF7E564C79C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11487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둘째 장비의 둘째 측정값까지 경로를 쓰세요. 첫 장비의 두 번째 측정 0은 그대로 두고 세 번째 미측정만 21.0으로 수정한 전체 JSON을 작성하세요.</a:t>
            </a:r>
          </a:p>
        </p:txBody>
      </p:sp>
      <p:sp>
        <p:nvSpPr>
          <p:cNvPr id="8" name="">
            <a:extLst>
              <a:ext uri="{FF2B5EF4-FFF2-40B4-BE49-F238E27FC236}">
                <ns3:creationId id="{F5C8EE7B-7528-4795-8C43-61A250FC8014}"/>
              </a:ext>
            </a:extLst>
          </p:cNvPr>
          <p:cNvSpPr>
            <a:spLocks noGrp="1"/>
          </p:cNvSpPr>
          <p:nvPr/>
        </p:nvSpPr>
        <p:spPr>
          <a:xfrm>
            <a:off x="685800" y="33013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C5514DC-2CD8-4469-89CE-15B19BE47BB8}"/>
              </a:ext>
            </a:extLst>
          </p:cNvPr>
          <p:cNvSpPr>
            <a:spLocks noGrp="1"/>
          </p:cNvSpPr>
          <p:nvPr/>
        </p:nvSpPr>
        <p:spPr>
          <a:xfrm>
            <a:off x="1209675" y="33013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작성한 파일을 다시 열고 예상과 비교하세요.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540EDACB-8A31-4B41-AC54-32B88E6AC654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85C3F259-D1FE-49C1-8A38-CDEA9F56993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2" name="">
            <a:extLst>
              <a:ext uri="{FF2B5EF4-FFF2-40B4-BE49-F238E27FC236}">
                <ns3:creationId id="{8411DDDE-98E1-4AC2-9D5A-775B05FC9A8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1132800537"/>
      </p:ext>
    </p:extLst>
  </p:cSld>
</p:sld>
</file>

<file path=ppt/slides/slide1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e64cbff5a95940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EAD6D61-E6E8-4206-B997-F703917ED36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52059C0-8B86-437F-9EF5-83E020B0002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A18 · 수정 이유와 확인</a:t>
            </a:r>
          </a:p>
        </p:txBody>
      </p:sp>
      <p:sp>
        <p:nvSpPr>
          <p:cNvPr id="4" name="">
            <a:extLst>
              <a:ext uri="{FF2B5EF4-FFF2-40B4-BE49-F238E27FC236}">
                <ns3:creationId id="{A68B9DF0-5B98-41C1-90CB-6FCF9B8BD72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EC8B199-1881-47CA-BC7A-A1D5C274448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"null"은 네 글자 문자열입니다. 확인된 값 없음에는 따옴표 없는 null을 씁니다. JSON 형식 검사만으로 이 잘못을 찾을 수는 없습니다.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3588506C-B431-4C89-A6E4-C410A225B86A}"/>
              </a:ext>
            </a:extLst>
          </p:cNvPr>
          <p:cNvSpPr>
            <a:spLocks noGrp="1"/>
          </p:cNvSpPr>
          <p:nvPr/>
        </p:nvSpPr>
        <p:spPr>
          <a:xfrm>
            <a:off x="685800" y="291846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devices[1].readings[1]은 24.0입니다. 수정할 위치는 devices[0].readings[2]이며 0이나 S02의 값은 바뀌지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532C3B0A-392F-4D54-BB12-FC06156DE57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B8E0B5ED-E924-4B78-8656-147D692BCC0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392727368"/>
      </p:ext>
    </p:extLst>
  </p:cSld>
</p:sld>
</file>

<file path=ppt/slides/slide1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9800b7233c64fa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E696096-0B4E-4F81-80C9-8C4C3AF7D2B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8447F2A-C973-4F82-BE8D-437FFD31CF6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A19 · 문법 오류와 자료형 오류 고치기</a:t>
            </a:r>
          </a:p>
        </p:txBody>
      </p:sp>
      <p:sp>
        <p:nvSpPr>
          <p:cNvPr id="4" name="">
            <a:extLst>
              <a:ext uri="{FF2B5EF4-FFF2-40B4-BE49-F238E27FC236}">
                <ns3:creationId id="{95949219-BF61-4D64-83B6-2E945AAA1FE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7178873-D97A-4878-867E-36440BE4D32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읽을 수 없는 JSON과 읽히지만 약속을 어긴 JSON을 구분합니다.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92B308A-C3F1-43BB-B560-C67A6F4181E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검사는 큰따옴표·콜론·쉼표 같은 파일 문법입니다.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BBF2BC5-E28E-4F39-A38F-14D179DDF97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529B27E4-8917-4E97-9D20-661ECA31194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2080020317"/>
      </p:ext>
    </p:extLst>
  </p:cSld>
</p:sld>
</file>

<file path=ppt/slides/slide1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7211605a92b343b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5B4AD3A-8269-4F9A-A8BD-8FB973637B4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F4C94BA-4412-49F3-87A3-3DE5BD26B33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A19 · 정상 파일</a:t>
            </a:r>
          </a:p>
        </p:txBody>
      </p:sp>
      <p:sp>
        <p:nvSpPr>
          <p:cNvPr id="4" name="">
            <a:extLst>
              <a:ext uri="{FF2B5EF4-FFF2-40B4-BE49-F238E27FC236}">
                <ns3:creationId id="{64F83AF5-0186-4047-977D-0399C3F3151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B0737C5-3A36-4ED9-A701-6EECE0833EE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JSON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1C6DDE66-E4E2-4D97-BB22-87AE4A851847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6B0124B9-0DAD-4001-B1BF-37638D3FB0BF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7890C699-F7DE-473B-8F8C-3910A6C9D532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{</a:t>
            </a:r>
          </a:p>
        </p:txBody>
      </p:sp>
      <p:sp>
        <p:nvSpPr>
          <p:cNvPr id="9" name="">
            <a:extLst>
              <a:ext uri="{FF2B5EF4-FFF2-40B4-BE49-F238E27FC236}">
                <ns3:creationId id="{9FB33C88-E948-426B-99EE-F4352E99249D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E4689685-0F56-48FD-B229-9C25B3C39A96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"id": "001",</a:t>
            </a:r>
          </a:p>
        </p:txBody>
      </p:sp>
      <p:sp>
        <p:nvSpPr>
          <p:cNvPr id="11" name="">
            <a:extLst>
              <a:ext uri="{FF2B5EF4-FFF2-40B4-BE49-F238E27FC236}">
                <ns3:creationId id="{BBE58C5B-0BCD-429E-9C98-69B94DD63DBA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88A73319-93F9-4700-8923-D30F37364EA5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"temperature_c": null,</a:t>
            </a:r>
          </a:p>
        </p:txBody>
      </p:sp>
      <p:sp>
        <p:nvSpPr>
          <p:cNvPr id="13" name="">
            <a:extLst>
              <a:ext uri="{FF2B5EF4-FFF2-40B4-BE49-F238E27FC236}">
                <ns3:creationId id="{4803E37D-1A3E-4983-942D-7AA15C6058AC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760B7D4C-904F-4A80-A080-9CEAD37F77B1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"active": false</a:t>
            </a:r>
          </a:p>
        </p:txBody>
      </p:sp>
      <p:sp>
        <p:nvSpPr>
          <p:cNvPr id="15" name="">
            <a:extLst>
              <a:ext uri="{FF2B5EF4-FFF2-40B4-BE49-F238E27FC236}">
                <ns3:creationId id="{93D337A2-690B-4F0B-B65A-6653576B80F0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87514718-DDE8-46D3-80CD-9F859CB7F322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7" name="">
            <a:extLst>
              <a:ext uri="{FF2B5EF4-FFF2-40B4-BE49-F238E27FC236}">
                <ns3:creationId id="{03F407DB-7FC6-4C33-B33D-6C6750235D8C}"/>
              </a:ext>
            </a:extLst>
          </p:cNvPr>
          <p:cNvSpPr>
            <a:spLocks noGrp="1"/>
          </p:cNvSpPr>
          <p:nvPr/>
        </p:nvSpPr>
        <p:spPr>
          <a:xfrm>
            <a:off x="685800" y="4494848"/>
            <a:ext cx="10820400" cy="160115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id는 문자열 · temperature_c는 null · active는 불리언</a:t>
            </a:r>
          </a:p>
        </p:txBody>
      </p:sp>
      <p:sp>
        <p:nvSpPr>
          <p:cNvPr id="18" name="">
            <a:extLst>
              <a:ext uri="{FF2B5EF4-FFF2-40B4-BE49-F238E27FC236}">
                <ns3:creationId id="{6ED2961A-C61E-4B37-9002-DB49FD232BD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9" name="">
            <a:extLst>
              <a:ext uri="{FF2B5EF4-FFF2-40B4-BE49-F238E27FC236}">
                <ns3:creationId id="{D0F37C5A-D94A-406B-AD48-83545CD145A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2117836836"/>
      </p:ext>
    </p:extLst>
  </p:cSld>
</p:sld>
</file>

<file path=ppt/slides/slide1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fb33b8188def47e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CEFDE0E-9F29-43D9-A6B1-CFC057E10E4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2C78710-37C8-4EE3-8A46-77247BDC92C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A19 · 직접 고칠 파일</a:t>
            </a:r>
          </a:p>
        </p:txBody>
      </p:sp>
      <p:sp>
        <p:nvSpPr>
          <p:cNvPr id="4" name="">
            <a:extLst>
              <a:ext uri="{FF2B5EF4-FFF2-40B4-BE49-F238E27FC236}">
                <ns3:creationId id="{45ED3AC2-F6F9-43C0-9F17-C89077AE36B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FAF6F2C-C1FE-4D28-AEE7-87CCC755473E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JSON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F5E8DCB0-CF71-47AE-8D5E-EA8BAFDC9565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D6F21026-2A41-4F9B-9059-73FD8641C957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C12CDABB-2151-49A0-B050-C2241761BF3F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{</a:t>
            </a:r>
          </a:p>
        </p:txBody>
      </p:sp>
      <p:sp>
        <p:nvSpPr>
          <p:cNvPr id="9" name="">
            <a:extLst>
              <a:ext uri="{FF2B5EF4-FFF2-40B4-BE49-F238E27FC236}">
                <ns3:creationId id="{7F7EBE56-022D-4934-87DE-CDBB518BD69A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8C201845-158D-4E2A-9312-FC05F243605E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id: "001",</a:t>
            </a:r>
          </a:p>
        </p:txBody>
      </p:sp>
      <p:sp>
        <p:nvSpPr>
          <p:cNvPr id="11" name="">
            <a:extLst>
              <a:ext uri="{FF2B5EF4-FFF2-40B4-BE49-F238E27FC236}">
                <ns3:creationId id="{3FB4877A-0DE9-44C2-B741-9A4552BC980B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24ED7E5D-0C5F-4DB8-858C-3D7A630F79C8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"temperature_c": null</a:t>
            </a:r>
          </a:p>
        </p:txBody>
      </p:sp>
      <p:sp>
        <p:nvSpPr>
          <p:cNvPr id="13" name="">
            <a:extLst>
              <a:ext uri="{FF2B5EF4-FFF2-40B4-BE49-F238E27FC236}">
                <ns3:creationId id="{0A1DC4A1-B4AB-4EC8-9018-0977EFC6F414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8E5A3EB4-BD32-49C5-BEA1-88055DEEB90F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"active": False,</a:t>
            </a:r>
          </a:p>
        </p:txBody>
      </p:sp>
      <p:sp>
        <p:nvSpPr>
          <p:cNvPr id="15" name="">
            <a:extLst>
              <a:ext uri="{FF2B5EF4-FFF2-40B4-BE49-F238E27FC236}">
                <ns3:creationId id="{024F61A5-06D9-4CE9-BC6E-8C1A9292AB76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7E4B11FD-3E6F-44C4-92B3-3F72FAE0E0CE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7" name="">
            <a:extLst>
              <a:ext uri="{FF2B5EF4-FFF2-40B4-BE49-F238E27FC236}">
                <ns3:creationId id="{17275A73-F5FD-4EA6-A6AA-3C4F5F19C2EB}"/>
              </a:ext>
            </a:extLst>
          </p:cNvPr>
          <p:cNvSpPr>
            <a:spLocks noGrp="1"/>
          </p:cNvSpPr>
          <p:nvPr/>
        </p:nvSpPr>
        <p:spPr>
          <a:xfrm>
            <a:off x="685800" y="4494848"/>
            <a:ext cx="10820400" cy="160115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형식 검사 후 잘못된 부분을 한 곳씩 고치세요.</a:t>
            </a:r>
          </a:p>
        </p:txBody>
      </p:sp>
      <p:sp>
        <p:nvSpPr>
          <p:cNvPr id="18" name="">
            <a:extLst>
              <a:ext uri="{FF2B5EF4-FFF2-40B4-BE49-F238E27FC236}">
                <ns3:creationId id="{2BBED6D4-FBBA-4CEA-94B9-BCF95F2980C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9" name="">
            <a:extLst>
              <a:ext uri="{FF2B5EF4-FFF2-40B4-BE49-F238E27FC236}">
                <ns3:creationId id="{64315DB2-9758-4650-B428-D39C64B572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1153275522"/>
      </p:ext>
    </p:extLst>
  </p:cSld>
</p:sld>
</file>

<file path=ppt/slides/slide1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c595b1b480a1485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E3A6070-000E-4807-8393-F937F9318B3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D3AFB1A-A2D0-4181-9232-FCCA5558693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A19 · 자료형이 잘못된 새 파일</a:t>
            </a:r>
          </a:p>
        </p:txBody>
      </p:sp>
      <p:sp>
        <p:nvSpPr>
          <p:cNvPr id="4" name="">
            <a:extLst>
              <a:ext uri="{FF2B5EF4-FFF2-40B4-BE49-F238E27FC236}">
                <ns3:creationId id="{53188E47-9B5A-4EAC-B951-688F46536BD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EFE9543-392E-4027-836F-DD66C9B10A1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형식 검사는 통과합니다. 확인 메모: 번호 001 · 온도 미측정 · 비활성</a:t>
            </a:r>
          </a:p>
        </p:txBody>
      </p:sp>
      <p:sp>
        <p:nvSpPr>
          <p:cNvPr id="6" name="">
            <a:extLst>
              <a:ext uri="{FF2B5EF4-FFF2-40B4-BE49-F238E27FC236}">
                <ns3:creationId id="{271C9165-29DB-4F98-8A93-CB729AE9290C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58BA433D-7776-45D6-9D87-AD2A59F32D84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0E07BF42-7194-41ED-AA8F-2B072697CF17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{</a:t>
            </a:r>
          </a:p>
        </p:txBody>
      </p:sp>
      <p:sp>
        <p:nvSpPr>
          <p:cNvPr id="9" name="">
            <a:extLst>
              <a:ext uri="{FF2B5EF4-FFF2-40B4-BE49-F238E27FC236}">
                <ns3:creationId id="{77266C92-8FEC-4709-B3FA-5B9D92374E16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C3789E6E-C170-407D-820D-09B8BAEC6D2E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"id": 1,</a:t>
            </a:r>
          </a:p>
        </p:txBody>
      </p:sp>
      <p:sp>
        <p:nvSpPr>
          <p:cNvPr id="11" name="">
            <a:extLst>
              <a:ext uri="{FF2B5EF4-FFF2-40B4-BE49-F238E27FC236}">
                <ns3:creationId id="{7A92E1C3-80AC-4EB1-B0DE-2B399067890C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84D1DDEC-9724-47A9-9F09-900A97344C31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"temperature_c": "null",</a:t>
            </a:r>
          </a:p>
        </p:txBody>
      </p:sp>
      <p:sp>
        <p:nvSpPr>
          <p:cNvPr id="13" name="">
            <a:extLst>
              <a:ext uri="{FF2B5EF4-FFF2-40B4-BE49-F238E27FC236}">
                <ns3:creationId id="{E5216274-193C-4EAC-8B46-8F0208C48333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FBA73BD7-6FD2-43BE-86C8-7378596A2FFE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"active": "false"</a:t>
            </a:r>
          </a:p>
        </p:txBody>
      </p:sp>
      <p:sp>
        <p:nvSpPr>
          <p:cNvPr id="15" name="">
            <a:extLst>
              <a:ext uri="{FF2B5EF4-FFF2-40B4-BE49-F238E27FC236}">
                <ns3:creationId id="{912A0C43-95DA-41B4-B96F-B8E335827155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E0FE13C6-325C-4E28-BA06-1D4D6DE921E4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7" name="">
            <a:extLst>
              <a:ext uri="{FF2B5EF4-FFF2-40B4-BE49-F238E27FC236}">
                <ns3:creationId id="{0B5D3EF4-023E-40A9-9502-8E4F496520C3}"/>
              </a:ext>
            </a:extLst>
          </p:cNvPr>
          <p:cNvSpPr>
            <a:spLocks noGrp="1"/>
          </p:cNvSpPr>
          <p:nvPr/>
        </p:nvSpPr>
        <p:spPr>
          <a:xfrm>
            <a:off x="685800" y="4494848"/>
            <a:ext cx="10820400" cy="160115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세 값의 종류를 직접 고치고 다음 화면의 풀이와 비교하세요.</a:t>
            </a:r>
          </a:p>
        </p:txBody>
      </p:sp>
      <p:sp>
        <p:nvSpPr>
          <p:cNvPr id="18" name="">
            <a:extLst>
              <a:ext uri="{FF2B5EF4-FFF2-40B4-BE49-F238E27FC236}">
                <ns3:creationId id="{F782E735-1B0F-4AA4-9807-B7AD9B6D15A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9" name="">
            <a:extLst>
              <a:ext uri="{FF2B5EF4-FFF2-40B4-BE49-F238E27FC236}">
                <ns3:creationId id="{DED85CCB-F052-4685-8AC7-5E2F33F2A98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722316578"/>
      </p:ext>
    </p:extLst>
  </p:cSld>
</p:sld>
</file>

<file path=ppt/slides/slide1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4547613905dd47b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7EA857F-3DEE-4D61-B24B-A96092187B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78F6FA4-2E92-4780-A947-A7411C42D7C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F4B6B44-6FEE-4B13-8568-9410331EBFA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A19 · 새 데이터를 직접 작성하세요</a:t>
            </a:r>
          </a:p>
        </p:txBody>
      </p:sp>
      <p:sp>
        <p:nvSpPr>
          <p:cNvPr id="5" name="">
            <a:extLst>
              <a:ext uri="{FF2B5EF4-FFF2-40B4-BE49-F238E27FC236}">
                <ns3:creationId id="{169D761B-006A-4273-A49E-12A4B43533C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128391D-D884-430B-9C43-AB3E794C82A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12153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0603FF8-AFBA-47BD-90A2-01185F7A3428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11487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아래 새 파일은 문법이 맞지만 세 값의 종류가 잘못됐습니다. 확인 메모는 번호 001·온도 미측정·비활성입니다. 세 값을 알맞은 종류로 고치세요.</a:t>
            </a:r>
          </a:p>
        </p:txBody>
      </p:sp>
      <p:sp>
        <p:nvSpPr>
          <p:cNvPr id="8" name="">
            <a:extLst>
              <a:ext uri="{FF2B5EF4-FFF2-40B4-BE49-F238E27FC236}">
                <ns3:creationId id="{E6B19B97-2771-4FE8-AF6F-2DD58646109C}"/>
              </a:ext>
            </a:extLst>
          </p:cNvPr>
          <p:cNvSpPr>
            <a:spLocks noGrp="1"/>
          </p:cNvSpPr>
          <p:nvPr/>
        </p:nvSpPr>
        <p:spPr>
          <a:xfrm>
            <a:off x="685800" y="33013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95DE5C2-602C-4FC0-B7EA-ACD3D4E38130}"/>
              </a:ext>
            </a:extLst>
          </p:cNvPr>
          <p:cNvSpPr>
            <a:spLocks noGrp="1"/>
          </p:cNvSpPr>
          <p:nvPr/>
        </p:nvSpPr>
        <p:spPr>
          <a:xfrm>
            <a:off x="1209675" y="33013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작성한 파일을 다시 열고 예상과 비교하세요.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ED5D205B-CF8D-4784-B6ED-69E2620EEE6A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57114EB5-8FC8-4589-A8F9-67D7629242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2" name="">
            <a:extLst>
              <a:ext uri="{FF2B5EF4-FFF2-40B4-BE49-F238E27FC236}">
                <ns3:creationId id="{E329001B-A16F-4F52-9D12-C5AC34588B6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159121613"/>
      </p:ext>
    </p:extLst>
  </p:cSld>
</p:sld>
</file>

<file path=ppt/slides/slide1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edcda4487afe438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4B662FA-EEFA-4CDF-ADDF-E8B3D27AAEA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1CD5B25-079F-4747-91B2-2EAE02107D4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A19 · 수정 이유와 확인</a:t>
            </a:r>
          </a:p>
        </p:txBody>
      </p:sp>
      <p:sp>
        <p:nvSpPr>
          <p:cNvPr id="4" name="">
            <a:extLst>
              <a:ext uri="{FF2B5EF4-FFF2-40B4-BE49-F238E27FC236}">
                <ns3:creationId id="{06C594AB-405D-41C0-BD09-4FBEA303396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86539F3-B2DA-457C-8D04-73A10FC26F7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id의 큰따옴표, null 뒤 쉼표, False 표기와 마지막 쉼표를 차례로 고칩니다. 검사기가 먼저 보여 준 오류 하나를 고친 뒤 다시 검사합니다.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C2DF7E5-72C3-4457-BC1C-91B8046F7E05}"/>
              </a:ext>
            </a:extLst>
          </p:cNvPr>
          <p:cNvSpPr>
            <a:spLocks noGrp="1"/>
          </p:cNvSpPr>
          <p:nvPr/>
        </p:nvSpPr>
        <p:spPr>
          <a:xfrm>
            <a:off x="685800" y="291846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수정 결과는 정상 예와 같습니다. 번호는 "001", 온도는 null, 상태는 false입니다. 문자열 "false"는 불리언 false가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3A373AE2-6F07-4935-9A75-B2A7DA21DDE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4219B4E6-CBD1-4D55-ADB7-14B5B021881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1903862693"/>
      </p:ext>
    </p:extLst>
  </p:cSld>
</p:sld>
</file>

<file path=ppt/slides/slide1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d3bc66ce802e4ba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A257F20-E2C2-40F5-B5DD-DA316EFF5D0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C70D5AD-2C84-458B-B4DF-2D0F0EF964A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A20 · CSV를 JSON으로 옮길 때 값의 종류 정하기 · 더 해보기</a:t>
            </a:r>
          </a:p>
        </p:txBody>
      </p:sp>
      <p:sp>
        <p:nvSpPr>
          <p:cNvPr id="4" name="">
            <a:extLst>
              <a:ext uri="{FF2B5EF4-FFF2-40B4-BE49-F238E27FC236}">
                <ns3:creationId id="{2BB8DE3F-9FAE-41EB-9BFB-54C92A82E45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713E096-D3F7-4B22-B441-461E1E8143B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CSV의 글자 표현을 데이터 사전에 맞게 JSON 값으로 옮깁니다.</a:t>
            </a:r>
          </a:p>
        </p:txBody>
      </p:sp>
      <p:sp>
        <p:nvSpPr>
          <p:cNvPr id="6" name="">
            <a:extLst>
              <a:ext uri="{FF2B5EF4-FFF2-40B4-BE49-F238E27FC236}">
                <ns3:creationId id="{4067D89F-22D8-4E5B-9A7A-BC1B10A2444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변환 규칙: sensor_id는 문자열, temperature_c는 숫자 또는 미측정 null, active는 불리언입니다.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3061C2D-7C35-44F7-8E90-CF2F7399DE5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72786A3A-125C-43A5-8E91-3DB0BDC9159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228287979"/>
      </p:ext>
    </p:extLst>
  </p:cSld>
</p:sld>
</file>

<file path=ppt/slides/slide1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cf0c5fb81d394e6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4E9AD6C-C994-4ACD-AEA1-C6E9CEC73F4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067B347-21F9-470A-B249-389F1313D93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A20 · 정상 파일</a:t>
            </a:r>
          </a:p>
        </p:txBody>
      </p:sp>
      <p:sp>
        <p:nvSpPr>
          <p:cNvPr id="4" name="">
            <a:extLst>
              <a:ext uri="{FF2B5EF4-FFF2-40B4-BE49-F238E27FC236}">
                <ns3:creationId id="{833BD5BA-4B36-4EC5-AEF6-15C3B95AEE2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2341138-A16D-4785-92B4-3195A63D214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JSON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D3DB4791-5F2B-451E-BC7B-2AD2C9F80CF5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FC931A1D-4389-472A-A629-117B97230661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0E017BFA-9B83-4EB4-910D-4F327C9DE021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[</a:t>
            </a:r>
          </a:p>
        </p:txBody>
      </p:sp>
      <p:sp>
        <p:nvSpPr>
          <p:cNvPr id="9" name="">
            <a:extLst>
              <a:ext uri="{FF2B5EF4-FFF2-40B4-BE49-F238E27FC236}">
                <ns3:creationId id="{6BD8070B-A140-4080-92E0-009828813991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F9E780FF-C816-40FF-8014-3C282102DA05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{"sensor_id": "S01", "temperature_c": 0, "active": false},</a:t>
            </a:r>
          </a:p>
        </p:txBody>
      </p:sp>
      <p:sp>
        <p:nvSpPr>
          <p:cNvPr id="11" name="">
            <a:extLst>
              <a:ext uri="{FF2B5EF4-FFF2-40B4-BE49-F238E27FC236}">
                <ns3:creationId id="{B5FC56A2-64F3-45BA-B39F-8A438A320444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550039D0-1D2D-4F5F-AC8C-D39EA40F95AA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{"sensor_id": "S02", "temperature_c": null, "active": true}</a:t>
            </a:r>
          </a:p>
        </p:txBody>
      </p:sp>
      <p:sp>
        <p:nvSpPr>
          <p:cNvPr id="13" name="">
            <a:extLst>
              <a:ext uri="{FF2B5EF4-FFF2-40B4-BE49-F238E27FC236}">
                <ns3:creationId id="{ED1E42DB-5DEC-44A9-9D78-73A13B872D76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E41E4B66-C8E4-468C-A1E5-4D2435BA057F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]</a:t>
            </a:r>
          </a:p>
        </p:txBody>
      </p:sp>
      <p:sp>
        <p:nvSpPr>
          <p:cNvPr id="15" name="">
            <a:extLst>
              <a:ext uri="{FF2B5EF4-FFF2-40B4-BE49-F238E27FC236}">
                <ns3:creationId id="{51C9D828-6F1B-4F94-A002-CDA727D96F8F}"/>
              </a:ext>
            </a:extLst>
          </p:cNvPr>
          <p:cNvSpPr>
            <a:spLocks noGrp="1"/>
          </p:cNvSpPr>
          <p:nvPr/>
        </p:nvSpPr>
        <p:spPr>
          <a:xfrm>
            <a:off x="685800" y="4185285"/>
            <a:ext cx="10820400" cy="19107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기록 2개 · 온도는 숫자 0과 null · 상태는 불리언</a:t>
            </a:r>
          </a:p>
        </p:txBody>
      </p:sp>
      <p:sp>
        <p:nvSpPr>
          <p:cNvPr id="16" name="">
            <a:extLst>
              <a:ext uri="{FF2B5EF4-FFF2-40B4-BE49-F238E27FC236}">
                <ns3:creationId id="{B0DD8874-DEAF-406B-A7D8-FCF3B528A76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7" name="">
            <a:extLst>
              <a:ext uri="{FF2B5EF4-FFF2-40B4-BE49-F238E27FC236}">
                <ns3:creationId id="{5C4287F8-81BD-4284-B6ED-4FA412EE33A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490094275"/>
      </p:ext>
    </p:extLst>
  </p:cSld>
</p:sld>
</file>

<file path=ppt/slides/slide1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f936013b095a47c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BABEBA5-F4D4-4D9F-8986-1EF2FAE6AD2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91ACBD4-91CB-46A6-A8A0-6EA6ABE87AB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A20 · 직접 고칠 파일</a:t>
            </a:r>
          </a:p>
        </p:txBody>
      </p:sp>
      <p:sp>
        <p:nvSpPr>
          <p:cNvPr id="4" name="">
            <a:extLst>
              <a:ext uri="{FF2B5EF4-FFF2-40B4-BE49-F238E27FC236}">
                <ns3:creationId id="{5CD315AD-9D4F-4A55-B3D5-716DE65AF25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36D3B1F-F1C4-48DD-BA02-D79433269C2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JSON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429A8F93-794E-48C6-8067-B6A5517068BB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83FD2A22-1632-459D-B0EB-2E628D102788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D20BF021-6953-442F-9815-AE06E49DA090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[</a:t>
            </a:r>
          </a:p>
        </p:txBody>
      </p:sp>
      <p:sp>
        <p:nvSpPr>
          <p:cNvPr id="9" name="">
            <a:extLst>
              <a:ext uri="{FF2B5EF4-FFF2-40B4-BE49-F238E27FC236}">
                <ns3:creationId id="{0702AC13-C9C6-4C97-ACFA-F5884900A2C0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85BFE0F7-38D3-46EF-A434-5F3768129A37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{"sensor_id": "S01", "temperature_c": "0", "active": "false"},</a:t>
            </a:r>
          </a:p>
        </p:txBody>
      </p:sp>
      <p:sp>
        <p:nvSpPr>
          <p:cNvPr id="11" name="">
            <a:extLst>
              <a:ext uri="{FF2B5EF4-FFF2-40B4-BE49-F238E27FC236}">
                <ns3:creationId id="{32F1F746-9C7C-42F7-BCA5-501DEF494B9A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F632CAA5-A8B9-4392-93AB-5AC0C2D927EE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{"sensor_id": "S02", "temperature_c": 0, "active": "true"}</a:t>
            </a:r>
          </a:p>
        </p:txBody>
      </p:sp>
      <p:sp>
        <p:nvSpPr>
          <p:cNvPr id="13" name="">
            <a:extLst>
              <a:ext uri="{FF2B5EF4-FFF2-40B4-BE49-F238E27FC236}">
                <ns3:creationId id="{93413679-E0DC-48F6-9EF8-EB2950D39E2F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1B77633F-6AFC-4216-8190-9630789BED24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]</a:t>
            </a:r>
          </a:p>
        </p:txBody>
      </p:sp>
      <p:sp>
        <p:nvSpPr>
          <p:cNvPr id="15" name="">
            <a:extLst>
              <a:ext uri="{FF2B5EF4-FFF2-40B4-BE49-F238E27FC236}">
                <ns3:creationId id="{4C7C4C8C-36B5-4396-98A4-DAF45C6DEE6A}"/>
              </a:ext>
            </a:extLst>
          </p:cNvPr>
          <p:cNvSpPr>
            <a:spLocks noGrp="1"/>
          </p:cNvSpPr>
          <p:nvPr/>
        </p:nvSpPr>
        <p:spPr>
          <a:xfrm>
            <a:off x="685800" y="4185285"/>
            <a:ext cx="10820400" cy="19107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형식은 맞습니다. 값의 뜻과 종류를 확인하세요.</a:t>
            </a:r>
          </a:p>
        </p:txBody>
      </p:sp>
      <p:sp>
        <p:nvSpPr>
          <p:cNvPr id="16" name="">
            <a:extLst>
              <a:ext uri="{FF2B5EF4-FFF2-40B4-BE49-F238E27FC236}">
                <ns3:creationId id="{45AD65E4-F2E3-49C5-B80A-C16BC5268A5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7" name="">
            <a:extLst>
              <a:ext uri="{FF2B5EF4-FFF2-40B4-BE49-F238E27FC236}">
                <ns3:creationId id="{2E3846E3-B81F-464F-A3AB-6C85FC4B6E5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1601754782"/>
      </p:ext>
    </p:extLst>
  </p:cSld>
</p:sld>
</file>

<file path=ppt/slides/slide1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3f4503db0b344b1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66DB3A6-487E-4576-A100-D82F2082BF8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7943F68A-C661-4B2C-8F32-D072BA8CEBC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58E1442-3109-472B-8FC1-EA998227219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A20 · 새 데이터를 직접 작성하세요 · 더 해보기</a:t>
            </a:r>
          </a:p>
        </p:txBody>
      </p:sp>
      <p:sp>
        <p:nvSpPr>
          <p:cNvPr id="5" name="">
            <a:extLst>
              <a:ext uri="{FF2B5EF4-FFF2-40B4-BE49-F238E27FC236}">
                <ns3:creationId id="{BE5E5510-4195-436D-949E-73CE9AB2BFC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84DEB4C-D2C1-4C40-946F-9AABD193AD4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12153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9A0C878-4463-4F20-8019-529B38AF13D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11487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S03의 온도는 24.5, active는 false입니다. 기존 배열 끝에 한 기록을 추가한 전체 JSON을 쓰세요. 마지막 객체 뒤 쉼표는 넣지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7201EE3C-C66E-4638-A421-356274B940E7}"/>
              </a:ext>
            </a:extLst>
          </p:cNvPr>
          <p:cNvSpPr>
            <a:spLocks noGrp="1"/>
          </p:cNvSpPr>
          <p:nvPr/>
        </p:nvSpPr>
        <p:spPr>
          <a:xfrm>
            <a:off x="685800" y="33013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FA6A093-09EE-4EF8-B11A-BC09804474AB}"/>
              </a:ext>
            </a:extLst>
          </p:cNvPr>
          <p:cNvSpPr>
            <a:spLocks noGrp="1"/>
          </p:cNvSpPr>
          <p:nvPr/>
        </p:nvSpPr>
        <p:spPr>
          <a:xfrm>
            <a:off x="1209675" y="33013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작성한 파일을 다시 열고 예상과 비교하세요.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AFF4CFFF-2E57-4E6A-AF9F-90A8F87EB182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693A721D-F20B-40F5-B317-C7282BBEDD6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2" name="">
            <a:extLst>
              <a:ext uri="{FF2B5EF4-FFF2-40B4-BE49-F238E27FC236}">
                <ns3:creationId id="{30562B79-8D6F-4611-A8B3-F7F710531C7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130689930"/>
      </p:ext>
    </p:extLst>
  </p:cSld>
</p:sld>
</file>

<file path=ppt/slides/slide1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7eb361475add460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31F4DB4-6205-4296-9331-EAD3E0F92D6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52AD2D4-B401-4FD8-A68F-AE613379200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A20 · 수정 이유와 확인</a:t>
            </a:r>
          </a:p>
        </p:txBody>
      </p:sp>
      <p:sp>
        <p:nvSpPr>
          <p:cNvPr id="4" name="">
            <a:extLst>
              <a:ext uri="{FF2B5EF4-FFF2-40B4-BE49-F238E27FC236}">
                <ns3:creationId id="{D4C7B102-86ED-48E1-AE69-D4DE088B28F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3996148-A143-405E-B41F-E2ACEED62B7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CSV를 읽은 모양을 모두 문자열로 옮기면 약속한 숫자·불리언과 다릅니다. 미측정 빈칸을 0으로 채우면 실제 0℃ 기록으로 바뀝니다.</a:t>
            </a:r>
          </a:p>
        </p:txBody>
      </p:sp>
      <p:sp>
        <p:nvSpPr>
          <p:cNvPr id="6" name="">
            <a:extLst>
              <a:ext uri="{FF2B5EF4-FFF2-40B4-BE49-F238E27FC236}">
                <ns3:creationId id="{FE06EB4B-8AB7-473C-B512-90D2AAA8D8EE}"/>
              </a:ext>
            </a:extLst>
          </p:cNvPr>
          <p:cNvSpPr>
            <a:spLocks noGrp="1"/>
          </p:cNvSpPr>
          <p:nvPr/>
        </p:nvSpPr>
        <p:spPr>
          <a:xfrm>
            <a:off x="685800" y="291846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기록은 3개입니다. 첫 두 기록은 그대로이며 세 번째 온도는 숫자 24.5, 상태는 불리언 false입니다.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506B306-06E6-4B7C-8FB7-09D045B516E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A6E55E7C-ECA8-46CB-9C99-E865A8468D7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1102323761"/>
      </p:ext>
    </p:extLst>
  </p:cSld>
</p:sld>
</file>

<file path=ppt/slides/slide1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7f86b5ede85d485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9D0390B-9A70-43B3-AF1F-184234314CC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9271602-0661-43E5-B628-767CBB5984F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A22 · 새 센서 기록을 CSV와 JSON으로 함께 작성하기</a:t>
            </a:r>
          </a:p>
        </p:txBody>
      </p:sp>
      <p:sp>
        <p:nvSpPr>
          <p:cNvPr id="4" name="">
            <a:extLst>
              <a:ext uri="{FF2B5EF4-FFF2-40B4-BE49-F238E27FC236}">
                <ns3:creationId id="{86A0B326-4292-42E1-9F42-E37AA9F5E55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DF715E8-7B68-4D25-857B-9B0AEF2484D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메모를 보고 필드와 자료형을 정한 다음 같은 기록을 두 파일로 작성합니다.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90DBF6E-617F-426B-B327-914815D74B9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확인 메모: S01 입구 22.5℃ 활성, S02 창고 안쪽 0℃ 비활성, S03 실습실 미측정 활성입니다.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332883F5-339F-4EFD-B782-C8BC8F61822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4853F2E7-995C-4BB1-835E-785B1E34B26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219003542"/>
      </p:ext>
    </p:extLst>
  </p:cSld>
</p:sld>
</file>

<file path=ppt/slides/slide1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f3f80bec544f456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C5CE4DD-A518-44A1-88DB-889D432F6F4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4A44CA6-AA58-49F0-8373-E655A622EE2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A22 · 정상 파일</a:t>
            </a:r>
          </a:p>
        </p:txBody>
      </p:sp>
      <p:sp>
        <p:nvSpPr>
          <p:cNvPr id="4" name="">
            <a:extLst>
              <a:ext uri="{FF2B5EF4-FFF2-40B4-BE49-F238E27FC236}">
                <ns3:creationId id="{CC97684C-DE6A-4CA0-A668-D1E87EF6D12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DC821A1-0BDF-4EEA-AEF9-D6D1D3325E3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CSV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FC723A53-D069-48D2-B38B-01C070F5243B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5FD435FD-D8DE-4164-907A-A30B64201604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4818A094-2821-4B14-98CC-67FDB9540D84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sensor_id,location,temperature_c,active</a:t>
            </a:r>
          </a:p>
        </p:txBody>
      </p:sp>
      <p:sp>
        <p:nvSpPr>
          <p:cNvPr id="9" name="">
            <a:extLst>
              <a:ext uri="{FF2B5EF4-FFF2-40B4-BE49-F238E27FC236}">
                <ns3:creationId id="{4E9066FC-26EC-4B40-B0B9-410B3DC524A9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5542A5FE-34C2-4A7D-A154-A1573E663365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S01,입구,22.5,true</a:t>
            </a:r>
          </a:p>
        </p:txBody>
      </p:sp>
      <p:sp>
        <p:nvSpPr>
          <p:cNvPr id="11" name="">
            <a:extLst>
              <a:ext uri="{FF2B5EF4-FFF2-40B4-BE49-F238E27FC236}">
                <ns3:creationId id="{AE1E380C-0563-4386-BD40-BCEA29DA6E88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45D3BC39-24A0-462E-B1EF-D4302ABAEFBF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S02,"창고, 안쪽",0,false</a:t>
            </a:r>
          </a:p>
        </p:txBody>
      </p:sp>
      <p:sp>
        <p:nvSpPr>
          <p:cNvPr id="13" name="">
            <a:extLst>
              <a:ext uri="{FF2B5EF4-FFF2-40B4-BE49-F238E27FC236}">
                <ns3:creationId id="{BF919DE0-175B-47A7-B9FB-E49D0931911C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D4B7A334-2E96-490E-84E2-38634F61CDC2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S03,실습실,,true</a:t>
            </a:r>
          </a:p>
        </p:txBody>
      </p:sp>
      <p:sp>
        <p:nvSpPr>
          <p:cNvPr id="15" name="">
            <a:extLst>
              <a:ext uri="{FF2B5EF4-FFF2-40B4-BE49-F238E27FC236}">
                <ns3:creationId id="{81FFD127-4C90-409B-AB79-7E0B82CD38AB}"/>
              </a:ext>
            </a:extLst>
          </p:cNvPr>
          <p:cNvSpPr>
            <a:spLocks noGrp="1"/>
          </p:cNvSpPr>
          <p:nvPr/>
        </p:nvSpPr>
        <p:spPr>
          <a:xfrm>
            <a:off x="685800" y="4185285"/>
            <a:ext cx="10820400" cy="19107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열 4개 · 기록 3건 · 온도 미측정 1건</a:t>
            </a:r>
          </a:p>
        </p:txBody>
      </p:sp>
      <p:sp>
        <p:nvSpPr>
          <p:cNvPr id="16" name="">
            <a:extLst>
              <a:ext uri="{FF2B5EF4-FFF2-40B4-BE49-F238E27FC236}">
                <ns3:creationId id="{C8136E3C-C930-4389-B1D9-0F76F4D995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7" name="">
            <a:extLst>
              <a:ext uri="{FF2B5EF4-FFF2-40B4-BE49-F238E27FC236}">
                <ns3:creationId id="{F459F0E0-99DF-42A0-A6DF-EBC618F16BC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1237399050"/>
      </p:ext>
    </p:extLst>
  </p:cSld>
</p:sld>
</file>

<file path=ppt/slides/slide1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4c92495d19d14cd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20BE45B-174F-4377-B623-796EB17EC19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2CAE964-C3EA-4BB4-A7BD-5516F18B162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A22 · 직접 고칠 파일</a:t>
            </a:r>
          </a:p>
        </p:txBody>
      </p:sp>
      <p:sp>
        <p:nvSpPr>
          <p:cNvPr id="4" name="">
            <a:extLst>
              <a:ext uri="{FF2B5EF4-FFF2-40B4-BE49-F238E27FC236}">
                <ns3:creationId id="{DB4975ED-C64A-4119-8F62-1C67F3A13DA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6CAD006-0270-48EC-BA01-602245422E7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CSV 데이터 원문 · 설명과 줄 번호는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AF17A3EE-6902-4B15-A0F7-D6E6388C6E37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85BC0F61-6815-4F59-98B1-FF5009532792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C1D0C33A-24B7-43DD-BFDE-9053A3A2407E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sensor_id,location,temperature_c,active</a:t>
            </a:r>
          </a:p>
        </p:txBody>
      </p:sp>
      <p:sp>
        <p:nvSpPr>
          <p:cNvPr id="9" name="">
            <a:extLst>
              <a:ext uri="{FF2B5EF4-FFF2-40B4-BE49-F238E27FC236}">
                <ns3:creationId id="{687E67D4-D948-4361-A511-8BF119AE94EA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81270984-5132-45A1-B823-61E637D9C94C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S01,입구,22.5,true</a:t>
            </a:r>
          </a:p>
        </p:txBody>
      </p:sp>
      <p:sp>
        <p:nvSpPr>
          <p:cNvPr id="11" name="">
            <a:extLst>
              <a:ext uri="{FF2B5EF4-FFF2-40B4-BE49-F238E27FC236}">
                <ns3:creationId id="{CFE4882D-D41A-45B7-8E2D-FCB517B2BEC0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CEA9F243-06B1-480A-9B79-36B97A8A1765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S02,창고, 안쪽,0,false</a:t>
            </a:r>
          </a:p>
        </p:txBody>
      </p:sp>
      <p:sp>
        <p:nvSpPr>
          <p:cNvPr id="13" name="">
            <a:extLst>
              <a:ext uri="{FF2B5EF4-FFF2-40B4-BE49-F238E27FC236}">
                <ns3:creationId id="{B8DB7B8A-E665-43B9-936D-BF1D56F01066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68B87E5B-6AA6-4FB7-BA45-D5B2A1BFD0F5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S03,실습실,0,true</a:t>
            </a:r>
          </a:p>
        </p:txBody>
      </p:sp>
      <p:sp>
        <p:nvSpPr>
          <p:cNvPr id="15" name="">
            <a:extLst>
              <a:ext uri="{FF2B5EF4-FFF2-40B4-BE49-F238E27FC236}">
                <ns3:creationId id="{A57A8371-504A-4B19-A6B7-BA0CD3DC4460}"/>
              </a:ext>
            </a:extLst>
          </p:cNvPr>
          <p:cNvSpPr>
            <a:spLocks noGrp="1"/>
          </p:cNvSpPr>
          <p:nvPr/>
        </p:nvSpPr>
        <p:spPr>
          <a:xfrm>
            <a:off x="685800" y="4185285"/>
            <a:ext cx="10820400" cy="19107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형식 검사 후 잘못된 부분을 한 곳씩 고치세요.</a:t>
            </a:r>
          </a:p>
        </p:txBody>
      </p:sp>
      <p:sp>
        <p:nvSpPr>
          <p:cNvPr id="16" name="">
            <a:extLst>
              <a:ext uri="{FF2B5EF4-FFF2-40B4-BE49-F238E27FC236}">
                <ns3:creationId id="{26769F00-DAD2-4089-A90F-360156D0992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7" name="">
            <a:extLst>
              <a:ext uri="{FF2B5EF4-FFF2-40B4-BE49-F238E27FC236}">
                <ns3:creationId id="{E7DC09C9-A240-4656-A594-AA3645FD920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785672915"/>
      </p:ext>
    </p:extLst>
  </p:cSld>
</p:sld>
</file>

<file path=ppt/slides/slide1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6" name=""/>
          <p:cNvPicPr>
            <a:picLocks noChangeAspect="1"/>
          </p:cNvPicPr>
          <p:nvPr/>
        </p:nvPicPr>
        <p:blipFill>
          <a:blip r:embed="Racb458142f1b4df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CDE9527-ED4C-4F19-A394-26EA0868A28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1C1FE5A-B1BF-43CE-96B0-E6301A0BCFE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A22 · 같은 기록을 옮긴 JSON</a:t>
            </a:r>
          </a:p>
        </p:txBody>
      </p:sp>
      <p:sp>
        <p:nvSpPr>
          <p:cNvPr id="4" name="">
            <a:extLst>
              <a:ext uri="{FF2B5EF4-FFF2-40B4-BE49-F238E27FC236}">
                <ns3:creationId id="{0C1EDD37-74F5-4A9E-8071-545745AD114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26AE434-34CE-450E-9EA3-BC0ED981D543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CSV의 빈 온도는 null, 0은 숫자 0으로 옮깁니다.</a:t>
            </a:r>
          </a:p>
        </p:txBody>
      </p:sp>
      <p:sp>
        <p:nvSpPr>
          <p:cNvPr id="6" name="">
            <a:extLst>
              <a:ext uri="{FF2B5EF4-FFF2-40B4-BE49-F238E27FC236}">
                <ns3:creationId id="{9D7CC312-81AA-420F-9F0B-A81ECA32BDA5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276225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4DA6023B-A7AD-49D9-B961-CBED0801CD45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9CC99778-28EE-4F6F-B924-AEF59989E822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[</a:t>
            </a:r>
          </a:p>
        </p:txBody>
      </p:sp>
      <p:sp>
        <p:nvSpPr>
          <p:cNvPr id="9" name="">
            <a:extLst>
              <a:ext uri="{FF2B5EF4-FFF2-40B4-BE49-F238E27FC236}">
                <ns3:creationId id="{92079C5A-BFA5-4A78-95AA-D52320E6B4F2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2ACFFA57-229E-4F8C-B4D5-1FA10F982DE9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{"sensor_id": "S01", "location": "입구",</a:t>
            </a:r>
          </a:p>
        </p:txBody>
      </p:sp>
      <p:sp>
        <p:nvSpPr>
          <p:cNvPr id="11" name="">
            <a:extLst>
              <a:ext uri="{FF2B5EF4-FFF2-40B4-BE49-F238E27FC236}">
                <ns3:creationId id="{D0C7EC9A-3F0E-4111-B96F-D660D2BFE322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C5EEE3AC-F81C-4D05-A245-7014CA589182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"temperature_c": 22.5, "active": true},</a:t>
            </a:r>
          </a:p>
        </p:txBody>
      </p:sp>
      <p:sp>
        <p:nvSpPr>
          <p:cNvPr id="13" name="">
            <a:extLst>
              <a:ext uri="{FF2B5EF4-FFF2-40B4-BE49-F238E27FC236}">
                <ns3:creationId id="{179F0F89-14AB-422F-8D36-C982327EE140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AC1462AA-A8DB-41ED-843D-93A72CC28BE7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{"sensor_id": "S02", "location": "창고, 안쪽",</a:t>
            </a:r>
          </a:p>
        </p:txBody>
      </p:sp>
      <p:sp>
        <p:nvSpPr>
          <p:cNvPr id="15" name="">
            <a:extLst>
              <a:ext uri="{FF2B5EF4-FFF2-40B4-BE49-F238E27FC236}">
                <ns3:creationId id="{CAC24923-A72C-4A47-981B-B0CD87C4B428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49BC459B-77F5-46D4-8A63-5312FA63180C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"temperature_c": 0, "active": false},</a:t>
            </a:r>
          </a:p>
        </p:txBody>
      </p:sp>
      <p:sp>
        <p:nvSpPr>
          <p:cNvPr id="17" name="">
            <a:extLst>
              <a:ext uri="{FF2B5EF4-FFF2-40B4-BE49-F238E27FC236}">
                <ns3:creationId id="{E0489266-76EE-4C61-95C2-B0C59DAF9E25}"/>
              </a:ext>
            </a:extLst>
          </p:cNvPr>
          <p:cNvSpPr>
            <a:spLocks noGrp="1"/>
          </p:cNvSpPr>
          <p:nvPr/>
        </p:nvSpPr>
        <p:spPr>
          <a:xfrm>
            <a:off x="838200" y="419957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8" name="">
            <a:extLst>
              <a:ext uri="{FF2B5EF4-FFF2-40B4-BE49-F238E27FC236}">
                <ns3:creationId id="{BEE091F3-7BBB-408B-945E-069B9FA3ADD1}"/>
              </a:ext>
            </a:extLst>
          </p:cNvPr>
          <p:cNvSpPr>
            <a:spLocks noGrp="1"/>
          </p:cNvSpPr>
          <p:nvPr/>
        </p:nvSpPr>
        <p:spPr>
          <a:xfrm>
            <a:off x="1257300" y="417099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{"sensor_id": "S03", "location": "실습실",</a:t>
            </a:r>
          </a:p>
        </p:txBody>
      </p:sp>
      <p:sp>
        <p:nvSpPr>
          <p:cNvPr id="19" name="">
            <a:extLst>
              <a:ext uri="{FF2B5EF4-FFF2-40B4-BE49-F238E27FC236}">
                <ns3:creationId id="{32BB37CF-2D1B-4C3D-96B3-E8251679CCD9}"/>
              </a:ext>
            </a:extLst>
          </p:cNvPr>
          <p:cNvSpPr>
            <a:spLocks noGrp="1"/>
          </p:cNvSpPr>
          <p:nvPr/>
        </p:nvSpPr>
        <p:spPr>
          <a:xfrm>
            <a:off x="838200" y="450913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0" name="">
            <a:extLst>
              <a:ext uri="{FF2B5EF4-FFF2-40B4-BE49-F238E27FC236}">
                <ns3:creationId id="{D00B0808-ACB2-4391-9C25-51D8A0520D36}"/>
              </a:ext>
            </a:extLst>
          </p:cNvPr>
          <p:cNvSpPr>
            <a:spLocks noGrp="1"/>
          </p:cNvSpPr>
          <p:nvPr/>
        </p:nvSpPr>
        <p:spPr>
          <a:xfrm>
            <a:off x="1257300" y="448056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"temperature_c": null, "active": true}</a:t>
            </a:r>
          </a:p>
        </p:txBody>
      </p:sp>
      <p:sp>
        <p:nvSpPr>
          <p:cNvPr id="21" name="">
            <a:extLst>
              <a:ext uri="{FF2B5EF4-FFF2-40B4-BE49-F238E27FC236}">
                <ns3:creationId id="{A2E0CD6A-EB82-400C-B4E4-4D835B023DF5}"/>
              </a:ext>
            </a:extLst>
          </p:cNvPr>
          <p:cNvSpPr>
            <a:spLocks noGrp="1"/>
          </p:cNvSpPr>
          <p:nvPr/>
        </p:nvSpPr>
        <p:spPr>
          <a:xfrm>
            <a:off x="838200" y="481869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2" name="">
            <a:extLst>
              <a:ext uri="{FF2B5EF4-FFF2-40B4-BE49-F238E27FC236}">
                <ns3:creationId id="{45985DDA-BC1B-4C61-9A65-D950635A38B1}"/>
              </a:ext>
            </a:extLst>
          </p:cNvPr>
          <p:cNvSpPr>
            <a:spLocks noGrp="1"/>
          </p:cNvSpPr>
          <p:nvPr/>
        </p:nvSpPr>
        <p:spPr>
          <a:xfrm>
            <a:off x="1257300" y="479012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]</a:t>
            </a:r>
          </a:p>
        </p:txBody>
      </p:sp>
      <p:sp>
        <p:nvSpPr>
          <p:cNvPr id="23" name="">
            <a:extLst>
              <a:ext uri="{FF2B5EF4-FFF2-40B4-BE49-F238E27FC236}">
                <ns3:creationId id="{44939BFF-D859-4A91-8023-8233B7C31CB9}"/>
              </a:ext>
            </a:extLst>
          </p:cNvPr>
          <p:cNvSpPr>
            <a:spLocks noGrp="1"/>
          </p:cNvSpPr>
          <p:nvPr/>
        </p:nvSpPr>
        <p:spPr>
          <a:xfrm>
            <a:off x="685800" y="5423535"/>
            <a:ext cx="10820400" cy="6724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같은 세 기록 · 위치 문자열의 쉼표는 그대로 보존합니다.</a:t>
            </a:r>
          </a:p>
        </p:txBody>
      </p:sp>
      <p:sp>
        <p:nvSpPr>
          <p:cNvPr id="24" name="">
            <a:extLst>
              <a:ext uri="{FF2B5EF4-FFF2-40B4-BE49-F238E27FC236}">
                <ns3:creationId id="{7C55F5CA-0488-49A2-B8E7-8B44B5353B5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25" name="">
            <a:extLst>
              <a:ext uri="{FF2B5EF4-FFF2-40B4-BE49-F238E27FC236}">
                <ns3:creationId id="{5664376E-3F62-45FA-830E-F22A9DC3538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2066832183"/>
      </p:ext>
    </p:extLst>
  </p:cSld>
</p:sld>
</file>

<file path=ppt/slides/slide1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0c0c8de15468421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C601B2C-9824-4332-9BEB-7CC44C03F9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B4A9E597-702A-42F9-A6C1-4B9E0800051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ED796A25-C40D-4A21-9D74-9473A4D0D92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A22 · 새 데이터를 직접 작성하세요</a:t>
            </a:r>
          </a:p>
        </p:txBody>
      </p:sp>
      <p:sp>
        <p:nvSpPr>
          <p:cNvPr id="5" name="">
            <a:extLst>
              <a:ext uri="{FF2B5EF4-FFF2-40B4-BE49-F238E27FC236}">
                <ns3:creationId id="{DEDCAAAE-77DE-42C1-BF61-BFA26D493FE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48496A5-AD9B-4BBB-A2F1-7F264C08756E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12153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B132C10-17EA-49E3-A2BB-33CD98EB9D7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11487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정상 CSV를 보고 JSON 배열을 처음부터 쓰세요. 추가 메모는 S04 사무실 24.0℃ 활성입니다. 두 파일에 같은 기록을 더하고 열·기록·자료형을 비교하세요.</a:t>
            </a:r>
          </a:p>
        </p:txBody>
      </p:sp>
      <p:sp>
        <p:nvSpPr>
          <p:cNvPr id="8" name="">
            <a:extLst>
              <a:ext uri="{FF2B5EF4-FFF2-40B4-BE49-F238E27FC236}">
                <ns3:creationId id="{C2DAEFEF-1EB0-49B6-BEFA-3EAE446D2604}"/>
              </a:ext>
            </a:extLst>
          </p:cNvPr>
          <p:cNvSpPr>
            <a:spLocks noGrp="1"/>
          </p:cNvSpPr>
          <p:nvPr/>
        </p:nvSpPr>
        <p:spPr>
          <a:xfrm>
            <a:off x="685800" y="33013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9BDA089-D70B-4A39-B2BC-E8F58E520B0D}"/>
              </a:ext>
            </a:extLst>
          </p:cNvPr>
          <p:cNvSpPr>
            <a:spLocks noGrp="1"/>
          </p:cNvSpPr>
          <p:nvPr/>
        </p:nvSpPr>
        <p:spPr>
          <a:xfrm>
            <a:off x="1209675" y="33013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작성한 파일을 다시 열고 예상과 비교하세요.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BB232AB0-76D9-4570-ACFD-82B11A6B0D59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E7B98ED4-3211-4BBE-A85A-F31A22AC0DC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12" name="">
            <a:extLst>
              <a:ext uri="{FF2B5EF4-FFF2-40B4-BE49-F238E27FC236}">
                <ns3:creationId id="{56A2303A-F7AD-4F7A-A8F2-9BC333FB3EF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1287528498"/>
      </p:ext>
    </p:extLst>
  </p:cSld>
</p:sld>
</file>

<file path=ppt/slides/slide1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90ddd8e0a5e4de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FD32DD7-49A5-467E-94C7-10E03CD9EC6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B2FF952-DDC6-43C6-BE67-5C72FBDA34A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A22 · 수정 이유와 확인</a:t>
            </a:r>
          </a:p>
        </p:txBody>
      </p:sp>
      <p:sp>
        <p:nvSpPr>
          <p:cNvPr id="4" name="">
            <a:extLst>
              <a:ext uri="{FF2B5EF4-FFF2-40B4-BE49-F238E27FC236}">
                <ns3:creationId id="{6943E9A2-9005-49EF-B8C9-BB696EA042B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943E5B3-1867-432B-8F1B-CDA8A89EC65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S02의 쉼표가 든 위치를 큰따옴표로 감쌉니다. S03은 확인 메모에 따라 온도를 빈칸으로 되돌립니다. 칸 수만 고쳐서는 미측정 오류가 남습니다.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1D004F95-1036-429B-AA9D-14C7B66B7D1E}"/>
              </a:ext>
            </a:extLst>
          </p:cNvPr>
          <p:cNvSpPr>
            <a:spLocks noGrp="1"/>
          </p:cNvSpPr>
          <p:nvPr/>
        </p:nvSpPr>
        <p:spPr>
          <a:xfrm>
            <a:off x="685800" y="291846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원래 기록 3개와 새 기록 1개가 두 파일에 모두 있어야 합니다. S02의 0은 숫자 0, S03은 null, S04의 온도는 숫자 24.0입니다.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96F08EB0-84C6-473E-AA28-AA2F1117856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10/08   CSV·JSON 실습</a:t>
            </a:r>
          </a:p>
        </p:txBody>
      </p:sp>
      <p:sp>
        <p:nvSpPr>
          <p:cNvPr id="8" name="">
            <a:extLst>
              <a:ext uri="{FF2B5EF4-FFF2-40B4-BE49-F238E27FC236}">
                <ns3:creationId id="{6520BD6E-7C3E-4E65-B186-CE5B5C127C9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1026153492"/>
      </p:ext>
    </p:extLst>
  </p:cSld>
</p:sld>
</file>

<file path=ppt/theme/csv-json-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959FBBB-B728-433E-8367-4A9AD5C79732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f5fe3a10-d8e2-472c-9989-41341a79793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9461</Words>
  <Application>Microsoft Office PowerPoint</Application>
  <DocSecurity>0</DocSecurity>
  <PresentationFormat>와이드스크린</PresentationFormat>
  <Paragraphs>1667</Paragraphs>
  <Slides>117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117</vt:i4>
      </vt:variant>
    </vt:vector>
  </HeadingPairs>
  <TitlesOfParts>
    <vt:vector size="120" baseType="lpstr">
      <vt:lpstr>Noto Sans KR</vt:lpstr>
      <vt:lpstr>Consolas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김세영</dc:creator>
  <cp:lastModifiedBy>seyoung Kim</cp:lastModifiedBy>
  <cp:revision>1</cp:revision>
  <dcterms:created xsi:type="dcterms:W3CDTF">2026-10-05T08:10:03Z</dcterms:created>
  <dcterms:modified xsi:type="dcterms:W3CDTF">2026-10-06T00:37:05Z</dcterms:modified>
</cp:coreProperties>
</file>