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6.xml" ContentType="application/vnd.openxmlformats-officedocument.presentationml.slide+xml"/>
  <Override PartName="/ppt/notesSlides/notesSlide66.xml" ContentType="application/vnd.openxmlformats-officedocument.presentationml.notesSlide+xml"/>
  <Override PartName="/ppt/slides/slide67.xml" ContentType="application/vnd.openxmlformats-officedocument.presentationml.slide+xml"/>
  <Override PartName="/ppt/notesSlides/notesSlide67.xml" ContentType="application/vnd.openxmlformats-officedocument.presentationml.notesSlide+xml"/>
  <Override PartName="/ppt/slides/slide68.xml" ContentType="application/vnd.openxmlformats-officedocument.presentationml.slide+xml"/>
  <Override PartName="/ppt/notesSlides/notesSlide68.xml" ContentType="application/vnd.openxmlformats-officedocument.presentationml.notesSlide+xml"/>
  <Override PartName="/ppt/slides/slide69.xml" ContentType="application/vnd.openxmlformats-officedocument.presentationml.slide+xml"/>
  <Override PartName="/ppt/notesSlides/notesSlide69.xml" ContentType="application/vnd.openxmlformats-officedocument.presentationml.notesSlide+xml"/>
  <Override PartName="/ppt/slides/slide70.xml" ContentType="application/vnd.openxmlformats-officedocument.presentationml.slide+xml"/>
  <Override PartName="/ppt/notesSlides/notesSlide70.xml" ContentType="application/vnd.openxmlformats-officedocument.presentationml.notesSlide+xml"/>
  <Override PartName="/ppt/slides/slide71.xml" ContentType="application/vnd.openxmlformats-officedocument.presentationml.slide+xml"/>
  <Override PartName="/ppt/notesSlides/notesSlide71.xml" ContentType="application/vnd.openxmlformats-officedocument.presentationml.notesSlide+xml"/>
  <Override PartName="/ppt/slides/slide72.xml" ContentType="application/vnd.openxmlformats-officedocument.presentationml.slide+xml"/>
  <Override PartName="/ppt/notesSlides/notesSlide72.xml" ContentType="application/vnd.openxmlformats-officedocument.presentationml.notesSlide+xml"/>
  <Override PartName="/ppt/slides/slide73.xml" ContentType="application/vnd.openxmlformats-officedocument.presentationml.slide+xml"/>
  <Override PartName="/ppt/notesSlides/notesSlide73.xml" ContentType="application/vnd.openxmlformats-officedocument.presentationml.notesSlide+xml"/>
  <Override PartName="/ppt/slides/slide74.xml" ContentType="application/vnd.openxmlformats-officedocument.presentationml.slide+xml"/>
  <Override PartName="/ppt/notesSlides/notesSlide74.xml" ContentType="application/vnd.openxmlformats-officedocument.presentationml.notesSlide+xml"/>
  <Override PartName="/ppt/slides/slide75.xml" ContentType="application/vnd.openxmlformats-officedocument.presentationml.slide+xml"/>
  <Override PartName="/ppt/notesSlides/notesSlide75.xml" ContentType="application/vnd.openxmlformats-officedocument.presentationml.notesSlide+xml"/>
  <Override PartName="/ppt/slides/slide76.xml" ContentType="application/vnd.openxmlformats-officedocument.presentationml.slide+xml"/>
  <Override PartName="/ppt/notesSlides/notesSlide76.xml" ContentType="application/vnd.openxmlformats-officedocument.presentationml.notesSlide+xml"/>
  <Override PartName="/ppt/slides/slide77.xml" ContentType="application/vnd.openxmlformats-officedocument.presentationml.slide+xml"/>
  <Override PartName="/ppt/notesSlides/notesSlide77.xml" ContentType="application/vnd.openxmlformats-officedocument.presentationml.notesSlide+xml"/>
  <Override PartName="/ppt/slides/slide78.xml" ContentType="application/vnd.openxmlformats-officedocument.presentationml.slide+xml"/>
  <Override PartName="/ppt/notesSlides/notesSlide78.xml" ContentType="application/vnd.openxmlformats-officedocument.presentationml.notesSlide+xml"/>
  <Override PartName="/ppt/slides/slide79.xml" ContentType="application/vnd.openxmlformats-officedocument.presentationml.slide+xml"/>
  <Override PartName="/ppt/notesSlides/notesSlide79.xml" ContentType="application/vnd.openxmlformats-officedocument.presentationml.notesSlide+xml"/>
  <Override PartName="/ppt/slides/slide80.xml" ContentType="application/vnd.openxmlformats-officedocument.presentationml.slide+xml"/>
  <Override PartName="/ppt/notesSlides/notesSlide80.xml" ContentType="application/vnd.openxmlformats-officedocument.presentationml.notesSlide+xml"/>
  <Override PartName="/ppt/slides/slide81.xml" ContentType="application/vnd.openxmlformats-officedocument.presentationml.slide+xml"/>
  <Override PartName="/ppt/notesSlides/notesSlide81.xml" ContentType="application/vnd.openxmlformats-officedocument.presentationml.notesSlide+xml"/>
  <Override PartName="/ppt/slides/slide82.xml" ContentType="application/vnd.openxmlformats-officedocument.presentationml.slide+xml"/>
  <Override PartName="/ppt/notesSlides/notesSlide82.xml" ContentType="application/vnd.openxmlformats-officedocument.presentationml.notesSlide+xml"/>
  <Override PartName="/ppt/slides/slide83.xml" ContentType="application/vnd.openxmlformats-officedocument.presentationml.slide+xml"/>
  <Override PartName="/ppt/notesSlides/notesSlide83.xml" ContentType="application/vnd.openxmlformats-officedocument.presentationml.notesSlide+xml"/>
  <Override PartName="/ppt/slides/slide84.xml" ContentType="application/vnd.openxmlformats-officedocument.presentationml.slide+xml"/>
  <Override PartName="/ppt/notesSlides/notesSlide84.xml" ContentType="application/vnd.openxmlformats-officedocument.presentationml.notesSlide+xml"/>
  <Override PartName="/ppt/slides/slide85.xml" ContentType="application/vnd.openxmlformats-officedocument.presentationml.slide+xml"/>
  <Override PartName="/ppt/notesSlides/notesSlide85.xml" ContentType="application/vnd.openxmlformats-officedocument.presentationml.notesSlide+xml"/>
  <Override PartName="/ppt/slides/slide86.xml" ContentType="application/vnd.openxmlformats-officedocument.presentationml.slide+xml"/>
  <Override PartName="/ppt/notesSlides/notesSlide86.xml" ContentType="application/vnd.openxmlformats-officedocument.presentationml.notesSlide+xml"/>
  <Override PartName="/ppt/slides/slide87.xml" ContentType="application/vnd.openxmlformats-officedocument.presentationml.slide+xml"/>
  <Override PartName="/ppt/notesSlides/notesSlide87.xml" ContentType="application/vnd.openxmlformats-officedocument.presentationml.notesSlide+xml"/>
  <Override PartName="/ppt/slides/slide88.xml" ContentType="application/vnd.openxmlformats-officedocument.presentationml.slide+xml"/>
  <Override PartName="/ppt/notesSlides/notesSlide88.xml" ContentType="application/vnd.openxmlformats-officedocument.presentationml.notesSlide+xml"/>
  <Override PartName="/ppt/slides/slide89.xml" ContentType="application/vnd.openxmlformats-officedocument.presentationml.slide+xml"/>
  <Override PartName="/ppt/notesSlides/notesSlide89.xml" ContentType="application/vnd.openxmlformats-officedocument.presentationml.notesSlide+xml"/>
  <Override PartName="/ppt/slides/slide90.xml" ContentType="application/vnd.openxmlformats-officedocument.presentationml.slide+xml"/>
  <Override PartName="/ppt/notesSlides/notesSlide90.xml" ContentType="application/vnd.openxmlformats-officedocument.presentationml.notesSlide+xml"/>
  <Override PartName="/ppt/slides/slide91.xml" ContentType="application/vnd.openxmlformats-officedocument.presentationml.slide+xml"/>
  <Override PartName="/ppt/notesSlides/notesSlide91.xml" ContentType="application/vnd.openxmlformats-officedocument.presentationml.notesSlide+xml"/>
  <Override PartName="/ppt/slides/slide92.xml" ContentType="application/vnd.openxmlformats-officedocument.presentationml.slide+xml"/>
  <Override PartName="/ppt/notesSlides/notesSlide92.xml" ContentType="application/vnd.openxmlformats-officedocument.presentationml.notesSlide+xml"/>
  <Override PartName="/ppt/slides/slide93.xml" ContentType="application/vnd.openxmlformats-officedocument.presentationml.slide+xml"/>
  <Override PartName="/ppt/notesSlides/notesSlide93.xml" ContentType="application/vnd.openxmlformats-officedocument.presentationml.notesSlide+xml"/>
  <Override PartName="/ppt/slides/slide94.xml" ContentType="application/vnd.openxmlformats-officedocument.presentationml.slide+xml"/>
  <Override PartName="/ppt/notesSlides/notesSlide94.xml" ContentType="application/vnd.openxmlformats-officedocument.presentationml.notesSlide+xml"/>
  <Override PartName="/ppt/slides/slide95.xml" ContentType="application/vnd.openxmlformats-officedocument.presentationml.slide+xml"/>
  <Override PartName="/ppt/notesSlides/notesSlide95.xml" ContentType="application/vnd.openxmlformats-officedocument.presentationml.notesSlide+xml"/>
  <Override PartName="/ppt/slides/slide96.xml" ContentType="application/vnd.openxmlformats-officedocument.presentationml.slide+xml"/>
  <Override PartName="/ppt/notesSlides/notesSlide96.xml" ContentType="application/vnd.openxmlformats-officedocument.presentationml.notesSlide+xml"/>
  <Override PartName="/ppt/slides/slide97.xml" ContentType="application/vnd.openxmlformats-officedocument.presentationml.slide+xml"/>
  <Override PartName="/ppt/notesSlides/notesSlide97.xml" ContentType="application/vnd.openxmlformats-officedocument.presentationml.notesSlide+xml"/>
  <Override PartName="/ppt/slides/slide98.xml" ContentType="application/vnd.openxmlformats-officedocument.presentationml.slide+xml"/>
  <Override PartName="/ppt/notesSlides/notesSlide98.xml" ContentType="application/vnd.openxmlformats-officedocument.presentationml.notesSlide+xml"/>
  <Override PartName="/ppt/slides/slide99.xml" ContentType="application/vnd.openxmlformats-officedocument.presentationml.slide+xml"/>
  <Override PartName="/ppt/notesSlides/notesSlide99.xml" ContentType="application/vnd.openxmlformats-officedocument.presentationml.notesSlide+xml"/>
  <Override PartName="/ppt/slides/slide100.xml" ContentType="application/vnd.openxmlformats-officedocument.presentationml.slide+xml"/>
  <Override PartName="/ppt/notesSlides/notesSlide100.xml" ContentType="application/vnd.openxmlformats-officedocument.presentationml.notesSlide+xml"/>
  <Override PartName="/ppt/slides/slide101.xml" ContentType="application/vnd.openxmlformats-officedocument.presentationml.slide+xml"/>
  <Override PartName="/ppt/notesSlides/notesSlide101.xml" ContentType="application/vnd.openxmlformats-officedocument.presentationml.notesSlide+xml"/>
  <Override PartName="/ppt/slides/slide102.xml" ContentType="application/vnd.openxmlformats-officedocument.presentationml.slide+xml"/>
  <Override PartName="/ppt/notesSlides/notesSlide102.xml" ContentType="application/vnd.openxmlformats-officedocument.presentationml.notesSlide+xml"/>
  <Override PartName="/ppt/slides/slide103.xml" ContentType="application/vnd.openxmlformats-officedocument.presentationml.slide+xml"/>
  <Override PartName="/ppt/notesSlides/notesSlide103.xml" ContentType="application/vnd.openxmlformats-officedocument.presentationml.notesSlide+xml"/>
  <Override PartName="/ppt/slides/slide104.xml" ContentType="application/vnd.openxmlformats-officedocument.presentationml.slide+xml"/>
  <Override PartName="/ppt/notesSlides/notesSlide10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1aad58e25df4992" /><Relationship Type="http://schemas.openxmlformats.org/officeDocument/2006/relationships/extended-properties" Target="/docProps/app.xml" Id="R4d2947a719944c59" /><Relationship Type="http://schemas.openxmlformats.org/officeDocument/2006/relationships/officeDocument" Target="/ppt/presentation.xml" Id="R61b670e0ad354e04" /></Relationships>
</file>

<file path=ppt/presentation.xml><?xml version="1.0" encoding="utf-8"?>
<p:presentation xmlns:p="http://schemas.openxmlformats.org/presentationml/2006/main">
  <p:sldMasterIdLst>
    <p:sldMasterId xmlns:r="http://schemas.openxmlformats.org/officeDocument/2006/relationships" id="2147483648" r:id="R70c2aed54cf5458f"/>
  </p:sldMasterIdLst>
  <p:notesMasterIdLst>
    <p:notesMasterId xmlns:r="http://schemas.openxmlformats.org/officeDocument/2006/relationships" r:id="Rd028fdcccdbb44f7"/>
  </p:notesMasterIdLst>
  <p:sldIdLst>
    <p:sldId xmlns:r="http://schemas.openxmlformats.org/officeDocument/2006/relationships" id="256" r:id="Re5595f4e2e3545a6"/>
    <p:sldId xmlns:r="http://schemas.openxmlformats.org/officeDocument/2006/relationships" id="257" r:id="R5101d9c76c8848f2"/>
    <p:sldId xmlns:r="http://schemas.openxmlformats.org/officeDocument/2006/relationships" id="258" r:id="Rb90c5a86e6ce4a19"/>
    <p:sldId xmlns:r="http://schemas.openxmlformats.org/officeDocument/2006/relationships" id="259" r:id="R1287c22b503f437d"/>
    <p:sldId xmlns:r="http://schemas.openxmlformats.org/officeDocument/2006/relationships" id="260" r:id="R60f22679f78b42cb"/>
    <p:sldId xmlns:r="http://schemas.openxmlformats.org/officeDocument/2006/relationships" id="261" r:id="R04a3d04b6ea7477f"/>
    <p:sldId xmlns:r="http://schemas.openxmlformats.org/officeDocument/2006/relationships" id="262" r:id="Rba005d2c296248ff"/>
    <p:sldId xmlns:r="http://schemas.openxmlformats.org/officeDocument/2006/relationships" id="263" r:id="Rfcae04ed2881456e"/>
    <p:sldId xmlns:r="http://schemas.openxmlformats.org/officeDocument/2006/relationships" id="264" r:id="R1f6aa46e7df24584"/>
    <p:sldId xmlns:r="http://schemas.openxmlformats.org/officeDocument/2006/relationships" id="265" r:id="Rfd47f44c3a4f4f9d"/>
    <p:sldId xmlns:r="http://schemas.openxmlformats.org/officeDocument/2006/relationships" id="266" r:id="Re11b7a06ab0c49aa"/>
    <p:sldId xmlns:r="http://schemas.openxmlformats.org/officeDocument/2006/relationships" id="267" r:id="R39c36982ac2941c7"/>
    <p:sldId xmlns:r="http://schemas.openxmlformats.org/officeDocument/2006/relationships" id="268" r:id="Ra90e3f611d3a4da4"/>
    <p:sldId xmlns:r="http://schemas.openxmlformats.org/officeDocument/2006/relationships" id="269" r:id="R4e44e39f06134403"/>
    <p:sldId xmlns:r="http://schemas.openxmlformats.org/officeDocument/2006/relationships" id="270" r:id="R9a6946e5c5f84b70"/>
    <p:sldId xmlns:r="http://schemas.openxmlformats.org/officeDocument/2006/relationships" id="271" r:id="Rc6ca84f40e004307"/>
    <p:sldId xmlns:r="http://schemas.openxmlformats.org/officeDocument/2006/relationships" id="272" r:id="R67dd6f32c33b48b3"/>
    <p:sldId xmlns:r="http://schemas.openxmlformats.org/officeDocument/2006/relationships" id="273" r:id="R83dacc9d50ef47d0"/>
    <p:sldId xmlns:r="http://schemas.openxmlformats.org/officeDocument/2006/relationships" id="274" r:id="R93a23b3438434212"/>
    <p:sldId xmlns:r="http://schemas.openxmlformats.org/officeDocument/2006/relationships" id="275" r:id="R4be9bfd893a247dc"/>
    <p:sldId xmlns:r="http://schemas.openxmlformats.org/officeDocument/2006/relationships" id="276" r:id="Rc1c5bdb463974661"/>
    <p:sldId xmlns:r="http://schemas.openxmlformats.org/officeDocument/2006/relationships" id="277" r:id="R76ff974e77c74e23"/>
    <p:sldId xmlns:r="http://schemas.openxmlformats.org/officeDocument/2006/relationships" id="278" r:id="Rfe47b9e316164630"/>
    <p:sldId xmlns:r="http://schemas.openxmlformats.org/officeDocument/2006/relationships" id="279" r:id="R118cae665f79477b"/>
    <p:sldId xmlns:r="http://schemas.openxmlformats.org/officeDocument/2006/relationships" id="280" r:id="R6407c5c574c74e95"/>
    <p:sldId xmlns:r="http://schemas.openxmlformats.org/officeDocument/2006/relationships" id="281" r:id="Rfd45df79daf14930"/>
    <p:sldId xmlns:r="http://schemas.openxmlformats.org/officeDocument/2006/relationships" id="282" r:id="R3fbf2f27a9f14bf7"/>
    <p:sldId xmlns:r="http://schemas.openxmlformats.org/officeDocument/2006/relationships" id="283" r:id="R69578186b0d14dde"/>
    <p:sldId xmlns:r="http://schemas.openxmlformats.org/officeDocument/2006/relationships" id="284" r:id="R0fa49b8a074548a0"/>
    <p:sldId xmlns:r="http://schemas.openxmlformats.org/officeDocument/2006/relationships" id="285" r:id="Re3209ec969a9407d"/>
    <p:sldId xmlns:r="http://schemas.openxmlformats.org/officeDocument/2006/relationships" id="286" r:id="Rd957192b84fb418b"/>
    <p:sldId xmlns:r="http://schemas.openxmlformats.org/officeDocument/2006/relationships" id="287" r:id="Rc6a7363bdab7483c"/>
    <p:sldId xmlns:r="http://schemas.openxmlformats.org/officeDocument/2006/relationships" id="288" r:id="Rc6859d8903dc482f"/>
    <p:sldId xmlns:r="http://schemas.openxmlformats.org/officeDocument/2006/relationships" id="289" r:id="Rbb2836dcd1634dfb"/>
    <p:sldId xmlns:r="http://schemas.openxmlformats.org/officeDocument/2006/relationships" id="290" r:id="R95d13281d5254cc9"/>
    <p:sldId xmlns:r="http://schemas.openxmlformats.org/officeDocument/2006/relationships" id="291" r:id="Rb4f183b3044d4595"/>
    <p:sldId xmlns:r="http://schemas.openxmlformats.org/officeDocument/2006/relationships" id="292" r:id="R56fe5e0b36bc40d7"/>
    <p:sldId xmlns:r="http://schemas.openxmlformats.org/officeDocument/2006/relationships" id="293" r:id="R73f65287540444b1"/>
    <p:sldId xmlns:r="http://schemas.openxmlformats.org/officeDocument/2006/relationships" id="294" r:id="R65a97ca018a64419"/>
    <p:sldId xmlns:r="http://schemas.openxmlformats.org/officeDocument/2006/relationships" id="295" r:id="R7347dde16c174ba0"/>
    <p:sldId xmlns:r="http://schemas.openxmlformats.org/officeDocument/2006/relationships" id="296" r:id="Rb3b2de51efe0472f"/>
    <p:sldId xmlns:r="http://schemas.openxmlformats.org/officeDocument/2006/relationships" id="297" r:id="R9d6fa80fca5a4cc4"/>
    <p:sldId xmlns:r="http://schemas.openxmlformats.org/officeDocument/2006/relationships" id="298" r:id="R2f124eeedf504a06"/>
    <p:sldId xmlns:r="http://schemas.openxmlformats.org/officeDocument/2006/relationships" id="299" r:id="Rd1ebf89b5d974e6d"/>
    <p:sldId xmlns:r="http://schemas.openxmlformats.org/officeDocument/2006/relationships" id="300" r:id="Rf38496f5f2bd4763"/>
    <p:sldId xmlns:r="http://schemas.openxmlformats.org/officeDocument/2006/relationships" id="301" r:id="Rb99e47fa95cc4ba6"/>
    <p:sldId xmlns:r="http://schemas.openxmlformats.org/officeDocument/2006/relationships" id="302" r:id="Rffab15ad79c8491f"/>
    <p:sldId xmlns:r="http://schemas.openxmlformats.org/officeDocument/2006/relationships" id="303" r:id="Rc486e3e189a64047"/>
    <p:sldId xmlns:r="http://schemas.openxmlformats.org/officeDocument/2006/relationships" id="304" r:id="R8d10726202bc4657"/>
    <p:sldId xmlns:r="http://schemas.openxmlformats.org/officeDocument/2006/relationships" id="305" r:id="R0c0b7f87492546fe"/>
    <p:sldId xmlns:r="http://schemas.openxmlformats.org/officeDocument/2006/relationships" id="306" r:id="R3be11da4ec4f4b9b"/>
    <p:sldId xmlns:r="http://schemas.openxmlformats.org/officeDocument/2006/relationships" id="307" r:id="R093d145f40e44d1b"/>
    <p:sldId xmlns:r="http://schemas.openxmlformats.org/officeDocument/2006/relationships" id="308" r:id="Rc8c0d426d045414d"/>
    <p:sldId xmlns:r="http://schemas.openxmlformats.org/officeDocument/2006/relationships" id="309" r:id="R34673dfbf55b45fa"/>
    <p:sldId xmlns:r="http://schemas.openxmlformats.org/officeDocument/2006/relationships" id="310" r:id="R09115f3072b74f5f"/>
    <p:sldId xmlns:r="http://schemas.openxmlformats.org/officeDocument/2006/relationships" id="311" r:id="R4819f42d6512464d"/>
    <p:sldId xmlns:r="http://schemas.openxmlformats.org/officeDocument/2006/relationships" id="312" r:id="R5760b1f0dc0544be"/>
    <p:sldId xmlns:r="http://schemas.openxmlformats.org/officeDocument/2006/relationships" id="313" r:id="R2209a6a169844f5a"/>
    <p:sldId xmlns:r="http://schemas.openxmlformats.org/officeDocument/2006/relationships" id="314" r:id="R5b8b27859e334968"/>
    <p:sldId xmlns:r="http://schemas.openxmlformats.org/officeDocument/2006/relationships" id="315" r:id="Ree74f1079a714b3d"/>
    <p:sldId xmlns:r="http://schemas.openxmlformats.org/officeDocument/2006/relationships" id="316" r:id="R439b0847a6954d40"/>
    <p:sldId xmlns:r="http://schemas.openxmlformats.org/officeDocument/2006/relationships" id="317" r:id="R83920dcd15c349d9"/>
    <p:sldId xmlns:r="http://schemas.openxmlformats.org/officeDocument/2006/relationships" id="318" r:id="Rbfbc64d690314bdf"/>
    <p:sldId xmlns:r="http://schemas.openxmlformats.org/officeDocument/2006/relationships" id="319" r:id="R66d6a645cc6a4c0d"/>
    <p:sldId xmlns:r="http://schemas.openxmlformats.org/officeDocument/2006/relationships" id="320" r:id="R4106f535ca874c7d"/>
    <p:sldId xmlns:r="http://schemas.openxmlformats.org/officeDocument/2006/relationships" id="321" r:id="R60c84e11372a42d3"/>
    <p:sldId xmlns:r="http://schemas.openxmlformats.org/officeDocument/2006/relationships" id="322" r:id="R17c235a8a65d4fb5"/>
    <p:sldId xmlns:r="http://schemas.openxmlformats.org/officeDocument/2006/relationships" id="323" r:id="Rd7d147397d9c4598"/>
    <p:sldId xmlns:r="http://schemas.openxmlformats.org/officeDocument/2006/relationships" id="324" r:id="R6937c09f47274c9f"/>
    <p:sldId xmlns:r="http://schemas.openxmlformats.org/officeDocument/2006/relationships" id="325" r:id="Rab8d6f35500d477f"/>
    <p:sldId xmlns:r="http://schemas.openxmlformats.org/officeDocument/2006/relationships" id="326" r:id="Rf7e506ca86a24326"/>
    <p:sldId xmlns:r="http://schemas.openxmlformats.org/officeDocument/2006/relationships" id="327" r:id="Rd6d1b0e6a8f144bd"/>
    <p:sldId xmlns:r="http://schemas.openxmlformats.org/officeDocument/2006/relationships" id="328" r:id="Rf5754f0fec5442fc"/>
    <p:sldId xmlns:r="http://schemas.openxmlformats.org/officeDocument/2006/relationships" id="329" r:id="R859baffe28ae4f0c"/>
    <p:sldId xmlns:r="http://schemas.openxmlformats.org/officeDocument/2006/relationships" id="330" r:id="Re3c97256da0542bd"/>
    <p:sldId xmlns:r="http://schemas.openxmlformats.org/officeDocument/2006/relationships" id="331" r:id="R40241b9d05e04f14"/>
    <p:sldId xmlns:r="http://schemas.openxmlformats.org/officeDocument/2006/relationships" id="332" r:id="R5a88cd5283764410"/>
    <p:sldId xmlns:r="http://schemas.openxmlformats.org/officeDocument/2006/relationships" id="333" r:id="R0d380bd7c5284ddc"/>
    <p:sldId xmlns:r="http://schemas.openxmlformats.org/officeDocument/2006/relationships" id="334" r:id="R393f8c5b47a84751"/>
    <p:sldId xmlns:r="http://schemas.openxmlformats.org/officeDocument/2006/relationships" id="335" r:id="R43147efc13b04b05"/>
    <p:sldId xmlns:r="http://schemas.openxmlformats.org/officeDocument/2006/relationships" id="336" r:id="R358b8c1db3aa40c8"/>
    <p:sldId xmlns:r="http://schemas.openxmlformats.org/officeDocument/2006/relationships" id="337" r:id="R5f47dba7dfe1490f"/>
    <p:sldId xmlns:r="http://schemas.openxmlformats.org/officeDocument/2006/relationships" id="338" r:id="R9bc45152c8174fa6"/>
    <p:sldId xmlns:r="http://schemas.openxmlformats.org/officeDocument/2006/relationships" id="339" r:id="R057b0cfa0f084fc5"/>
    <p:sldId xmlns:r="http://schemas.openxmlformats.org/officeDocument/2006/relationships" id="340" r:id="Rb04598e2a2a0486d"/>
    <p:sldId xmlns:r="http://schemas.openxmlformats.org/officeDocument/2006/relationships" id="341" r:id="R4a92aec9e4774263"/>
    <p:sldId xmlns:r="http://schemas.openxmlformats.org/officeDocument/2006/relationships" id="342" r:id="Rd11db33927fe45a6"/>
    <p:sldId xmlns:r="http://schemas.openxmlformats.org/officeDocument/2006/relationships" id="343" r:id="R7733f63573de4f2b"/>
    <p:sldId xmlns:r="http://schemas.openxmlformats.org/officeDocument/2006/relationships" id="344" r:id="R223ec13cc582433c"/>
    <p:sldId xmlns:r="http://schemas.openxmlformats.org/officeDocument/2006/relationships" id="345" r:id="R3de7bf3252d94f8f"/>
    <p:sldId xmlns:r="http://schemas.openxmlformats.org/officeDocument/2006/relationships" id="346" r:id="Rffb2e26f71ad42d4"/>
    <p:sldId xmlns:r="http://schemas.openxmlformats.org/officeDocument/2006/relationships" id="347" r:id="Rf54ae7dc10634eb3"/>
    <p:sldId xmlns:r="http://schemas.openxmlformats.org/officeDocument/2006/relationships" id="348" r:id="Rc34b46ae486d4a6b"/>
    <p:sldId xmlns:r="http://schemas.openxmlformats.org/officeDocument/2006/relationships" id="349" r:id="R771dc76fcb7145d8"/>
    <p:sldId xmlns:r="http://schemas.openxmlformats.org/officeDocument/2006/relationships" id="350" r:id="Rdeff0fb7b95245e4"/>
    <p:sldId xmlns:r="http://schemas.openxmlformats.org/officeDocument/2006/relationships" id="351" r:id="Rb04eeff188db4b6a"/>
    <p:sldId xmlns:r="http://schemas.openxmlformats.org/officeDocument/2006/relationships" id="352" r:id="Ra24dd800d0b94cba"/>
    <p:sldId xmlns:r="http://schemas.openxmlformats.org/officeDocument/2006/relationships" id="353" r:id="R50ab0ea2e40049c9"/>
    <p:sldId xmlns:r="http://schemas.openxmlformats.org/officeDocument/2006/relationships" id="354" r:id="Rcb192b5202044b65"/>
    <p:sldId xmlns:r="http://schemas.openxmlformats.org/officeDocument/2006/relationships" id="355" r:id="Rf029cf3a3fd3478c"/>
    <p:sldId xmlns:r="http://schemas.openxmlformats.org/officeDocument/2006/relationships" id="356" r:id="R0bf40b56385e48e2"/>
    <p:sldId xmlns:r="http://schemas.openxmlformats.org/officeDocument/2006/relationships" id="357" r:id="Rdbca92ddeef946c5"/>
    <p:sldId xmlns:r="http://schemas.openxmlformats.org/officeDocument/2006/relationships" id="358" r:id="Ra436f9a025124309"/>
    <p:sldId xmlns:r="http://schemas.openxmlformats.org/officeDocument/2006/relationships" id="359" r:id="R041e592519f24a1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66277b36a974c9a" /><Relationship Type="http://schemas.openxmlformats.org/officeDocument/2006/relationships/slideMaster" Target="/ppt/slideMasters/slideMaster1.xml" Id="R70c2aed54cf5458f" /><Relationship Type="http://schemas.openxmlformats.org/officeDocument/2006/relationships/notesMaster" Target="/ppt/notesMasters/notesMaster1.xml" Id="Rd028fdcccdbb44f7" /><Relationship Type="http://schemas.openxmlformats.org/officeDocument/2006/relationships/presProps" Target="/ppt/presProps.xml" Id="R7306e1fb31044d37" /><Relationship Type="http://schemas.openxmlformats.org/officeDocument/2006/relationships/tableStyles" Target="/ppt/tableStyles.xml" Id="R976181ebf02046a4" /><Relationship Type="http://schemas.openxmlformats.org/officeDocument/2006/relationships/slide" Target="/ppt/slides/slide1.xml" Id="Re5595f4e2e3545a6" /><Relationship Type="http://schemas.openxmlformats.org/officeDocument/2006/relationships/slide" Target="/ppt/slides/slide2.xml" Id="R5101d9c76c8848f2" /><Relationship Type="http://schemas.openxmlformats.org/officeDocument/2006/relationships/slide" Target="/ppt/slides/slide3.xml" Id="Rb90c5a86e6ce4a19" /><Relationship Type="http://schemas.openxmlformats.org/officeDocument/2006/relationships/slide" Target="/ppt/slides/slide4.xml" Id="R1287c22b503f437d" /><Relationship Type="http://schemas.openxmlformats.org/officeDocument/2006/relationships/slide" Target="/ppt/slides/slide5.xml" Id="R60f22679f78b42cb" /><Relationship Type="http://schemas.openxmlformats.org/officeDocument/2006/relationships/slide" Target="/ppt/slides/slide6.xml" Id="R04a3d04b6ea7477f" /><Relationship Type="http://schemas.openxmlformats.org/officeDocument/2006/relationships/slide" Target="/ppt/slides/slide7.xml" Id="Rba005d2c296248ff" /><Relationship Type="http://schemas.openxmlformats.org/officeDocument/2006/relationships/slide" Target="/ppt/slides/slide8.xml" Id="Rfcae04ed2881456e" /><Relationship Type="http://schemas.openxmlformats.org/officeDocument/2006/relationships/slide" Target="/ppt/slides/slide9.xml" Id="R1f6aa46e7df24584" /><Relationship Type="http://schemas.openxmlformats.org/officeDocument/2006/relationships/slide" Target="/ppt/slides/slide10.xml" Id="Rfd47f44c3a4f4f9d" /><Relationship Type="http://schemas.openxmlformats.org/officeDocument/2006/relationships/slide" Target="/ppt/slides/slide11.xml" Id="Re11b7a06ab0c49aa" /><Relationship Type="http://schemas.openxmlformats.org/officeDocument/2006/relationships/slide" Target="/ppt/slides/slide12.xml" Id="R39c36982ac2941c7" /><Relationship Type="http://schemas.openxmlformats.org/officeDocument/2006/relationships/slide" Target="/ppt/slides/slide13.xml" Id="Ra90e3f611d3a4da4" /><Relationship Type="http://schemas.openxmlformats.org/officeDocument/2006/relationships/slide" Target="/ppt/slides/slide14.xml" Id="R4e44e39f06134403" /><Relationship Type="http://schemas.openxmlformats.org/officeDocument/2006/relationships/slide" Target="/ppt/slides/slide15.xml" Id="R9a6946e5c5f84b70" /><Relationship Type="http://schemas.openxmlformats.org/officeDocument/2006/relationships/slide" Target="/ppt/slides/slide16.xml" Id="Rc6ca84f40e004307" /><Relationship Type="http://schemas.openxmlformats.org/officeDocument/2006/relationships/slide" Target="/ppt/slides/slide17.xml" Id="R67dd6f32c33b48b3" /><Relationship Type="http://schemas.openxmlformats.org/officeDocument/2006/relationships/slide" Target="/ppt/slides/slide18.xml" Id="R83dacc9d50ef47d0" /><Relationship Type="http://schemas.openxmlformats.org/officeDocument/2006/relationships/slide" Target="/ppt/slides/slide19.xml" Id="R93a23b3438434212" /><Relationship Type="http://schemas.openxmlformats.org/officeDocument/2006/relationships/slide" Target="/ppt/slides/slide20.xml" Id="R4be9bfd893a247dc" /><Relationship Type="http://schemas.openxmlformats.org/officeDocument/2006/relationships/slide" Target="/ppt/slides/slide21.xml" Id="Rc1c5bdb463974661" /><Relationship Type="http://schemas.openxmlformats.org/officeDocument/2006/relationships/slide" Target="/ppt/slides/slide22.xml" Id="R76ff974e77c74e23" /><Relationship Type="http://schemas.openxmlformats.org/officeDocument/2006/relationships/slide" Target="/ppt/slides/slide23.xml" Id="Rfe47b9e316164630" /><Relationship Type="http://schemas.openxmlformats.org/officeDocument/2006/relationships/slide" Target="/ppt/slides/slide24.xml" Id="R118cae665f79477b" /><Relationship Type="http://schemas.openxmlformats.org/officeDocument/2006/relationships/slide" Target="/ppt/slides/slide25.xml" Id="R6407c5c574c74e95" /><Relationship Type="http://schemas.openxmlformats.org/officeDocument/2006/relationships/slide" Target="/ppt/slides/slide26.xml" Id="Rfd45df79daf14930" /><Relationship Type="http://schemas.openxmlformats.org/officeDocument/2006/relationships/slide" Target="/ppt/slides/slide27.xml" Id="R3fbf2f27a9f14bf7" /><Relationship Type="http://schemas.openxmlformats.org/officeDocument/2006/relationships/slide" Target="/ppt/slides/slide28.xml" Id="R69578186b0d14dde" /><Relationship Type="http://schemas.openxmlformats.org/officeDocument/2006/relationships/slide" Target="/ppt/slides/slide29.xml" Id="R0fa49b8a074548a0" /><Relationship Type="http://schemas.openxmlformats.org/officeDocument/2006/relationships/slide" Target="/ppt/slides/slide30.xml" Id="Re3209ec969a9407d" /><Relationship Type="http://schemas.openxmlformats.org/officeDocument/2006/relationships/slide" Target="/ppt/slides/slide31.xml" Id="Rd957192b84fb418b" /><Relationship Type="http://schemas.openxmlformats.org/officeDocument/2006/relationships/slide" Target="/ppt/slides/slide32.xml" Id="Rc6a7363bdab7483c" /><Relationship Type="http://schemas.openxmlformats.org/officeDocument/2006/relationships/slide" Target="/ppt/slides/slide33.xml" Id="Rc6859d8903dc482f" /><Relationship Type="http://schemas.openxmlformats.org/officeDocument/2006/relationships/slide" Target="/ppt/slides/slide34.xml" Id="Rbb2836dcd1634dfb" /><Relationship Type="http://schemas.openxmlformats.org/officeDocument/2006/relationships/slide" Target="/ppt/slides/slide35.xml" Id="R95d13281d5254cc9" /><Relationship Type="http://schemas.openxmlformats.org/officeDocument/2006/relationships/slide" Target="/ppt/slides/slide36.xml" Id="Rb4f183b3044d4595" /><Relationship Type="http://schemas.openxmlformats.org/officeDocument/2006/relationships/slide" Target="/ppt/slides/slide37.xml" Id="R56fe5e0b36bc40d7" /><Relationship Type="http://schemas.openxmlformats.org/officeDocument/2006/relationships/slide" Target="/ppt/slides/slide38.xml" Id="R73f65287540444b1" /><Relationship Type="http://schemas.openxmlformats.org/officeDocument/2006/relationships/slide" Target="/ppt/slides/slide39.xml" Id="R65a97ca018a64419" /><Relationship Type="http://schemas.openxmlformats.org/officeDocument/2006/relationships/slide" Target="/ppt/slides/slide40.xml" Id="R7347dde16c174ba0" /><Relationship Type="http://schemas.openxmlformats.org/officeDocument/2006/relationships/slide" Target="/ppt/slides/slide41.xml" Id="Rb3b2de51efe0472f" /><Relationship Type="http://schemas.openxmlformats.org/officeDocument/2006/relationships/slide" Target="/ppt/slides/slide42.xml" Id="R9d6fa80fca5a4cc4" /><Relationship Type="http://schemas.openxmlformats.org/officeDocument/2006/relationships/slide" Target="/ppt/slides/slide43.xml" Id="R2f124eeedf504a06" /><Relationship Type="http://schemas.openxmlformats.org/officeDocument/2006/relationships/slide" Target="/ppt/slides/slide44.xml" Id="Rd1ebf89b5d974e6d" /><Relationship Type="http://schemas.openxmlformats.org/officeDocument/2006/relationships/slide" Target="/ppt/slides/slide45.xml" Id="Rf38496f5f2bd4763" /><Relationship Type="http://schemas.openxmlformats.org/officeDocument/2006/relationships/slide" Target="/ppt/slides/slide46.xml" Id="Rb99e47fa95cc4ba6" /><Relationship Type="http://schemas.openxmlformats.org/officeDocument/2006/relationships/slide" Target="/ppt/slides/slide47.xml" Id="Rffab15ad79c8491f" /><Relationship Type="http://schemas.openxmlformats.org/officeDocument/2006/relationships/slide" Target="/ppt/slides/slide48.xml" Id="Rc486e3e189a64047" /><Relationship Type="http://schemas.openxmlformats.org/officeDocument/2006/relationships/slide" Target="/ppt/slides/slide49.xml" Id="R8d10726202bc4657" /><Relationship Type="http://schemas.openxmlformats.org/officeDocument/2006/relationships/slide" Target="/ppt/slides/slide50.xml" Id="R0c0b7f87492546fe" /><Relationship Type="http://schemas.openxmlformats.org/officeDocument/2006/relationships/slide" Target="/ppt/slides/slide51.xml" Id="R3be11da4ec4f4b9b" /><Relationship Type="http://schemas.openxmlformats.org/officeDocument/2006/relationships/slide" Target="/ppt/slides/slide52.xml" Id="R093d145f40e44d1b" /><Relationship Type="http://schemas.openxmlformats.org/officeDocument/2006/relationships/slide" Target="/ppt/slides/slide53.xml" Id="Rc8c0d426d045414d" /><Relationship Type="http://schemas.openxmlformats.org/officeDocument/2006/relationships/slide" Target="/ppt/slides/slide54.xml" Id="R34673dfbf55b45fa" /><Relationship Type="http://schemas.openxmlformats.org/officeDocument/2006/relationships/slide" Target="/ppt/slides/slide55.xml" Id="R09115f3072b74f5f" /><Relationship Type="http://schemas.openxmlformats.org/officeDocument/2006/relationships/slide" Target="/ppt/slides/slide56.xml" Id="R4819f42d6512464d" /><Relationship Type="http://schemas.openxmlformats.org/officeDocument/2006/relationships/slide" Target="/ppt/slides/slide57.xml" Id="R5760b1f0dc0544be" /><Relationship Type="http://schemas.openxmlformats.org/officeDocument/2006/relationships/slide" Target="/ppt/slides/slide58.xml" Id="R2209a6a169844f5a" /><Relationship Type="http://schemas.openxmlformats.org/officeDocument/2006/relationships/slide" Target="/ppt/slides/slide59.xml" Id="R5b8b27859e334968" /><Relationship Type="http://schemas.openxmlformats.org/officeDocument/2006/relationships/slide" Target="/ppt/slides/slide60.xml" Id="Ree74f1079a714b3d" /><Relationship Type="http://schemas.openxmlformats.org/officeDocument/2006/relationships/slide" Target="/ppt/slides/slide61.xml" Id="R439b0847a6954d40" /><Relationship Type="http://schemas.openxmlformats.org/officeDocument/2006/relationships/slide" Target="/ppt/slides/slide62.xml" Id="R83920dcd15c349d9" /><Relationship Type="http://schemas.openxmlformats.org/officeDocument/2006/relationships/slide" Target="/ppt/slides/slide63.xml" Id="Rbfbc64d690314bdf" /><Relationship Type="http://schemas.openxmlformats.org/officeDocument/2006/relationships/slide" Target="/ppt/slides/slide64.xml" Id="R66d6a645cc6a4c0d" /><Relationship Type="http://schemas.openxmlformats.org/officeDocument/2006/relationships/slide" Target="/ppt/slides/slide65.xml" Id="R4106f535ca874c7d" /><Relationship Type="http://schemas.openxmlformats.org/officeDocument/2006/relationships/slide" Target="/ppt/slides/slide66.xml" Id="R60c84e11372a42d3" /><Relationship Type="http://schemas.openxmlformats.org/officeDocument/2006/relationships/slide" Target="/ppt/slides/slide67.xml" Id="R17c235a8a65d4fb5" /><Relationship Type="http://schemas.openxmlformats.org/officeDocument/2006/relationships/slide" Target="/ppt/slides/slide68.xml" Id="Rd7d147397d9c4598" /><Relationship Type="http://schemas.openxmlformats.org/officeDocument/2006/relationships/slide" Target="/ppt/slides/slide69.xml" Id="R6937c09f47274c9f" /><Relationship Type="http://schemas.openxmlformats.org/officeDocument/2006/relationships/slide" Target="/ppt/slides/slide70.xml" Id="Rab8d6f35500d477f" /><Relationship Type="http://schemas.openxmlformats.org/officeDocument/2006/relationships/slide" Target="/ppt/slides/slide71.xml" Id="Rf7e506ca86a24326" /><Relationship Type="http://schemas.openxmlformats.org/officeDocument/2006/relationships/slide" Target="/ppt/slides/slide72.xml" Id="Rd6d1b0e6a8f144bd" /><Relationship Type="http://schemas.openxmlformats.org/officeDocument/2006/relationships/slide" Target="/ppt/slides/slide73.xml" Id="Rf5754f0fec5442fc" /><Relationship Type="http://schemas.openxmlformats.org/officeDocument/2006/relationships/slide" Target="/ppt/slides/slide74.xml" Id="R859baffe28ae4f0c" /><Relationship Type="http://schemas.openxmlformats.org/officeDocument/2006/relationships/slide" Target="/ppt/slides/slide75.xml" Id="Re3c97256da0542bd" /><Relationship Type="http://schemas.openxmlformats.org/officeDocument/2006/relationships/slide" Target="/ppt/slides/slide76.xml" Id="R40241b9d05e04f14" /><Relationship Type="http://schemas.openxmlformats.org/officeDocument/2006/relationships/slide" Target="/ppt/slides/slide77.xml" Id="R5a88cd5283764410" /><Relationship Type="http://schemas.openxmlformats.org/officeDocument/2006/relationships/slide" Target="/ppt/slides/slide78.xml" Id="R0d380bd7c5284ddc" /><Relationship Type="http://schemas.openxmlformats.org/officeDocument/2006/relationships/slide" Target="/ppt/slides/slide79.xml" Id="R393f8c5b47a84751" /><Relationship Type="http://schemas.openxmlformats.org/officeDocument/2006/relationships/slide" Target="/ppt/slides/slide80.xml" Id="R43147efc13b04b05" /><Relationship Type="http://schemas.openxmlformats.org/officeDocument/2006/relationships/slide" Target="/ppt/slides/slide81.xml" Id="R358b8c1db3aa40c8" /><Relationship Type="http://schemas.openxmlformats.org/officeDocument/2006/relationships/slide" Target="/ppt/slides/slide82.xml" Id="R5f47dba7dfe1490f" /><Relationship Type="http://schemas.openxmlformats.org/officeDocument/2006/relationships/slide" Target="/ppt/slides/slide83.xml" Id="R9bc45152c8174fa6" /><Relationship Type="http://schemas.openxmlformats.org/officeDocument/2006/relationships/slide" Target="/ppt/slides/slide84.xml" Id="R057b0cfa0f084fc5" /><Relationship Type="http://schemas.openxmlformats.org/officeDocument/2006/relationships/slide" Target="/ppt/slides/slide85.xml" Id="Rb04598e2a2a0486d" /><Relationship Type="http://schemas.openxmlformats.org/officeDocument/2006/relationships/slide" Target="/ppt/slides/slide86.xml" Id="R4a92aec9e4774263" /><Relationship Type="http://schemas.openxmlformats.org/officeDocument/2006/relationships/slide" Target="/ppt/slides/slide87.xml" Id="Rd11db33927fe45a6" /><Relationship Type="http://schemas.openxmlformats.org/officeDocument/2006/relationships/slide" Target="/ppt/slides/slide88.xml" Id="R7733f63573de4f2b" /><Relationship Type="http://schemas.openxmlformats.org/officeDocument/2006/relationships/slide" Target="/ppt/slides/slide89.xml" Id="R223ec13cc582433c" /><Relationship Type="http://schemas.openxmlformats.org/officeDocument/2006/relationships/slide" Target="/ppt/slides/slide90.xml" Id="R3de7bf3252d94f8f" /><Relationship Type="http://schemas.openxmlformats.org/officeDocument/2006/relationships/slide" Target="/ppt/slides/slide91.xml" Id="Rffb2e26f71ad42d4" /><Relationship Type="http://schemas.openxmlformats.org/officeDocument/2006/relationships/slide" Target="/ppt/slides/slide92.xml" Id="Rf54ae7dc10634eb3" /><Relationship Type="http://schemas.openxmlformats.org/officeDocument/2006/relationships/slide" Target="/ppt/slides/slide93.xml" Id="Rc34b46ae486d4a6b" /><Relationship Type="http://schemas.openxmlformats.org/officeDocument/2006/relationships/slide" Target="/ppt/slides/slide94.xml" Id="R771dc76fcb7145d8" /><Relationship Type="http://schemas.openxmlformats.org/officeDocument/2006/relationships/slide" Target="/ppt/slides/slide95.xml" Id="Rdeff0fb7b95245e4" /><Relationship Type="http://schemas.openxmlformats.org/officeDocument/2006/relationships/slide" Target="/ppt/slides/slide96.xml" Id="Rb04eeff188db4b6a" /><Relationship Type="http://schemas.openxmlformats.org/officeDocument/2006/relationships/slide" Target="/ppt/slides/slide97.xml" Id="Ra24dd800d0b94cba" /><Relationship Type="http://schemas.openxmlformats.org/officeDocument/2006/relationships/slide" Target="/ppt/slides/slide98.xml" Id="R50ab0ea2e40049c9" /><Relationship Type="http://schemas.openxmlformats.org/officeDocument/2006/relationships/slide" Target="/ppt/slides/slide99.xml" Id="Rcb192b5202044b65" /><Relationship Type="http://schemas.openxmlformats.org/officeDocument/2006/relationships/slide" Target="/ppt/slides/slide100.xml" Id="Rf029cf3a3fd3478c" /><Relationship Type="http://schemas.openxmlformats.org/officeDocument/2006/relationships/slide" Target="/ppt/slides/slide101.xml" Id="R0bf40b56385e48e2" /><Relationship Type="http://schemas.openxmlformats.org/officeDocument/2006/relationships/slide" Target="/ppt/slides/slide102.xml" Id="Rdbca92ddeef946c5" /><Relationship Type="http://schemas.openxmlformats.org/officeDocument/2006/relationships/slide" Target="/ppt/slides/slide103.xml" Id="Ra436f9a025124309" /><Relationship Type="http://schemas.openxmlformats.org/officeDocument/2006/relationships/slide" Target="/ppt/slides/slide104.xml" Id="R041e592519f24a1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83bdfb8c0d54fd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7d84a08870843c7" /><Relationship Type="http://schemas.openxmlformats.org/officeDocument/2006/relationships/notesMaster" Target="/ppt/notesMasters/notesMaster1.xml" Id="R1b9836ad5b614195" /></Relationships>
</file>

<file path=ppt/notesSlides/_rels/notesSlide2.xml.rels>&#65279;<?xml version="1.0" encoding="utf-8"?><Relationships xmlns="http://schemas.openxmlformats.org/package/2006/relationships"><Relationship Type="http://schemas.openxmlformats.org/officeDocument/2006/relationships/slide" Target="/ppt/slides/slide2.xml" Id="R751d648ad0964289" /><Relationship Type="http://schemas.openxmlformats.org/officeDocument/2006/relationships/notesMaster" Target="/ppt/notesMasters/notesMaster1.xml" Id="R531484f7d38f4bf3" /></Relationships>
</file>

<file path=ppt/notesSlides/_rels/notesSlide3.xml.rels>&#65279;<?xml version="1.0" encoding="utf-8"?><Relationships xmlns="http://schemas.openxmlformats.org/package/2006/relationships"><Relationship Type="http://schemas.openxmlformats.org/officeDocument/2006/relationships/slide" Target="/ppt/slides/slide3.xml" Id="Rc2690f789875429c" /><Relationship Type="http://schemas.openxmlformats.org/officeDocument/2006/relationships/notesMaster" Target="/ppt/notesMasters/notesMaster1.xml" Id="R8221881ee4824dc5" /></Relationships>
</file>

<file path=ppt/notesSlides/_rels/notesSlide4.xml.rels>&#65279;<?xml version="1.0" encoding="utf-8"?><Relationships xmlns="http://schemas.openxmlformats.org/package/2006/relationships"><Relationship Type="http://schemas.openxmlformats.org/officeDocument/2006/relationships/slide" Target="/ppt/slides/slide4.xml" Id="R9122253f129a491d" /><Relationship Type="http://schemas.openxmlformats.org/officeDocument/2006/relationships/notesMaster" Target="/ppt/notesMasters/notesMaster1.xml" Id="R9dc2d0dd2661484b" /></Relationships>
</file>

<file path=ppt/notesSlides/_rels/notesSlide5.xml.rels>&#65279;<?xml version="1.0" encoding="utf-8"?><Relationships xmlns="http://schemas.openxmlformats.org/package/2006/relationships"><Relationship Type="http://schemas.openxmlformats.org/officeDocument/2006/relationships/slide" Target="/ppt/slides/slide5.xml" Id="R73df7ac99a7d4209" /><Relationship Type="http://schemas.openxmlformats.org/officeDocument/2006/relationships/notesMaster" Target="/ppt/notesMasters/notesMaster1.xml" Id="R231a67f76b994ff8" /></Relationships>
</file>

<file path=ppt/notesSlides/_rels/notesSlide6.xml.rels>&#65279;<?xml version="1.0" encoding="utf-8"?><Relationships xmlns="http://schemas.openxmlformats.org/package/2006/relationships"><Relationship Type="http://schemas.openxmlformats.org/officeDocument/2006/relationships/slide" Target="/ppt/slides/slide6.xml" Id="Rbcf08cfa30de43d4" /><Relationship Type="http://schemas.openxmlformats.org/officeDocument/2006/relationships/notesMaster" Target="/ppt/notesMasters/notesMaster1.xml" Id="R901a6a8bd9904c85" /></Relationships>
</file>

<file path=ppt/notesSlides/_rels/notesSlide7.xml.rels>&#65279;<?xml version="1.0" encoding="utf-8"?><Relationships xmlns="http://schemas.openxmlformats.org/package/2006/relationships"><Relationship Type="http://schemas.openxmlformats.org/officeDocument/2006/relationships/slide" Target="/ppt/slides/slide7.xml" Id="R21997354a31b43e6" /><Relationship Type="http://schemas.openxmlformats.org/officeDocument/2006/relationships/notesMaster" Target="/ppt/notesMasters/notesMaster1.xml" Id="R38bcefb0e18c4769" /></Relationships>
</file>

<file path=ppt/notesSlides/_rels/notesSlide8.xml.rels>&#65279;<?xml version="1.0" encoding="utf-8"?><Relationships xmlns="http://schemas.openxmlformats.org/package/2006/relationships"><Relationship Type="http://schemas.openxmlformats.org/officeDocument/2006/relationships/slide" Target="/ppt/slides/slide8.xml" Id="R9ae7f8b5b45a4b44" /><Relationship Type="http://schemas.openxmlformats.org/officeDocument/2006/relationships/notesMaster" Target="/ppt/notesMasters/notesMaster1.xml" Id="R001afc009fcb4d9d" /></Relationships>
</file>

<file path=ppt/notesSlides/_rels/notesSlide9.xml.rels>&#65279;<?xml version="1.0" encoding="utf-8"?><Relationships xmlns="http://schemas.openxmlformats.org/package/2006/relationships"><Relationship Type="http://schemas.openxmlformats.org/officeDocument/2006/relationships/slide" Target="/ppt/slides/slide9.xml" Id="R68c8e179fd7f4eb9" /><Relationship Type="http://schemas.openxmlformats.org/officeDocument/2006/relationships/notesMaster" Target="/ppt/notesMasters/notesMaster1.xml" Id="Ra3eb72c4559c444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0e37e06112445ef" /><Relationship Type="http://schemas.openxmlformats.org/officeDocument/2006/relationships/notesMaster" Target="/ppt/notesMasters/notesMaster1.xml" Id="Rab2ad1d981a84a1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7cc8ccdc7734c0f" /><Relationship Type="http://schemas.openxmlformats.org/officeDocument/2006/relationships/notesMaster" Target="/ppt/notesMasters/notesMaster1.xml" Id="R32702d4caaae420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f1893f289314b6f" /><Relationship Type="http://schemas.openxmlformats.org/officeDocument/2006/relationships/notesMaster" Target="/ppt/notesMasters/notesMaster1.xml" Id="R75933171a8d046c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35bc0309495421b" /><Relationship Type="http://schemas.openxmlformats.org/officeDocument/2006/relationships/notesMaster" Target="/ppt/notesMasters/notesMaster1.xml" Id="R710990abeb0042a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7818039b49c4527" /><Relationship Type="http://schemas.openxmlformats.org/officeDocument/2006/relationships/notesMaster" Target="/ppt/notesMasters/notesMaster1.xml" Id="R03265407654a46c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6bc88f4198c4f0a" /><Relationship Type="http://schemas.openxmlformats.org/officeDocument/2006/relationships/notesMaster" Target="/ppt/notesMasters/notesMaster1.xml" Id="R1741aecdfb8f464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39ffba9651c445e0" /><Relationship Type="http://schemas.openxmlformats.org/officeDocument/2006/relationships/notesMaster" Target="/ppt/notesMasters/notesMaster1.xml" Id="R334908f20d2940f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9271ac14eba460e" /><Relationship Type="http://schemas.openxmlformats.org/officeDocument/2006/relationships/notesMaster" Target="/ppt/notesMasters/notesMaster1.xml" Id="R8a2d7f09e1fb4e15"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1b7c92b69cbc4233" /><Relationship Type="http://schemas.openxmlformats.org/officeDocument/2006/relationships/notesMaster" Target="/ppt/notesMasters/notesMaster1.xml" Id="Rcd1a64e49cce49c9"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f351d040fba7459f" /><Relationship Type="http://schemas.openxmlformats.org/officeDocument/2006/relationships/notesMaster" Target="/ppt/notesMasters/notesMaster1.xml" Id="R8e6c09d0c90a47a8"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9bd3515b31234e97" /><Relationship Type="http://schemas.openxmlformats.org/officeDocument/2006/relationships/notesMaster" Target="/ppt/notesMasters/notesMaster1.xml" Id="R507730c172ca4c11"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93ec712b671b4923" /><Relationship Type="http://schemas.openxmlformats.org/officeDocument/2006/relationships/notesMaster" Target="/ppt/notesMasters/notesMaster1.xml" Id="R2bbb74a273664950"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095d5b0d53fc4aac" /><Relationship Type="http://schemas.openxmlformats.org/officeDocument/2006/relationships/notesMaster" Target="/ppt/notesMasters/notesMaster1.xml" Id="R1d73aa08aa644f95"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1a54719e84814839" /><Relationship Type="http://schemas.openxmlformats.org/officeDocument/2006/relationships/notesMaster" Target="/ppt/notesMasters/notesMaster1.xml" Id="Rc11351b9f387445e"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754d499bd7b64d93" /><Relationship Type="http://schemas.openxmlformats.org/officeDocument/2006/relationships/notesMaster" Target="/ppt/notesMasters/notesMaster1.xml" Id="Rc17af666a6524a1c"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82de2d689b694cb0" /><Relationship Type="http://schemas.openxmlformats.org/officeDocument/2006/relationships/notesMaster" Target="/ppt/notesMasters/notesMaster1.xml" Id="R69fa7cf4083f48c5"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d6b80acc796c4664" /><Relationship Type="http://schemas.openxmlformats.org/officeDocument/2006/relationships/notesMaster" Target="/ppt/notesMasters/notesMaster1.xml" Id="R7ebf971b49014898"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cd9605a711e5473e" /><Relationship Type="http://schemas.openxmlformats.org/officeDocument/2006/relationships/notesMaster" Target="/ppt/notesMasters/notesMaster1.xml" Id="Ra39b0170440e4342"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962f50840a8a4c0c" /><Relationship Type="http://schemas.openxmlformats.org/officeDocument/2006/relationships/notesMaster" Target="/ppt/notesMasters/notesMaster1.xml" Id="R75e74bf255294776"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edfcbc3b7eb84a1f" /><Relationship Type="http://schemas.openxmlformats.org/officeDocument/2006/relationships/notesMaster" Target="/ppt/notesMasters/notesMaster1.xml" Id="R597313d8a12a49c9"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5b8a43a006ea4903" /><Relationship Type="http://schemas.openxmlformats.org/officeDocument/2006/relationships/notesMaster" Target="/ppt/notesMasters/notesMaster1.xml" Id="Rce529e00e5f04337"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75c8f08836b4419a" /><Relationship Type="http://schemas.openxmlformats.org/officeDocument/2006/relationships/notesMaster" Target="/ppt/notesMasters/notesMaster1.xml" Id="Raddf375fb55b4f47"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d822c9ef84e045e0" /><Relationship Type="http://schemas.openxmlformats.org/officeDocument/2006/relationships/notesMaster" Target="/ppt/notesMasters/notesMaster1.xml" Id="Rebcff80e1e324e89"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370851b7ae1e4c02" /><Relationship Type="http://schemas.openxmlformats.org/officeDocument/2006/relationships/notesMaster" Target="/ppt/notesMasters/notesMaster1.xml" Id="R9428b55c7f1744a1"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e31a517ece394950" /><Relationship Type="http://schemas.openxmlformats.org/officeDocument/2006/relationships/notesMaster" Target="/ppt/notesMasters/notesMaster1.xml" Id="Red6ccc912710406b"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be30de2416504527" /><Relationship Type="http://schemas.openxmlformats.org/officeDocument/2006/relationships/notesMaster" Target="/ppt/notesMasters/notesMaster1.xml" Id="R31e8b6b9f15d418d"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a9ee25b74a924f1c" /><Relationship Type="http://schemas.openxmlformats.org/officeDocument/2006/relationships/notesMaster" Target="/ppt/notesMasters/notesMaster1.xml" Id="R3e079cf4acaf4865"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4c2bdb6de8ed43ca" /><Relationship Type="http://schemas.openxmlformats.org/officeDocument/2006/relationships/notesMaster" Target="/ppt/notesMasters/notesMaster1.xml" Id="R8462bfe55b6b4cc5"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81aa63b1ec51432d" /><Relationship Type="http://schemas.openxmlformats.org/officeDocument/2006/relationships/notesMaster" Target="/ppt/notesMasters/notesMaster1.xml" Id="Rf10d82a7e61f4b51"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736225c5ad55470d" /><Relationship Type="http://schemas.openxmlformats.org/officeDocument/2006/relationships/notesMaster" Target="/ppt/notesMasters/notesMaster1.xml" Id="R1174c11ed9ef4631"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543d9c81335b40a8" /><Relationship Type="http://schemas.openxmlformats.org/officeDocument/2006/relationships/notesMaster" Target="/ppt/notesMasters/notesMaster1.xml" Id="R255c108b23764d68"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13b472c772f44674" /><Relationship Type="http://schemas.openxmlformats.org/officeDocument/2006/relationships/notesMaster" Target="/ppt/notesMasters/notesMaster1.xml" Id="Rfedd58a639c14459"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16ba4c0411354d1f" /><Relationship Type="http://schemas.openxmlformats.org/officeDocument/2006/relationships/notesMaster" Target="/ppt/notesMasters/notesMaster1.xml" Id="Rfd269bb047ef4de7"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a96ce44ad01b469d" /><Relationship Type="http://schemas.openxmlformats.org/officeDocument/2006/relationships/notesMaster" Target="/ppt/notesMasters/notesMaster1.xml" Id="Rfd2782029409446e"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4fa2cbd1769e4566" /><Relationship Type="http://schemas.openxmlformats.org/officeDocument/2006/relationships/notesMaster" Target="/ppt/notesMasters/notesMaster1.xml" Id="Re68bebd3550d48be"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eec50ea8783e42d8" /><Relationship Type="http://schemas.openxmlformats.org/officeDocument/2006/relationships/notesMaster" Target="/ppt/notesMasters/notesMaster1.xml" Id="R43378f2d0a23450d"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dc931975df4a4058" /><Relationship Type="http://schemas.openxmlformats.org/officeDocument/2006/relationships/notesMaster" Target="/ppt/notesMasters/notesMaster1.xml" Id="R54d6663887b44f1a"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10cadd9d73bc4bfe" /><Relationship Type="http://schemas.openxmlformats.org/officeDocument/2006/relationships/notesMaster" Target="/ppt/notesMasters/notesMaster1.xml" Id="R26b1f7322c7c4649"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812265d718f74a8a" /><Relationship Type="http://schemas.openxmlformats.org/officeDocument/2006/relationships/notesMaster" Target="/ppt/notesMasters/notesMaster1.xml" Id="R86f9944b0e4f4bd1"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d5b89f707299446f" /><Relationship Type="http://schemas.openxmlformats.org/officeDocument/2006/relationships/notesMaster" Target="/ppt/notesMasters/notesMaster1.xml" Id="Rd830c31c26ee4e01"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e077f8b2dfd548d9" /><Relationship Type="http://schemas.openxmlformats.org/officeDocument/2006/relationships/notesMaster" Target="/ppt/notesMasters/notesMaster1.xml" Id="R0c40182e2f3f41d8"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987a4c3fd6dc4341" /><Relationship Type="http://schemas.openxmlformats.org/officeDocument/2006/relationships/notesMaster" Target="/ppt/notesMasters/notesMaster1.xml" Id="R3a05790fef10442c"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3c9d051877df411a" /><Relationship Type="http://schemas.openxmlformats.org/officeDocument/2006/relationships/notesMaster" Target="/ppt/notesMasters/notesMaster1.xml" Id="R8a59b8b27e704df4"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fdd1eda0ad34423b" /><Relationship Type="http://schemas.openxmlformats.org/officeDocument/2006/relationships/notesMaster" Target="/ppt/notesMasters/notesMaster1.xml" Id="R44e23854c9634f57"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e97edadb97df4066" /><Relationship Type="http://schemas.openxmlformats.org/officeDocument/2006/relationships/notesMaster" Target="/ppt/notesMasters/notesMaster1.xml" Id="Ra63db4d836594f72"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bee32353eea44490" /><Relationship Type="http://schemas.openxmlformats.org/officeDocument/2006/relationships/notesMaster" Target="/ppt/notesMasters/notesMaster1.xml" Id="R7e4a29de5519449d"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fca73066def84668" /><Relationship Type="http://schemas.openxmlformats.org/officeDocument/2006/relationships/notesMaster" Target="/ppt/notesMasters/notesMaster1.xml" Id="R40d520e1966a4bb7"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775d527437f24b5f" /><Relationship Type="http://schemas.openxmlformats.org/officeDocument/2006/relationships/notesMaster" Target="/ppt/notesMasters/notesMaster1.xml" Id="R92e7de03e0ee485e"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0139ede4b6584446" /><Relationship Type="http://schemas.openxmlformats.org/officeDocument/2006/relationships/notesMaster" Target="/ppt/notesMasters/notesMaster1.xml" Id="R55f429b6c3674296"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add8d94651e34126" /><Relationship Type="http://schemas.openxmlformats.org/officeDocument/2006/relationships/notesMaster" Target="/ppt/notesMasters/notesMaster1.xml" Id="Rb39b3f48a78740fc"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a2c58252afcc4b7c" /><Relationship Type="http://schemas.openxmlformats.org/officeDocument/2006/relationships/notesMaster" Target="/ppt/notesMasters/notesMaster1.xml" Id="R2633705ce6964f26"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b623bda4d7bc4685" /><Relationship Type="http://schemas.openxmlformats.org/officeDocument/2006/relationships/notesMaster" Target="/ppt/notesMasters/notesMaster1.xml" Id="R624f2fb64f7043df"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6edb45a8b85e42a6" /><Relationship Type="http://schemas.openxmlformats.org/officeDocument/2006/relationships/notesMaster" Target="/ppt/notesMasters/notesMaster1.xml" Id="Re930a04682574387"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c640c169817a4315" /><Relationship Type="http://schemas.openxmlformats.org/officeDocument/2006/relationships/notesMaster" Target="/ppt/notesMasters/notesMaster1.xml" Id="Rdfda3e1729b6471f"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b0e03f74020a4b29" /><Relationship Type="http://schemas.openxmlformats.org/officeDocument/2006/relationships/notesMaster" Target="/ppt/notesMasters/notesMaster1.xml" Id="R01a4a9395c6f4202" /></Relationships>
</file>

<file path=ppt/notesSlides/_rels/notesSlide65.xml.rels>&#65279;<?xml version="1.0" encoding="utf-8"?><Relationships xmlns="http://schemas.openxmlformats.org/package/2006/relationships"><Relationship Type="http://schemas.openxmlformats.org/officeDocument/2006/relationships/slide" Target="/ppt/slides/slide65.xml" Id="Rcbfe13cb38054c04" /><Relationship Type="http://schemas.openxmlformats.org/officeDocument/2006/relationships/notesMaster" Target="/ppt/notesMasters/notesMaster1.xml" Id="Ra5d79bff859d40e2" /></Relationships>
</file>

<file path=ppt/notesSlides/_rels/notesSlide66.xml.rels>&#65279;<?xml version="1.0" encoding="utf-8"?><Relationships xmlns="http://schemas.openxmlformats.org/package/2006/relationships"><Relationship Type="http://schemas.openxmlformats.org/officeDocument/2006/relationships/slide" Target="/ppt/slides/slide66.xml" Id="R296109936f6f4e51" /><Relationship Type="http://schemas.openxmlformats.org/officeDocument/2006/relationships/notesMaster" Target="/ppt/notesMasters/notesMaster1.xml" Id="Rd374369520a44943" /></Relationships>
</file>

<file path=ppt/notesSlides/_rels/notesSlide67.xml.rels>&#65279;<?xml version="1.0" encoding="utf-8"?><Relationships xmlns="http://schemas.openxmlformats.org/package/2006/relationships"><Relationship Type="http://schemas.openxmlformats.org/officeDocument/2006/relationships/slide" Target="/ppt/slides/slide67.xml" Id="R097e09f700304e69" /><Relationship Type="http://schemas.openxmlformats.org/officeDocument/2006/relationships/notesMaster" Target="/ppt/notesMasters/notesMaster1.xml" Id="R9278746879754a96" /></Relationships>
</file>

<file path=ppt/notesSlides/_rels/notesSlide68.xml.rels>&#65279;<?xml version="1.0" encoding="utf-8"?><Relationships xmlns="http://schemas.openxmlformats.org/package/2006/relationships"><Relationship Type="http://schemas.openxmlformats.org/officeDocument/2006/relationships/slide" Target="/ppt/slides/slide68.xml" Id="Rba8d537c0a424994" /><Relationship Type="http://schemas.openxmlformats.org/officeDocument/2006/relationships/notesMaster" Target="/ppt/notesMasters/notesMaster1.xml" Id="Rc9a310cc01484670" /></Relationships>
</file>

<file path=ppt/notesSlides/_rels/notesSlide69.xml.rels>&#65279;<?xml version="1.0" encoding="utf-8"?><Relationships xmlns="http://schemas.openxmlformats.org/package/2006/relationships"><Relationship Type="http://schemas.openxmlformats.org/officeDocument/2006/relationships/slide" Target="/ppt/slides/slide69.xml" Id="R98ad2d1ee629497b" /><Relationship Type="http://schemas.openxmlformats.org/officeDocument/2006/relationships/notesMaster" Target="/ppt/notesMasters/notesMaster1.xml" Id="R95de444249fc46c7" /></Relationships>
</file>

<file path=ppt/notesSlides/_rels/notesSlide70.xml.rels>&#65279;<?xml version="1.0" encoding="utf-8"?><Relationships xmlns="http://schemas.openxmlformats.org/package/2006/relationships"><Relationship Type="http://schemas.openxmlformats.org/officeDocument/2006/relationships/slide" Target="/ppt/slides/slide70.xml" Id="Rd9250ee2325d4f5f" /><Relationship Type="http://schemas.openxmlformats.org/officeDocument/2006/relationships/notesMaster" Target="/ppt/notesMasters/notesMaster1.xml" Id="R9e319e30bae14084" /></Relationships>
</file>

<file path=ppt/notesSlides/_rels/notesSlide71.xml.rels>&#65279;<?xml version="1.0" encoding="utf-8"?><Relationships xmlns="http://schemas.openxmlformats.org/package/2006/relationships"><Relationship Type="http://schemas.openxmlformats.org/officeDocument/2006/relationships/slide" Target="/ppt/slides/slide71.xml" Id="R8930a06ac8ab4eb6" /><Relationship Type="http://schemas.openxmlformats.org/officeDocument/2006/relationships/notesMaster" Target="/ppt/notesMasters/notesMaster1.xml" Id="R637c5f348b5340ee" /></Relationships>
</file>

<file path=ppt/notesSlides/_rels/notesSlide72.xml.rels>&#65279;<?xml version="1.0" encoding="utf-8"?><Relationships xmlns="http://schemas.openxmlformats.org/package/2006/relationships"><Relationship Type="http://schemas.openxmlformats.org/officeDocument/2006/relationships/slide" Target="/ppt/slides/slide72.xml" Id="R77420dfcc514406e" /><Relationship Type="http://schemas.openxmlformats.org/officeDocument/2006/relationships/notesMaster" Target="/ppt/notesMasters/notesMaster1.xml" Id="Rb82d842f450c42d5" /></Relationships>
</file>

<file path=ppt/notesSlides/_rels/notesSlide73.xml.rels>&#65279;<?xml version="1.0" encoding="utf-8"?><Relationships xmlns="http://schemas.openxmlformats.org/package/2006/relationships"><Relationship Type="http://schemas.openxmlformats.org/officeDocument/2006/relationships/slide" Target="/ppt/slides/slide73.xml" Id="R4e6066ac455c4808" /><Relationship Type="http://schemas.openxmlformats.org/officeDocument/2006/relationships/notesMaster" Target="/ppt/notesMasters/notesMaster1.xml" Id="Rd807da46589b416a" /></Relationships>
</file>

<file path=ppt/notesSlides/_rels/notesSlide74.xml.rels>&#65279;<?xml version="1.0" encoding="utf-8"?><Relationships xmlns="http://schemas.openxmlformats.org/package/2006/relationships"><Relationship Type="http://schemas.openxmlformats.org/officeDocument/2006/relationships/slide" Target="/ppt/slides/slide74.xml" Id="R5239c1ec830e4279" /><Relationship Type="http://schemas.openxmlformats.org/officeDocument/2006/relationships/notesMaster" Target="/ppt/notesMasters/notesMaster1.xml" Id="Rcaaa53a0fef8437a" /></Relationships>
</file>

<file path=ppt/notesSlides/_rels/notesSlide75.xml.rels>&#65279;<?xml version="1.0" encoding="utf-8"?><Relationships xmlns="http://schemas.openxmlformats.org/package/2006/relationships"><Relationship Type="http://schemas.openxmlformats.org/officeDocument/2006/relationships/slide" Target="/ppt/slides/slide75.xml" Id="R8d6715f3bb0a4c63" /><Relationship Type="http://schemas.openxmlformats.org/officeDocument/2006/relationships/notesMaster" Target="/ppt/notesMasters/notesMaster1.xml" Id="R2947aa7f416143ec" /></Relationships>
</file>

<file path=ppt/notesSlides/_rels/notesSlide76.xml.rels>&#65279;<?xml version="1.0" encoding="utf-8"?><Relationships xmlns="http://schemas.openxmlformats.org/package/2006/relationships"><Relationship Type="http://schemas.openxmlformats.org/officeDocument/2006/relationships/slide" Target="/ppt/slides/slide76.xml" Id="R952aa603b0474bbe" /><Relationship Type="http://schemas.openxmlformats.org/officeDocument/2006/relationships/notesMaster" Target="/ppt/notesMasters/notesMaster1.xml" Id="R2679593f4402491d" /></Relationships>
</file>

<file path=ppt/notesSlides/_rels/notesSlide77.xml.rels>&#65279;<?xml version="1.0" encoding="utf-8"?><Relationships xmlns="http://schemas.openxmlformats.org/package/2006/relationships"><Relationship Type="http://schemas.openxmlformats.org/officeDocument/2006/relationships/slide" Target="/ppt/slides/slide77.xml" Id="Re1ffb7b96cdf4fac" /><Relationship Type="http://schemas.openxmlformats.org/officeDocument/2006/relationships/notesMaster" Target="/ppt/notesMasters/notesMaster1.xml" Id="Red604b5cd8aa498b" /></Relationships>
</file>

<file path=ppt/notesSlides/_rels/notesSlide78.xml.rels>&#65279;<?xml version="1.0" encoding="utf-8"?><Relationships xmlns="http://schemas.openxmlformats.org/package/2006/relationships"><Relationship Type="http://schemas.openxmlformats.org/officeDocument/2006/relationships/slide" Target="/ppt/slides/slide78.xml" Id="Rb9f12d5794a04e97" /><Relationship Type="http://schemas.openxmlformats.org/officeDocument/2006/relationships/notesMaster" Target="/ppt/notesMasters/notesMaster1.xml" Id="Rdbea95c157314a5d" /></Relationships>
</file>

<file path=ppt/notesSlides/_rels/notesSlide79.xml.rels>&#65279;<?xml version="1.0" encoding="utf-8"?><Relationships xmlns="http://schemas.openxmlformats.org/package/2006/relationships"><Relationship Type="http://schemas.openxmlformats.org/officeDocument/2006/relationships/slide" Target="/ppt/slides/slide79.xml" Id="Re4496ca7e4c349bc" /><Relationship Type="http://schemas.openxmlformats.org/officeDocument/2006/relationships/notesMaster" Target="/ppt/notesMasters/notesMaster1.xml" Id="R9422879014fa46e3" /></Relationships>
</file>

<file path=ppt/notesSlides/_rels/notesSlide80.xml.rels>&#65279;<?xml version="1.0" encoding="utf-8"?><Relationships xmlns="http://schemas.openxmlformats.org/package/2006/relationships"><Relationship Type="http://schemas.openxmlformats.org/officeDocument/2006/relationships/slide" Target="/ppt/slides/slide80.xml" Id="R003276da55174b1a" /><Relationship Type="http://schemas.openxmlformats.org/officeDocument/2006/relationships/notesMaster" Target="/ppt/notesMasters/notesMaster1.xml" Id="R6770b742c120464c" /></Relationships>
</file>

<file path=ppt/notesSlides/_rels/notesSlide81.xml.rels>&#65279;<?xml version="1.0" encoding="utf-8"?><Relationships xmlns="http://schemas.openxmlformats.org/package/2006/relationships"><Relationship Type="http://schemas.openxmlformats.org/officeDocument/2006/relationships/slide" Target="/ppt/slides/slide81.xml" Id="R5fa84e3a02c44e26" /><Relationship Type="http://schemas.openxmlformats.org/officeDocument/2006/relationships/notesMaster" Target="/ppt/notesMasters/notesMaster1.xml" Id="Ref2f42ae653b4938" /></Relationships>
</file>

<file path=ppt/notesSlides/_rels/notesSlide82.xml.rels>&#65279;<?xml version="1.0" encoding="utf-8"?><Relationships xmlns="http://schemas.openxmlformats.org/package/2006/relationships"><Relationship Type="http://schemas.openxmlformats.org/officeDocument/2006/relationships/slide" Target="/ppt/slides/slide82.xml" Id="R248b13d08d9346b7" /><Relationship Type="http://schemas.openxmlformats.org/officeDocument/2006/relationships/notesMaster" Target="/ppt/notesMasters/notesMaster1.xml" Id="R1523743d1bea4eb0" /></Relationships>
</file>

<file path=ppt/notesSlides/_rels/notesSlide83.xml.rels>&#65279;<?xml version="1.0" encoding="utf-8"?><Relationships xmlns="http://schemas.openxmlformats.org/package/2006/relationships"><Relationship Type="http://schemas.openxmlformats.org/officeDocument/2006/relationships/slide" Target="/ppt/slides/slide83.xml" Id="R22c1ad0c449148a6" /><Relationship Type="http://schemas.openxmlformats.org/officeDocument/2006/relationships/notesMaster" Target="/ppt/notesMasters/notesMaster1.xml" Id="R7e042339d6484bba" /></Relationships>
</file>

<file path=ppt/notesSlides/_rels/notesSlide84.xml.rels>&#65279;<?xml version="1.0" encoding="utf-8"?><Relationships xmlns="http://schemas.openxmlformats.org/package/2006/relationships"><Relationship Type="http://schemas.openxmlformats.org/officeDocument/2006/relationships/slide" Target="/ppt/slides/slide84.xml" Id="R6c7bf7615a704a38" /><Relationship Type="http://schemas.openxmlformats.org/officeDocument/2006/relationships/notesMaster" Target="/ppt/notesMasters/notesMaster1.xml" Id="Re9f626ace0ff4965" /></Relationships>
</file>

<file path=ppt/notesSlides/_rels/notesSlide85.xml.rels>&#65279;<?xml version="1.0" encoding="utf-8"?><Relationships xmlns="http://schemas.openxmlformats.org/package/2006/relationships"><Relationship Type="http://schemas.openxmlformats.org/officeDocument/2006/relationships/slide" Target="/ppt/slides/slide85.xml" Id="R31873c8e03444774" /><Relationship Type="http://schemas.openxmlformats.org/officeDocument/2006/relationships/notesMaster" Target="/ppt/notesMasters/notesMaster1.xml" Id="Refa30e572ed04beb" /></Relationships>
</file>

<file path=ppt/notesSlides/_rels/notesSlide86.xml.rels>&#65279;<?xml version="1.0" encoding="utf-8"?><Relationships xmlns="http://schemas.openxmlformats.org/package/2006/relationships"><Relationship Type="http://schemas.openxmlformats.org/officeDocument/2006/relationships/slide" Target="/ppt/slides/slide86.xml" Id="R1095f87851cf4ee6" /><Relationship Type="http://schemas.openxmlformats.org/officeDocument/2006/relationships/notesMaster" Target="/ppt/notesMasters/notesMaster1.xml" Id="R3e9b5c3340074df6" /></Relationships>
</file>

<file path=ppt/notesSlides/_rels/notesSlide87.xml.rels>&#65279;<?xml version="1.0" encoding="utf-8"?><Relationships xmlns="http://schemas.openxmlformats.org/package/2006/relationships"><Relationship Type="http://schemas.openxmlformats.org/officeDocument/2006/relationships/slide" Target="/ppt/slides/slide87.xml" Id="Re00b580781c74e7c" /><Relationship Type="http://schemas.openxmlformats.org/officeDocument/2006/relationships/notesMaster" Target="/ppt/notesMasters/notesMaster1.xml" Id="Rea0b9bb8de774520" /></Relationships>
</file>

<file path=ppt/notesSlides/_rels/notesSlide88.xml.rels>&#65279;<?xml version="1.0" encoding="utf-8"?><Relationships xmlns="http://schemas.openxmlformats.org/package/2006/relationships"><Relationship Type="http://schemas.openxmlformats.org/officeDocument/2006/relationships/slide" Target="/ppt/slides/slide88.xml" Id="R71405fc9ebc64936" /><Relationship Type="http://schemas.openxmlformats.org/officeDocument/2006/relationships/notesMaster" Target="/ppt/notesMasters/notesMaster1.xml" Id="R9bd4f375df3143c3" /></Relationships>
</file>

<file path=ppt/notesSlides/_rels/notesSlide89.xml.rels>&#65279;<?xml version="1.0" encoding="utf-8"?><Relationships xmlns="http://schemas.openxmlformats.org/package/2006/relationships"><Relationship Type="http://schemas.openxmlformats.org/officeDocument/2006/relationships/slide" Target="/ppt/slides/slide89.xml" Id="R3c36e7e49e0e48f0" /><Relationship Type="http://schemas.openxmlformats.org/officeDocument/2006/relationships/notesMaster" Target="/ppt/notesMasters/notesMaster1.xml" Id="Rf0097d8c72fa423f" /></Relationships>
</file>

<file path=ppt/notesSlides/_rels/notesSlide90.xml.rels>&#65279;<?xml version="1.0" encoding="utf-8"?><Relationships xmlns="http://schemas.openxmlformats.org/package/2006/relationships"><Relationship Type="http://schemas.openxmlformats.org/officeDocument/2006/relationships/slide" Target="/ppt/slides/slide90.xml" Id="Ra1f72eea5bc948b0" /><Relationship Type="http://schemas.openxmlformats.org/officeDocument/2006/relationships/notesMaster" Target="/ppt/notesMasters/notesMaster1.xml" Id="Rb7a4342044e14cd7" /></Relationships>
</file>

<file path=ppt/notesSlides/_rels/notesSlide91.xml.rels>&#65279;<?xml version="1.0" encoding="utf-8"?><Relationships xmlns="http://schemas.openxmlformats.org/package/2006/relationships"><Relationship Type="http://schemas.openxmlformats.org/officeDocument/2006/relationships/slide" Target="/ppt/slides/slide91.xml" Id="Rcf1b077caf104f56" /><Relationship Type="http://schemas.openxmlformats.org/officeDocument/2006/relationships/notesMaster" Target="/ppt/notesMasters/notesMaster1.xml" Id="Rd42b07af0c9b4a84" /></Relationships>
</file>

<file path=ppt/notesSlides/_rels/notesSlide92.xml.rels>&#65279;<?xml version="1.0" encoding="utf-8"?><Relationships xmlns="http://schemas.openxmlformats.org/package/2006/relationships"><Relationship Type="http://schemas.openxmlformats.org/officeDocument/2006/relationships/slide" Target="/ppt/slides/slide92.xml" Id="Ra7c8ad394b1444c5" /><Relationship Type="http://schemas.openxmlformats.org/officeDocument/2006/relationships/notesMaster" Target="/ppt/notesMasters/notesMaster1.xml" Id="Red6a47b2ee874e86" /></Relationships>
</file>

<file path=ppt/notesSlides/_rels/notesSlide93.xml.rels>&#65279;<?xml version="1.0" encoding="utf-8"?><Relationships xmlns="http://schemas.openxmlformats.org/package/2006/relationships"><Relationship Type="http://schemas.openxmlformats.org/officeDocument/2006/relationships/slide" Target="/ppt/slides/slide93.xml" Id="R60df13b2e2aa4a0d" /><Relationship Type="http://schemas.openxmlformats.org/officeDocument/2006/relationships/notesMaster" Target="/ppt/notesMasters/notesMaster1.xml" Id="R81a98aa022fe434a" /></Relationships>
</file>

<file path=ppt/notesSlides/_rels/notesSlide94.xml.rels>&#65279;<?xml version="1.0" encoding="utf-8"?><Relationships xmlns="http://schemas.openxmlformats.org/package/2006/relationships"><Relationship Type="http://schemas.openxmlformats.org/officeDocument/2006/relationships/slide" Target="/ppt/slides/slide94.xml" Id="Rd17a85f8ce114ef6" /><Relationship Type="http://schemas.openxmlformats.org/officeDocument/2006/relationships/notesMaster" Target="/ppt/notesMasters/notesMaster1.xml" Id="R8305de2542cf480d" /></Relationships>
</file>

<file path=ppt/notesSlides/_rels/notesSlide95.xml.rels>&#65279;<?xml version="1.0" encoding="utf-8"?><Relationships xmlns="http://schemas.openxmlformats.org/package/2006/relationships"><Relationship Type="http://schemas.openxmlformats.org/officeDocument/2006/relationships/slide" Target="/ppt/slides/slide95.xml" Id="R7a5fa32a5e584264" /><Relationship Type="http://schemas.openxmlformats.org/officeDocument/2006/relationships/notesMaster" Target="/ppt/notesMasters/notesMaster1.xml" Id="R9b65eb0b7f234e8e" /></Relationships>
</file>

<file path=ppt/notesSlides/_rels/notesSlide96.xml.rels>&#65279;<?xml version="1.0" encoding="utf-8"?><Relationships xmlns="http://schemas.openxmlformats.org/package/2006/relationships"><Relationship Type="http://schemas.openxmlformats.org/officeDocument/2006/relationships/slide" Target="/ppt/slides/slide96.xml" Id="R7b08cad92d724d41" /><Relationship Type="http://schemas.openxmlformats.org/officeDocument/2006/relationships/notesMaster" Target="/ppt/notesMasters/notesMaster1.xml" Id="Ra64fb76b6ac344ec" /></Relationships>
</file>

<file path=ppt/notesSlides/_rels/notesSlide97.xml.rels>&#65279;<?xml version="1.0" encoding="utf-8"?><Relationships xmlns="http://schemas.openxmlformats.org/package/2006/relationships"><Relationship Type="http://schemas.openxmlformats.org/officeDocument/2006/relationships/slide" Target="/ppt/slides/slide97.xml" Id="Rdb3b8b1c5c234df9" /><Relationship Type="http://schemas.openxmlformats.org/officeDocument/2006/relationships/notesMaster" Target="/ppt/notesMasters/notesMaster1.xml" Id="R543929a2b59b47dd" /></Relationships>
</file>

<file path=ppt/notesSlides/_rels/notesSlide98.xml.rels>&#65279;<?xml version="1.0" encoding="utf-8"?><Relationships xmlns="http://schemas.openxmlformats.org/package/2006/relationships"><Relationship Type="http://schemas.openxmlformats.org/officeDocument/2006/relationships/slide" Target="/ppt/slides/slide98.xml" Id="R07d2b9b4bd0a4374" /><Relationship Type="http://schemas.openxmlformats.org/officeDocument/2006/relationships/notesMaster" Target="/ppt/notesMasters/notesMaster1.xml" Id="Ra9f29326521e4199" /></Relationships>
</file>

<file path=ppt/notesSlides/_rels/notesSlide99.xml.rels>&#65279;<?xml version="1.0" encoding="utf-8"?><Relationships xmlns="http://schemas.openxmlformats.org/package/2006/relationships"><Relationship Type="http://schemas.openxmlformats.org/officeDocument/2006/relationships/slide" Target="/ppt/slides/slide99.xml" Id="Rda5dc3a28af048ce" /><Relationship Type="http://schemas.openxmlformats.org/officeDocument/2006/relationships/notesMaster" Target="/ppt/notesMasters/notesMaster1.xml" Id="R262c5717ccab447f" /></Relationships>
</file>

<file path=ppt/notesSlides/_rels/notesSlide100.xml.rels>&#65279;<?xml version="1.0" encoding="utf-8"?><Relationships xmlns="http://schemas.openxmlformats.org/package/2006/relationships"><Relationship Type="http://schemas.openxmlformats.org/officeDocument/2006/relationships/slide" Target="/ppt/slides/slide100.xml" Id="Ra8a27072e20b4cc6" /><Relationship Type="http://schemas.openxmlformats.org/officeDocument/2006/relationships/notesMaster" Target="/ppt/notesMasters/notesMaster1.xml" Id="R9436e5d70f3342f7" /></Relationships>
</file>

<file path=ppt/notesSlides/_rels/notesSlide101.xml.rels>&#65279;<?xml version="1.0" encoding="utf-8"?><Relationships xmlns="http://schemas.openxmlformats.org/package/2006/relationships"><Relationship Type="http://schemas.openxmlformats.org/officeDocument/2006/relationships/slide" Target="/ppt/slides/slide101.xml" Id="R8989a083da564545" /><Relationship Type="http://schemas.openxmlformats.org/officeDocument/2006/relationships/notesMaster" Target="/ppt/notesMasters/notesMaster1.xml" Id="R5b68cf830c274fc3" /></Relationships>
</file>

<file path=ppt/notesSlides/_rels/notesSlide102.xml.rels>&#65279;<?xml version="1.0" encoding="utf-8"?><Relationships xmlns="http://schemas.openxmlformats.org/package/2006/relationships"><Relationship Type="http://schemas.openxmlformats.org/officeDocument/2006/relationships/slide" Target="/ppt/slides/slide102.xml" Id="Re1910968639943ce" /><Relationship Type="http://schemas.openxmlformats.org/officeDocument/2006/relationships/notesMaster" Target="/ppt/notesMasters/notesMaster1.xml" Id="R125065c0ac1e4dc0" /></Relationships>
</file>

<file path=ppt/notesSlides/_rels/notesSlide103.xml.rels>&#65279;<?xml version="1.0" encoding="utf-8"?><Relationships xmlns="http://schemas.openxmlformats.org/package/2006/relationships"><Relationship Type="http://schemas.openxmlformats.org/officeDocument/2006/relationships/slide" Target="/ppt/slides/slide103.xml" Id="Rc9cf51912b2444d5" /><Relationship Type="http://schemas.openxmlformats.org/officeDocument/2006/relationships/notesMaster" Target="/ppt/notesMasters/notesMaster1.xml" Id="R9f578bf137ec41ff" /></Relationships>
</file>

<file path=ppt/notesSlides/_rels/notesSlide104.xml.rels>&#65279;<?xml version="1.0" encoding="utf-8"?><Relationships xmlns="http://schemas.openxmlformats.org/package/2006/relationships"><Relationship Type="http://schemas.openxmlformats.org/officeDocument/2006/relationships/slide" Target="/ppt/slides/slide104.xml" Id="Rbb32b36d2eca4ce6" /><Relationship Type="http://schemas.openxmlformats.org/officeDocument/2006/relationships/notesMaster" Target="/ppt/notesMasters/notesMaster1.xml" Id="R9af5b0f5a490490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outputs/2026-10-30/lesson.md</a:t>
            </a:r>
          </a:p>
          <a:p xmlns:a="http://schemas.openxmlformats.org/drawingml/2006/main">
            <a:r>
              <a:t/>
            </a:r>
          </a:p>
          <a:p xmlns:a="http://schemas.openxmlformats.org/drawingml/2006/main">
            <a:r>
              <a:t>2026-10-30 · 처음 시작</a:t>
            </a:r>
          </a:p>
          <a:p xmlns:a="http://schemas.openxmlformats.org/drawingml/2006/main">
            <a:r>
              <a:t/>
            </a:r>
          </a:p>
          <a:p xmlns:a="http://schemas.openxmlformats.org/drawingml/2006/main">
            <a:r>
              <a:t>개인 또는 팀 역할로 같은 활동을 수행할 수 있습니다. 팀원 수가 정해지지 않았으므로 역할은 이름 대신 기능으로 적습니다. 코드 비교는 Python3만 필요하며 실제 제품 구현이나 계정 개설은 하지 않습니다.</a:t>
            </a:r>
          </a:p>
          <a:p xmlns:a="http://schemas.openxmlformats.org/drawingml/2006/main">
            <a:r>
              <a:t/>
            </a:r>
          </a:p>
          <a:p xmlns:a="http://schemas.openxmlformats.org/drawingml/2006/main">
            <a:r>
              <a:t>파일과 실행</a:t>
            </a:r>
          </a:p>
          <a:p xmlns:a="http://schemas.openxmlformats.org/drawingml/2006/main">
            <a:r>
              <a:t/>
            </a:r>
          </a:p>
          <a:p xmlns:a="http://schemas.openxmlformats.org/drawingml/2006/main">
            <a:r>
              <a:t>`examples/course/data`는 읽을 입력, `code`는 완성 시연 코드, `work`는 나의 작성·수정 파일입니다. ZIP을 풀고 폴더 구조를 유지합니다. 터미널은 명령을 실행하는 창이며, 에디터는 파일 내용을 쓰고 저장하는 창입니다. 저장만으로 코드가 실행되지는 않습니다.</a:t>
            </a:r>
          </a:p>
          <a:p xmlns:a="http://schemas.openxmlformats.org/drawingml/2006/main">
            <a:r>
              <a:t/>
            </a:r>
          </a:p>
          <a:p xmlns:a="http://schemas.openxmlformats.org/drawingml/2006/main">
            <a:r>
              <a:t>1. [용어](glossary.md)에서 낯선 말을 확인합니다.</a:t>
            </a:r>
          </a:p>
          <a:p xmlns:a="http://schemas.openxmlformats.org/drawingml/2006/main">
            <a:r>
              <a:t>2. [교안](lesson.md)의 개념과 예를 읽습니다.</a:t>
            </a:r>
          </a:p>
          <a:p xmlns:a="http://schemas.openxmlformats.org/drawingml/2006/main">
            <a:r>
              <a:t>3. [활동지](practice-guide.md)의 A01부터 입력을 열고 work 양식에 기록합니다.</a:t>
            </a:r>
          </a:p>
          <a:p xmlns:a="http://schemas.openxmlformats.org/drawingml/2006/main">
            <a:r>
              <a:t>4. 코드 실행은 code/line-guide.md의 명령과 조건을 따릅니다.</a:t>
            </a:r>
          </a:p>
          <a:p xmlns:a="http://schemas.openxmlformats.org/drawingml/2006/main">
            <a:r>
              <a:t/>
            </a:r>
          </a:p>
          <a:p xmlns:a="http://schemas.openxmlformats.org/drawingml/2006/main">
            <a:r>
              <a:t>오늘 제출할 것: 사용자 불편, 만들 기능, 사용할 데이터, 시험 방법, 더 확인할 질문을 적은 기획서입니다.</a:t>
            </a:r>
          </a:p>
          <a:p xmlns:a="http://schemas.openxmlformats.org/drawingml/2006/main">
            <a:r>
              <a:t/>
            </a:r>
          </a:p>
          <a:p xmlns:a="http://schemas.openxmlformats.org/drawingml/2006/main">
            <a:r>
              <a:t>수업 전, 이 세 가지부터 확인하세요</a:t>
            </a:r>
          </a:p>
          <a:p xmlns:a="http://schemas.openxmlformats.org/drawingml/2006/main">
            <a:r>
              <a:t/>
            </a:r>
          </a:p>
          <a:p xmlns:a="http://schemas.openxmlformats.org/drawingml/2006/main">
            <a:r>
              <a:t>앞선 수업을 기억하지 못해도 아래 질문과 풀이부터 다시 읽으면 됩니다. 먼저 답을 적어 본 뒤 풀이와 비교하세요.</a:t>
            </a:r>
          </a:p>
          <a:p xmlns:a="http://schemas.openxmlformats.org/drawingml/2006/main">
            <a:r>
              <a:t/>
            </a:r>
          </a:p>
          <a:p xmlns:a="http://schemas.openxmlformats.org/drawingml/2006/main">
            <a:r>
              <a:t>문제와 기능</a:t>
            </a:r>
          </a:p>
          <a:p xmlns:a="http://schemas.openxmlformats.org/drawingml/2006/main">
            <a:r>
              <a:t/>
            </a:r>
          </a:p>
          <a:p xmlns:a="http://schemas.openxmlformats.org/drawingml/2006/main">
            <a:r>
              <a:t>질문: 앱을 만든다는 말이 사용자 문제인가요?</a:t>
            </a:r>
          </a:p>
          <a:p xmlns:a="http://schemas.openxmlformats.org/drawingml/2006/main">
            <a:r>
              <a:t/>
            </a:r>
          </a:p>
          <a:p xmlns:a="http://schemas.openxmlformats.org/drawingml/2006/main">
            <a:r>
              <a:t>풀이: 앱은 수단입니다. 누가 어떤 상황에서 어떤 일을 못 하고 있는지 먼저 구체적으로 적습니다.</a:t>
            </a:r>
          </a:p>
          <a:p xmlns:a="http://schemas.openxmlformats.org/drawingml/2006/main">
            <a:r>
              <a:t/>
            </a:r>
          </a:p>
          <a:p xmlns:a="http://schemas.openxmlformats.org/drawingml/2006/main">
            <a:r>
              <a:t>요구와 시험</a:t>
            </a:r>
          </a:p>
          <a:p xmlns:a="http://schemas.openxmlformats.org/drawingml/2006/main">
            <a:r>
              <a:t/>
            </a:r>
          </a:p>
          <a:p xmlns:a="http://schemas.openxmlformats.org/drawingml/2006/main">
            <a:r>
              <a:t>질문: 빠르게 동작한다는 요구를 어떻게 확인하나요?</a:t>
            </a:r>
          </a:p>
          <a:p xmlns:a="http://schemas.openxmlformats.org/drawingml/2006/main">
            <a:r>
              <a:t/>
            </a:r>
          </a:p>
          <a:p xmlns:a="http://schemas.openxmlformats.org/drawingml/2006/main">
            <a:r>
              <a:t>풀이: 입력 조건, 시간 기준, 측정 방법을 정해야 판정할 수 있습니다. 임의 기준은 기획 가정으로 기록합니다.</a:t>
            </a:r>
          </a:p>
          <a:p xmlns:a="http://schemas.openxmlformats.org/drawingml/2006/main">
            <a:r>
              <a:t/>
            </a:r>
          </a:p>
          <a:p xmlns:a="http://schemas.openxmlformats.org/drawingml/2006/main">
            <a:r>
              <a:t>가설과 사실</a:t>
            </a:r>
          </a:p>
          <a:p xmlns:a="http://schemas.openxmlformats.org/drawingml/2006/main">
            <a:r>
              <a:t/>
            </a:r>
          </a:p>
          <a:p xmlns:a="http://schemas.openxmlformats.org/drawingml/2006/main">
            <a:r>
              <a:t>질문: 가상 사용자 카드가 실제 현장 조사 결과인가요?</a:t>
            </a:r>
          </a:p>
          <a:p xmlns:a="http://schemas.openxmlformats.org/drawingml/2006/main">
            <a:r>
              <a:t/>
            </a:r>
          </a:p>
          <a:p xmlns:a="http://schemas.openxmlformats.org/drawingml/2006/main">
            <a:r>
              <a:t>풀이: 제공된 가상 자료는 연습용 근거입니다. 실제 인터뷰·관찰로 확인한 사실과 조사할 가설을 구별합니다.</a:t>
            </a:r>
          </a:p>
          <a:p xmlns:a="http://schemas.openxmlformats.org/drawingml/2006/main">
            <a:r>
              <a:t/>
            </a:r>
          </a:p>
          <a:p xmlns:a="http://schemas.openxmlformats.org/drawingml/2006/main">
            <a:r>
              <a:t>오늘의 수업과 복습을 나누는 방법</a:t>
            </a:r>
          </a:p>
          <a:p xmlns:a="http://schemas.openxmlformats.org/drawingml/2006/main">
            <a:r>
              <a:t/>
            </a:r>
          </a:p>
          <a:p xmlns:a="http://schemas.openxmlformats.org/drawingml/2006/main">
            <a:r>
              <a:t>수업은 10:00~10:50, 11:00~11:50, 13:00~13:50, 14:00~14:50, 15:00~15:50, 16:00~16:50입니다. 중식은 11:50~13:00이며 수업 사이에는 10분 쉽니다. 마지막 16:50~17:00은 휴식과 저장·퇴실 준비로 배치했습니다.</a:t>
            </a:r>
          </a:p>
          <a:p xmlns:a="http://schemas.openxmlformats.org/drawingml/2006/main">
            <a:r>
              <a:t/>
            </a:r>
          </a:p>
          <a:p xmlns:a="http://schemas.openxmlformats.org/drawingml/2006/main">
            <a:r>
              <a:t>| 교시 | 수업에서 먼저 확인할 활동 | 추가·복습 |</a:t>
            </a:r>
          </a:p>
          <a:p xmlns:a="http://schemas.openxmlformats.org/drawingml/2006/main">
            <a:r>
              <a:t>|---|---|---|</a:t>
            </a:r>
          </a:p>
          <a:p xmlns:a="http://schemas.openxmlformats.org/drawingml/2006/main">
            <a:r>
              <a:t>| 1 | A01, A02, A03 | 새 입력으로 한 번 더 확인 |</a:t>
            </a:r>
          </a:p>
          <a:p xmlns:a="http://schemas.openxmlformats.org/drawingml/2006/main">
            <a:r>
              <a:t>| 2 | A04, A05, A06 | 새 입력으로 한 번 더 확인 |</a:t>
            </a:r>
          </a:p>
          <a:p xmlns:a="http://schemas.openxmlformats.org/drawingml/2006/main">
            <a:r>
              <a:t>| 3 | A07, A08, A09 | 새 입력으로 한 번 더 확인 |</a:t>
            </a:r>
          </a:p>
          <a:p xmlns:a="http://schemas.openxmlformats.org/drawingml/2006/main">
            <a:r>
              <a:t>| 4 | A10, A11, A12 | 새 입력으로 한 번 더 확인 |</a:t>
            </a:r>
          </a:p>
          <a:p xmlns:a="http://schemas.openxmlformats.org/drawingml/2006/main">
            <a:r>
              <a:t>| 5 | A13, A14, A15 | 새 입력으로 한 번 더 확인 |</a:t>
            </a:r>
          </a:p>
          <a:p xmlns:a="http://schemas.openxmlformats.org/drawingml/2006/main">
            <a:r>
              <a:t>| 6 | A16, A17, A18 | 새 입력으로 한 번 더 확인 |</a:t>
            </a:r>
          </a:p>
          <a:p xmlns:a="http://schemas.openxmlformats.org/drawingml/2006/main">
            <a:r>
              <a:t/>
            </a:r>
          </a:p>
          <a:p xmlns:a="http://schemas.openxmlformats.org/drawingml/2006/main">
            <a:r>
              <a:t>교안의 쉬운 사례와 단계별 풀이를 먼저 읽고 필수 결과를 직접 만들어 봅니다. 새 독립 문제는 결과를 확인한 뒤 복습하거나 도전합니다. 모든 페이지를 같은 시간에 끝내라는 뜻은 아닙니다. 설치가 막혔을 때는 제공 출력과 수동 추적으로 개념을 확인하고, 직접 실행했는지는 따로 적습니다.</a:t>
            </a:r>
          </a:p>
          <a:p xmlns:a="http://schemas.openxmlformats.org/drawingml/2006/main">
            <a:r>
              <a:t/>
            </a:r>
          </a:p>
          <a:p xmlns:a="http://schemas.openxmlformats.org/drawingml/2006/main">
            <a:r>
              <a:t>학생 교안: https://zeusk302-png.github.io/kdigital-physical-ai/#/sessions/2026-10-30/lesson</a:t>
            </a:r>
          </a:p>
          <a:p xmlns:a="http://schemas.openxmlformats.org/drawingml/2006/main">
            <a:r>
              <a:t>실습: https://zeusk302-png.github.io/kdigital-physical-ai/#/sessions/2026-10-30/activity-A01</a:t>
            </a:r>
          </a:p>
          <a:p xmlns:a="http://schemas.openxmlformats.org/drawingml/2006/main">
            <a:r>
              <a:t>공식 자료: https://docs.python.org/3/library/csv.html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outputs/2026-10-30/beginner-start.md</a:t>
            </a:r>
          </a:p>
          <a:p xmlns:a="http://schemas.openxmlformats.org/drawingml/2006/main">
            <a:r>
              <a:t/>
            </a:r>
          </a:p>
          <a:p xmlns:a="http://schemas.openxmlformats.org/drawingml/2006/main">
            <a:r>
              <a:t>ZIP 파일은 먼저 일반 폴더에 풉니다. data에는 실습 자료, code에는 예제 코드, work에는 학생이 수정할 파일이 있습니다. 편집기에서 코드를 쓰고 저장한 뒤 터미널에서 실행 명령을 입력합니다. 저장만 해서는 실행되지 않습니다. 실행하기 전에 파일 이름과 확장자, 현재 폴더를 확인합니다. 실행이 막히면 오류 문구를 기록하고 강사 시연이나 제공된 결과를 보고 예상과 비교합니다.</a:t>
            </a:r>
          </a:p>
          <a:p xmlns:a="http://schemas.openxmlformats.org/drawingml/2006/main">
            <a:r>
              <a:t/>
            </a:r>
          </a:p>
          <a:p xmlns:a="http://schemas.openxmlformats.org/drawingml/2006/main">
            <a:r>
              <a:t>화면 예의 출처: D:\KDigital_PhysicalAI\.build\copyedited-ppt\spec-2026-10-30.json#slide-2</a:t>
            </a:r>
          </a:p>
          <a:p xmlns:a="http://schemas.openxmlformats.org/drawingml/2006/main">
            <a:r>
              <a:t/>
            </a:r>
          </a:p>
          <a:p xmlns:a="http://schemas.openxmlformats.org/drawingml/2006/main">
            <a:r>
              <a:t>학생 교안: https://zeusk302-png.github.io/kdigital-physical-ai/#/sessions/2026-10-30/lesson</a:t>
            </a:r>
          </a:p>
          <a:p xmlns:a="http://schemas.openxmlformats.org/drawingml/2006/main">
            <a:r>
              <a:t>실습: https://zeusk302-png.github.io/kdigital-physical-ai/#/sessions/2026-10-30/activity-A01</a:t>
            </a:r>
          </a:p>
          <a:p xmlns:a="http://schemas.openxmlformats.org/drawingml/2006/main">
            <a:r>
              <a:t>공식 자료: https://docs.python.org/3/library/csv.html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docs/schedule.md</a:t>
            </a:r>
          </a:p>
          <a:p xmlns:a="http://schemas.openxmlformats.org/drawingml/2006/main">
            <a:r>
              <a:t/>
            </a:r>
          </a:p>
          <a:p xmlns:a="http://schemas.openxmlformats.org/drawingml/2006/main">
            <a:r>
              <a:t>학생 교안: https://zeusk302-png.github.io/kdigital-physical-ai/#/sessions/2026-10-30/lesson</a:t>
            </a:r>
          </a:p>
          <a:p xmlns:a="http://schemas.openxmlformats.org/drawingml/2006/main">
            <a:r>
              <a:t>실습: https://zeusk302-png.github.io/kdigital-physical-ai/#/sessions/2026-10-30/activity-A01</a:t>
            </a:r>
          </a:p>
          <a:p xmlns:a="http://schemas.openxmlformats.org/drawingml/2006/main">
            <a:r>
              <a:t>공식 자료: https://docs.python.org/3/library/csv.html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outputs/2026-10-30/beginner-start.md</a:t>
            </a:r>
          </a:p>
          <a:p xmlns:a="http://schemas.openxmlformats.org/drawingml/2006/main">
            <a:r>
              <a:t/>
            </a:r>
          </a:p>
          <a:p xmlns:a="http://schemas.openxmlformats.org/drawingml/2006/main">
            <a:r>
              <a:t>설치·계정·장비문제는학습성취와분리한다. 개인실행·강사실행관찰·제공출력비교·수동추적중어느방법으로확인했는지기록한다.</a:t>
            </a:r>
          </a:p>
          <a:p xmlns:a="http://schemas.openxmlformats.org/drawingml/2006/main">
            <a:r>
              <a:t/>
            </a:r>
          </a:p>
          <a:p xmlns:a="http://schemas.openxmlformats.org/drawingml/2006/main">
            <a:r>
              <a:t>학생 교안: https://zeusk302-png.github.io/kdigital-physical-ai/#/sessions/2026-10-30/lesson</a:t>
            </a:r>
          </a:p>
          <a:p xmlns:a="http://schemas.openxmlformats.org/drawingml/2006/main">
            <a:r>
              <a:t>실습: https://zeusk302-png.github.io/kdigital-physical-ai/#/sessions/2026-10-30/activity-A01</a:t>
            </a:r>
          </a:p>
          <a:p xmlns:a="http://schemas.openxmlformats.org/drawingml/2006/main">
            <a:r>
              <a:t>공식 자료: https://docs.python.org/3/library/csv.html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outputs/2026-10-30/lesson.md</a:t>
            </a:r>
          </a:p>
          <a:p xmlns:a="http://schemas.openxmlformats.org/drawingml/2006/main">
            <a:r>
              <a:t>1교시 필수 개념 보충 · 사용자·문제·가설을 서로 다른 문장으로 쓰기</a:t>
            </a:r>
          </a:p>
          <a:p xmlns:a="http://schemas.openxmlformats.org/drawingml/2006/main">
            <a:r>
              <a:t/>
            </a:r>
          </a:p>
          <a:p xmlns:a="http://schemas.openxmlformats.org/drawingml/2006/main">
            <a:r>
              <a:t>실무 상황과 원리</a:t>
            </a:r>
          </a:p>
          <a:p xmlns:a="http://schemas.openxmlformats.org/drawingml/2006/main">
            <a:r>
              <a:t/>
            </a:r>
          </a:p>
          <a:p xmlns:a="http://schemas.openxmlformats.org/drawingml/2006/main">
            <a:r>
              <a:t>실습실 담당자는 마감 때 대여 장부를 여러 번 확인합니다. 학생은 물건을 반납했는데 담당자는 기록을 찾지 못합니다. 여기서 “AI 카메라 만들기”를 문제라고 쓰면 왜 필요한지 알 수 없습니다. 문제는 특정 사용자가 특정 상황에서 겪는 어려움이고 기능은 그 어려움을 줄이기 위해 선택한 수단입니다.</a:t>
            </a:r>
          </a:p>
          <a:p xmlns:a="http://schemas.openxmlformats.org/drawingml/2006/main">
            <a:r>
              <a:t/>
            </a:r>
          </a:p>
          <a:p xmlns:a="http://schemas.openxmlformats.org/drawingml/2006/main">
            <a:r>
              <a:t>직접 사용자는 마감 전에 미확인 기록을 찾는 담당자로 정합니다. 학생은 기록에 영향을 주는 참여자, 시설 담당자는 설치 조건을 결정하는 이해관계자입니다. 모든 역할의 요구를 한 화면에 넣기 전에 누구의 어떤 결정을 먼저 돕는지 정합니다. 결과물은 검토 가능한 기획서이고, 반납 확인 시간 감소는 구현 후 현장에서 측정할 효과입니다. 문서 작성으로 효과가 발생했다고 보고하지 않습니다.</a:t>
            </a:r>
          </a:p>
          <a:p xmlns:a="http://schemas.openxmlformats.org/drawingml/2006/main">
            <a:r>
              <a:t/>
            </a:r>
          </a:p>
          <a:p xmlns:a="http://schemas.openxmlformats.org/drawingml/2006/main">
            <a:r>
              <a:t>가상 근거 E01은 20건 중 기록 지연 4건, E02는 미확인 목록이 필요하다는 문장입니다. 4÷20×100=20%는 그 가상 표본의 비율입니다. 관찰은 자료에 적힌 4건, 해석은 기록 확인이 어려울 수 있다는 설명, 가설은 미확인 목록을 만들면 확인 시간이 줄어든다는 시험할 주장입니다. 원인이 장비 부족인지 기록 습관인지 이 표만으로 알 수 없습니다. 완성 문제 문장은 “담당자가 마감 때 미확인 대여를 찾으려고 전체 기록을 다시 읽는다”입니다. 가설 문장은 “미확인만 모아 보여 주면 찾는 시간이 줄어든다”입니다. 확인 질문은 현재 확인 절차, 지연 원인, 필요한 필드와 측정 방법을 묻습니다. 가상 인터뷰를 실제 기관 요구로 인용하지 않습니다.</a:t>
            </a:r>
          </a:p>
          <a:p xmlns:a="http://schemas.openxmlformats.org/drawingml/2006/main">
            <a:r>
              <a:t/>
            </a:r>
          </a:p>
          <a:p xmlns:a="http://schemas.openxmlformats.org/drawingml/2006/main">
            <a:r>
              <a:t>다른 사례로 연습하기</a:t>
            </a:r>
          </a:p>
          <a:p xmlns:a="http://schemas.openxmlformats.org/drawingml/2006/main">
            <a:r>
              <a:t/>
            </a:r>
          </a:p>
          <a:p xmlns:a="http://schemas.openxmlformats.org/drawingml/2006/main">
            <a:r>
              <a:t>복습 문제: 식당 재고 담당자가 품절 목록을 늦게 확인하는 새 상황에서 사용자, 문제, 기능 후보, 시험할 가설을 서로 다른 네 문장으로 직접 작성하세요.</a:t>
            </a:r>
          </a:p>
          <a:p xmlns:a="http://schemas.openxmlformats.org/drawingml/2006/main">
            <a:r>
              <a:t/>
            </a:r>
          </a:p>
          <a:p xmlns:a="http://schemas.openxmlformats.org/drawingml/2006/main">
            <a:r>
              <a:t>풀이와 주의할 점</a:t>
            </a:r>
          </a:p>
          <a:p xmlns:a="http://schemas.openxmlformats.org/drawingml/2006/main">
            <a:r>
              <a:t/>
            </a:r>
          </a:p>
          <a:p xmlns:a="http://schemas.openxmlformats.org/drawingml/2006/main">
            <a:r>
              <a:t>사용자는 재고 담당자, 문제는 확인 지연, 기능 후보는 부족 항목 목록, 가설은 목록이 확인 시간을 줄인다는 주장입니다. “AI를 안 쓰는 것이 문제”라고 쓰거나 아직 측정하지 않은 시간 감소를 관찰 사실로 쓰면 오답입니다.</a:t>
            </a:r>
          </a:p>
          <a:p xmlns:a="http://schemas.openxmlformats.org/drawingml/2006/main">
            <a:r>
              <a:t/>
            </a:r>
          </a:p>
          <a:p xmlns:a="http://schemas.openxmlformats.org/drawingml/2006/main">
            <a:r>
              <a:t>확인 질문과 답</a:t>
            </a:r>
          </a:p>
          <a:p xmlns:a="http://schemas.openxmlformats.org/drawingml/2006/main">
            <a:r>
              <a:t/>
            </a:r>
          </a:p>
          <a:p xmlns:a="http://schemas.openxmlformats.org/drawingml/2006/main">
            <a:r>
              <a:t>1. 관찰과 가설의 차이는? → 적힌 사실과 시험할 주장입니다.</a:t>
            </a:r>
          </a:p>
          <a:p xmlns:a="http://schemas.openxmlformats.org/drawingml/2006/main">
            <a:r>
              <a:t>2. 20%의 범위는? → 제공된 가상 표본입니다.</a:t>
            </a:r>
          </a:p>
          <a:p xmlns:a="http://schemas.openxmlformats.org/drawingml/2006/main">
            <a:r>
              <a:t>3. 기획서 완료가 효과 검증인가요? → 아닙니다.</a:t>
            </a:r>
          </a:p>
          <a:p xmlns:a="http://schemas.openxmlformats.org/drawingml/2006/main">
            <a:r>
              <a:t>먼저 예제를 보여 준 뒤 함께 따라 한다. 조건 하나를 바꿔 예상 결과와 실제 결과를 비교한다. 학생에게 값이 바뀐 이유를 물어본다. 복습 문제는 기본 실습을 마친 뒤 선택한다.</a:t>
            </a:r>
          </a:p>
          <a:p xmlns:a="http://schemas.openxmlformats.org/drawingml/2006/main">
            <a:r>
              <a:t/>
            </a:r>
          </a:p>
          <a:p xmlns:a="http://schemas.openxmlformats.org/drawingml/2006/main">
            <a:r>
              <a:t>학생 교안: https://zeusk302-png.github.io/kdigital-physical-ai/#/sessions/2026-10-30/lesson</a:t>
            </a:r>
          </a:p>
          <a:p xmlns:a="http://schemas.openxmlformats.org/drawingml/2006/main">
            <a:r>
              <a:t>실습: https://zeusk302-png.github.io/kdigital-physical-ai/#/sessions/2026-10-30/activity-A01</a:t>
            </a:r>
          </a:p>
          <a:p xmlns:a="http://schemas.openxmlformats.org/drawingml/2006/main">
            <a:r>
              <a:t>공식 자료: https://docs.python.org/3/tutorial/introduction.html#lists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outputs/2026-10-30/lesson.md</a:t>
            </a:r>
          </a:p>
          <a:p xmlns:a="http://schemas.openxmlformats.org/drawingml/2006/main">
            <a:r>
              <a:t>슬라이드 내용:</a:t>
            </a:r>
          </a:p>
          <a:p xmlns:a="http://schemas.openxmlformats.org/drawingml/2006/main">
            <a:r>
              <a:t>마감 전에 미확인 기록을 찾는 담당자</a:t>
            </a:r>
          </a:p>
          <a:p xmlns:a="http://schemas.openxmlformats.org/drawingml/2006/main">
            <a:r>
              <a:t>학생은 반납하고, 시설 담당자는 설치 조건을 확인합니다.</a:t>
            </a:r>
          </a:p>
          <a:p xmlns:a="http://schemas.openxmlformats.org/drawingml/2006/main">
            <a:r>
              <a:t>직접 사용자는 마감 전에 미확인 기록을 찾는 담당자로 정합니다. 학생은 기록에 영향을 주는 참여자, 시설 담당자는 설치 조건을 결정하는 이해관계자입니다. 모든 역할의 요구를 한 화면에 넣기 전에 누구의 어떤 결정을 먼저 돕는지 정합니다. 결과물은 검토 가능한 기획서이고, 반납 확인 시간 감소는 구현 후 현장에서 측정할 효과입니다. 문서 작성으로 효과가 발생했다고 보고하지 않습니다.</a:t>
            </a:r>
          </a:p>
          <a:p xmlns:a="http://schemas.openxmlformats.org/drawingml/2006/main">
            <a:r>
              <a:t>예제 자료를 열어 설명한 값이나 항목을 함께 찾는다.</a:t>
            </a:r>
          </a:p>
          <a:p xmlns:a="http://schemas.openxmlformats.org/drawingml/2006/main">
            <a:r>
              <a:t/>
            </a:r>
          </a:p>
          <a:p xmlns:a="http://schemas.openxmlformats.org/drawingml/2006/main">
            <a:r>
              <a:t>화면 예의 출처: D:\KDigital_PhysicalAI\.build\copyedited-ppt\spec-2026-10-30.json#slide-6</a:t>
            </a:r>
          </a:p>
          <a:p xmlns:a="http://schemas.openxmlformats.org/drawingml/2006/main">
            <a:r>
              <a:t/>
            </a:r>
          </a:p>
          <a:p xmlns:a="http://schemas.openxmlformats.org/drawingml/2006/main">
            <a:r>
              <a:t>학생 교안: https://zeusk302-png.github.io/kdigital-physical-ai/#/sessions/2026-10-30/lesson</a:t>
            </a:r>
          </a:p>
          <a:p xmlns:a="http://schemas.openxmlformats.org/drawingml/2006/main">
            <a:r>
              <a:t>실습: https://zeusk302-png.github.io/kdigital-physical-ai/#/sessions/2026-10-30/activity-A01</a:t>
            </a:r>
          </a:p>
          <a:p xmlns:a="http://schemas.openxmlformats.org/drawingml/2006/main">
            <a:r>
              <a:t>공식 자료: https://docs.python.org/3/tutorial/introduction.html#lists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outputs/2026-10-30/lesson.md</a:t>
            </a:r>
          </a:p>
          <a:p xmlns:a="http://schemas.openxmlformats.org/drawingml/2006/main">
            <a:r>
              <a:t>슬라이드 내용:</a:t>
            </a:r>
          </a:p>
          <a:p xmlns:a="http://schemas.openxmlformats.org/drawingml/2006/main">
            <a:r>
              <a:t>문제: 기록을 찾느라 확인이 늦습니다.</a:t>
            </a:r>
          </a:p>
          <a:p xmlns:a="http://schemas.openxmlformats.org/drawingml/2006/main">
            <a:r>
              <a:t>기능 후보: 미확인 목록을 보여 줍니다.</a:t>
            </a:r>
          </a:p>
          <a:p xmlns:a="http://schemas.openxmlformats.org/drawingml/2006/main">
            <a:r>
              <a:t>가상 근거 E01은 20건 중 기록 지연 4건, E02는 미확인 목록이 필요하다는 문장입니다. 4÷20×100=20%는 그 가상 표본의 비율입니다. 관찰은 자료에 적힌 4건, 해석은 기록 확인이 어려울 수 있다는 설명, 가설은 미확인 목록을 만들면 확인 시간이 줄어든다는 시험할 주장입니다. 원인이 장비 부족인지 기록 습관인지 이 표만으로 알 수 없습니다. 완성 문제 문장은 “담당자가 마감 때 미확인 대여를 찾으려고 전체 기록을 다시 읽는다”입니다. 가설 문장은 “미확인만 모아 보여 주면 찾는 시간이 줄어든다”입니다. 확인 질문은 현재 확인 절차, 지연 원인, 필요한 필드와 측정 방법을 묻습니다. 가상 인터뷰를 실제 기관 요구로 인용하지 않습니다.</a:t>
            </a:r>
          </a:p>
          <a:p xmlns:a="http://schemas.openxmlformats.org/drawingml/2006/main">
            <a:r>
              <a:t>예제 자료를 열어 설명한 값이나 항목을 함께 찾는다.</a:t>
            </a:r>
          </a:p>
          <a:p xmlns:a="http://schemas.openxmlformats.org/drawingml/2006/main">
            <a:r>
              <a:t/>
            </a:r>
          </a:p>
          <a:p xmlns:a="http://schemas.openxmlformats.org/drawingml/2006/main">
            <a:r>
              <a:t>화면 예의 출처: D:\KDigital_PhysicalAI\.build\copyedited-ppt\spec-2026-10-30.json#slide-12</a:t>
            </a:r>
          </a:p>
          <a:p xmlns:a="http://schemas.openxmlformats.org/drawingml/2006/main">
            <a:r>
              <a:t/>
            </a:r>
          </a:p>
          <a:p xmlns:a="http://schemas.openxmlformats.org/drawingml/2006/main">
            <a:r>
              <a:t>학생 교안: https://zeusk302-png.github.io/kdigital-physical-ai/#/sessions/2026-10-30/lesson</a:t>
            </a:r>
          </a:p>
          <a:p xmlns:a="http://schemas.openxmlformats.org/drawingml/2006/main">
            <a:r>
              <a:t>실습: https://zeusk302-png.github.io/kdigital-physical-ai/#/sessions/2026-10-30/activity-A01</a:t>
            </a:r>
          </a:p>
          <a:p xmlns:a="http://schemas.openxmlformats.org/drawingml/2006/main">
            <a:r>
              <a:t>공식 자료: https://docs.python.org/3/tutorial/introduction.html#lists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outputs/2026-10-30/lesson.md</a:t>
            </a:r>
          </a:p>
          <a:p xmlns:a="http://schemas.openxmlformats.org/drawingml/2006/main">
            <a:r>
              <a:t>슬라이드 내용:</a:t>
            </a:r>
          </a:p>
          <a:p xmlns:a="http://schemas.openxmlformats.org/drawingml/2006/main">
            <a:r>
              <a:t>가상 대여 20건 중 기록 지연 4건</a:t>
            </a:r>
          </a:p>
          <a:p xmlns:a="http://schemas.openxmlformats.org/drawingml/2006/main">
            <a:r>
              <a:t>이 표본의 지연 비율은 20%입니다.</a:t>
            </a:r>
          </a:p>
          <a:p xmlns:a="http://schemas.openxmlformats.org/drawingml/2006/main">
            <a:r>
              <a:t>가상 근거 E01은 20건 중 기록 지연 4건, E02는 미확인 목록이 필요하다는 문장입니다. 4÷20×100=20%는 그 가상 표본의 비율입니다. 관찰은 자료에 적힌 4건, 해석은 기록 확인이 어려울 수 있다는 설명, 가설은 미확인 목록을 만들면 확인 시간이 줄어든다는 시험할 주장입니다. 원인이 장비 부족인지 기록 습관인지 이 표만으로 알 수 없습니다. 완성 문제 문장은 “담당자가 마감 때 미확인 대여를 찾으려고 전체 기록을 다시 읽는다”입니다. 가설 문장은 “미확인만 모아 보여 주면 찾는 시간이 줄어든다”입니다. 확인 질문은 현재 확인 절차, 지연 원인, 필요한 필드와 측정 방법을 묻습니다. 가상 인터뷰를 실제 기관 요구로 인용하지 않습니다.</a:t>
            </a:r>
          </a:p>
          <a:p xmlns:a="http://schemas.openxmlformats.org/drawingml/2006/main">
            <a:r>
              <a:t>예제 자료를 열어 설명한 값이나 항목을 함께 찾는다.</a:t>
            </a:r>
          </a:p>
          <a:p xmlns:a="http://schemas.openxmlformats.org/drawingml/2006/main">
            <a:r>
              <a:t/>
            </a:r>
          </a:p>
          <a:p xmlns:a="http://schemas.openxmlformats.org/drawingml/2006/main">
            <a:r>
              <a:t>화면 예의 출처: D:\KDigital_PhysicalAI\.build\copyedited-ppt\spec-2026-10-30.json#slide-13</a:t>
            </a:r>
          </a:p>
          <a:p xmlns:a="http://schemas.openxmlformats.org/drawingml/2006/main">
            <a:r>
              <a:t/>
            </a:r>
          </a:p>
          <a:p xmlns:a="http://schemas.openxmlformats.org/drawingml/2006/main">
            <a:r>
              <a:t>학생 교안: https://zeusk302-png.github.io/kdigital-physical-ai/#/sessions/2026-10-30/lesson</a:t>
            </a:r>
          </a:p>
          <a:p xmlns:a="http://schemas.openxmlformats.org/drawingml/2006/main">
            <a:r>
              <a:t>실습: https://zeusk302-png.github.io/kdigital-physical-ai/#/sessions/2026-10-30/activity-A03</a:t>
            </a:r>
          </a:p>
          <a:p xmlns:a="http://schemas.openxmlformats.org/drawingml/2006/main">
            <a:r>
              <a:t>공식 자료: https://docs.python.org/3/tutorial/introduction.html#lists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outputs/2026-10-30/lesson.md</a:t>
            </a:r>
          </a:p>
          <a:p xmlns:a="http://schemas.openxmlformats.org/drawingml/2006/main">
            <a:r>
              <a:t>슬라이드 내용:</a:t>
            </a:r>
          </a:p>
          <a:p xmlns:a="http://schemas.openxmlformats.org/drawingml/2006/main">
            <a:r>
              <a:t>기록 확인이 어려울 수 있습니다.</a:t>
            </a:r>
          </a:p>
          <a:p xmlns:a="http://schemas.openxmlformats.org/drawingml/2006/main">
            <a:r>
              <a:t>이 기록만으로는 반납 기록이 늦어진 원인을 알 수 없습니다.</a:t>
            </a:r>
          </a:p>
          <a:p xmlns:a="http://schemas.openxmlformats.org/drawingml/2006/main">
            <a:r>
              <a:t>가상 근거 E01은 20건 중 기록 지연 4건, E02는 미확인 목록이 필요하다는 문장입니다. 4÷20×100=20%는 그 가상 표본의 비율입니다. 관찰은 자료에 적힌 4건, 해석은 기록 확인이 어려울 수 있다는 설명, 가설은 미확인 목록을 만들면 확인 시간이 줄어든다는 시험할 주장입니다. 원인이 장비 부족인지 기록 습관인지 이 표만으로 알 수 없습니다. 완성 문제 문장은 “담당자가 마감 때 미확인 대여를 찾으려고 전체 기록을 다시 읽는다”입니다. 가설 문장은 “미확인만 모아 보여 주면 찾는 시간이 줄어든다”입니다. 확인 질문은 현재 확인 절차, 지연 원인, 필요한 필드와 측정 방법을 묻습니다. 가상 인터뷰를 실제 기관 요구로 인용하지 않습니다.</a:t>
            </a:r>
          </a:p>
          <a:p xmlns:a="http://schemas.openxmlformats.org/drawingml/2006/main">
            <a:r>
              <a:t>예제 자료를 열어 설명한 값이나 항목을 함께 찾는다.</a:t>
            </a:r>
          </a:p>
          <a:p xmlns:a="http://schemas.openxmlformats.org/drawingml/2006/main">
            <a:r>
              <a:t/>
            </a:r>
          </a:p>
          <a:p xmlns:a="http://schemas.openxmlformats.org/drawingml/2006/main">
            <a:r>
              <a:t>화면 예의 출처: D:\KDigital_PhysicalAI\.build\copyedited-ppt\spec-2026-10-30.json#slide-8</a:t>
            </a:r>
          </a:p>
          <a:p xmlns:a="http://schemas.openxmlformats.org/drawingml/2006/main">
            <a:r>
              <a:t/>
            </a:r>
          </a:p>
          <a:p xmlns:a="http://schemas.openxmlformats.org/drawingml/2006/main">
            <a:r>
              <a:t>학생 교안: https://zeusk302-png.github.io/kdigital-physical-ai/#/sessions/2026-10-30/lesson</a:t>
            </a:r>
          </a:p>
          <a:p xmlns:a="http://schemas.openxmlformats.org/drawingml/2006/main">
            <a:r>
              <a:t>실습: https://zeusk302-png.github.io/kdigital-physical-ai/#/sessions/2026-10-30/activity-A03</a:t>
            </a:r>
          </a:p>
          <a:p xmlns:a="http://schemas.openxmlformats.org/drawingml/2006/main">
            <a:r>
              <a:t>공식 자료: https://docs.python.org/3/tutorial/introduction.html#lists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outputs/2026-10-30/lesson.md</a:t>
            </a:r>
          </a:p>
          <a:p xmlns:a="http://schemas.openxmlformats.org/drawingml/2006/main">
            <a:r>
              <a:t>슬라이드 내용:</a:t>
            </a:r>
          </a:p>
          <a:p xmlns:a="http://schemas.openxmlformats.org/drawingml/2006/main">
            <a:r>
              <a:t>목록이 있으면 찾는 시간이 줄어들 것이다.</a:t>
            </a:r>
          </a:p>
          <a:p xmlns:a="http://schemas.openxmlformats.org/drawingml/2006/main">
            <a:r>
              <a:t>효과는 구현 후 현장에서 따로 확인합니다.</a:t>
            </a:r>
          </a:p>
          <a:p xmlns:a="http://schemas.openxmlformats.org/drawingml/2006/main">
            <a:r>
              <a:t>가상 근거 E01은 20건 중 기록 지연 4건, E02는 미확인 목록이 필요하다는 문장입니다. 4÷20×100=20%는 그 가상 표본의 비율입니다. 관찰은 자료에 적힌 4건, 해석은 기록 확인이 어려울 수 있다는 설명, 가설은 미확인 목록을 만들면 확인 시간이 줄어든다는 시험할 주장입니다. 원인이 장비 부족인지 기록 습관인지 이 표만으로 알 수 없습니다. 완성 문제 문장은 “담당자가 마감 때 미확인 대여를 찾으려고 전체 기록을 다시 읽는다”입니다. 가설 문장은 “미확인만 모아 보여 주면 찾는 시간이 줄어든다”입니다. 확인 질문은 현재 확인 절차, 지연 원인, 필요한 필드와 측정 방법을 묻습니다. 가상 인터뷰를 실제 기관 요구로 인용하지 않습니다.</a:t>
            </a:r>
          </a:p>
          <a:p xmlns:a="http://schemas.openxmlformats.org/drawingml/2006/main">
            <a:r>
              <a:t>예제 자료를 열어 설명한 값이나 항목을 함께 찾는다.</a:t>
            </a:r>
          </a:p>
          <a:p xmlns:a="http://schemas.openxmlformats.org/drawingml/2006/main">
            <a:r>
              <a:t/>
            </a:r>
          </a:p>
          <a:p xmlns:a="http://schemas.openxmlformats.org/drawingml/2006/main">
            <a:r>
              <a:t>화면 예의 출처: D:\KDigital_PhysicalAI\.build\copyedited-ppt\spec-2026-10-30.json#slide-8</a:t>
            </a:r>
          </a:p>
          <a:p xmlns:a="http://schemas.openxmlformats.org/drawingml/2006/main">
            <a:r>
              <a:t/>
            </a:r>
          </a:p>
          <a:p xmlns:a="http://schemas.openxmlformats.org/drawingml/2006/main">
            <a:r>
              <a:t>학생 교안: https://zeusk302-png.github.io/kdigital-physical-ai/#/sessions/2026-10-30/lesson</a:t>
            </a:r>
          </a:p>
          <a:p xmlns:a="http://schemas.openxmlformats.org/drawingml/2006/main">
            <a:r>
              <a:t>실습: https://zeusk302-png.github.io/kdigital-physical-ai/#/sessions/2026-10-30/activity-A03</a:t>
            </a:r>
          </a:p>
          <a:p xmlns:a="http://schemas.openxmlformats.org/drawingml/2006/main">
            <a:r>
              <a:t>공식 자료: https://docs.python.org/3/tutorial/introduction.html#lists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outputs/2026-10-30/lesson.md</a:t>
            </a:r>
          </a:p>
          <a:p xmlns:a="http://schemas.openxmlformats.org/drawingml/2006/main">
            <a:r>
              <a:t>슬라이드 내용:</a:t>
            </a:r>
          </a:p>
          <a:p xmlns:a="http://schemas.openxmlformats.org/drawingml/2006/main">
            <a:r>
              <a:t>오늘 작성할 문서: 프로젝트 기획서</a:t>
            </a:r>
          </a:p>
          <a:p xmlns:a="http://schemas.openxmlformats.org/drawingml/2006/main">
            <a:r>
              <a:t>확인 시간이 줄었는지는 프로그램을 만든 뒤 측정합니다.</a:t>
            </a:r>
          </a:p>
          <a:p xmlns:a="http://schemas.openxmlformats.org/drawingml/2006/main">
            <a:r>
              <a:t>직접 사용자는 마감 전에 미확인 기록을 찾는 담당자로 정합니다. 학생은 기록에 영향을 주는 참여자, 시설 담당자는 설치 조건을 결정하는 이해관계자입니다. 모든 역할의 요구를 한 화면에 넣기 전에 누구의 어떤 결정을 먼저 돕는지 정합니다. 결과물은 검토 가능한 기획서이고, 반납 확인 시간 감소는 구현 후 현장에서 측정할 효과입니다. 문서 작성으로 효과가 발생했다고 보고하지 않습니다.</a:t>
            </a:r>
          </a:p>
          <a:p xmlns:a="http://schemas.openxmlformats.org/drawingml/2006/main">
            <a:r>
              <a:t>예제 자료를 열어 설명한 값이나 항목을 함께 찾는다.</a:t>
            </a:r>
          </a:p>
          <a:p xmlns:a="http://schemas.openxmlformats.org/drawingml/2006/main">
            <a:r>
              <a:t/>
            </a:r>
          </a:p>
          <a:p xmlns:a="http://schemas.openxmlformats.org/drawingml/2006/main">
            <a:r>
              <a:t>화면 예의 출처: D:\KDigital_PhysicalAI\.build\copyedited-ppt\spec-2026-10-30.json#slide-8</a:t>
            </a:r>
          </a:p>
          <a:p xmlns:a="http://schemas.openxmlformats.org/drawingml/2006/main">
            <a:r>
              <a:t/>
            </a:r>
          </a:p>
          <a:p xmlns:a="http://schemas.openxmlformats.org/drawingml/2006/main">
            <a:r>
              <a:t>학생 교안: https://zeusk302-png.github.io/kdigital-physical-ai/#/sessions/2026-10-30/lesson</a:t>
            </a:r>
          </a:p>
          <a:p xmlns:a="http://schemas.openxmlformats.org/drawingml/2006/main">
            <a:r>
              <a:t>실습: https://zeusk302-png.github.io/kdigital-physical-ai/#/sessions/2026-10-30/activity-A03</a:t>
            </a:r>
          </a:p>
          <a:p xmlns:a="http://schemas.openxmlformats.org/drawingml/2006/main">
            <a:r>
              <a:t>공식 자료: https://docs.python.org/3/tutorial/introduction.html#lists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outputs/2026-10-30/lesson.md</a:t>
            </a:r>
          </a:p>
          <a:p xmlns:a="http://schemas.openxmlformats.org/drawingml/2006/main">
            <a:r>
              <a:t>슬라이드 내용:</a:t>
            </a:r>
          </a:p>
          <a:p xmlns:a="http://schemas.openxmlformats.org/drawingml/2006/main">
            <a:r>
              <a:t/>
            </a:r>
          </a:p>
          <a:p xmlns:a="http://schemas.openxmlformats.org/drawingml/2006/main">
            <a:r>
              <a:t>실습실 담당자는 마감 때 대여 장부를 여러 번 확인합니다. 학생은 물건을 반납했는데 담당자는 기록을 찾지 못합니다. 여기서 “AI 카메라 만들기”를 문제라고 쓰면 왜 필요한지 알 수 없습니다. 문제는 특정 사용자가 특정 상황에서 겪는 어려움이고 기능은 그 어려움을 줄이기 위해 선택한 수단입니다.</a:t>
            </a:r>
          </a:p>
          <a:p xmlns:a="http://schemas.openxmlformats.org/drawingml/2006/main">
            <a:r>
              <a:t>한 행을 입력과 기대 출력으로 이어 읽게 한다. 표의 값은 조건과 범위를 함께 확인한다.</a:t>
            </a:r>
          </a:p>
          <a:p xmlns:a="http://schemas.openxmlformats.org/drawingml/2006/main">
            <a:r>
              <a:t/>
            </a:r>
          </a:p>
          <a:p xmlns:a="http://schemas.openxmlformats.org/drawingml/2006/main">
            <a:r>
              <a:t>학생 교안: https://zeusk302-png.github.io/kdigital-physical-ai/#/sessions/2026-10-30/lesson</a:t>
            </a:r>
          </a:p>
          <a:p xmlns:a="http://schemas.openxmlformats.org/drawingml/2006/main">
            <a:r>
              <a:t>실습: https://zeusk302-png.github.io/kdigital-physical-ai/#/sessions/2026-10-30/activity-A03</a:t>
            </a:r>
          </a:p>
          <a:p xmlns:a="http://schemas.openxmlformats.org/drawingml/2006/main">
            <a:r>
              <a:t>공식 자료: https://docs.python.org/3/tutorial/introduction.html#lists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outputs/2026-10-30/lesson.md</a:t>
            </a:r>
          </a:p>
          <a:p xmlns:a="http://schemas.openxmlformats.org/drawingml/2006/main">
            <a:r>
              <a:t>슬라이드 내용:</a:t>
            </a:r>
          </a:p>
          <a:p xmlns:a="http://schemas.openxmlformats.org/drawingml/2006/main">
            <a:r>
              <a:t>관찰 4÷20×100 = 20%</a:t>
            </a:r>
          </a:p>
          <a:p xmlns:a="http://schemas.openxmlformats.org/drawingml/2006/main">
            <a:r>
              <a:t>원인과 개선 효과는 아직 모릅니다.</a:t>
            </a:r>
          </a:p>
          <a:p xmlns:a="http://schemas.openxmlformats.org/drawingml/2006/main">
            <a:r>
              <a:t>기획서를 완성해도 실제 효과를 알 수는 없습니다.</a:t>
            </a:r>
          </a:p>
          <a:p xmlns:a="http://schemas.openxmlformats.org/drawingml/2006/main">
            <a:r>
              <a:t>가상 근거 E01은 20건 중 기록 지연 4건, E02는 미확인 목록이 필요하다는 문장입니다. 4÷20×100=20%는 그 가상 표본의 비율입니다. 관찰은 자료에 적힌 4건, 해석은 기록 확인이 어려울 수 있다는 설명, 가설은 미확인 목록을 만들면 확인 시간이 줄어든다는 시험할 주장입니다. 원인이 장비 부족인지 기록 습관인지 이 표만으로 알 수 없습니다. 완성 문제 문장은 “담당자가 마감 때 미확인 대여를 찾으려고 전체 기록을 다시 읽는다”입니다. 가설 문장은 “미확인만 모아 보여 주면 찾는 시간이 줄어든다”입니다. 확인 질문은 현재 확인 절차, 지연 원인, 필요한 필드와 측정 방법을 묻습니다. 가상 인터뷰를 실제 기관 요구로 인용하지 않습니다.</a:t>
            </a:r>
          </a:p>
          <a:p xmlns:a="http://schemas.openxmlformats.org/drawingml/2006/main">
            <a:r>
              <a:t>예제 자료를 열어 설명한 값이나 항목을 함께 찾는다.</a:t>
            </a:r>
          </a:p>
          <a:p xmlns:a="http://schemas.openxmlformats.org/drawingml/2006/main">
            <a:r>
              <a:t/>
            </a:r>
          </a:p>
          <a:p xmlns:a="http://schemas.openxmlformats.org/drawingml/2006/main">
            <a:r>
              <a:t>학생 교안: https://zeusk302-png.github.io/kdigital-physical-ai/#/sessions/2026-10-30/lesson</a:t>
            </a:r>
          </a:p>
          <a:p xmlns:a="http://schemas.openxmlformats.org/drawingml/2006/main">
            <a:r>
              <a:t>실습: https://zeusk302-png.github.io/kdigital-physical-ai/#/sessions/2026-10-30/activity-A03</a:t>
            </a:r>
          </a:p>
          <a:p xmlns:a="http://schemas.openxmlformats.org/drawingml/2006/main">
            <a:r>
              <a:t>공식 자료: https://docs.python.org/3/tutorial/introduction.html#lists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outputs/2026-10-30/practice-guide.md</a:t>
            </a:r>
          </a:p>
          <a:p xmlns:a="http://schemas.openxmlformats.org/drawingml/2006/main">
            <a:r>
              <a:t>슬라이드 내용:</a:t>
            </a:r>
          </a:p>
          <a:p xmlns:a="http://schemas.openxmlformats.org/drawingml/2006/main">
            <a:r>
              <a:t>식당 재고 담당자가 품절을 늦게 확인합니다.</a:t>
            </a:r>
          </a:p>
          <a:p xmlns:a="http://schemas.openxmlformats.org/drawingml/2006/main">
            <a:r>
              <a:t>사용자·문제·기능·가설을 따로 쓰세요.</a:t>
            </a:r>
          </a:p>
          <a:p xmlns:a="http://schemas.openxmlformats.org/drawingml/2006/main">
            <a:r>
              <a:t>사용자는 재고 담당자, 문제는 확인 지연, 기능 후보는 부족 항목 목록, 가설은 목록이 확인 시간을 줄인다는 주장입니다. “AI를 안 쓰는 것이 문제”라고 쓰거나 아직 측정하지 않은 시간 감소를 관찰 사실로 쓰면 오답입니다.</a:t>
            </a:r>
          </a:p>
          <a:p xmlns:a="http://schemas.openxmlformats.org/drawingml/2006/main">
            <a:r>
              <a:t>학생이 예상한 결과와 이유를 먼저 듣고 풀이한다. 숫자뿐 아니라 단위, ID, 조건도 확인한다.</a:t>
            </a:r>
          </a:p>
          <a:p xmlns:a="http://schemas.openxmlformats.org/drawingml/2006/main">
            <a:r>
              <a:t/>
            </a:r>
          </a:p>
          <a:p xmlns:a="http://schemas.openxmlformats.org/drawingml/2006/main">
            <a:r>
              <a:t>학생 교안: https://zeusk302-png.github.io/kdigital-physical-ai/#/sessions/2026-10-30/lesson</a:t>
            </a:r>
          </a:p>
          <a:p xmlns:a="http://schemas.openxmlformats.org/drawingml/2006/main">
            <a:r>
              <a:t>실습: https://zeusk302-png.github.io/kdigital-physical-ai/#/sessions/2026-10-30/activity-A03</a:t>
            </a:r>
          </a:p>
          <a:p xmlns:a="http://schemas.openxmlformats.org/drawingml/2006/main">
            <a:r>
              <a:t>공식 자료: https://docs.python.org/3/tutorial/introduction.html#lists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outputs/2026-10-30/lesson.md</a:t>
            </a:r>
          </a:p>
          <a:p xmlns:a="http://schemas.openxmlformats.org/drawingml/2006/main">
            <a:r>
              <a:t>슬라이드 내용:</a:t>
            </a:r>
          </a:p>
          <a:p xmlns:a="http://schemas.openxmlformats.org/drawingml/2006/main">
            <a:r>
              <a:t>사용자: 재고 담당자 · 문제: 확인 지연</a:t>
            </a:r>
          </a:p>
          <a:p xmlns:a="http://schemas.openxmlformats.org/drawingml/2006/main">
            <a:r>
              <a:t>기능: 부족 목록 · 가설: 확인 시간 감소</a:t>
            </a:r>
          </a:p>
          <a:p xmlns:a="http://schemas.openxmlformats.org/drawingml/2006/main">
            <a:r>
              <a:t>측정하지 않은 효과를 사실로 쓰지 않습니다.</a:t>
            </a:r>
          </a:p>
          <a:p xmlns:a="http://schemas.openxmlformats.org/drawingml/2006/main">
            <a:r>
              <a:t>사용자는 재고 담당자, 문제는 확인 지연, 기능 후보는 부족 항목 목록, 가설은 목록이 확인 시간을 줄인다는 주장입니다. “AI를 안 쓰는 것이 문제”라고 쓰거나 아직 측정하지 않은 시간 감소를 관찰 사실로 쓰면 오답입니다.</a:t>
            </a:r>
          </a:p>
          <a:p xmlns:a="http://schemas.openxmlformats.org/drawingml/2006/main">
            <a:r>
              <a:t>예제 자료를 열어 설명한 값이나 항목을 함께 찾는다.</a:t>
            </a:r>
          </a:p>
          <a:p xmlns:a="http://schemas.openxmlformats.org/drawingml/2006/main">
            <a:r>
              <a:t/>
            </a:r>
          </a:p>
          <a:p xmlns:a="http://schemas.openxmlformats.org/drawingml/2006/main">
            <a:r>
              <a:t>학생 교안: https://zeusk302-png.github.io/kdigital-physical-ai/#/sessions/2026-10-30/lesson</a:t>
            </a:r>
          </a:p>
          <a:p xmlns:a="http://schemas.openxmlformats.org/drawingml/2006/main">
            <a:r>
              <a:t>실습: https://zeusk302-png.github.io/kdigital-physical-ai/#/sessions/2026-10-30/activity-A03</a:t>
            </a:r>
          </a:p>
          <a:p xmlns:a="http://schemas.openxmlformats.org/drawingml/2006/main">
            <a:r>
              <a:t>공식 자료: https://docs.python.org/3/tutorial/introduction.html#lists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outputs/2026-10-30/practice-guide.md</a:t>
            </a:r>
          </a:p>
          <a:p xmlns:a="http://schemas.openxmlformats.org/drawingml/2006/main">
            <a:r>
              <a:t>슬라이드 내용:</a:t>
            </a:r>
          </a:p>
          <a:p xmlns:a="http://schemas.openxmlformats.org/drawingml/2006/main">
            <a:r>
              <a:t>사용자를 학생으로 바꾸면</a:t>
            </a:r>
          </a:p>
          <a:p xmlns:a="http://schemas.openxmlformats.org/drawingml/2006/main">
            <a:r>
              <a:t>먼저 필요한 정보가 어떻게 달라질까요?</a:t>
            </a:r>
          </a:p>
          <a:p xmlns:a="http://schemas.openxmlformats.org/drawingml/2006/main">
            <a:r>
              <a:t>직접 사용자는 마감 전에 미확인 기록을 찾는 담당자로 정합니다. 학생은 기록에 영향을 주는 참여자, 시설 담당자는 설치 조건을 결정하는 이해관계자입니다. 모든 역할의 요구를 한 화면에 넣기 전에 누구의 어떤 결정을 먼저 돕는지 정합니다. 결과물은 검토 가능한 기획서이고, 반납 확인 시간 감소는 구현 후 현장에서 측정할 효과입니다. 문서 작성으로 효과가 발생했다고 보고하지 않습니다.</a:t>
            </a:r>
          </a:p>
          <a:p xmlns:a="http://schemas.openxmlformats.org/drawingml/2006/main">
            <a:r>
              <a:t>학생이 예상한 결과와 이유를 먼저 듣고 풀이한다. 숫자뿐 아니라 단위, ID, 조건도 확인한다.</a:t>
            </a:r>
          </a:p>
          <a:p xmlns:a="http://schemas.openxmlformats.org/drawingml/2006/main">
            <a:r>
              <a:t/>
            </a:r>
          </a:p>
          <a:p xmlns:a="http://schemas.openxmlformats.org/drawingml/2006/main">
            <a:r>
              <a:t>학생 교안: https://zeusk302-png.github.io/kdigital-physical-ai/#/sessions/2026-10-30/lesson</a:t>
            </a:r>
          </a:p>
          <a:p xmlns:a="http://schemas.openxmlformats.org/drawingml/2006/main">
            <a:r>
              <a:t>실습: https://zeusk302-png.github.io/kdigital-physical-ai/#/sessions/2026-10-30/activity-A03</a:t>
            </a:r>
          </a:p>
          <a:p xmlns:a="http://schemas.openxmlformats.org/drawingml/2006/main">
            <a:r>
              <a:t>공식 자료: https://docs.python.org/3/tutorial/introduction.html#lists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outputs/2026-10-30/beginner-start.md</a:t>
            </a:r>
          </a:p>
          <a:p xmlns:a="http://schemas.openxmlformats.org/drawingml/2006/main">
            <a:r>
              <a:t>슬라이드 내용:</a:t>
            </a:r>
          </a:p>
          <a:p xmlns:a="http://schemas.openxmlformats.org/drawingml/2006/main">
            <a:r>
              <a:t>“AI를 쓰지 않는다”는 사용자 불편을 설명하지 못합니다.</a:t>
            </a:r>
          </a:p>
          <a:p xmlns:a="http://schemas.openxmlformats.org/drawingml/2006/main">
            <a:r>
              <a:t>누가, 언제, 어떤 일에 어려움을 겪는지 적으세요.</a:t>
            </a:r>
          </a:p>
          <a:p xmlns:a="http://schemas.openxmlformats.org/drawingml/2006/main">
            <a:r>
              <a:t>사용자는 재고 담당자, 문제는 확인 지연, 기능 후보는 부족 항목 목록, 가설은 목록이 확인 시간을 줄인다는 주장입니다. “AI를 안 쓰는 것이 문제”라고 쓰거나 아직 측정하지 않은 시간 감소를 관찰 사실로 쓰면 오답입니다.</a:t>
            </a:r>
          </a:p>
          <a:p xmlns:a="http://schemas.openxmlformats.org/drawingml/2006/main">
            <a:r>
              <a:t>예제 자료를 열어 설명한 값이나 항목을 함께 찾는다.</a:t>
            </a:r>
          </a:p>
          <a:p xmlns:a="http://schemas.openxmlformats.org/drawingml/2006/main">
            <a:r>
              <a:t/>
            </a:r>
          </a:p>
          <a:p xmlns:a="http://schemas.openxmlformats.org/drawingml/2006/main">
            <a:r>
              <a:t>학생 교안: https://zeusk302-png.github.io/kdigital-physical-ai/#/sessions/2026-10-30/lesson</a:t>
            </a:r>
          </a:p>
          <a:p xmlns:a="http://schemas.openxmlformats.org/drawingml/2006/main">
            <a:r>
              <a:t>실습: https://zeusk302-png.github.io/kdigital-physical-ai/#/sessions/2026-10-30/activity-A03</a:t>
            </a:r>
          </a:p>
          <a:p xmlns:a="http://schemas.openxmlformats.org/drawingml/2006/main">
            <a:r>
              <a:t>공식 자료: https://docs.python.org/3/tutorial/introduction.html#lists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outputs/2026-10-30/lesson.md</a:t>
            </a:r>
          </a:p>
          <a:p xmlns:a="http://schemas.openxmlformats.org/drawingml/2006/main">
            <a:r>
              <a:t>슬라이드 내용:</a:t>
            </a:r>
          </a:p>
          <a:p xmlns:a="http://schemas.openxmlformats.org/drawingml/2006/main">
            <a:r>
              <a:t>자료에서 확인한 사실과 앞으로 확인할 가설은 어떻게 다른가요?</a:t>
            </a:r>
          </a:p>
          <a:p xmlns:a="http://schemas.openxmlformats.org/drawingml/2006/main">
            <a:r>
              <a:t>기획서 완성과 확인 시간 감소는 어떻게 다른가요?</a:t>
            </a:r>
          </a:p>
          <a:p xmlns:a="http://schemas.openxmlformats.org/drawingml/2006/main">
            <a:r>
              <a:t>실습실 담당자는 마감 때 대여 장부를 여러 번 확인합니다. 학생은 물건을 반납했는데 담당자는 기록을 찾지 못합니다. 여기서 “AI 카메라 만들기”를 문제라고 쓰면 왜 필요한지 알 수 없습니다. 문제는 특정 사용자가 특정 상황에서 겪는 어려움이고 기능은 그 어려움을 줄이기 위해 선택한 수단입니다.</a:t>
            </a:r>
          </a:p>
          <a:p xmlns:a="http://schemas.openxmlformats.org/drawingml/2006/main">
            <a:r>
              <a:t>학생이 예상한 결과와 이유를 먼저 듣고 풀이한다. 숫자뿐 아니라 단위, ID, 조건도 확인한다.</a:t>
            </a:r>
          </a:p>
          <a:p xmlns:a="http://schemas.openxmlformats.org/drawingml/2006/main">
            <a:r>
              <a:t/>
            </a:r>
          </a:p>
          <a:p xmlns:a="http://schemas.openxmlformats.org/drawingml/2006/main">
            <a:r>
              <a:t>학생 교안: https://zeusk302-png.github.io/kdigital-physical-ai/#/sessions/2026-10-30/lesson</a:t>
            </a:r>
          </a:p>
          <a:p xmlns:a="http://schemas.openxmlformats.org/drawingml/2006/main">
            <a:r>
              <a:t>실습: https://zeusk302-png.github.io/kdigital-physical-ai/#/sessions/2026-10-30/activity-A03</a:t>
            </a:r>
          </a:p>
          <a:p xmlns:a="http://schemas.openxmlformats.org/drawingml/2006/main">
            <a:r>
              <a:t>공식 자료: https://docs.python.org/3/tutorial/introduction.html#lists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outputs/2026-10-30/assessment.md</a:t>
            </a:r>
          </a:p>
          <a:p xmlns:a="http://schemas.openxmlformats.org/drawingml/2006/main">
            <a:r>
              <a:t>슬라이드 내용:</a:t>
            </a:r>
          </a:p>
          <a:p xmlns:a="http://schemas.openxmlformats.org/drawingml/2006/main">
            <a:r>
              <a:t>추가·복습: 창고 재고 확인 지연</a:t>
            </a:r>
          </a:p>
          <a:p xmlns:a="http://schemas.openxmlformats.org/drawingml/2006/main">
            <a:r>
              <a:t>관찰·문제·가설·기능을 네 문장으로 쓰세요.</a:t>
            </a:r>
          </a:p>
          <a:p xmlns:a="http://schemas.openxmlformats.org/drawingml/2006/main">
            <a:r>
              <a:t>사용자는 재고 담당자, 문제는 확인 지연, 기능 후보는 부족 항목 목록, 가설은 목록이 확인 시간을 줄인다는 주장입니다. “AI를 안 쓰는 것이 문제”라고 쓰거나 아직 측정하지 않은 시간 감소를 관찰 사실로 쓰면 오답입니다.</a:t>
            </a:r>
          </a:p>
          <a:p xmlns:a="http://schemas.openxmlformats.org/drawingml/2006/main">
            <a:r>
              <a:t>학생이 예상한 결과와 이유를 먼저 듣고 풀이한다. 숫자뿐 아니라 단위, ID, 조건도 확인한다.</a:t>
            </a:r>
          </a:p>
          <a:p xmlns:a="http://schemas.openxmlformats.org/drawingml/2006/main">
            <a:r>
              <a:t>관련 전이 문제와 해설:</a:t>
            </a:r>
          </a:p>
          <a:p xmlns:a="http://schemas.openxmlformats.org/drawingml/2006/main">
            <a:r>
              <a:t>창고 직원이 재고 확인에 오래 걸립니다. 관찰·문제·가설·기능을 분리해 쓰세요.</a:t>
            </a:r>
          </a:p>
          <a:p xmlns:a="http://schemas.openxmlformats.org/drawingml/2006/main">
            <a:r>
              <a:t/>
            </a:r>
          </a:p>
          <a:p xmlns:a="http://schemas.openxmlformats.org/drawingml/2006/main">
            <a:r>
              <a:t>&lt;details&gt;&lt;summary&gt;정답과 해설&lt;/summary&gt;</a:t>
            </a:r>
          </a:p>
          <a:p xmlns:a="http://schemas.openxmlformats.org/drawingml/2006/main">
            <a:r>
              <a:t/>
            </a:r>
          </a:p>
          <a:p xmlns:a="http://schemas.openxmlformats.org/drawingml/2006/main">
            <a:r>
              <a:t>관찰은 확인 시간 기록, 문제는 찾기 지연, 가설은 부족 목록이 시간을 줄인다는 주장, 기능은 목록 표시입니다. 미측정 효과를 사실로 쓰지 않습니다.</a:t>
            </a:r>
          </a:p>
          <a:p xmlns:a="http://schemas.openxmlformats.org/drawingml/2006/main">
            <a:r>
              <a:t/>
            </a:r>
          </a:p>
          <a:p xmlns:a="http://schemas.openxmlformats.org/drawingml/2006/main">
            <a:r>
              <a:t>&lt;/details&gt;</a:t>
            </a:r>
          </a:p>
          <a:p xmlns:a="http://schemas.openxmlformats.org/drawingml/2006/main">
            <a:r>
              <a:t>수업에서 먼저 할 실습 뒤 선택한다. 모든 슬라이드를 50분 안에 완수했다는 뜻이 아니다.</a:t>
            </a:r>
          </a:p>
          <a:p xmlns:a="http://schemas.openxmlformats.org/drawingml/2006/main">
            <a:r>
              <a:t/>
            </a:r>
          </a:p>
          <a:p xmlns:a="http://schemas.openxmlformats.org/drawingml/2006/main">
            <a:r>
              <a:t>학생 교안: https://zeusk302-png.github.io/kdigital-physical-ai/#/sessions/2026-10-30/lesson</a:t>
            </a:r>
          </a:p>
          <a:p xmlns:a="http://schemas.openxmlformats.org/drawingml/2006/main">
            <a:r>
              <a:t>실습: https://zeusk302-png.github.io/kdigital-physical-ai/#/sessions/2026-10-30/activity-A03</a:t>
            </a:r>
          </a:p>
          <a:p xmlns:a="http://schemas.openxmlformats.org/drawingml/2006/main">
            <a:r>
              <a:t>공식 자료: https://docs.python.org/3/tutorial/introduction.html#lists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outputs/2026-10-30/lesson.md</a:t>
            </a:r>
          </a:p>
          <a:p xmlns:a="http://schemas.openxmlformats.org/drawingml/2006/main">
            <a:r>
              <a:t>2교시 필수 개념 보충 · 후보 비교에서 최소 범위와 요구로 이어가기</a:t>
            </a:r>
          </a:p>
          <a:p xmlns:a="http://schemas.openxmlformats.org/drawingml/2006/main">
            <a:r>
              <a:t/>
            </a:r>
          </a:p>
          <a:p xmlns:a="http://schemas.openxmlformats.org/drawingml/2006/main">
            <a:r>
              <a:t>실무 상황과 원리</a:t>
            </a:r>
          </a:p>
          <a:p xmlns:a="http://schemas.openxmlformats.org/drawingml/2006/main">
            <a:r>
              <a:t/>
            </a:r>
          </a:p>
          <a:p xmlns:a="http://schemas.openxmlformats.org/drawingml/2006/main">
            <a:r>
              <a:t>같은 문제에 목록 화면, 카메라 인식, 자동 잠금이라는 후보가 나왔습니다. 가장 화려한 기능부터 고르면 장비와 검증 조건이 없어 시작하지 못할 수 있습니다. 후보 비교는 같은 기준으로 장단점을 읽는 일입니다. 가중치는 중요도이고 점수는 근거를 갖춘 판단이며 성공 확률이 아닙니다.</a:t>
            </a:r>
          </a:p>
          <a:p xmlns:a="http://schemas.openxmlformats.org/drawingml/2006/main">
            <a:r>
              <a:t/>
            </a:r>
          </a:p>
          <a:p xmlns:a="http://schemas.openxmlformats.org/drawingml/2006/main">
            <a:r>
              <a:t>계산 예제에서는 필요성 0.40, 실현 가능성 0.35, 시험 가능성 0.25를 사용합니다. 후보 A의 점수 5,4,5를 각각 곱하면 2.00+1.40+1.25=4.65입니다. 가중치 합은 1입니다. 점수는 실제 조사로 확정한 수가 아니라 제공 교육 사례의 판단입니다. 장비나 기간 조건이 달라지면 점수 근거와 선택을 다시 검토합니다. 소수 둘째 자리 숫자가 사람의 판단을 없애 주지 않습니다.</a:t>
            </a:r>
          </a:p>
          <a:p xmlns:a="http://schemas.openxmlformats.org/drawingml/2006/main">
            <a:r>
              <a:t/>
            </a:r>
          </a:p>
          <a:p xmlns:a="http://schemas.openxmlformats.org/drawingml/2006/main">
            <a:r>
              <a:t>선택 뒤에는 최소 범위를 정합니다. 이번 포함은 로컬 CSV 한 개 읽기, 기록 검수, 미확인 목록 표시이며 제외는 카메라 인식, 자동 잠금, 외부 메시지입니다. 작은 범위도 정상 입력과 잘못된 입력의 처리를 다뤄야 합니다. 요구 R1은 “제공 CSV를 읽고 각 행의 대여 ID와 상태를 표시한다”, R2는 “갱신 시각이 없는 행을 review로 표시하고 원문을 유지한다”입니다. “쉽고 빠르게 보여 준다”는 문장은 입력과 기대 결과가 없으므로 아직 시험 가능한 요구가 아닙니다. 성능 목표를 넣으려면 PC 조건, 파일 크기, 측정 시작과 끝을 함께 합의해야 합니다. 추가 카메라 요청은 기존 범위에 자동으로 포함하지 말고 데이터와 시험·일정 영향을 검토합니다.</a:t>
            </a:r>
          </a:p>
          <a:p xmlns:a="http://schemas.openxmlformats.org/drawingml/2006/main">
            <a:r>
              <a:t/>
            </a:r>
          </a:p>
          <a:p xmlns:a="http://schemas.openxmlformats.org/drawingml/2006/main">
            <a:r>
              <a:t>다른 사례로 연습하기</a:t>
            </a:r>
          </a:p>
          <a:p xmlns:a="http://schemas.openxmlformats.org/drawingml/2006/main">
            <a:r>
              <a:t/>
            </a:r>
          </a:p>
          <a:p xmlns:a="http://schemas.openxmlformats.org/drawingml/2006/main">
            <a:r>
              <a:t>복습 문제: 새 후보 D의 점수 4,5,3에 같은 가중치를 적용하세요. “편한 화면”을 관찰 가능한 요구 하나로 다시 쓰고 현재 제외 범위 한 가지를 함께 적으세요.</a:t>
            </a:r>
          </a:p>
          <a:p xmlns:a="http://schemas.openxmlformats.org/drawingml/2006/main">
            <a:r>
              <a:t/>
            </a:r>
          </a:p>
          <a:p xmlns:a="http://schemas.openxmlformats.org/drawingml/2006/main">
            <a:r>
              <a:t>풀이와 주의할 점</a:t>
            </a:r>
          </a:p>
          <a:p xmlns:a="http://schemas.openxmlformats.org/drawingml/2006/main">
            <a:r>
              <a:t/>
            </a:r>
          </a:p>
          <a:p xmlns:a="http://schemas.openxmlformats.org/drawingml/2006/main">
            <a:r>
              <a:t>점수는 1.60+1.75+0.75=4.10입니다. 예: “시간 누락 행을 넣으면 ID와 검토 필요 문구를 표시한다.” 취향 표현만 반복하거나 점수 4.10을 성공 확률 41%로 바꾸면 오답입니다.</a:t>
            </a:r>
          </a:p>
          <a:p xmlns:a="http://schemas.openxmlformats.org/drawingml/2006/main">
            <a:r>
              <a:t/>
            </a:r>
          </a:p>
          <a:p xmlns:a="http://schemas.openxmlformats.org/drawingml/2006/main">
            <a:r>
              <a:t>확인 질문과 답</a:t>
            </a:r>
          </a:p>
          <a:p xmlns:a="http://schemas.openxmlformats.org/drawingml/2006/main">
            <a:r>
              <a:t/>
            </a:r>
          </a:p>
          <a:p xmlns:a="http://schemas.openxmlformats.org/drawingml/2006/main">
            <a:r>
              <a:t>1. 가중치 합은? → 이 예는 1입니다.</a:t>
            </a:r>
          </a:p>
          <a:p xmlns:a="http://schemas.openxmlformats.org/drawingml/2006/main">
            <a:r>
              <a:t>2. 최소 범위도 오류 처리가 필요한가요? → 필요합니다.</a:t>
            </a:r>
          </a:p>
          <a:p xmlns:a="http://schemas.openxmlformats.org/drawingml/2006/main">
            <a:r>
              <a:t>3. 제외는 가치 없다는 뜻인가요? → 현재 약속 밖이라는 뜻입니다.</a:t>
            </a:r>
          </a:p>
          <a:p xmlns:a="http://schemas.openxmlformats.org/drawingml/2006/main">
            <a:r>
              <a:t>먼저 예제를 보여 준 뒤 함께 따라 한다. 조건 하나를 바꿔 예상 결과와 실제 결과를 비교한다. 학생에게 값이 바뀐 이유를 물어본다. 복습 문제는 기본 실습을 마친 뒤 선택한다.</a:t>
            </a:r>
          </a:p>
          <a:p xmlns:a="http://schemas.openxmlformats.org/drawingml/2006/main">
            <a:r>
              <a:t/>
            </a:r>
          </a:p>
          <a:p xmlns:a="http://schemas.openxmlformats.org/drawingml/2006/main">
            <a:r>
              <a:t>학생 교안: https://zeusk302-png.github.io/kdigital-physical-ai/#/sessions/2026-10-30/lesson</a:t>
            </a:r>
          </a:p>
          <a:p xmlns:a="http://schemas.openxmlformats.org/drawingml/2006/main">
            <a:r>
              <a:t>실습: https://zeusk302-png.github.io/kdigital-physical-ai/#/sessions/2026-10-30/activity-A03</a:t>
            </a:r>
          </a:p>
          <a:p xmlns:a="http://schemas.openxmlformats.org/drawingml/2006/main">
            <a:r>
              <a:t>공식 자료: https://docs.python.org/3/library/json.html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outputs/2026-10-30/lesson.md</a:t>
            </a:r>
          </a:p>
          <a:p xmlns:a="http://schemas.openxmlformats.org/drawingml/2006/main">
            <a:r>
              <a:t>슬라이드 내용:</a:t>
            </a:r>
          </a:p>
          <a:p xmlns:a="http://schemas.openxmlformats.org/drawingml/2006/main">
            <a:r>
              <a:t>필요성 · 실현 가능성 · 시험 가능성</a:t>
            </a:r>
          </a:p>
          <a:p xmlns:a="http://schemas.openxmlformats.org/drawingml/2006/main">
            <a:r>
              <a:t>각 점수를 준 이유를 적으세요.</a:t>
            </a:r>
          </a:p>
          <a:p xmlns:a="http://schemas.openxmlformats.org/drawingml/2006/main">
            <a:r>
              <a:t>같은 문제에 목록 화면, 카메라 인식, 자동 잠금이라는 후보가 나왔습니다. 가장 화려한 기능부터 고르면 장비와 검증 조건이 없어 시작하지 못할 수 있습니다. 후보 비교는 같은 기준으로 장단점을 읽는 일입니다. 가중치는 중요도이고 점수는 근거를 갖춘 판단이며 성공 확률이 아닙니다.</a:t>
            </a:r>
          </a:p>
          <a:p xmlns:a="http://schemas.openxmlformats.org/drawingml/2006/main">
            <a:r>
              <a:t>예제 자료를 열어 설명한 값이나 항목을 함께 찾는다.</a:t>
            </a:r>
          </a:p>
          <a:p xmlns:a="http://schemas.openxmlformats.org/drawingml/2006/main">
            <a:r>
              <a:t/>
            </a:r>
          </a:p>
          <a:p xmlns:a="http://schemas.openxmlformats.org/drawingml/2006/main">
            <a:r>
              <a:t>화면 예의 출처: D:\KDigital_PhysicalAI\.build\copyedited-ppt\spec-2026-10-30.json#slide-27</a:t>
            </a:r>
          </a:p>
          <a:p xmlns:a="http://schemas.openxmlformats.org/drawingml/2006/main">
            <a:r>
              <a:t/>
            </a:r>
          </a:p>
          <a:p xmlns:a="http://schemas.openxmlformats.org/drawingml/2006/main">
            <a:r>
              <a:t>학생 교안: https://zeusk302-png.github.io/kdigital-physical-ai/#/sessions/2026-10-30/lesson</a:t>
            </a:r>
          </a:p>
          <a:p xmlns:a="http://schemas.openxmlformats.org/drawingml/2006/main">
            <a:r>
              <a:t>실습: https://zeusk302-png.github.io/kdigital-physical-ai/#/sessions/2026-10-30/activity-A04</a:t>
            </a:r>
          </a:p>
          <a:p xmlns:a="http://schemas.openxmlformats.org/drawingml/2006/main">
            <a:r>
              <a:t>공식 자료: https://docs.python.org/3/library/json.html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outputs/2026-10-30/lesson.md</a:t>
            </a:r>
          </a:p>
          <a:p xmlns:a="http://schemas.openxmlformats.org/drawingml/2006/main">
            <a:r>
              <a:t>슬라이드 내용:</a:t>
            </a:r>
          </a:p>
          <a:p xmlns:a="http://schemas.openxmlformats.org/drawingml/2006/main">
            <a:r>
              <a:t>0.40 + 0.35 + 0.25 = 1</a:t>
            </a:r>
          </a:p>
          <a:p xmlns:a="http://schemas.openxmlformats.org/drawingml/2006/main">
            <a:r>
              <a:t>점수에 각각 곱한 뒤 더합니다.</a:t>
            </a:r>
          </a:p>
          <a:p xmlns:a="http://schemas.openxmlformats.org/drawingml/2006/main">
            <a:r>
              <a:t>계산 예제에서는 필요성 0.40, 실현 가능성 0.35, 시험 가능성 0.25를 사용합니다. 후보 A의 점수 5,4,5를 각각 곱하면 2.00+1.40+1.25=4.65입니다. 가중치 합은 1입니다. 점수는 실제 조사로 확정한 수가 아니라 제공 교육 사례의 판단입니다. 장비나 기간 조건이 달라지면 점수 근거와 선택을 다시 검토합니다. 소수 둘째 자리 숫자가 사람의 판단을 없애 주지 않습니다.</a:t>
            </a:r>
          </a:p>
          <a:p xmlns:a="http://schemas.openxmlformats.org/drawingml/2006/main">
            <a:r>
              <a:t>예제 자료를 열어 설명한 값이나 항목을 함께 찾는다.</a:t>
            </a:r>
          </a:p>
          <a:p xmlns:a="http://schemas.openxmlformats.org/drawingml/2006/main">
            <a:r>
              <a:t/>
            </a:r>
          </a:p>
          <a:p xmlns:a="http://schemas.openxmlformats.org/drawingml/2006/main">
            <a:r>
              <a:t>화면 예의 출처: D:\KDigital_PhysicalAI\.build\copyedited-ppt\spec-2026-10-30.json#slide-30</a:t>
            </a:r>
          </a:p>
          <a:p xmlns:a="http://schemas.openxmlformats.org/drawingml/2006/main">
            <a:r>
              <a:t/>
            </a:r>
          </a:p>
          <a:p xmlns:a="http://schemas.openxmlformats.org/drawingml/2006/main">
            <a:r>
              <a:t>학생 교안: https://zeusk302-png.github.io/kdigital-physical-ai/#/sessions/2026-10-30/lesson</a:t>
            </a:r>
          </a:p>
          <a:p xmlns:a="http://schemas.openxmlformats.org/drawingml/2006/main">
            <a:r>
              <a:t>실습: https://zeusk302-png.github.io/kdigital-physical-ai/#/sessions/2026-10-30/activity-A04</a:t>
            </a:r>
          </a:p>
          <a:p xmlns:a="http://schemas.openxmlformats.org/drawingml/2006/main">
            <a:r>
              <a:t>공식 자료: https://docs.python.org/3/library/json.html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outputs/2026-10-30/lesson.md</a:t>
            </a:r>
          </a:p>
          <a:p xmlns:a="http://schemas.openxmlformats.org/drawingml/2006/main">
            <a:r>
              <a:t>슬라이드 내용:</a:t>
            </a:r>
          </a:p>
          <a:p xmlns:a="http://schemas.openxmlformats.org/drawingml/2006/main">
            <a:r>
              <a:t>후보 A: 5·4·5 → 4.65점</a:t>
            </a:r>
          </a:p>
          <a:p xmlns:a="http://schemas.openxmlformats.org/drawingml/2006/main">
            <a:r>
              <a:t>예제에 매긴 점수입니다. 조건이 달라지면 다시 계산합니다.</a:t>
            </a:r>
          </a:p>
          <a:p xmlns:a="http://schemas.openxmlformats.org/drawingml/2006/main">
            <a:r>
              <a:t>같은 문제에 목록 화면, 카메라 인식, 자동 잠금이라는 후보가 나왔습니다. 가장 화려한 기능부터 고르면 장비와 검증 조건이 없어 시작하지 못할 수 있습니다. 후보 비교는 같은 기준으로 장단점을 읽는 일입니다. 가중치는 중요도이고 점수는 근거를 갖춘 판단이며 성공 확률이 아닙니다.</a:t>
            </a:r>
          </a:p>
          <a:p xmlns:a="http://schemas.openxmlformats.org/drawingml/2006/main">
            <a:r>
              <a:t>예제 자료를 열어 설명한 값이나 항목을 함께 찾는다.</a:t>
            </a:r>
          </a:p>
          <a:p xmlns:a="http://schemas.openxmlformats.org/drawingml/2006/main">
            <a:r>
              <a:t/>
            </a:r>
          </a:p>
          <a:p xmlns:a="http://schemas.openxmlformats.org/drawingml/2006/main">
            <a:r>
              <a:t>화면 예의 출처: D:\KDigital_PhysicalAI\.build\copyedited-ppt\spec-2026-10-30.json#slide-30</a:t>
            </a:r>
          </a:p>
          <a:p xmlns:a="http://schemas.openxmlformats.org/drawingml/2006/main">
            <a:r>
              <a:t/>
            </a:r>
          </a:p>
          <a:p xmlns:a="http://schemas.openxmlformats.org/drawingml/2006/main">
            <a:r>
              <a:t>학생 교안: https://zeusk302-png.github.io/kdigital-physical-ai/#/sessions/2026-10-30/lesson</a:t>
            </a:r>
          </a:p>
          <a:p xmlns:a="http://schemas.openxmlformats.org/drawingml/2006/main">
            <a:r>
              <a:t>실습: https://zeusk302-png.github.io/kdigital-physical-ai/#/sessions/2026-10-30/activity-A04</a:t>
            </a:r>
          </a:p>
          <a:p xmlns:a="http://schemas.openxmlformats.org/drawingml/2006/main">
            <a:r>
              <a:t>공식 자료: https://docs.python.org/3/library/json.html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outputs/2026-10-30/lesson.md</a:t>
            </a:r>
          </a:p>
          <a:p xmlns:a="http://schemas.openxmlformats.org/drawingml/2006/main">
            <a:r>
              <a:t>슬라이드 내용:</a:t>
            </a:r>
          </a:p>
          <a:p xmlns:a="http://schemas.openxmlformats.org/drawingml/2006/main">
            <a:r>
              <a:t>만들 기능: CSV 읽기·값 검사·미확인 목록</a:t>
            </a:r>
          </a:p>
          <a:p xmlns:a="http://schemas.openxmlformats.org/drawingml/2006/main">
            <a:r>
              <a:t>이번에 만들지 않을 기능: 카메라·자동 잠금·외부 메시지</a:t>
            </a:r>
          </a:p>
          <a:p xmlns:a="http://schemas.openxmlformats.org/drawingml/2006/main">
            <a:r>
              <a:t>선택 뒤에는 최소 범위를 정합니다. 이번 포함은 로컬 CSV 한 개 읽기, 기록 검수, 미확인 목록 표시이며 제외는 카메라 인식, 자동 잠금, 외부 메시지입니다. 작은 범위도 정상 입력과 잘못된 입력의 처리를 다뤄야 합니다. 요구 R1은 “제공 CSV를 읽고 각 행의 대여 ID와 상태를 표시한다”, R2는 “갱신 시각이 없는 행을 review로 표시하고 원문을 유지한다”입니다. “쉽고 빠르게 보여 준다”는 문장은 입력과 기대 결과가 없으므로 아직 시험 가능한 요구가 아닙니다. 성능 목표를 넣으려면 PC 조건, 파일 크기, 측정 시작과 끝을 함께 합의해야 합니다. 추가 카메라 요청은 기존 범위에 자동으로 포함하지 말고 데이터와 시험·일정 영향을 검토합니다.</a:t>
            </a:r>
          </a:p>
          <a:p xmlns:a="http://schemas.openxmlformats.org/drawingml/2006/main">
            <a:r>
              <a:t>예제 자료를 열어 설명한 값이나 항목을 함께 찾는다.</a:t>
            </a:r>
          </a:p>
          <a:p xmlns:a="http://schemas.openxmlformats.org/drawingml/2006/main">
            <a:r>
              <a:t/>
            </a:r>
          </a:p>
          <a:p xmlns:a="http://schemas.openxmlformats.org/drawingml/2006/main">
            <a:r>
              <a:t>화면 예의 출처: D:\KDigital_PhysicalAI\.build\copyedited-ppt\spec-2026-10-30.json#slide-24</a:t>
            </a:r>
          </a:p>
          <a:p xmlns:a="http://schemas.openxmlformats.org/drawingml/2006/main">
            <a:r>
              <a:t/>
            </a:r>
          </a:p>
          <a:p xmlns:a="http://schemas.openxmlformats.org/drawingml/2006/main">
            <a:r>
              <a:t>학생 교안: https://zeusk302-png.github.io/kdigital-physical-ai/#/sessions/2026-10-30/lesson</a:t>
            </a:r>
          </a:p>
          <a:p xmlns:a="http://schemas.openxmlformats.org/drawingml/2006/main">
            <a:r>
              <a:t>실습: https://zeusk302-png.github.io/kdigital-physical-ai/#/sessions/2026-10-30/activity-A05</a:t>
            </a:r>
          </a:p>
          <a:p xmlns:a="http://schemas.openxmlformats.org/drawingml/2006/main">
            <a:r>
              <a:t>공식 자료: https://docs.python.org/3/library/json.html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outputs/2026-10-30/lesson.md</a:t>
            </a:r>
          </a:p>
          <a:p xmlns:a="http://schemas.openxmlformats.org/drawingml/2006/main">
            <a:r>
              <a:t>슬라이드 내용:</a:t>
            </a:r>
          </a:p>
          <a:p xmlns:a="http://schemas.openxmlformats.org/drawingml/2006/main">
            <a:r>
              <a:t>R01: 정상 3건 → ID가 보이는 3행</a:t>
            </a:r>
          </a:p>
          <a:p xmlns:a="http://schemas.openxmlformats.org/drawingml/2006/main">
            <a:r>
              <a:t>R02: updated_at 빈칸 → review와 이유</a:t>
            </a:r>
          </a:p>
          <a:p xmlns:a="http://schemas.openxmlformats.org/drawingml/2006/main">
            <a:r>
              <a:t>같은 문제에 목록 화면, 카메라 인식, 자동 잠금이라는 후보가 나왔습니다. 가장 화려한 기능부터 고르면 장비와 검증 조건이 없어 시작하지 못할 수 있습니다. 후보 비교는 같은 기준으로 장단점을 읽는 일입니다. 가중치는 중요도이고 점수는 근거를 갖춘 판단이며 성공 확률이 아닙니다.</a:t>
            </a:r>
          </a:p>
          <a:p xmlns:a="http://schemas.openxmlformats.org/drawingml/2006/main">
            <a:r>
              <a:t>예제 자료를 열어 설명한 값이나 항목을 함께 찾는다.</a:t>
            </a:r>
          </a:p>
          <a:p xmlns:a="http://schemas.openxmlformats.org/drawingml/2006/main">
            <a:r>
              <a:t/>
            </a:r>
          </a:p>
          <a:p xmlns:a="http://schemas.openxmlformats.org/drawingml/2006/main">
            <a:r>
              <a:t>화면 예의 출처: D:\KDigital_PhysicalAI\.build\copyedited-ppt\spec-2026-10-30.json#slide-25</a:t>
            </a:r>
          </a:p>
          <a:p xmlns:a="http://schemas.openxmlformats.org/drawingml/2006/main">
            <a:r>
              <a:t/>
            </a:r>
          </a:p>
          <a:p xmlns:a="http://schemas.openxmlformats.org/drawingml/2006/main">
            <a:r>
              <a:t>학생 교안: https://zeusk302-png.github.io/kdigital-physical-ai/#/sessions/2026-10-30/lesson</a:t>
            </a:r>
          </a:p>
          <a:p xmlns:a="http://schemas.openxmlformats.org/drawingml/2006/main">
            <a:r>
              <a:t>실습: https://zeusk302-png.github.io/kdigital-physical-ai/#/sessions/2026-10-30/activity-A06</a:t>
            </a:r>
          </a:p>
          <a:p xmlns:a="http://schemas.openxmlformats.org/drawingml/2006/main">
            <a:r>
              <a:t>공식 자료: https://docs.python.org/3/library/json.html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outputs/2026-10-30/lesson.md</a:t>
            </a:r>
          </a:p>
          <a:p xmlns:a="http://schemas.openxmlformats.org/drawingml/2006/main">
            <a:r>
              <a:t>슬라이드 내용:</a:t>
            </a:r>
          </a:p>
          <a:p xmlns:a="http://schemas.openxmlformats.org/drawingml/2006/main">
            <a:r>
              <a:t>R03: 중복 loan_id → reject</a:t>
            </a:r>
          </a:p>
          <a:p xmlns:a="http://schemas.openxmlformats.org/drawingml/2006/main">
            <a:r>
              <a:t>R04: 읽기 전후 원문 바이트 불변</a:t>
            </a:r>
          </a:p>
          <a:p xmlns:a="http://schemas.openxmlformats.org/drawingml/2006/main">
            <a:r>
              <a:t>선택 뒤에는 최소 범위를 정합니다. 이번 포함은 로컬 CSV 한 개 읽기, 기록 검수, 미확인 목록 표시이며 제외는 카메라 인식, 자동 잠금, 외부 메시지입니다. 작은 범위도 정상 입력과 잘못된 입력의 처리를 다뤄야 합니다. 요구 R1은 “제공 CSV를 읽고 각 행의 대여 ID와 상태를 표시한다”, R2는 “갱신 시각이 없는 행을 review로 표시하고 원문을 유지한다”입니다. “쉽고 빠르게 보여 준다”는 문장은 입력과 기대 결과가 없으므로 아직 시험 가능한 요구가 아닙니다. 성능 목표를 넣으려면 PC 조건, 파일 크기, 측정 시작과 끝을 함께 합의해야 합니다. 추가 카메라 요청은 기존 범위에 자동으로 포함하지 말고 데이터와 시험·일정 영향을 검토합니다.</a:t>
            </a:r>
          </a:p>
          <a:p xmlns:a="http://schemas.openxmlformats.org/drawingml/2006/main">
            <a:r>
              <a:t>예제 자료를 열어 설명한 값이나 항목을 함께 찾는다.</a:t>
            </a:r>
          </a:p>
          <a:p xmlns:a="http://schemas.openxmlformats.org/drawingml/2006/main">
            <a:r>
              <a:t/>
            </a:r>
          </a:p>
          <a:p xmlns:a="http://schemas.openxmlformats.org/drawingml/2006/main">
            <a:r>
              <a:t>학생 교안: https://zeusk302-png.github.io/kdigital-physical-ai/#/sessions/2026-10-30/lesson</a:t>
            </a:r>
          </a:p>
          <a:p xmlns:a="http://schemas.openxmlformats.org/drawingml/2006/main">
            <a:r>
              <a:t>실습: https://zeusk302-png.github.io/kdigital-physical-ai/#/sessions/2026-10-30/activity-A06</a:t>
            </a:r>
          </a:p>
          <a:p xmlns:a="http://schemas.openxmlformats.org/drawingml/2006/main">
            <a:r>
              <a:t>공식 자료: https://docs.python.org/3/library/json.html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outputs/2026-10-30/lesson.md</a:t>
            </a:r>
          </a:p>
          <a:p xmlns:a="http://schemas.openxmlformats.org/drawingml/2006/main">
            <a:r>
              <a:t>weights와scores의같은번호가같은평가기준을뜻한다는전제다. range(3)은0,1,2의번호를만들고대괄호는그번호의값을고른다. 총점은가중곱의합이다. 숫자로만보지말고필요성/실현/시험의점수근거를말하게한다. 점수는실제조사통계나성공확률이아니다.</a:t>
            </a:r>
          </a:p>
          <a:p xmlns:a="http://schemas.openxmlformats.org/drawingml/2006/main">
            <a:r>
              <a:t>최신 운영은 50분×6</a:t>
            </a:r>
          </a:p>
          <a:p xmlns:a="http://schemas.openxmlformats.org/drawingml/2006/main">
            <a:r>
              <a:t/>
            </a:r>
          </a:p>
          <a:p xmlns:a="http://schemas.openxmlformats.org/drawingml/2006/main">
            <a:r>
              <a:t>학생 교안: https://zeusk302-png.github.io/kdigital-physical-ai/#/sessions/2026-10-30/lesson</a:t>
            </a:r>
          </a:p>
          <a:p xmlns:a="http://schemas.openxmlformats.org/drawingml/2006/main">
            <a:r>
              <a:t>실습: https://zeusk302-png.github.io/kdigital-physical-ai/#/sessions/2026-10-30/activity-A06</a:t>
            </a:r>
          </a:p>
          <a:p xmlns:a="http://schemas.openxmlformats.org/drawingml/2006/main">
            <a:r>
              <a:t>공식 자료: https://docs.python.org/3/library/json.html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outputs/2026-10-30/lesson.md</a:t>
            </a:r>
          </a:p>
          <a:p xmlns:a="http://schemas.openxmlformats.org/drawingml/2006/main">
            <a:r>
              <a:t>weights와scores의같은번호가같은평가기준을뜻한다는전제다. range(3)은0,1,2의번호를만들고대괄호는그번호의값을고른다. 총점은가중곱의합이다. 숫자로만보지말고필요성/실현/시험의점수근거를말하게한다. 점수는실제조사통계나성공확률이아니다.</a:t>
            </a:r>
          </a:p>
          <a:p xmlns:a="http://schemas.openxmlformats.org/drawingml/2006/main">
            <a:r>
              <a:t>기호를 정확한 이름으로 설명하기 전에 역할을 쉬운 말로 연결한다. 대입·비교·반복·출력 중 어느 단계인지 학생이 가리키게 한다.</a:t>
            </a:r>
          </a:p>
          <a:p xmlns:a="http://schemas.openxmlformats.org/drawingml/2006/main">
            <a:r>
              <a:t/>
            </a:r>
          </a:p>
          <a:p xmlns:a="http://schemas.openxmlformats.org/drawingml/2006/main">
            <a:r>
              <a:t>화면 예의 출처: D:\KDigital_PhysicalAI\.build\copyedited-ppt\spec-2026-10-30.json#slide-27</a:t>
            </a:r>
          </a:p>
          <a:p xmlns:a="http://schemas.openxmlformats.org/drawingml/2006/main">
            <a:r>
              <a:t/>
            </a:r>
          </a:p>
          <a:p xmlns:a="http://schemas.openxmlformats.org/drawingml/2006/main">
            <a:r>
              <a:t>학생 교안: https://zeusk302-png.github.io/kdigital-physical-ai/#/sessions/2026-10-30/lesson</a:t>
            </a:r>
          </a:p>
          <a:p xmlns:a="http://schemas.openxmlformats.org/drawingml/2006/main">
            <a:r>
              <a:t>실습: https://zeusk302-png.github.io/kdigital-physical-ai/#/sessions/2026-10-30/activity-A06</a:t>
            </a:r>
          </a:p>
          <a:p xmlns:a="http://schemas.openxmlformats.org/drawingml/2006/main">
            <a:r>
              <a:t>공식 자료: https://docs.python.org/3/library/json.html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outputs/2026-10-30/lesson.md</a:t>
            </a:r>
          </a:p>
          <a:p xmlns:a="http://schemas.openxmlformats.org/drawingml/2006/main">
            <a:r>
              <a:t>제공 참고 코드가 있으면 code 원본을 보존하고 work에 복사한다. 화면의 새로운 짧은 예는 표시된 work 파일에 전체를 입력하고 저장한다. 터미널의 현재 위치는 course다. 명령의 상대 경로 work/를 바꾸지 않는다. 예상 출력은 다음 슬라이드에서 비교한다. Python·numpy·cv2 설치 조건은 해당 예제에 따라 확인하고 불가이면 제공 출력 비교를 사용한다.</a:t>
            </a:r>
          </a:p>
          <a:p xmlns:a="http://schemas.openxmlformats.org/drawingml/2006/main">
            <a:r>
              <a:t>weights와scores의같은번호가같은평가기준을뜻한다는전제다. range(3)은0,1,2의번호를만들고대괄호는그번호의값을고른다. 총점은가중곱의합이다. 숫자로만보지말고필요성/실현/시험의점수근거를말하게한다. 점수는실제조사통계나성공확률이아니다.</a:t>
            </a:r>
          </a:p>
          <a:p xmlns:a="http://schemas.openxmlformats.org/drawingml/2006/main">
            <a:r>
              <a:t/>
            </a:r>
          </a:p>
          <a:p xmlns:a="http://schemas.openxmlformats.org/drawingml/2006/main">
            <a:r>
              <a:t>학생 교안: https://zeusk302-png.github.io/kdigital-physical-ai/#/sessions/2026-10-30/lesson</a:t>
            </a:r>
          </a:p>
          <a:p xmlns:a="http://schemas.openxmlformats.org/drawingml/2006/main">
            <a:r>
              <a:t>실습: https://zeusk302-png.github.io/kdigital-physical-ai/#/sessions/2026-10-30/activity-A06</a:t>
            </a:r>
          </a:p>
          <a:p xmlns:a="http://schemas.openxmlformats.org/drawingml/2006/main">
            <a:r>
              <a:t>공식 자료: https://docs.python.org/3/library/json.html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outputs/2026-10-30/lesson.md</a:t>
            </a:r>
          </a:p>
          <a:p xmlns:a="http://schemas.openxmlformats.org/drawingml/2006/main">
            <a:r>
              <a:t>슬라이드 내용:</a:t>
            </a:r>
          </a:p>
          <a:p xmlns:a="http://schemas.openxmlformats.org/drawingml/2006/main">
            <a:r>
              <a:t>2.00 + 1.40 + 1.25 = 4.65</a:t>
            </a:r>
          </a:p>
          <a:p xmlns:a="http://schemas.openxmlformats.org/drawingml/2006/main">
            <a:r>
              <a:t>가중치를 정한 이유와 각 점수를 준 이유를 적으세요.</a:t>
            </a:r>
          </a:p>
          <a:p xmlns:a="http://schemas.openxmlformats.org/drawingml/2006/main">
            <a:r>
              <a:t>계산 예제에서는 필요성 0.40, 실현 가능성 0.35, 시험 가능성 0.25를 사용합니다. 후보 A의 점수 5,4,5를 각각 곱하면 2.00+1.40+1.25=4.65입니다. 가중치 합은 1입니다. 점수는 실제 조사로 확정한 수가 아니라 제공 교육 사례의 판단입니다. 장비나 기간 조건이 달라지면 점수 근거와 선택을 다시 검토합니다. 소수 둘째 자리 숫자가 사람의 판단을 없애 주지 않습니다.</a:t>
            </a:r>
          </a:p>
          <a:p xmlns:a="http://schemas.openxmlformats.org/drawingml/2006/main">
            <a:r>
              <a:t>예제 자료를 열어 설명한 값이나 항목을 함께 찾는다.</a:t>
            </a:r>
          </a:p>
          <a:p xmlns:a="http://schemas.openxmlformats.org/drawingml/2006/main">
            <a:r>
              <a:t/>
            </a:r>
          </a:p>
          <a:p xmlns:a="http://schemas.openxmlformats.org/drawingml/2006/main">
            <a:r>
              <a:t>학생 교안: https://zeusk302-png.github.io/kdigital-physical-ai/#/sessions/2026-10-30/lesson</a:t>
            </a:r>
          </a:p>
          <a:p xmlns:a="http://schemas.openxmlformats.org/drawingml/2006/main">
            <a:r>
              <a:t>실습: https://zeusk302-png.github.io/kdigital-physical-ai/#/sessions/2026-10-30/activity-A06</a:t>
            </a:r>
          </a:p>
          <a:p xmlns:a="http://schemas.openxmlformats.org/drawingml/2006/main">
            <a:r>
              <a:t>공식 자료: https://docs.python.org/3/library/json.html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outputs/2026-10-30/practice-guide.md</a:t>
            </a:r>
          </a:p>
          <a:p xmlns:a="http://schemas.openxmlformats.org/drawingml/2006/main">
            <a:r>
              <a:t>슬라이드 내용:</a:t>
            </a:r>
          </a:p>
          <a:p xmlns:a="http://schemas.openxmlformats.org/drawingml/2006/main">
            <a:r>
              <a:t>새 후보 D: 점수 4·5·3</a:t>
            </a:r>
          </a:p>
          <a:p xmlns:a="http://schemas.openxmlformats.org/drawingml/2006/main">
            <a:r>
              <a:t>같은 가중치의 점수를 계산하세요.</a:t>
            </a:r>
          </a:p>
          <a:p xmlns:a="http://schemas.openxmlformats.org/drawingml/2006/main">
            <a:r>
              <a:t>같은 문제에 목록 화면, 카메라 인식, 자동 잠금이라는 후보가 나왔습니다. 가장 화려한 기능부터 고르면 장비와 검증 조건이 없어 시작하지 못할 수 있습니다. 후보 비교는 같은 기준으로 장단점을 읽는 일입니다. 가중치는 중요도이고 점수는 근거를 갖춘 판단이며 성공 확률이 아닙니다.</a:t>
            </a:r>
          </a:p>
          <a:p xmlns:a="http://schemas.openxmlformats.org/drawingml/2006/main">
            <a:r>
              <a:t>학생이 예상한 결과와 이유를 먼저 듣고 풀이한다. 숫자뿐 아니라 단위, ID, 조건도 확인한다.</a:t>
            </a:r>
          </a:p>
          <a:p xmlns:a="http://schemas.openxmlformats.org/drawingml/2006/main">
            <a:r>
              <a:t/>
            </a:r>
          </a:p>
          <a:p xmlns:a="http://schemas.openxmlformats.org/drawingml/2006/main">
            <a:r>
              <a:t>학생 교안: https://zeusk302-png.github.io/kdigital-physical-ai/#/sessions/2026-10-30/lesson</a:t>
            </a:r>
          </a:p>
          <a:p xmlns:a="http://schemas.openxmlformats.org/drawingml/2006/main">
            <a:r>
              <a:t>실습: https://zeusk302-png.github.io/kdigital-physical-ai/#/sessions/2026-10-30/activity-A06</a:t>
            </a:r>
          </a:p>
          <a:p xmlns:a="http://schemas.openxmlformats.org/drawingml/2006/main">
            <a:r>
              <a:t>공식 자료: https://docs.python.org/3/library/json.html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outputs/2026-10-30/lesson.md</a:t>
            </a:r>
          </a:p>
          <a:p xmlns:a="http://schemas.openxmlformats.org/drawingml/2006/main">
            <a:r>
              <a:t>슬라이드 내용:</a:t>
            </a:r>
          </a:p>
          <a:p xmlns:a="http://schemas.openxmlformats.org/drawingml/2006/main">
            <a:r>
              <a:t>1.60 + 1.75 + 0.75 = 4.10</a:t>
            </a:r>
          </a:p>
          <a:p xmlns:a="http://schemas.openxmlformats.org/drawingml/2006/main">
            <a:r>
              <a:t>4.10을 성공 확률 41%로 쓰지 않습니다.</a:t>
            </a:r>
          </a:p>
          <a:p xmlns:a="http://schemas.openxmlformats.org/drawingml/2006/main">
            <a:r>
              <a:t>점수는 1.60+1.75+0.75=4.10입니다. 예: “시간 누락 행을 넣으면 ID와 검토 필요 문구를 표시한다.” 취향 표현만 반복하거나 점수 4.10을 성공 확률 41%로 바꾸면 오답입니다.</a:t>
            </a:r>
          </a:p>
          <a:p xmlns:a="http://schemas.openxmlformats.org/drawingml/2006/main">
            <a:r>
              <a:t>예제 자료를 열어 설명한 값이나 항목을 함께 찾는다.</a:t>
            </a:r>
          </a:p>
          <a:p xmlns:a="http://schemas.openxmlformats.org/drawingml/2006/main">
            <a:r>
              <a:t/>
            </a:r>
          </a:p>
          <a:p xmlns:a="http://schemas.openxmlformats.org/drawingml/2006/main">
            <a:r>
              <a:t>학생 교안: https://zeusk302-png.github.io/kdigital-physical-ai/#/sessions/2026-10-30/lesson</a:t>
            </a:r>
          </a:p>
          <a:p xmlns:a="http://schemas.openxmlformats.org/drawingml/2006/main">
            <a:r>
              <a:t>실습: https://zeusk302-png.github.io/kdigital-physical-ai/#/sessions/2026-10-30/activity-A06</a:t>
            </a:r>
          </a:p>
          <a:p xmlns:a="http://schemas.openxmlformats.org/drawingml/2006/main">
            <a:r>
              <a:t>공식 자료: https://docs.python.org/3/library/json.html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outputs/2026-10-30/practice-guide.md</a:t>
            </a:r>
          </a:p>
          <a:p xmlns:a="http://schemas.openxmlformats.org/drawingml/2006/main">
            <a:r>
              <a:t>슬라이드 내용:</a:t>
            </a:r>
          </a:p>
          <a:p xmlns:a="http://schemas.openxmlformats.org/drawingml/2006/main">
            <a:r>
              <a:t>scores를 [3,4,4]로 바꿉니다.</a:t>
            </a:r>
          </a:p>
          <a:p xmlns:a="http://schemas.openxmlformats.org/drawingml/2006/main">
            <a:r>
              <a:t>새 점수는 3.60입니다.</a:t>
            </a:r>
          </a:p>
          <a:p xmlns:a="http://schemas.openxmlformats.org/drawingml/2006/main">
            <a:r>
              <a:t>같은 문제에 목록 화면, 카메라 인식, 자동 잠금이라는 후보가 나왔습니다. 가장 화려한 기능부터 고르면 장비와 검증 조건이 없어 시작하지 못할 수 있습니다. 후보 비교는 같은 기준으로 장단점을 읽는 일입니다. 가중치는 중요도이고 점수는 근거를 갖춘 판단이며 성공 확률이 아닙니다.</a:t>
            </a:r>
          </a:p>
          <a:p xmlns:a="http://schemas.openxmlformats.org/drawingml/2006/main">
            <a:r>
              <a:t>학생이 예상한 결과와 이유를 먼저 듣고 풀이한다. 숫자뿐 아니라 단위, ID, 조건도 확인한다.</a:t>
            </a:r>
          </a:p>
          <a:p xmlns:a="http://schemas.openxmlformats.org/drawingml/2006/main">
            <a:r>
              <a:t/>
            </a:r>
          </a:p>
          <a:p xmlns:a="http://schemas.openxmlformats.org/drawingml/2006/main">
            <a:r>
              <a:t>학생 교안: https://zeusk302-png.github.io/kdigital-physical-ai/#/sessions/2026-10-30/lesson</a:t>
            </a:r>
          </a:p>
          <a:p xmlns:a="http://schemas.openxmlformats.org/drawingml/2006/main">
            <a:r>
              <a:t>실습: https://zeusk302-png.github.io/kdigital-physical-ai/#/sessions/2026-10-30/activity-A06</a:t>
            </a:r>
          </a:p>
          <a:p xmlns:a="http://schemas.openxmlformats.org/drawingml/2006/main">
            <a:r>
              <a:t>공식 자료: https://docs.python.org/3/library/json.html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outputs/2026-10-30/beginner-start.md</a:t>
            </a:r>
          </a:p>
          <a:p xmlns:a="http://schemas.openxmlformats.org/drawingml/2006/main">
            <a:r>
              <a:t>슬라이드 내용:</a:t>
            </a:r>
          </a:p>
          <a:p xmlns:a="http://schemas.openxmlformats.org/drawingml/2006/main">
            <a:r>
              <a:t>“편하고 빠르게”만으로는 무엇을 확인할지 알 수 없습니다.</a:t>
            </a:r>
          </a:p>
          <a:p xmlns:a="http://schemas.openxmlformats.org/drawingml/2006/main">
            <a:r>
              <a:t>시험에 쓸 입력, 나와야 할 결과, 측정 방법을 적으세요.</a:t>
            </a:r>
          </a:p>
          <a:p xmlns:a="http://schemas.openxmlformats.org/drawingml/2006/main">
            <a:r>
              <a:t>선택 뒤에는 최소 범위를 정합니다. 이번 포함은 로컬 CSV 한 개 읽기, 기록 검수, 미확인 목록 표시이며 제외는 카메라 인식, 자동 잠금, 외부 메시지입니다. 작은 범위도 정상 입력과 잘못된 입력의 처리를 다뤄야 합니다. 요구 R1은 “제공 CSV를 읽고 각 행의 대여 ID와 상태를 표시한다”, R2는 “갱신 시각이 없는 행을 review로 표시하고 원문을 유지한다”입니다. “쉽고 빠르게 보여 준다”는 문장은 입력과 기대 결과가 없으므로 아직 시험 가능한 요구가 아닙니다. 성능 목표를 넣으려면 PC 조건, 파일 크기, 측정 시작과 끝을 함께 합의해야 합니다. 추가 카메라 요청은 기존 범위에 자동으로 포함하지 말고 데이터와 시험·일정 영향을 검토합니다.</a:t>
            </a:r>
          </a:p>
          <a:p xmlns:a="http://schemas.openxmlformats.org/drawingml/2006/main">
            <a:r>
              <a:t>예제 자료를 열어 설명한 값이나 항목을 함께 찾는다.</a:t>
            </a:r>
          </a:p>
          <a:p xmlns:a="http://schemas.openxmlformats.org/drawingml/2006/main">
            <a:r>
              <a:t/>
            </a:r>
          </a:p>
          <a:p xmlns:a="http://schemas.openxmlformats.org/drawingml/2006/main">
            <a:r>
              <a:t>학생 교안: https://zeusk302-png.github.io/kdigital-physical-ai/#/sessions/2026-10-30/lesson</a:t>
            </a:r>
          </a:p>
          <a:p xmlns:a="http://schemas.openxmlformats.org/drawingml/2006/main">
            <a:r>
              <a:t>실습: https://zeusk302-png.github.io/kdigital-physical-ai/#/sessions/2026-10-30/activity-A06</a:t>
            </a:r>
          </a:p>
          <a:p xmlns:a="http://schemas.openxmlformats.org/drawingml/2006/main">
            <a:r>
              <a:t>공식 자료: https://docs.python.org/3/library/json.html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outputs/2026-10-30/lesson.md</a:t>
            </a:r>
          </a:p>
          <a:p xmlns:a="http://schemas.openxmlformats.org/drawingml/2006/main">
            <a:r>
              <a:t>슬라이드 내용:</a:t>
            </a:r>
          </a:p>
          <a:p xmlns:a="http://schemas.openxmlformats.org/drawingml/2006/main">
            <a:r>
              <a:t>이번에 만들 기능과 만들지 않을 기능을 말해 보세요.</a:t>
            </a:r>
          </a:p>
          <a:p xmlns:a="http://schemas.openxmlformats.org/drawingml/2006/main">
            <a:r>
              <a:t>입력이 잘못됐을 때의 처리도 정해야 하는 이유는?</a:t>
            </a:r>
          </a:p>
          <a:p xmlns:a="http://schemas.openxmlformats.org/drawingml/2006/main">
            <a:r>
              <a:t>선택 뒤에는 최소 범위를 정합니다. 이번 포함은 로컬 CSV 한 개 읽기, 기록 검수, 미확인 목록 표시이며 제외는 카메라 인식, 자동 잠금, 외부 메시지입니다. 작은 범위도 정상 입력과 잘못된 입력의 처리를 다뤄야 합니다. 요구 R1은 “제공 CSV를 읽고 각 행의 대여 ID와 상태를 표시한다”, R2는 “갱신 시각이 없는 행을 review로 표시하고 원문을 유지한다”입니다. “쉽고 빠르게 보여 준다”는 문장은 입력과 기대 결과가 없으므로 아직 시험 가능한 요구가 아닙니다. 성능 목표를 넣으려면 PC 조건, 파일 크기, 측정 시작과 끝을 함께 합의해야 합니다. 추가 카메라 요청은 기존 범위에 자동으로 포함하지 말고 데이터와 시험·일정 영향을 검토합니다.</a:t>
            </a:r>
          </a:p>
          <a:p xmlns:a="http://schemas.openxmlformats.org/drawingml/2006/main">
            <a:r>
              <a:t>학생이 예상한 결과와 이유를 먼저 듣고 풀이한다. 숫자뿐 아니라 단위, ID, 조건도 확인한다.</a:t>
            </a:r>
          </a:p>
          <a:p xmlns:a="http://schemas.openxmlformats.org/drawingml/2006/main">
            <a:r>
              <a:t/>
            </a:r>
          </a:p>
          <a:p xmlns:a="http://schemas.openxmlformats.org/drawingml/2006/main">
            <a:r>
              <a:t>학생 교안: https://zeusk302-png.github.io/kdigital-physical-ai/#/sessions/2026-10-30/lesson</a:t>
            </a:r>
          </a:p>
          <a:p xmlns:a="http://schemas.openxmlformats.org/drawingml/2006/main">
            <a:r>
              <a:t>실습: https://zeusk302-png.github.io/kdigital-physical-ai/#/sessions/2026-10-30/activity-A06</a:t>
            </a:r>
          </a:p>
          <a:p xmlns:a="http://schemas.openxmlformats.org/drawingml/2006/main">
            <a:r>
              <a:t>공식 자료: https://docs.python.org/3/library/json.html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outputs/2026-10-30/assessment.md</a:t>
            </a:r>
          </a:p>
          <a:p xmlns:a="http://schemas.openxmlformats.org/drawingml/2006/main">
            <a:r>
              <a:t>슬라이드 내용:</a:t>
            </a:r>
          </a:p>
          <a:p xmlns:a="http://schemas.openxmlformats.org/drawingml/2006/main">
            <a:r>
              <a:t>추가·도전: 카메라 기능 추가 요청</a:t>
            </a:r>
          </a:p>
          <a:p xmlns:a="http://schemas.openxmlformats.org/drawingml/2006/main">
            <a:r>
              <a:t>데이터·시험·일정에 주는 영향을 쓰세요.</a:t>
            </a:r>
          </a:p>
          <a:p xmlns:a="http://schemas.openxmlformats.org/drawingml/2006/main">
            <a:r>
              <a:t>선택 뒤에는 최소 범위를 정합니다. 이번 포함은 로컬 CSV 한 개 읽기, 기록 검수, 미확인 목록 표시이며 제외는 카메라 인식, 자동 잠금, 외부 메시지입니다. 작은 범위도 정상 입력과 잘못된 입력의 처리를 다뤄야 합니다. 요구 R1은 “제공 CSV를 읽고 각 행의 대여 ID와 상태를 표시한다”, R2는 “갱신 시각이 없는 행을 review로 표시하고 원문을 유지한다”입니다. “쉽고 빠르게 보여 준다”는 문장은 입력과 기대 결과가 없으므로 아직 시험 가능한 요구가 아닙니다. 성능 목표를 넣으려면 PC 조건, 파일 크기, 측정 시작과 끝을 함께 합의해야 합니다. 추가 카메라 요청은 기존 범위에 자동으로 포함하지 말고 데이터와 시험·일정 영향을 검토합니다.</a:t>
            </a:r>
          </a:p>
          <a:p xmlns:a="http://schemas.openxmlformats.org/drawingml/2006/main">
            <a:r>
              <a:t>학생이 예상한 결과와 이유를 먼저 듣고 풀이한다. 숫자뿐 아니라 단위, ID, 조건도 확인한다.</a:t>
            </a:r>
          </a:p>
          <a:p xmlns:a="http://schemas.openxmlformats.org/drawingml/2006/main">
            <a:r>
              <a:t>관련 전이 문제와 해설:</a:t>
            </a:r>
          </a:p>
          <a:p xmlns:a="http://schemas.openxmlformats.org/drawingml/2006/main">
            <a:r>
              <a:t>필요성·실현·시험 점수 3,4,4에 가중치 .4,.35,.25를 적용하고 관찰 가능한 요구를 하나 쓰세요.</a:t>
            </a:r>
          </a:p>
          <a:p xmlns:a="http://schemas.openxmlformats.org/drawingml/2006/main">
            <a:r>
              <a:t/>
            </a:r>
          </a:p>
          <a:p xmlns:a="http://schemas.openxmlformats.org/drawingml/2006/main">
            <a:r>
              <a:t>&lt;details&gt;&lt;summary&gt;정답과 해설&lt;/summary&gt;</a:t>
            </a:r>
          </a:p>
          <a:p xmlns:a="http://schemas.openxmlformats.org/drawingml/2006/main">
            <a:r>
              <a:t/>
            </a:r>
          </a:p>
          <a:p xmlns:a="http://schemas.openxmlformats.org/drawingml/2006/main">
            <a:r>
              <a:t>1.2+1.4+1=3.6입니다. 예: 누락 행 입력 시 검토 필요 문구 표시. 점수는 성공 확률이 아닙니다.</a:t>
            </a:r>
          </a:p>
          <a:p xmlns:a="http://schemas.openxmlformats.org/drawingml/2006/main">
            <a:r>
              <a:t/>
            </a:r>
          </a:p>
          <a:p xmlns:a="http://schemas.openxmlformats.org/drawingml/2006/main">
            <a:r>
              <a:t>&lt;/details&gt;</a:t>
            </a:r>
          </a:p>
          <a:p xmlns:a="http://schemas.openxmlformats.org/drawingml/2006/main">
            <a:r>
              <a:t>수업에서 먼저 할 실습 뒤 선택한다. 모든 슬라이드를 50분 안에 완수했다는 뜻이 아니다.</a:t>
            </a:r>
          </a:p>
          <a:p xmlns:a="http://schemas.openxmlformats.org/drawingml/2006/main">
            <a:r>
              <a:t/>
            </a:r>
          </a:p>
          <a:p xmlns:a="http://schemas.openxmlformats.org/drawingml/2006/main">
            <a:r>
              <a:t>학생 교안: https://zeusk302-png.github.io/kdigital-physical-ai/#/sessions/2026-10-30/lesson</a:t>
            </a:r>
          </a:p>
          <a:p xmlns:a="http://schemas.openxmlformats.org/drawingml/2006/main">
            <a:r>
              <a:t>실습: https://zeusk302-png.github.io/kdigital-physical-ai/#/sessions/2026-10-30/activity-A06</a:t>
            </a:r>
          </a:p>
          <a:p xmlns:a="http://schemas.openxmlformats.org/drawingml/2006/main">
            <a:r>
              <a:t>공식 자료: https://docs.python.org/3/library/json.html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outputs/2026-10-30/lesson.md</a:t>
            </a:r>
          </a:p>
          <a:p xmlns:a="http://schemas.openxmlformats.org/drawingml/2006/main">
            <a:r>
              <a:t>3교시 필수 개념 보충 · 키와 오류 처리가 있는 데이터·화면 계약</a:t>
            </a:r>
          </a:p>
          <a:p xmlns:a="http://schemas.openxmlformats.org/drawingml/2006/main">
            <a:r>
              <a:t/>
            </a:r>
          </a:p>
          <a:p xmlns:a="http://schemas.openxmlformats.org/drawingml/2006/main">
            <a:r>
              <a:t>실무 상황과 원리</a:t>
            </a:r>
          </a:p>
          <a:p xmlns:a="http://schemas.openxmlformats.org/drawingml/2006/main">
            <a:r>
              <a:t/>
            </a:r>
          </a:p>
          <a:p xmlns:a="http://schemas.openxmlformats.org/drawingml/2006/main">
            <a:r>
              <a:t>같은 물품이 여러 번 대여되는데 물품 번호로만 기록을 묶으면 다른 사람의 대여가 덮일 수 있습니다. 키는 어떤 대상을 구별하는 이름입니다. 대여 기록의 loan_id와 물품의 item_id는 구별하는 대상이 다릅니다. 화면을 그리기 전에 한 행의 의미와 식별 키부터 정합니다.</a:t>
            </a:r>
          </a:p>
          <a:p xmlns:a="http://schemas.openxmlformats.org/drawingml/2006/main">
            <a:r>
              <a:t/>
            </a:r>
          </a:p>
          <a:p xmlns:a="http://schemas.openxmlformats.org/drawingml/2006/main">
            <a:r>
              <a:t>완성 예는 loan_id=L01, item_id=I07, updated_at=빈칸인 행입니다. 입력 CSV 읽기 → 이름과 값으로 파싱 → 키 중복과 상태 검사 → 시각 누락을 review로 판정 → 원문과 검토 이유 표시 순서입니다. L02가 같은 I07을 가진 것은 별도 대여라면 허용할 수 있지만 L01 두 행은 동일 기록 키 중복이라 현재 요구에서 거절합니다. 같은 물품과 같은 대여를 같은 것으로 읽지 않습니다.</a:t>
            </a:r>
          </a:p>
          <a:p xmlns:a="http://schemas.openxmlformats.org/drawingml/2006/main">
            <a:r>
              <a:t/>
            </a:r>
          </a:p>
          <a:p xmlns:a="http://schemas.openxmlformats.org/drawingml/2006/main">
            <a:r>
              <a:t>누락된 갱신 시각을 현재 시각으로 자동 채우면 원문에 없는 기록 변경 사실을 만들어 버립니다. updated_at은 기록 갱신 시각이며 반납 여부의 직접 증거가 아닙니다. status의 returned·checked_out·unknown과 처리 결과 review·reject를 구분합니다. 따라서 원문을 보존하고 사용자 확인이 필요하다고 표시합니다. CSV 문법 오류는 파싱 실패, 키 중복은 계약 실패, 누락은 review라는 화면 상태로 나눕니다. 실패 화면은 이유와 확인할 파일을 보여 주고 정상 빈 목록과 구분합니다. 정상·검토 필요·실패의 화면 예를 종이에 그립니다. 확인 버튼을 그릴 때는 누가 어떤 근거로 바꿀 수 있는지까지 요구해야 합니다. 현재 기본 범위는 자동 반납 확정이 없습니다. 색 외에 문구와 이유가 필요하며, 개인정보가 들어갈 수 있다면 수집할 필드와 공개 범위를 후속 확인 질문으로 남깁니다. 아직 사용자 조사를 하지 않았으면 화면 그림을 확정 요구라고 부르지 않습니다.</a:t>
            </a:r>
          </a:p>
          <a:p xmlns:a="http://schemas.openxmlformats.org/drawingml/2006/main">
            <a:r>
              <a:t/>
            </a:r>
          </a:p>
          <a:p xmlns:a="http://schemas.openxmlformats.org/drawingml/2006/main">
            <a:r>
              <a:t>다른 사례로 연습하기</a:t>
            </a:r>
          </a:p>
          <a:p xmlns:a="http://schemas.openxmlformats.org/drawingml/2006/main">
            <a:r>
              <a:t/>
            </a:r>
          </a:p>
          <a:p xmlns:a="http://schemas.openxmlformats.org/drawingml/2006/main">
            <a:r>
              <a:t>복습 문제: L10/I02, L11/I02, L10/I03의 세 새 행에서 어느 두 행이 현재 기록 키 계약에 충돌하는지 찾으세요. 갱신 시각 누락의 화면 문구도 직접 작성하세요.</a:t>
            </a:r>
          </a:p>
          <a:p xmlns:a="http://schemas.openxmlformats.org/drawingml/2006/main">
            <a:r>
              <a:t/>
            </a:r>
          </a:p>
          <a:p xmlns:a="http://schemas.openxmlformats.org/drawingml/2006/main">
            <a:r>
              <a:t>풀이와 주의할 점</a:t>
            </a:r>
          </a:p>
          <a:p xmlns:a="http://schemas.openxmlformats.org/drawingml/2006/main">
            <a:r>
              <a:t/>
            </a:r>
          </a:p>
          <a:p xmlns:a="http://schemas.openxmlformats.org/drawingml/2006/main">
            <a:r>
              <a:t>첫째와 셋째의 loan_id L10이 충돌합니다. 첫째와 둘째의 같은 item_id는 그 자체로 충돌이 아닙니다. 누락은 “검토 필요: 갱신 시각 없음”처럼 표시하며 실제 반납 완료를 추정하지 않습니다.</a:t>
            </a:r>
          </a:p>
          <a:p xmlns:a="http://schemas.openxmlformats.org/drawingml/2006/main">
            <a:r>
              <a:t/>
            </a:r>
          </a:p>
          <a:p xmlns:a="http://schemas.openxmlformats.org/drawingml/2006/main">
            <a:r>
              <a:t>확인 질문과 답</a:t>
            </a:r>
          </a:p>
          <a:p xmlns:a="http://schemas.openxmlformats.org/drawingml/2006/main">
            <a:r>
              <a:t/>
            </a:r>
          </a:p>
          <a:p xmlns:a="http://schemas.openxmlformats.org/drawingml/2006/main">
            <a:r>
              <a:t>1. loan_id가 구별하는 것은? → 한 대여 기록입니다.</a:t>
            </a:r>
          </a:p>
          <a:p xmlns:a="http://schemas.openxmlformats.org/drawingml/2006/main">
            <a:r>
              <a:t>2. 파싱 성공이 계약 통과인가요? → 추가 검사가 필요합니다.</a:t>
            </a:r>
          </a:p>
          <a:p xmlns:a="http://schemas.openxmlformats.org/drawingml/2006/main">
            <a:r>
              <a:t>3. 누락을 현재 시각으로 채우나요? → 현재 범위에서는 원문을 보존합니다.</a:t>
            </a:r>
          </a:p>
          <a:p xmlns:a="http://schemas.openxmlformats.org/drawingml/2006/main">
            <a:r>
              <a:t>먼저 예제를 보여 준 뒤 함께 따라 한다. 조건 하나를 바꿔 예상 결과와 실제 결과를 비교한다. 학생에게 값이 바뀐 이유를 물어본다. 복습 문제는 기본 실습을 마친 뒤 선택한다.</a:t>
            </a:r>
          </a:p>
          <a:p xmlns:a="http://schemas.openxmlformats.org/drawingml/2006/main">
            <a:r>
              <a:t/>
            </a:r>
          </a:p>
          <a:p xmlns:a="http://schemas.openxmlformats.org/drawingml/2006/main">
            <a:r>
              <a:t>학생 교안: https://zeusk302-png.github.io/kdigital-physical-ai/#/sessions/2026-10-30/lesson</a:t>
            </a:r>
          </a:p>
          <a:p xmlns:a="http://schemas.openxmlformats.org/drawingml/2006/main">
            <a:r>
              <a:t>실습: https://zeusk302-png.github.io/kdigital-physical-ai/#/sessions/2026-10-30/activity-A06</a:t>
            </a:r>
          </a:p>
          <a:p xmlns:a="http://schemas.openxmlformats.org/drawingml/2006/main">
            <a:r>
              <a:t>공식 자료: https://docs.python.org/3/library/csv.html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outputs/2026-10-30/lesson.md</a:t>
            </a:r>
          </a:p>
          <a:p xmlns:a="http://schemas.openxmlformats.org/drawingml/2006/main">
            <a:r>
              <a:t>슬라이드 내용:</a:t>
            </a:r>
          </a:p>
          <a:p xmlns:a="http://schemas.openxmlformats.org/drawingml/2006/main">
            <a:r>
              <a:t>loan_id: 대여 한 건의 키</a:t>
            </a:r>
          </a:p>
          <a:p xmlns:a="http://schemas.openxmlformats.org/drawingml/2006/main">
            <a:r>
              <a:t>item_id: 물품의 식별자</a:t>
            </a:r>
          </a:p>
          <a:p xmlns:a="http://schemas.openxmlformats.org/drawingml/2006/main">
            <a:r>
              <a:t>같은 물품이 여러 번 대여되는데 물품 번호로만 기록을 묶으면 다른 사람의 대여가 덮일 수 있습니다. 키는 어떤 대상을 구별하는 이름입니다. 대여 기록의 loan_id와 물품의 item_id는 구별하는 대상이 다릅니다. 화면을 그리기 전에 한 행의 의미와 식별 키부터 정합니다.</a:t>
            </a:r>
          </a:p>
          <a:p xmlns:a="http://schemas.openxmlformats.org/drawingml/2006/main">
            <a:r>
              <a:t>예제 자료를 열어 설명한 값이나 항목을 함께 찾는다.</a:t>
            </a:r>
          </a:p>
          <a:p xmlns:a="http://schemas.openxmlformats.org/drawingml/2006/main">
            <a:r>
              <a:t/>
            </a:r>
          </a:p>
          <a:p xmlns:a="http://schemas.openxmlformats.org/drawingml/2006/main">
            <a:r>
              <a:t>화면 예의 출처: D:\KDigital_PhysicalAI\.build\copyedited-ppt\spec-2026-10-30.json#slide-47</a:t>
            </a:r>
          </a:p>
          <a:p xmlns:a="http://schemas.openxmlformats.org/drawingml/2006/main">
            <a:r>
              <a:t/>
            </a:r>
          </a:p>
          <a:p xmlns:a="http://schemas.openxmlformats.org/drawingml/2006/main">
            <a:r>
              <a:t>학생 교안: https://zeusk302-png.github.io/kdigital-physical-ai/#/sessions/2026-10-30/lesson</a:t>
            </a:r>
          </a:p>
          <a:p xmlns:a="http://schemas.openxmlformats.org/drawingml/2006/main">
            <a:r>
              <a:t>실습: https://zeusk302-png.github.io/kdigital-physical-ai/#/sessions/2026-10-30/activity-A07</a:t>
            </a:r>
          </a:p>
          <a:p xmlns:a="http://schemas.openxmlformats.org/drawingml/2006/main">
            <a:r>
              <a:t>공식 자료: https://docs.python.org/3/library/csv.html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outputs/2026-10-30/lesson.md</a:t>
            </a:r>
          </a:p>
          <a:p xmlns:a="http://schemas.openxmlformats.org/drawingml/2006/main">
            <a:r>
              <a:t>슬라이드 내용:</a:t>
            </a:r>
          </a:p>
          <a:p xmlns:a="http://schemas.openxmlformats.org/drawingml/2006/main">
            <a:r>
              <a:t>다른 loan_id의 같은 item_id는 가능</a:t>
            </a:r>
          </a:p>
          <a:p xmlns:a="http://schemas.openxmlformats.org/drawingml/2006/main">
            <a:r>
              <a:t>같은 loan_id가 두 행에 있으면 중복 오류로 처리</a:t>
            </a:r>
          </a:p>
          <a:p xmlns:a="http://schemas.openxmlformats.org/drawingml/2006/main">
            <a:r>
              <a:t>완성 예는 loan_id=L01, item_id=I07, updated_at=빈칸인 행입니다. 입력 CSV 읽기 → 이름과 값으로 파싱 → 키 중복과 상태 검사 → 시각 누락을 review로 판정 → 원문과 검토 이유 표시 순서입니다. L02가 같은 I07을 가진 것은 별도 대여라면 허용할 수 있지만 L01 두 행은 동일 기록 키 중복이라 현재 요구에서 거절합니다. 같은 물품과 같은 대여를 같은 것으로 읽지 않습니다.</a:t>
            </a:r>
          </a:p>
          <a:p xmlns:a="http://schemas.openxmlformats.org/drawingml/2006/main">
            <a:r>
              <a:t>예제 자료를 열어 설명한 값이나 항목을 함께 찾는다.</a:t>
            </a:r>
          </a:p>
          <a:p xmlns:a="http://schemas.openxmlformats.org/drawingml/2006/main">
            <a:r>
              <a:t/>
            </a:r>
          </a:p>
          <a:p xmlns:a="http://schemas.openxmlformats.org/drawingml/2006/main">
            <a:r>
              <a:t>화면 예의 출처: D:\KDigital_PhysicalAI\.build\copyedited-ppt\spec-2026-10-30.json#slide-47</a:t>
            </a:r>
          </a:p>
          <a:p xmlns:a="http://schemas.openxmlformats.org/drawingml/2006/main">
            <a:r>
              <a:t/>
            </a:r>
          </a:p>
          <a:p xmlns:a="http://schemas.openxmlformats.org/drawingml/2006/main">
            <a:r>
              <a:t>학생 교안: https://zeusk302-png.github.io/kdigital-physical-ai/#/sessions/2026-10-30/lesson</a:t>
            </a:r>
          </a:p>
          <a:p xmlns:a="http://schemas.openxmlformats.org/drawingml/2006/main">
            <a:r>
              <a:t>실습: https://zeusk302-png.github.io/kdigital-physical-ai/#/sessions/2026-10-30/activity-A07</a:t>
            </a:r>
          </a:p>
          <a:p xmlns:a="http://schemas.openxmlformats.org/drawingml/2006/main">
            <a:r>
              <a:t>공식 자료: https://docs.python.org/3/library/csv.html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outputs/2026-10-30/lesson.md</a:t>
            </a:r>
          </a:p>
          <a:p xmlns:a="http://schemas.openxmlformats.org/drawingml/2006/main">
            <a:r>
              <a:t>슬라이드 내용:</a:t>
            </a:r>
          </a:p>
          <a:p xmlns:a="http://schemas.openxmlformats.org/drawingml/2006/main">
            <a:r>
              <a:t>updated_at만으로 반납 시각이나 반납 여부를 알 수 없습니다.</a:t>
            </a:r>
          </a:p>
          <a:p xmlns:a="http://schemas.openxmlformats.org/drawingml/2006/main">
            <a:r>
              <a:t>status와 함께 원문 그대로 읽습니다.</a:t>
            </a:r>
          </a:p>
          <a:p xmlns:a="http://schemas.openxmlformats.org/drawingml/2006/main">
            <a:r>
              <a:t>누락된 갱신 시각을 현재 시각으로 자동 채우면 원문에 없는 기록 변경 사실을 만들어 버립니다. updated_at은 기록 갱신 시각이며 반납 여부의 직접 증거가 아닙니다. status의 returned·checked_out·unknown과 처리 결과 review·reject를 구분합니다. 따라서 원문을 보존하고 사용자 확인이 필요하다고 표시합니다. CSV 문법 오류는 파싱 실패, 키 중복은 계약 실패, 누락은 review라는 화면 상태로 나눕니다. 실패 화면은 이유와 확인할 파일을 보여 주고 정상 빈 목록과 구분합니다. 정상·검토 필요·실패의 화면 예를 종이에 그립니다. 확인 버튼을 그릴 때는 누가 어떤 근거로 바꿀 수 있는지까지 요구해야 합니다. 현재 기본 범위는 자동 반납 확정이 없습니다. 색 외에 문구와 이유가 필요하며, 개인정보가 들어갈 수 있다면 수집할 필드와 공개 범위를 후속 확인 질문으로 남깁니다. 아직 사용자 조사를 하지 않았으면 화면 그림을 확정 요구라고 부르지 않습니다.</a:t>
            </a:r>
          </a:p>
          <a:p xmlns:a="http://schemas.openxmlformats.org/drawingml/2006/main">
            <a:r>
              <a:t>예제 자료를 열어 설명한 값이나 항목을 함께 찾는다.</a:t>
            </a:r>
          </a:p>
          <a:p xmlns:a="http://schemas.openxmlformats.org/drawingml/2006/main">
            <a:r>
              <a:t/>
            </a:r>
          </a:p>
          <a:p xmlns:a="http://schemas.openxmlformats.org/drawingml/2006/main">
            <a:r>
              <a:t>화면 예의 출처: D:\KDigital_PhysicalAI\.build\copyedited-ppt\spec-2026-10-30.json#slide-43</a:t>
            </a:r>
          </a:p>
          <a:p xmlns:a="http://schemas.openxmlformats.org/drawingml/2006/main">
            <a:r>
              <a:t/>
            </a:r>
          </a:p>
          <a:p xmlns:a="http://schemas.openxmlformats.org/drawingml/2006/main">
            <a:r>
              <a:t>학생 교안: https://zeusk302-png.github.io/kdigital-physical-ai/#/sessions/2026-10-30/lesson</a:t>
            </a:r>
          </a:p>
          <a:p xmlns:a="http://schemas.openxmlformats.org/drawingml/2006/main">
            <a:r>
              <a:t>실습: https://zeusk302-png.github.io/kdigital-physical-ai/#/sessions/2026-10-30/activity-A07</a:t>
            </a:r>
          </a:p>
          <a:p xmlns:a="http://schemas.openxmlformats.org/drawingml/2006/main">
            <a:r>
              <a:t>공식 자료: https://docs.python.org/3/library/csv.html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outputs/2026-10-30/lesson.md</a:t>
            </a:r>
          </a:p>
          <a:p xmlns:a="http://schemas.openxmlformats.org/drawingml/2006/main">
            <a:r>
              <a:t>슬라이드 내용:</a:t>
            </a:r>
          </a:p>
          <a:p xmlns:a="http://schemas.openxmlformats.org/drawingml/2006/main">
            <a:r>
              <a:t>status: checked_out · returned · unknown</a:t>
            </a:r>
          </a:p>
          <a:p xmlns:a="http://schemas.openxmlformats.org/drawingml/2006/main">
            <a:r>
              <a:t>처리 결과: review · reject</a:t>
            </a:r>
          </a:p>
          <a:p xmlns:a="http://schemas.openxmlformats.org/drawingml/2006/main">
            <a:r>
              <a:t>누락된 갱신 시각을 현재 시각으로 자동 채우면 원문에 없는 기록 변경 사실을 만들어 버립니다. updated_at은 기록 갱신 시각이며 반납 여부의 직접 증거가 아닙니다. status의 returned·checked_out·unknown과 처리 결과 review·reject를 구분합니다. 따라서 원문을 보존하고 사용자 확인이 필요하다고 표시합니다. CSV 문법 오류는 파싱 실패, 키 중복은 계약 실패, 누락은 review라는 화면 상태로 나눕니다. 실패 화면은 이유와 확인할 파일을 보여 주고 정상 빈 목록과 구분합니다. 정상·검토 필요·실패의 화면 예를 종이에 그립니다. 확인 버튼을 그릴 때는 누가 어떤 근거로 바꿀 수 있는지까지 요구해야 합니다. 현재 기본 범위는 자동 반납 확정이 없습니다. 색 외에 문구와 이유가 필요하며, 개인정보가 들어갈 수 있다면 수집할 필드와 공개 범위를 후속 확인 질문으로 남깁니다. 아직 사용자 조사를 하지 않았으면 화면 그림을 확정 요구라고 부르지 않습니다.</a:t>
            </a:r>
          </a:p>
          <a:p xmlns:a="http://schemas.openxmlformats.org/drawingml/2006/main">
            <a:r>
              <a:t>예제 자료를 열어 설명한 값이나 항목을 함께 찾는다.</a:t>
            </a:r>
          </a:p>
          <a:p xmlns:a="http://schemas.openxmlformats.org/drawingml/2006/main">
            <a:r>
              <a:t/>
            </a:r>
          </a:p>
          <a:p xmlns:a="http://schemas.openxmlformats.org/drawingml/2006/main">
            <a:r>
              <a:t>화면 예의 출처: D:\KDigital_PhysicalAI\.build\copyedited-ppt\spec-2026-10-30.json#slide-41</a:t>
            </a:r>
          </a:p>
          <a:p xmlns:a="http://schemas.openxmlformats.org/drawingml/2006/main">
            <a:r>
              <a:t/>
            </a:r>
          </a:p>
          <a:p xmlns:a="http://schemas.openxmlformats.org/drawingml/2006/main">
            <a:r>
              <a:t>학생 교안: https://zeusk302-png.github.io/kdigital-physical-ai/#/sessions/2026-10-30/lesson</a:t>
            </a:r>
          </a:p>
          <a:p xmlns:a="http://schemas.openxmlformats.org/drawingml/2006/main">
            <a:r>
              <a:t>실습: https://zeusk302-png.github.io/kdigital-physical-ai/#/sessions/2026-10-30/activity-A07</a:t>
            </a:r>
          </a:p>
          <a:p xmlns:a="http://schemas.openxmlformats.org/drawingml/2006/main">
            <a:r>
              <a:t>공식 자료: https://docs.python.org/3/library/csv.html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outputs/2026-10-30/lesson.md</a:t>
            </a:r>
          </a:p>
          <a:p xmlns:a="http://schemas.openxmlformats.org/drawingml/2006/main">
            <a:r>
              <a:t>슬라이드 내용:</a:t>
            </a:r>
          </a:p>
          <a:p xmlns:a="http://schemas.openxmlformats.org/drawingml/2006/main">
            <a:r>
              <a:t>CSV 파싱 → 키·값 검사 → 화면 표시</a:t>
            </a:r>
          </a:p>
          <a:p xmlns:a="http://schemas.openxmlformats.org/drawingml/2006/main">
            <a:r>
              <a:t>CSV 형식 오류와 값이 규칙에 맞지 않는 오류를 구분합니다.</a:t>
            </a:r>
          </a:p>
          <a:p xmlns:a="http://schemas.openxmlformats.org/drawingml/2006/main">
            <a:r>
              <a:t>누락된 갱신 시각을 현재 시각으로 자동 채우면 원문에 없는 기록 변경 사실을 만들어 버립니다. updated_at은 기록 갱신 시각이며 반납 여부의 직접 증거가 아닙니다. status의 returned·checked_out·unknown과 처리 결과 review·reject를 구분합니다. 따라서 원문을 보존하고 사용자 확인이 필요하다고 표시합니다. CSV 문법 오류는 파싱 실패, 키 중복은 계약 실패, 누락은 review라는 화면 상태로 나눕니다. 실패 화면은 이유와 확인할 파일을 보여 주고 정상 빈 목록과 구분합니다. 정상·검토 필요·실패의 화면 예를 종이에 그립니다. 확인 버튼을 그릴 때는 누가 어떤 근거로 바꿀 수 있는지까지 요구해야 합니다. 현재 기본 범위는 자동 반납 확정이 없습니다. 색 외에 문구와 이유가 필요하며, 개인정보가 들어갈 수 있다면 수집할 필드와 공개 범위를 후속 확인 질문으로 남깁니다. 아직 사용자 조사를 하지 않았으면 화면 그림을 확정 요구라고 부르지 않습니다.</a:t>
            </a:r>
          </a:p>
          <a:p xmlns:a="http://schemas.openxmlformats.org/drawingml/2006/main">
            <a:r>
              <a:t>예제 자료를 열어 설명한 값이나 항목을 함께 찾는다.</a:t>
            </a:r>
          </a:p>
          <a:p xmlns:a="http://schemas.openxmlformats.org/drawingml/2006/main">
            <a:r>
              <a:t/>
            </a:r>
          </a:p>
          <a:p xmlns:a="http://schemas.openxmlformats.org/drawingml/2006/main">
            <a:r>
              <a:t>학생 교안: https://zeusk302-png.github.io/kdigital-physical-ai/#/sessions/2026-10-30/lesson</a:t>
            </a:r>
          </a:p>
          <a:p xmlns:a="http://schemas.openxmlformats.org/drawingml/2006/main">
            <a:r>
              <a:t>실습: https://zeusk302-png.github.io/kdigital-physical-ai/#/sessions/2026-10-30/activity-A08</a:t>
            </a:r>
          </a:p>
          <a:p xmlns:a="http://schemas.openxmlformats.org/drawingml/2006/main">
            <a:r>
              <a:t>공식 자료: https://docs.python.org/3/library/csv.html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outputs/2026-10-30/lesson.md</a:t>
            </a:r>
          </a:p>
          <a:p xmlns:a="http://schemas.openxmlformats.org/drawingml/2006/main">
            <a:r>
              <a:t>슬라이드 내용:</a:t>
            </a:r>
          </a:p>
          <a:p xmlns:a="http://schemas.openxmlformats.org/drawingml/2006/main">
            <a:r>
              <a:t>updated_at 빈칸 → review와 이유</a:t>
            </a:r>
          </a:p>
          <a:p xmlns:a="http://schemas.openxmlformats.org/drawingml/2006/main">
            <a:r>
              <a:t>현재 시각을 만들거나 반납 완료로 바꾸지 않습니다.</a:t>
            </a:r>
          </a:p>
          <a:p xmlns:a="http://schemas.openxmlformats.org/drawingml/2006/main">
            <a:r>
              <a:t>누락된 갱신 시각을 현재 시각으로 자동 채우면 원문에 없는 기록 변경 사실을 만들어 버립니다. updated_at은 기록 갱신 시각이며 반납 여부의 직접 증거가 아닙니다. status의 returned·checked_out·unknown과 처리 결과 review·reject를 구분합니다. 따라서 원문을 보존하고 사용자 확인이 필요하다고 표시합니다. CSV 문법 오류는 파싱 실패, 키 중복은 계약 실패, 누락은 review라는 화면 상태로 나눕니다. 실패 화면은 이유와 확인할 파일을 보여 주고 정상 빈 목록과 구분합니다. 정상·검토 필요·실패의 화면 예를 종이에 그립니다. 확인 버튼을 그릴 때는 누가 어떤 근거로 바꿀 수 있는지까지 요구해야 합니다. 현재 기본 범위는 자동 반납 확정이 없습니다. 색 외에 문구와 이유가 필요하며, 개인정보가 들어갈 수 있다면 수집할 필드와 공개 범위를 후속 확인 질문으로 남깁니다. 아직 사용자 조사를 하지 않았으면 화면 그림을 확정 요구라고 부르지 않습니다.</a:t>
            </a:r>
          </a:p>
          <a:p xmlns:a="http://schemas.openxmlformats.org/drawingml/2006/main">
            <a:r>
              <a:t>예제 자료를 열어 설명한 값이나 항목을 함께 찾는다.</a:t>
            </a:r>
          </a:p>
          <a:p xmlns:a="http://schemas.openxmlformats.org/drawingml/2006/main">
            <a:r>
              <a:t/>
            </a:r>
          </a:p>
          <a:p xmlns:a="http://schemas.openxmlformats.org/drawingml/2006/main">
            <a:r>
              <a:t>화면 예의 출처: D:\KDigital_PhysicalAI\.build\copyedited-ppt\spec-2026-10-30.json#slide-43</a:t>
            </a:r>
          </a:p>
          <a:p xmlns:a="http://schemas.openxmlformats.org/drawingml/2006/main">
            <a:r>
              <a:t/>
            </a:r>
          </a:p>
          <a:p xmlns:a="http://schemas.openxmlformats.org/drawingml/2006/main">
            <a:r>
              <a:t>학생 교안: https://zeusk302-png.github.io/kdigital-physical-ai/#/sessions/2026-10-30/lesson</a:t>
            </a:r>
          </a:p>
          <a:p xmlns:a="http://schemas.openxmlformats.org/drawingml/2006/main">
            <a:r>
              <a:t>실습: https://zeusk302-png.github.io/kdigital-physical-ai/#/sessions/2026-10-30/activity-A08</a:t>
            </a:r>
          </a:p>
          <a:p xmlns:a="http://schemas.openxmlformats.org/drawingml/2006/main">
            <a:r>
              <a:t>공식 자료: https://docs.python.org/3/library/csv.html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outputs/2026-10-30/lesson.md</a:t>
            </a:r>
          </a:p>
          <a:p xmlns:a="http://schemas.openxmlformats.org/drawingml/2006/main">
            <a:r>
              <a:t>슬라이드 내용:</a:t>
            </a:r>
          </a:p>
          <a:p xmlns:a="http://schemas.openxmlformats.org/drawingml/2006/main">
            <a:r>
              <a:t/>
            </a:r>
          </a:p>
          <a:p xmlns:a="http://schemas.openxmlformats.org/drawingml/2006/main">
            <a:r>
              <a:t>누락된 갱신 시각을 현재 시각으로 자동 채우면 원문에 없는 기록 변경 사실을 만들어 버립니다. updated_at은 기록 갱신 시각이며 반납 여부의 직접 증거가 아닙니다. status의 returned·checked_out·unknown과 처리 결과 review·reject를 구분합니다. 따라서 원문을 보존하고 사용자 확인이 필요하다고 표시합니다. CSV 문법 오류는 파싱 실패, 키 중복은 계약 실패, 누락은 review라는 화면 상태로 나눕니다. 실패 화면은 이유와 확인할 파일을 보여 주고 정상 빈 목록과 구분합니다. 정상·검토 필요·실패의 화면 예를 종이에 그립니다. 확인 버튼을 그릴 때는 누가 어떤 근거로 바꿀 수 있는지까지 요구해야 합니다. 현재 기본 범위는 자동 반납 확정이 없습니다. 색 외에 문구와 이유가 필요하며, 개인정보가 들어갈 수 있다면 수집할 필드와 공개 범위를 후속 확인 질문으로 남깁니다. 아직 사용자 조사를 하지 않았으면 화면 그림을 확정 요구라고 부르지 않습니다.</a:t>
            </a:r>
          </a:p>
          <a:p xmlns:a="http://schemas.openxmlformats.org/drawingml/2006/main">
            <a:r>
              <a:t>한 행을 입력과 기대 출력으로 이어 읽게 한다. 표의 값은 조건과 범위를 함께 확인한다.</a:t>
            </a:r>
          </a:p>
          <a:p xmlns:a="http://schemas.openxmlformats.org/drawingml/2006/main">
            <a:r>
              <a:t/>
            </a:r>
          </a:p>
          <a:p xmlns:a="http://schemas.openxmlformats.org/drawingml/2006/main">
            <a:r>
              <a:t>학생 교안: https://zeusk302-png.github.io/kdigital-physical-ai/#/sessions/2026-10-30/lesson</a:t>
            </a:r>
          </a:p>
          <a:p xmlns:a="http://schemas.openxmlformats.org/drawingml/2006/main">
            <a:r>
              <a:t>실습: https://zeusk302-png.github.io/kdigital-physical-ai/#/sessions/2026-10-30/activity-A09</a:t>
            </a:r>
          </a:p>
          <a:p xmlns:a="http://schemas.openxmlformats.org/drawingml/2006/main">
            <a:r>
              <a:t>공식 자료: https://docs.python.org/3/library/csv.html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outputs/2026-10-30/lesson.md</a:t>
            </a:r>
          </a:p>
          <a:p xmlns:a="http://schemas.openxmlformats.org/drawingml/2006/main">
            <a:r>
              <a:t>슬라이드 내용:</a:t>
            </a:r>
          </a:p>
          <a:p xmlns:a="http://schemas.openxmlformats.org/drawingml/2006/main">
            <a:r>
              <a:t>대여 ID가 중복되거나 갱신 시각이 없을 때의 처리를 정하세요.</a:t>
            </a:r>
          </a:p>
          <a:p xmlns:a="http://schemas.openxmlformats.org/drawingml/2006/main">
            <a:r>
              <a:t>검토가 필요한 이유와 원래 기록을 화면에 표시합니다.</a:t>
            </a:r>
          </a:p>
          <a:p xmlns:a="http://schemas.openxmlformats.org/drawingml/2006/main">
            <a:r>
              <a:t>누락된 갱신 시각을 현재 시각으로 자동 채우면 원문에 없는 기록 변경 사실을 만들어 버립니다. updated_at은 기록 갱신 시각이며 반납 여부의 직접 증거가 아닙니다. status의 returned·checked_out·unknown과 처리 결과 review·reject를 구분합니다. 따라서 원문을 보존하고 사용자 확인이 필요하다고 표시합니다. CSV 문법 오류는 파싱 실패, 키 중복은 계약 실패, 누락은 review라는 화면 상태로 나눕니다. 실패 화면은 이유와 확인할 파일을 보여 주고 정상 빈 목록과 구분합니다. 정상·검토 필요·실패의 화면 예를 종이에 그립니다. 확인 버튼을 그릴 때는 누가 어떤 근거로 바꿀 수 있는지까지 요구해야 합니다. 현재 기본 범위는 자동 반납 확정이 없습니다. 색 외에 문구와 이유가 필요하며, 개인정보가 들어갈 수 있다면 수집할 필드와 공개 범위를 후속 확인 질문으로 남깁니다. 아직 사용자 조사를 하지 않았으면 화면 그림을 확정 요구라고 부르지 않습니다.</a:t>
            </a:r>
          </a:p>
          <a:p xmlns:a="http://schemas.openxmlformats.org/drawingml/2006/main">
            <a:r>
              <a:t>예제 자료를 열어 설명한 값이나 항목을 함께 찾는다.</a:t>
            </a:r>
          </a:p>
          <a:p xmlns:a="http://schemas.openxmlformats.org/drawingml/2006/main">
            <a:r>
              <a:t/>
            </a:r>
          </a:p>
          <a:p xmlns:a="http://schemas.openxmlformats.org/drawingml/2006/main">
            <a:r>
              <a:t>학생 교안: https://zeusk302-png.github.io/kdigital-physical-ai/#/sessions/2026-10-30/lesson</a:t>
            </a:r>
          </a:p>
          <a:p xmlns:a="http://schemas.openxmlformats.org/drawingml/2006/main">
            <a:r>
              <a:t>실습: https://zeusk302-png.github.io/kdigital-physical-ai/#/sessions/2026-10-30/activity-A09</a:t>
            </a:r>
          </a:p>
          <a:p xmlns:a="http://schemas.openxmlformats.org/drawingml/2006/main">
            <a:r>
              <a:t>공식 자료: https://docs.python.org/3/library/csv.html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outputs/2026-10-30/practice-guide.md</a:t>
            </a:r>
          </a:p>
          <a:p xmlns:a="http://schemas.openxmlformats.org/drawingml/2006/main">
            <a:r>
              <a:t>슬라이드 내용:</a:t>
            </a:r>
          </a:p>
          <a:p xmlns:a="http://schemas.openxmlformats.org/drawingml/2006/main">
            <a:r>
              <a:t>L10/I02 · L11/I02 · L10/I03</a:t>
            </a:r>
          </a:p>
          <a:p xmlns:a="http://schemas.openxmlformats.org/drawingml/2006/main">
            <a:r>
              <a:t>loan_id가 중복된 두 행은 어느 것인가요?</a:t>
            </a:r>
          </a:p>
          <a:p xmlns:a="http://schemas.openxmlformats.org/drawingml/2006/main">
            <a:r>
              <a:t>완성 예는 loan_id=L01, item_id=I07, updated_at=빈칸인 행입니다. 입력 CSV 읽기 → 이름과 값으로 파싱 → 키 중복과 상태 검사 → 시각 누락을 review로 판정 → 원문과 검토 이유 표시 순서입니다. L02가 같은 I07을 가진 것은 별도 대여라면 허용할 수 있지만 L01 두 행은 동일 기록 키 중복이라 현재 요구에서 거절합니다. 같은 물품과 같은 대여를 같은 것으로 읽지 않습니다.</a:t>
            </a:r>
          </a:p>
          <a:p xmlns:a="http://schemas.openxmlformats.org/drawingml/2006/main">
            <a:r>
              <a:t>학생이 예상한 결과와 이유를 먼저 듣고 풀이한다. 숫자뿐 아니라 단위, ID, 조건도 확인한다.</a:t>
            </a:r>
          </a:p>
          <a:p xmlns:a="http://schemas.openxmlformats.org/drawingml/2006/main">
            <a:r>
              <a:t/>
            </a:r>
          </a:p>
          <a:p xmlns:a="http://schemas.openxmlformats.org/drawingml/2006/main">
            <a:r>
              <a:t>학생 교안: https://zeusk302-png.github.io/kdigital-physical-ai/#/sessions/2026-10-30/lesson</a:t>
            </a:r>
          </a:p>
          <a:p xmlns:a="http://schemas.openxmlformats.org/drawingml/2006/main">
            <a:r>
              <a:t>실습: https://zeusk302-png.github.io/kdigital-physical-ai/#/sessions/2026-10-30/activity-A09</a:t>
            </a:r>
          </a:p>
          <a:p xmlns:a="http://schemas.openxmlformats.org/drawingml/2006/main">
            <a:r>
              <a:t>공식 자료: https://docs.python.org/3/library/csv.html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outputs/2026-10-30/lesson.md</a:t>
            </a:r>
          </a:p>
          <a:p xmlns:a="http://schemas.openxmlformats.org/drawingml/2006/main">
            <a:r>
              <a:t>슬라이드 내용:</a:t>
            </a:r>
          </a:p>
          <a:p xmlns:a="http://schemas.openxmlformats.org/drawingml/2006/main">
            <a:r>
              <a:t>첫째와 셋째의 loan_id=L10이 충돌합니다.</a:t>
            </a:r>
          </a:p>
          <a:p xmlns:a="http://schemas.openxmlformats.org/drawingml/2006/main">
            <a:r>
              <a:t>같은 item_id=I02는 별도 대여일 수 있습니다.</a:t>
            </a:r>
          </a:p>
          <a:p xmlns:a="http://schemas.openxmlformats.org/drawingml/2006/main">
            <a:r>
              <a:t>첫째와 셋째의 loan_id L10이 충돌합니다. 첫째와 둘째의 같은 item_id는 그 자체로 충돌이 아닙니다. 누락은 “검토 필요: 갱신 시각 없음”처럼 표시하며 실제 반납 완료를 추정하지 않습니다.</a:t>
            </a:r>
          </a:p>
          <a:p xmlns:a="http://schemas.openxmlformats.org/drawingml/2006/main">
            <a:r>
              <a:t>예제 자료를 열어 설명한 값이나 항목을 함께 찾는다.</a:t>
            </a:r>
          </a:p>
          <a:p xmlns:a="http://schemas.openxmlformats.org/drawingml/2006/main">
            <a:r>
              <a:t/>
            </a:r>
          </a:p>
          <a:p xmlns:a="http://schemas.openxmlformats.org/drawingml/2006/main">
            <a:r>
              <a:t>학생 교안: https://zeusk302-png.github.io/kdigital-physical-ai/#/sessions/2026-10-30/lesson</a:t>
            </a:r>
          </a:p>
          <a:p xmlns:a="http://schemas.openxmlformats.org/drawingml/2006/main">
            <a:r>
              <a:t>실습: https://zeusk302-png.github.io/kdigital-physical-ai/#/sessions/2026-10-30/activity-A09</a:t>
            </a:r>
          </a:p>
          <a:p xmlns:a="http://schemas.openxmlformats.org/drawingml/2006/main">
            <a:r>
              <a:t>공식 자료: https://docs.python.org/3/library/csv.html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outputs/2026-10-30/practice-guide.md</a:t>
            </a:r>
          </a:p>
          <a:p xmlns:a="http://schemas.openxmlformats.org/drawingml/2006/main">
            <a:r>
              <a:t>슬라이드 내용:</a:t>
            </a:r>
          </a:p>
          <a:p xmlns:a="http://schemas.openxmlformats.org/drawingml/2006/main">
            <a:r>
              <a:t>예제에서 updated_at을 빈칸으로 바꿉니다.</a:t>
            </a:r>
          </a:p>
          <a:p xmlns:a="http://schemas.openxmlformats.org/drawingml/2006/main">
            <a:r>
              <a:t>status는 유지하고 review를 추가합니다.</a:t>
            </a:r>
          </a:p>
          <a:p xmlns:a="http://schemas.openxmlformats.org/drawingml/2006/main">
            <a:r>
              <a:t>완성 예는 loan_id=L01, item_id=I07, updated_at=빈칸인 행입니다. 입력 CSV 읽기 → 이름과 값으로 파싱 → 키 중복과 상태 검사 → 시각 누락을 review로 판정 → 원문과 검토 이유 표시 순서입니다. L02가 같은 I07을 가진 것은 별도 대여라면 허용할 수 있지만 L01 두 행은 동일 기록 키 중복이라 현재 요구에서 거절합니다. 같은 물품과 같은 대여를 같은 것으로 읽지 않습니다.</a:t>
            </a:r>
          </a:p>
          <a:p xmlns:a="http://schemas.openxmlformats.org/drawingml/2006/main">
            <a:r>
              <a:t>학생이 예상한 결과와 이유를 먼저 듣고 풀이한다. 숫자뿐 아니라 단위, ID, 조건도 확인한다.</a:t>
            </a:r>
          </a:p>
          <a:p xmlns:a="http://schemas.openxmlformats.org/drawingml/2006/main">
            <a:r>
              <a:t/>
            </a:r>
          </a:p>
          <a:p xmlns:a="http://schemas.openxmlformats.org/drawingml/2006/main">
            <a:r>
              <a:t>학생 교안: https://zeusk302-png.github.io/kdigital-physical-ai/#/sessions/2026-10-30/lesson</a:t>
            </a:r>
          </a:p>
          <a:p xmlns:a="http://schemas.openxmlformats.org/drawingml/2006/main">
            <a:r>
              <a:t>실습: https://zeusk302-png.github.io/kdigital-physical-ai/#/sessions/2026-10-30/activity-A09</a:t>
            </a:r>
          </a:p>
          <a:p xmlns:a="http://schemas.openxmlformats.org/drawingml/2006/main">
            <a:r>
              <a:t>공식 자료: https://docs.python.org/3/library/csv.html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outputs/2026-10-30/beginner-start.md</a:t>
            </a:r>
          </a:p>
          <a:p xmlns:a="http://schemas.openxmlformats.org/drawingml/2006/main">
            <a:r>
              <a:t>슬라이드 내용:</a:t>
            </a:r>
          </a:p>
          <a:p xmlns:a="http://schemas.openxmlformats.org/drawingml/2006/main">
            <a:r>
              <a:t>빈 updated_at에 현재 시각을 자동으로 넣지 마세요.</a:t>
            </a:r>
          </a:p>
          <a:p xmlns:a="http://schemas.openxmlformats.org/drawingml/2006/main">
            <a:r>
              <a:t>기록이 갱신되지 않았는데도 갱신된 것처럼 보일 수 있습니다.</a:t>
            </a:r>
          </a:p>
          <a:p xmlns:a="http://schemas.openxmlformats.org/drawingml/2006/main">
            <a:r>
              <a:t>누락된 갱신 시각을 현재 시각으로 자동 채우면 원문에 없는 기록 변경 사실을 만들어 버립니다. updated_at은 기록 갱신 시각이며 반납 여부의 직접 증거가 아닙니다. status의 returned·checked_out·unknown과 처리 결과 review·reject를 구분합니다. 따라서 원문을 보존하고 사용자 확인이 필요하다고 표시합니다. CSV 문법 오류는 파싱 실패, 키 중복은 계약 실패, 누락은 review라는 화면 상태로 나눕니다. 실패 화면은 이유와 확인할 파일을 보여 주고 정상 빈 목록과 구분합니다. 정상·검토 필요·실패의 화면 예를 종이에 그립니다. 확인 버튼을 그릴 때는 누가 어떤 근거로 바꿀 수 있는지까지 요구해야 합니다. 현재 기본 범위는 자동 반납 확정이 없습니다. 색 외에 문구와 이유가 필요하며, 개인정보가 들어갈 수 있다면 수집할 필드와 공개 범위를 후속 확인 질문으로 남깁니다. 아직 사용자 조사를 하지 않았으면 화면 그림을 확정 요구라고 부르지 않습니다.</a:t>
            </a:r>
          </a:p>
          <a:p xmlns:a="http://schemas.openxmlformats.org/drawingml/2006/main">
            <a:r>
              <a:t>예제 자료를 열어 설명한 값이나 항목을 함께 찾는다.</a:t>
            </a:r>
          </a:p>
          <a:p xmlns:a="http://schemas.openxmlformats.org/drawingml/2006/main">
            <a:r>
              <a:t/>
            </a:r>
          </a:p>
          <a:p xmlns:a="http://schemas.openxmlformats.org/drawingml/2006/main">
            <a:r>
              <a:t>학생 교안: https://zeusk302-png.github.io/kdigital-physical-ai/#/sessions/2026-10-30/lesson</a:t>
            </a:r>
          </a:p>
          <a:p xmlns:a="http://schemas.openxmlformats.org/drawingml/2006/main">
            <a:r>
              <a:t>실습: https://zeusk302-png.github.io/kdigital-physical-ai/#/sessions/2026-10-30/activity-A09</a:t>
            </a:r>
          </a:p>
          <a:p xmlns:a="http://schemas.openxmlformats.org/drawingml/2006/main">
            <a:r>
              <a:t>공식 자료: https://docs.python.org/3/library/csv.html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outputs/2026-10-30/lesson.md</a:t>
            </a:r>
          </a:p>
          <a:p xmlns:a="http://schemas.openxmlformats.org/drawingml/2006/main">
            <a:r>
              <a:t>슬라이드 내용:</a:t>
            </a:r>
          </a:p>
          <a:p xmlns:a="http://schemas.openxmlformats.org/drawingml/2006/main">
            <a:r>
              <a:t>updated_at과 status는 각각 무엇을 나타내나요?</a:t>
            </a:r>
          </a:p>
          <a:p xmlns:a="http://schemas.openxmlformats.org/drawingml/2006/main">
            <a:r>
              <a:t>review가 returned를 뜻하지 않는 이유는?</a:t>
            </a:r>
          </a:p>
          <a:p xmlns:a="http://schemas.openxmlformats.org/drawingml/2006/main">
            <a:r>
              <a:t>누락된 갱신 시각을 현재 시각으로 자동 채우면 원문에 없는 기록 변경 사실을 만들어 버립니다. updated_at은 기록 갱신 시각이며 반납 여부의 직접 증거가 아닙니다. status의 returned·checked_out·unknown과 처리 결과 review·reject를 구분합니다. 따라서 원문을 보존하고 사용자 확인이 필요하다고 표시합니다. CSV 문법 오류는 파싱 실패, 키 중복은 계약 실패, 누락은 review라는 화면 상태로 나눕니다. 실패 화면은 이유와 확인할 파일을 보여 주고 정상 빈 목록과 구분합니다. 정상·검토 필요·실패의 화면 예를 종이에 그립니다. 확인 버튼을 그릴 때는 누가 어떤 근거로 바꿀 수 있는지까지 요구해야 합니다. 현재 기본 범위는 자동 반납 확정이 없습니다. 색 외에 문구와 이유가 필요하며, 개인정보가 들어갈 수 있다면 수집할 필드와 공개 범위를 후속 확인 질문으로 남깁니다. 아직 사용자 조사를 하지 않았으면 화면 그림을 확정 요구라고 부르지 않습니다.</a:t>
            </a:r>
          </a:p>
          <a:p xmlns:a="http://schemas.openxmlformats.org/drawingml/2006/main">
            <a:r>
              <a:t>학생이 예상한 결과와 이유를 먼저 듣고 풀이한다. 숫자뿐 아니라 단위, ID, 조건도 확인한다.</a:t>
            </a:r>
          </a:p>
          <a:p xmlns:a="http://schemas.openxmlformats.org/drawingml/2006/main">
            <a:r>
              <a:t/>
            </a:r>
          </a:p>
          <a:p xmlns:a="http://schemas.openxmlformats.org/drawingml/2006/main">
            <a:r>
              <a:t>학생 교안: https://zeusk302-png.github.io/kdigital-physical-ai/#/sessions/2026-10-30/lesson</a:t>
            </a:r>
          </a:p>
          <a:p xmlns:a="http://schemas.openxmlformats.org/drawingml/2006/main">
            <a:r>
              <a:t>실습: https://zeusk302-png.github.io/kdigital-physical-ai/#/sessions/2026-10-30/activity-A09</a:t>
            </a:r>
          </a:p>
          <a:p xmlns:a="http://schemas.openxmlformats.org/drawingml/2006/main">
            <a:r>
              <a:t>공식 자료: https://docs.python.org/3/library/csv.html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outputs/2026-10-30/assessment.md</a:t>
            </a:r>
          </a:p>
          <a:p xmlns:a="http://schemas.openxmlformats.org/drawingml/2006/main">
            <a:r>
              <a:t>슬라이드 내용:</a:t>
            </a:r>
          </a:p>
          <a:p xmlns:a="http://schemas.openxmlformats.org/drawingml/2006/main">
            <a:r>
              <a:t>추가·복습: 키 A·B·A, 물품 X·X·Y</a:t>
            </a:r>
          </a:p>
          <a:p xmlns:a="http://schemas.openxmlformats.org/drawingml/2006/main">
            <a:r>
              <a:t>충돌과 실패 화면의 이유를 직접 쓰세요.</a:t>
            </a:r>
          </a:p>
          <a:p xmlns:a="http://schemas.openxmlformats.org/drawingml/2006/main">
            <a:r>
              <a:t>누락된 갱신 시각을 현재 시각으로 자동 채우면 원문에 없는 기록 변경 사실을 만들어 버립니다. updated_at은 기록 갱신 시각이며 반납 여부의 직접 증거가 아닙니다. status의 returned·checked_out·unknown과 처리 결과 review·reject를 구분합니다. 따라서 원문을 보존하고 사용자 확인이 필요하다고 표시합니다. CSV 문법 오류는 파싱 실패, 키 중복은 계약 실패, 누락은 review라는 화면 상태로 나눕니다. 실패 화면은 이유와 확인할 파일을 보여 주고 정상 빈 목록과 구분합니다. 정상·검토 필요·실패의 화면 예를 종이에 그립니다. 확인 버튼을 그릴 때는 누가 어떤 근거로 바꿀 수 있는지까지 요구해야 합니다. 현재 기본 범위는 자동 반납 확정이 없습니다. 색 외에 문구와 이유가 필요하며, 개인정보가 들어갈 수 있다면 수집할 필드와 공개 범위를 후속 확인 질문으로 남깁니다. 아직 사용자 조사를 하지 않았으면 화면 그림을 확정 요구라고 부르지 않습니다.</a:t>
            </a:r>
          </a:p>
          <a:p xmlns:a="http://schemas.openxmlformats.org/drawingml/2006/main">
            <a:r>
              <a:t>학생이 예상한 결과와 이유를 먼저 듣고 풀이한다. 숫자뿐 아니라 단위, ID, 조건도 확인한다.</a:t>
            </a:r>
          </a:p>
          <a:p xmlns:a="http://schemas.openxmlformats.org/drawingml/2006/main">
            <a:r>
              <a:t>관련 전이 문제와 해설:</a:t>
            </a:r>
          </a:p>
          <a:p xmlns:a="http://schemas.openxmlformats.org/drawingml/2006/main">
            <a:r>
              <a:t>loan_id가 A,B,A이고 item_id가 X,X,Y인 새 파일의 충돌과 실패 화면을 설계하세요.</a:t>
            </a:r>
          </a:p>
          <a:p xmlns:a="http://schemas.openxmlformats.org/drawingml/2006/main">
            <a:r>
              <a:t/>
            </a:r>
          </a:p>
          <a:p xmlns:a="http://schemas.openxmlformats.org/drawingml/2006/main">
            <a:r>
              <a:t>&lt;details&gt;&lt;summary&gt;정답과 해설&lt;/summary&gt;</a:t>
            </a:r>
          </a:p>
          <a:p xmlns:a="http://schemas.openxmlformats.org/drawingml/2006/main">
            <a:r>
              <a:t/>
            </a:r>
          </a:p>
          <a:p xmlns:a="http://schemas.openxmlformats.org/drawingml/2006/main">
            <a:r>
              <a:t>첫째·셋째 기록 키 A가 충돌합니다. 중복 ID와 이유를 오류로 표시하고 두 X는 별도 대여일 수 있으므로 자동 거절하지 않습니다.</a:t>
            </a:r>
          </a:p>
          <a:p xmlns:a="http://schemas.openxmlformats.org/drawingml/2006/main">
            <a:r>
              <a:t/>
            </a:r>
          </a:p>
          <a:p xmlns:a="http://schemas.openxmlformats.org/drawingml/2006/main">
            <a:r>
              <a:t>&lt;/details&gt;</a:t>
            </a:r>
          </a:p>
          <a:p xmlns:a="http://schemas.openxmlformats.org/drawingml/2006/main">
            <a:r>
              <a:t>수업에서 먼저 할 실습 뒤 선택한다. 모든 슬라이드를 50분 안에 완수했다는 뜻이 아니다.</a:t>
            </a:r>
          </a:p>
          <a:p xmlns:a="http://schemas.openxmlformats.org/drawingml/2006/main">
            <a:r>
              <a:t/>
            </a:r>
          </a:p>
          <a:p xmlns:a="http://schemas.openxmlformats.org/drawingml/2006/main">
            <a:r>
              <a:t>학생 교안: https://zeusk302-png.github.io/kdigital-physical-ai/#/sessions/2026-10-30/lesson</a:t>
            </a:r>
          </a:p>
          <a:p xmlns:a="http://schemas.openxmlformats.org/drawingml/2006/main">
            <a:r>
              <a:t>실습: https://zeusk302-png.github.io/kdigital-physical-ai/#/sessions/2026-10-30/activity-A09</a:t>
            </a:r>
          </a:p>
          <a:p xmlns:a="http://schemas.openxmlformats.org/drawingml/2006/main">
            <a:r>
              <a:t>공식 자료: https://docs.python.org/3/library/csv.html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outputs/2026-10-30/lesson.md</a:t>
            </a:r>
          </a:p>
          <a:p xmlns:a="http://schemas.openxmlformats.org/drawingml/2006/main">
            <a:r>
              <a:t>4교시 필수 개념 보충 · 요구와 시험과 관찰 결과를 연결하기</a:t>
            </a:r>
          </a:p>
          <a:p xmlns:a="http://schemas.openxmlformats.org/drawingml/2006/main">
            <a:r>
              <a:t/>
            </a:r>
          </a:p>
          <a:p xmlns:a="http://schemas.openxmlformats.org/drawingml/2006/main">
            <a:r>
              <a:t>실무 상황과 원리</a:t>
            </a:r>
          </a:p>
          <a:p xmlns:a="http://schemas.openxmlformats.org/drawingml/2006/main">
            <a:r>
              <a:t/>
            </a:r>
          </a:p>
          <a:p xmlns:a="http://schemas.openxmlformats.org/drawingml/2006/main">
            <a:r>
              <a:t>팀원은 요구를 썼고 다른 팀원은 시험표를 만들었지만 같은 조건을 말하지 않습니다. 시험은 기능 이름을 다시 적는 목록이 아니라 구체 입력을 넣었을 때 무엇을 볼지 정한 비교입니다. 요구 ID와 시험 ID를 연결하면 빠진 요구와 기준 변경을 찾기 쉽습니다.</a:t>
            </a:r>
          </a:p>
          <a:p xmlns:a="http://schemas.openxmlformats.org/drawingml/2006/main">
            <a:r>
              <a:t/>
            </a:r>
          </a:p>
          <a:p xmlns:a="http://schemas.openxmlformats.org/drawingml/2006/main">
            <a:r>
              <a:t>완성 예의 R2는 시각 누락을 review로 표시하는 요구입니다. T2의 입력은 updated_at 빈칸인 L01, 기대 결과는 L01과 review 문구 및 원문 보존입니다. 실행 전 상태는 NOT_RUN입니다. 실제 관찰이 normal이면 FAIL이고 review이면 해당 비교는 PASS입니다. 화면이 아직 없는데 예상대로 될 것이라며 PASS를 쓰지 않습니다. 정답과 같아 보이는 관찰도 어떤 실행과 파일에서 나온 결과인지 남겨야 합니다.</a:t>
            </a:r>
          </a:p>
          <a:p xmlns:a="http://schemas.openxmlformats.org/drawingml/2006/main">
            <a:r>
              <a:t/>
            </a:r>
          </a:p>
          <a:p xmlns:a="http://schemas.openxmlformats.org/drawingml/2006/main">
            <a:r>
              <a:t>가상 비교표 [PASS,FAIL,NOT_RUN,PASS]는 통과 2건, 실패 1건, 미실행 1건입니다. 2/4는 전체 계획 중 통과 건수이며 제품 완성도 50%라고 부르지 않습니다. 실행한 비교만 보면 2/3이지만 분모의 이름이 달라지므로 따로 표시합니다. 새 요구가 중복 거절이라면 중복 loan_id의 입력과 오류 기대값을 추가합니다. 정상 입력만 시험하면 실패 경로가 비어 있습니다. 제공 비교 코드를 실행한 사실은 PASS 문자열을 계산한 코드의 검증이며 실제 대시보드 기능을 구현한 증거와 다릅니다. 위험 목록은 장비 미정, 데이터 계약 불일치, 설치 실패처럼 구체 조건과 영향, 담당, 대안을 붙입니다. 인터넷이 없어도 로컬 파일로 시험할 수 있다는 대안도 시험 범위에 맞춰 씁니다.</a:t>
            </a:r>
          </a:p>
          <a:p xmlns:a="http://schemas.openxmlformats.org/drawingml/2006/main">
            <a:r>
              <a:t/>
            </a:r>
          </a:p>
          <a:p xmlns:a="http://schemas.openxmlformats.org/drawingml/2006/main">
            <a:r>
              <a:t>다른 사례로 연습하기</a:t>
            </a:r>
          </a:p>
          <a:p xmlns:a="http://schemas.openxmlformats.org/drawingml/2006/main">
            <a:r>
              <a:t/>
            </a:r>
          </a:p>
          <a:p xmlns:a="http://schemas.openxmlformats.org/drawingml/2006/main">
            <a:r>
              <a:t>복습 문제: 기대 review와 관찰 없음, 기대 reject와 관찰 reject, 기대 normal과 관찰 alert의 세 시험 상태를 판단하세요. 실제 실행되지 않은 현장 시험이 통과로 바뀌는 데 필요한 증거도 쓰세요.</a:t>
            </a:r>
          </a:p>
          <a:p xmlns:a="http://schemas.openxmlformats.org/drawingml/2006/main">
            <a:r>
              <a:t/>
            </a:r>
          </a:p>
          <a:p xmlns:a="http://schemas.openxmlformats.org/drawingml/2006/main">
            <a:r>
              <a:t>풀이와 주의할 점</a:t>
            </a:r>
          </a:p>
          <a:p xmlns:a="http://schemas.openxmlformats.org/drawingml/2006/main">
            <a:r>
              <a:t/>
            </a:r>
          </a:p>
          <a:p xmlns:a="http://schemas.openxmlformats.org/drawingml/2006/main">
            <a:r>
              <a:t>NOT_RUN,PASS,FAIL입니다. 실제 입력과 실행 환경, 관찰 출력, 기대값 비교가 필요합니다. 관찰 없음을 실패로 단정하거나 코드 작성만으로 현장 시험을 통과 처리하면 오답입니다.</a:t>
            </a:r>
          </a:p>
          <a:p xmlns:a="http://schemas.openxmlformats.org/drawingml/2006/main">
            <a:r>
              <a:t/>
            </a:r>
          </a:p>
          <a:p xmlns:a="http://schemas.openxmlformats.org/drawingml/2006/main">
            <a:r>
              <a:t>확인 질문과 답</a:t>
            </a:r>
          </a:p>
          <a:p xmlns:a="http://schemas.openxmlformats.org/drawingml/2006/main">
            <a:r>
              <a:t/>
            </a:r>
          </a:p>
          <a:p xmlns:a="http://schemas.openxmlformats.org/drawingml/2006/main">
            <a:r>
              <a:t>1. 기대값은 언제 정하나요? → 실행 전에 정합니다.</a:t>
            </a:r>
          </a:p>
          <a:p xmlns:a="http://schemas.openxmlformats.org/drawingml/2006/main">
            <a:r>
              <a:t>2. 2/4는 제품 완성도인가요? → 이 표의 통과 건수 비율입니다.</a:t>
            </a:r>
          </a:p>
          <a:p xmlns:a="http://schemas.openxmlformats.org/drawingml/2006/main">
            <a:r>
              <a:t>3. 비교 코드 PASS가 화면 구현인가요? → 아닙니다.</a:t>
            </a:r>
          </a:p>
          <a:p xmlns:a="http://schemas.openxmlformats.org/drawingml/2006/main">
            <a:r>
              <a:t>먼저 예제를 보여 준 뒤 함께 따라 한다. 조건 하나를 바꿔 예상 결과와 실제 결과를 비교한다. 학생에게 값이 바뀐 이유를 물어본다. 복습 문제는 기본 실습을 마친 뒤 선택한다.</a:t>
            </a:r>
          </a:p>
          <a:p xmlns:a="http://schemas.openxmlformats.org/drawingml/2006/main">
            <a:r>
              <a:t/>
            </a:r>
          </a:p>
          <a:p xmlns:a="http://schemas.openxmlformats.org/drawingml/2006/main">
            <a:r>
              <a:t>학생 교안: https://zeusk302-png.github.io/kdigital-physical-ai/#/sessions/2026-10-30/lesson</a:t>
            </a:r>
          </a:p>
          <a:p xmlns:a="http://schemas.openxmlformats.org/drawingml/2006/main">
            <a:r>
              <a:t>실습: https://zeusk302-png.github.io/kdigital-physical-ai/#/sessions/2026-10-30/activity-A09</a:t>
            </a:r>
          </a:p>
          <a:p xmlns:a="http://schemas.openxmlformats.org/drawingml/2006/main">
            <a:r>
              <a:t>공식 자료: https://docs.python.org/3/tutorial/introduction.html#lists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outputs/2026-10-30/lesson.md</a:t>
            </a:r>
          </a:p>
          <a:p xmlns:a="http://schemas.openxmlformats.org/drawingml/2006/main">
            <a:r>
              <a:t>슬라이드 내용:</a:t>
            </a:r>
          </a:p>
          <a:p xmlns:a="http://schemas.openxmlformats.org/drawingml/2006/main">
            <a:r>
              <a:t>R02 ↔ T02: 갱신 시각 누락</a:t>
            </a:r>
          </a:p>
          <a:p xmlns:a="http://schemas.openxmlformats.org/drawingml/2006/main">
            <a:r>
              <a:t>입력과 review 기대값이 같아야 합니다.</a:t>
            </a:r>
          </a:p>
          <a:p xmlns:a="http://schemas.openxmlformats.org/drawingml/2006/main">
            <a:r>
              <a:t>완성 예의 R2는 시각 누락을 review로 표시하는 요구입니다. T2의 입력은 updated_at 빈칸인 L01, 기대 결과는 L01과 review 문구 및 원문 보존입니다. 실행 전 상태는 NOT_RUN입니다. 실제 관찰이 normal이면 FAIL이고 review이면 해당 비교는 PASS입니다. 화면이 아직 없는데 예상대로 될 것이라며 PASS를 쓰지 않습니다. 정답과 같아 보이는 관찰도 어떤 실행과 파일에서 나온 결과인지 남겨야 합니다.</a:t>
            </a:r>
          </a:p>
          <a:p xmlns:a="http://schemas.openxmlformats.org/drawingml/2006/main">
            <a:r>
              <a:t>예제 자료를 열어 설명한 값이나 항목을 함께 찾는다.</a:t>
            </a:r>
          </a:p>
          <a:p xmlns:a="http://schemas.openxmlformats.org/drawingml/2006/main">
            <a:r>
              <a:t/>
            </a:r>
          </a:p>
          <a:p xmlns:a="http://schemas.openxmlformats.org/drawingml/2006/main">
            <a:r>
              <a:t>화면 예의 출처: D:\KDigital_PhysicalAI\.build\copyedited-ppt\spec-2026-10-30.json#slide-53</a:t>
            </a:r>
          </a:p>
          <a:p xmlns:a="http://schemas.openxmlformats.org/drawingml/2006/main">
            <a:r>
              <a:t/>
            </a:r>
          </a:p>
          <a:p xmlns:a="http://schemas.openxmlformats.org/drawingml/2006/main">
            <a:r>
              <a:t>학생 교안: https://zeusk302-png.github.io/kdigital-physical-ai/#/sessions/2026-10-30/lesson</a:t>
            </a:r>
          </a:p>
          <a:p xmlns:a="http://schemas.openxmlformats.org/drawingml/2006/main">
            <a:r>
              <a:t>실습: https://zeusk302-png.github.io/kdigital-physical-ai/#/sessions/2026-10-30/activity-A10</a:t>
            </a:r>
          </a:p>
          <a:p xmlns:a="http://schemas.openxmlformats.org/drawingml/2006/main">
            <a:r>
              <a:t>공식 자료: https://docs.python.org/3/tutorial/introduction.html#lists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outputs/2026-10-30/lesson.md</a:t>
            </a:r>
          </a:p>
          <a:p xmlns:a="http://schemas.openxmlformats.org/drawingml/2006/main">
            <a:r>
              <a:t>슬라이드 내용:</a:t>
            </a:r>
          </a:p>
          <a:p xmlns:a="http://schemas.openxmlformats.org/drawingml/2006/main">
            <a:r>
              <a:t>어떤 입력을 넣고 무엇을 볼지 정합니다.</a:t>
            </a:r>
          </a:p>
          <a:p xmlns:a="http://schemas.openxmlformats.org/drawingml/2006/main">
            <a:r>
              <a:t>실패 뒤 기대값을 실제 오류에 맞추지 않습니다.</a:t>
            </a:r>
          </a:p>
          <a:p xmlns:a="http://schemas.openxmlformats.org/drawingml/2006/main">
            <a:r>
              <a:t>팀원은 요구를 썼고 다른 팀원은 시험표를 만들었지만 같은 조건을 말하지 않습니다. 시험은 기능 이름을 다시 적는 목록이 아니라 구체 입력을 넣었을 때 무엇을 볼지 정한 비교입니다. 요구 ID와 시험 ID를 연결하면 빠진 요구와 기준 변경을 찾기 쉽습니다.</a:t>
            </a:r>
          </a:p>
          <a:p xmlns:a="http://schemas.openxmlformats.org/drawingml/2006/main">
            <a:r>
              <a:t>예제 자료를 열어 설명한 값이나 항목을 함께 찾는다.</a:t>
            </a:r>
          </a:p>
          <a:p xmlns:a="http://schemas.openxmlformats.org/drawingml/2006/main">
            <a:r>
              <a:t/>
            </a:r>
          </a:p>
          <a:p xmlns:a="http://schemas.openxmlformats.org/drawingml/2006/main">
            <a:r>
              <a:t>화면 예의 출처: D:\KDigital_PhysicalAI\.build\copyedited-ppt\spec-2026-10-30.json#slide-62</a:t>
            </a:r>
          </a:p>
          <a:p xmlns:a="http://schemas.openxmlformats.org/drawingml/2006/main">
            <a:r>
              <a:t/>
            </a:r>
          </a:p>
          <a:p xmlns:a="http://schemas.openxmlformats.org/drawingml/2006/main">
            <a:r>
              <a:t>학생 교안: https://zeusk302-png.github.io/kdigital-physical-ai/#/sessions/2026-10-30/lesson</a:t>
            </a:r>
          </a:p>
          <a:p xmlns:a="http://schemas.openxmlformats.org/drawingml/2006/main">
            <a:r>
              <a:t>실습: https://zeusk302-png.github.io/kdigital-physical-ai/#/sessions/2026-10-30/activity-A10</a:t>
            </a:r>
          </a:p>
          <a:p xmlns:a="http://schemas.openxmlformats.org/drawingml/2006/main">
            <a:r>
              <a:t>공식 자료: https://docs.python.org/3/tutorial/introduction.html#lists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outputs/2026-10-30/lesson.md</a:t>
            </a:r>
          </a:p>
          <a:p xmlns:a="http://schemas.openxmlformats.org/drawingml/2006/main">
            <a:r>
              <a:t>슬라이드 내용:</a:t>
            </a:r>
          </a:p>
          <a:p xmlns:a="http://schemas.openxmlformats.org/drawingml/2006/main">
            <a:r>
              <a:t>PASS: 실제 관찰 = 기대</a:t>
            </a:r>
          </a:p>
          <a:p xmlns:a="http://schemas.openxmlformats.org/drawingml/2006/main">
            <a:r>
              <a:t>FAIL: 실제 관찰 ≠ 기대</a:t>
            </a:r>
          </a:p>
          <a:p xmlns:a="http://schemas.openxmlformats.org/drawingml/2006/main">
            <a:r>
              <a:t>복습 문제: 기대 review와 관찰 없음, 기대 reject와 관찰 reject, 기대 normal과 관찰 alert의 세 시험 상태를 판단하세요. 실제 실행되지 않은 현장 시험이 통과로 바뀌는 데 필요한 증거도 쓰세요.</a:t>
            </a:r>
          </a:p>
          <a:p xmlns:a="http://schemas.openxmlformats.org/drawingml/2006/main">
            <a:r>
              <a:t>예제 자료를 열어 설명한 값이나 항목을 함께 찾는다.</a:t>
            </a:r>
          </a:p>
          <a:p xmlns:a="http://schemas.openxmlformats.org/drawingml/2006/main">
            <a:r>
              <a:t/>
            </a:r>
          </a:p>
          <a:p xmlns:a="http://schemas.openxmlformats.org/drawingml/2006/main">
            <a:r>
              <a:t>화면 예의 출처: D:\KDigital_PhysicalAI\.build\copyedited-ppt\spec-2026-10-30.json#slide-62</a:t>
            </a:r>
          </a:p>
          <a:p xmlns:a="http://schemas.openxmlformats.org/drawingml/2006/main">
            <a:r>
              <a:t/>
            </a:r>
          </a:p>
          <a:p xmlns:a="http://schemas.openxmlformats.org/drawingml/2006/main">
            <a:r>
              <a:t>학생 교안: https://zeusk302-png.github.io/kdigital-physical-ai/#/sessions/2026-10-30/lesson</a:t>
            </a:r>
          </a:p>
          <a:p xmlns:a="http://schemas.openxmlformats.org/drawingml/2006/main">
            <a:r>
              <a:t>실습: https://zeusk302-png.github.io/kdigital-physical-ai/#/sessions/2026-10-30/activity-A11</a:t>
            </a:r>
          </a:p>
          <a:p xmlns:a="http://schemas.openxmlformats.org/drawingml/2006/main">
            <a:r>
              <a:t>공식 자료: https://docs.python.org/3/tutorial/introduction.html#lists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outputs/2026-10-30/lesson.md</a:t>
            </a:r>
          </a:p>
          <a:p xmlns:a="http://schemas.openxmlformats.org/drawingml/2006/main">
            <a:r>
              <a:t>슬라이드 내용:</a:t>
            </a:r>
          </a:p>
          <a:p xmlns:a="http://schemas.openxmlformats.org/drawingml/2006/main">
            <a:r>
              <a:t>NOT_RUN: 아직 실행 결과가 없습니다.</a:t>
            </a:r>
          </a:p>
          <a:p xmlns:a="http://schemas.openxmlformats.org/drawingml/2006/main">
            <a:r>
              <a:t>실행하지 않은 시험을 PASS로 기록하지 마세요.</a:t>
            </a:r>
          </a:p>
          <a:p xmlns:a="http://schemas.openxmlformats.org/drawingml/2006/main">
            <a:r>
              <a:t>완성 예의 R2는 시각 누락을 review로 표시하는 요구입니다. T2의 입력은 updated_at 빈칸인 L01, 기대 결과는 L01과 review 문구 및 원문 보존입니다. 실행 전 상태는 NOT_RUN입니다. 실제 관찰이 normal이면 FAIL이고 review이면 해당 비교는 PASS입니다. 화면이 아직 없는데 예상대로 될 것이라며 PASS를 쓰지 않습니다. 정답과 같아 보이는 관찰도 어떤 실행과 파일에서 나온 결과인지 남겨야 합니다.</a:t>
            </a:r>
          </a:p>
          <a:p xmlns:a="http://schemas.openxmlformats.org/drawingml/2006/main">
            <a:r>
              <a:t>예제 자료를 열어 설명한 값이나 항목을 함께 찾는다.</a:t>
            </a:r>
          </a:p>
          <a:p xmlns:a="http://schemas.openxmlformats.org/drawingml/2006/main">
            <a:r>
              <a:t/>
            </a:r>
          </a:p>
          <a:p xmlns:a="http://schemas.openxmlformats.org/drawingml/2006/main">
            <a:r>
              <a:t>화면 예의 출처: D:\KDigital_PhysicalAI\.build\copyedited-ppt\spec-2026-10-30.json#slide-62</a:t>
            </a:r>
          </a:p>
          <a:p xmlns:a="http://schemas.openxmlformats.org/drawingml/2006/main">
            <a:r>
              <a:t/>
            </a:r>
          </a:p>
          <a:p xmlns:a="http://schemas.openxmlformats.org/drawingml/2006/main">
            <a:r>
              <a:t>학생 교안: https://zeusk302-png.github.io/kdigital-physical-ai/#/sessions/2026-10-30/lesson</a:t>
            </a:r>
          </a:p>
          <a:p xmlns:a="http://schemas.openxmlformats.org/drawingml/2006/main">
            <a:r>
              <a:t>실습: https://zeusk302-png.github.io/kdigital-physical-ai/#/sessions/2026-10-30/activity-A11</a:t>
            </a:r>
          </a:p>
          <a:p xmlns:a="http://schemas.openxmlformats.org/drawingml/2006/main">
            <a:r>
              <a:t>공식 자료: https://docs.python.org/3/tutorial/introduction.html#lists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outputs/2026-10-30/lesson.md</a:t>
            </a:r>
          </a:p>
          <a:p xmlns:a="http://schemas.openxmlformats.org/drawingml/2006/main">
            <a:r>
              <a:t>슬라이드 내용:</a:t>
            </a:r>
          </a:p>
          <a:p xmlns:a="http://schemas.openxmlformats.org/drawingml/2006/main">
            <a:r>
              <a:t>통과2 · 실패1 · 미실행1 → 계획 대비2/4</a:t>
            </a:r>
          </a:p>
          <a:p xmlns:a="http://schemas.openxmlformats.org/drawingml/2006/main">
            <a:r>
              <a:t>실행한 시험 기준으로는 2/3입니다. 제품 완성도를 뜻하지는 않습니다.</a:t>
            </a:r>
          </a:p>
          <a:p xmlns:a="http://schemas.openxmlformats.org/drawingml/2006/main">
            <a:r>
              <a:t>1. 기대값은 언제 정하나요? → 실행 전에 정합니다.</a:t>
            </a:r>
          </a:p>
          <a:p xmlns:a="http://schemas.openxmlformats.org/drawingml/2006/main">
            <a:r>
              <a:t>2. 2/4는 제품 완성도인가요? → 이 표의 통과 건수 비율입니다.</a:t>
            </a:r>
          </a:p>
          <a:p xmlns:a="http://schemas.openxmlformats.org/drawingml/2006/main">
            <a:r>
              <a:t>3. 비교 코드 PASS가 화면 구현인가요? → 아닙니다.</a:t>
            </a:r>
          </a:p>
          <a:p xmlns:a="http://schemas.openxmlformats.org/drawingml/2006/main">
            <a:r>
              <a:t>예제 자료를 열어 설명한 값이나 항목을 함께 찾는다.</a:t>
            </a:r>
          </a:p>
          <a:p xmlns:a="http://schemas.openxmlformats.org/drawingml/2006/main">
            <a:r>
              <a:t/>
            </a:r>
          </a:p>
          <a:p xmlns:a="http://schemas.openxmlformats.org/drawingml/2006/main">
            <a:r>
              <a:t>화면 예의 출처: D:\KDigital_PhysicalAI\.build\copyedited-ppt\spec-2026-10-30.json#slide-57</a:t>
            </a:r>
          </a:p>
          <a:p xmlns:a="http://schemas.openxmlformats.org/drawingml/2006/main">
            <a:r>
              <a:t/>
            </a:r>
          </a:p>
          <a:p xmlns:a="http://schemas.openxmlformats.org/drawingml/2006/main">
            <a:r>
              <a:t>학생 교안: https://zeusk302-png.github.io/kdigital-physical-ai/#/sessions/2026-10-30/lesson</a:t>
            </a:r>
          </a:p>
          <a:p xmlns:a="http://schemas.openxmlformats.org/drawingml/2006/main">
            <a:r>
              <a:t>실습: https://zeusk302-png.github.io/kdigital-physical-ai/#/sessions/2026-10-30/activity-A11</a:t>
            </a:r>
          </a:p>
          <a:p xmlns:a="http://schemas.openxmlformats.org/drawingml/2006/main">
            <a:r>
              <a:t>공식 자료: https://docs.python.org/3/tutorial/introduction.html#lists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outputs/2026-10-30/lesson.md</a:t>
            </a:r>
          </a:p>
          <a:p xmlns:a="http://schemas.openxmlformats.org/drawingml/2006/main">
            <a:r>
              <a:t>슬라이드 내용:</a:t>
            </a:r>
          </a:p>
          <a:p xmlns:a="http://schemas.openxmlformats.org/drawingml/2006/main">
            <a:r>
              <a:t>정상 · 누락 · 중복 · 원문 보존</a:t>
            </a:r>
          </a:p>
          <a:p xmlns:a="http://schemas.openxmlformats.org/drawingml/2006/main">
            <a:r>
              <a:t>장비가 정해지지 않았다면 대신 확인할 방법과 담당자를 적으세요.</a:t>
            </a:r>
          </a:p>
          <a:p xmlns:a="http://schemas.openxmlformats.org/drawingml/2006/main">
            <a:r>
              <a:t>가상 비교표 [PASS,FAIL,NOT_RUN,PASS]는 통과 2건, 실패 1건, 미실행 1건입니다. 2/4는 전체 계획 중 통과 건수이며 제품 완성도 50%라고 부르지 않습니다. 실행한 비교만 보면 2/3이지만 분모의 이름이 달라지므로 따로 표시합니다. 새 요구가 중복 거절이라면 중복 loan_id의 입력과 오류 기대값을 추가합니다. 정상 입력만 시험하면 실패 경로가 비어 있습니다. 제공 비교 코드를 실행한 사실은 PASS 문자열을 계산한 코드의 검증이며 실제 대시보드 기능을 구현한 증거와 다릅니다. 위험 목록은 장비 미정, 데이터 계약 불일치, 설치 실패처럼 구체 조건과 영향, 담당, 대안을 붙입니다. 인터넷이 없어도 로컬 파일로 시험할 수 있다는 대안도 시험 범위에 맞춰 씁니다.</a:t>
            </a:r>
          </a:p>
          <a:p xmlns:a="http://schemas.openxmlformats.org/drawingml/2006/main">
            <a:r>
              <a:t>예제 자료를 열어 설명한 값이나 항목을 함께 찾는다.</a:t>
            </a:r>
          </a:p>
          <a:p xmlns:a="http://schemas.openxmlformats.org/drawingml/2006/main">
            <a:r>
              <a:t/>
            </a:r>
          </a:p>
          <a:p xmlns:a="http://schemas.openxmlformats.org/drawingml/2006/main">
            <a:r>
              <a:t>학생 교안: https://zeusk302-png.github.io/kdigital-physical-ai/#/sessions/2026-10-30/lesson</a:t>
            </a:r>
          </a:p>
          <a:p xmlns:a="http://schemas.openxmlformats.org/drawingml/2006/main">
            <a:r>
              <a:t>실습: https://zeusk302-png.github.io/kdigital-physical-ai/#/sessions/2026-10-30/activity-A12</a:t>
            </a:r>
          </a:p>
          <a:p xmlns:a="http://schemas.openxmlformats.org/drawingml/2006/main">
            <a:r>
              <a:t>공식 자료: https://docs.python.org/3/tutorial/introduction.html#lists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outputs/2026-10-30/lesson.md</a:t>
            </a:r>
          </a:p>
          <a:p xmlns:a="http://schemas.openxmlformats.org/drawingml/2006/main">
            <a:r>
              <a:t>각괄호묶음에는시험ID,기대값,실제값이순서대로있다. for에서세이름으로나눠받는다. actual is None은이관찰표에서미실행을뜻하며else에서는==로같음을비교한다. 여기서는T02FAIL,T03NOT_RUN이다. 이비교코드가실행되었다는사실과대시보드기능의실제시험은다르다. 전체원본02_check_evidence.py는4개시험을비교한다.</a:t>
            </a:r>
          </a:p>
          <a:p xmlns:a="http://schemas.openxmlformats.org/drawingml/2006/main">
            <a:r>
              <a:t>최신 운영은 50분×6</a:t>
            </a:r>
          </a:p>
          <a:p xmlns:a="http://schemas.openxmlformats.org/drawingml/2006/main">
            <a:r>
              <a:t/>
            </a:r>
          </a:p>
          <a:p xmlns:a="http://schemas.openxmlformats.org/drawingml/2006/main">
            <a:r>
              <a:t>학생 교안: https://zeusk302-png.github.io/kdigital-physical-ai/#/sessions/2026-10-30/lesson</a:t>
            </a:r>
          </a:p>
          <a:p xmlns:a="http://schemas.openxmlformats.org/drawingml/2006/main">
            <a:r>
              <a:t>실습: https://zeusk302-png.github.io/kdigital-physical-ai/#/sessions/2026-10-30/activity-A12</a:t>
            </a:r>
          </a:p>
          <a:p xmlns:a="http://schemas.openxmlformats.org/drawingml/2006/main">
            <a:r>
              <a:t>공식 자료: https://docs.python.org/3/tutorial/introduction.html#lists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outputs/2026-10-30/lesson.md</a:t>
            </a:r>
          </a:p>
          <a:p xmlns:a="http://schemas.openxmlformats.org/drawingml/2006/main">
            <a:r>
              <a:t>각괄호묶음에는시험ID,기대값,실제값이순서대로있다. for에서세이름으로나눠받는다. actual is None은이관찰표에서미실행을뜻하며else에서는==로같음을비교한다. 여기서는T02FAIL,T03NOT_RUN이다. 이비교코드가실행되었다는사실과대시보드기능의실제시험은다르다. 전체원본02_check_evidence.py는4개시험을비교한다.</a:t>
            </a:r>
          </a:p>
          <a:p xmlns:a="http://schemas.openxmlformats.org/drawingml/2006/main">
            <a:r>
              <a:t>기호를 정확한 이름으로 설명하기 전에 역할을 쉬운 말로 연결한다. 대입·비교·반복·출력 중 어느 단계인지 학생이 가리키게 한다.</a:t>
            </a:r>
          </a:p>
          <a:p xmlns:a="http://schemas.openxmlformats.org/drawingml/2006/main">
            <a:r>
              <a:t/>
            </a:r>
          </a:p>
          <a:p xmlns:a="http://schemas.openxmlformats.org/drawingml/2006/main">
            <a:r>
              <a:t>화면 예의 출처: D:\KDigital_PhysicalAI\.build\copyedited-ppt\spec-2026-10-30.json#slide-59</a:t>
            </a:r>
          </a:p>
          <a:p xmlns:a="http://schemas.openxmlformats.org/drawingml/2006/main">
            <a:r>
              <a:t/>
            </a:r>
          </a:p>
          <a:p xmlns:a="http://schemas.openxmlformats.org/drawingml/2006/main">
            <a:r>
              <a:t>학생 교안: https://zeusk302-png.github.io/kdigital-physical-ai/#/sessions/2026-10-30/lesson</a:t>
            </a:r>
          </a:p>
          <a:p xmlns:a="http://schemas.openxmlformats.org/drawingml/2006/main">
            <a:r>
              <a:t>실습: https://zeusk302-png.github.io/kdigital-physical-ai/#/sessions/2026-10-30/activity-A12</a:t>
            </a:r>
          </a:p>
          <a:p xmlns:a="http://schemas.openxmlformats.org/drawingml/2006/main">
            <a:r>
              <a:t>공식 자료: https://docs.python.org/3/tutorial/introduction.html#lists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outputs/2026-10-30/lesson.md</a:t>
            </a:r>
          </a:p>
          <a:p xmlns:a="http://schemas.openxmlformats.org/drawingml/2006/main">
            <a:r>
              <a:t>제공 참고 코드가 있으면 code 원본을 보존하고 work에 복사한다. 화면의 새로운 짧은 예는 표시된 work 파일에 전체를 입력하고 저장한다. 터미널의 현재 위치는 course다. 명령의 상대 경로 work/를 바꾸지 않는다. 예상 출력은 다음 슬라이드에서 비교한다. Python·numpy·cv2 설치 조건은 해당 예제에 따라 확인하고 불가이면 제공 출력 비교를 사용한다.</a:t>
            </a:r>
          </a:p>
          <a:p xmlns:a="http://schemas.openxmlformats.org/drawingml/2006/main">
            <a:r>
              <a:t>각괄호묶음에는시험ID,기대값,실제값이순서대로있다. for에서세이름으로나눠받는다. actual is None은이관찰표에서미실행을뜻하며else에서는==로같음을비교한다. 여기서는T02FAIL,T03NOT_RUN이다. 이비교코드가실행되었다는사실과대시보드기능의실제시험은다르다. 전체원본02_check_evidence.py는4개시험을비교한다.</a:t>
            </a:r>
          </a:p>
          <a:p xmlns:a="http://schemas.openxmlformats.org/drawingml/2006/main">
            <a:r>
              <a:t/>
            </a:r>
          </a:p>
          <a:p xmlns:a="http://schemas.openxmlformats.org/drawingml/2006/main">
            <a:r>
              <a:t>학생 교안: https://zeusk302-png.github.io/kdigital-physical-ai/#/sessions/2026-10-30/lesson</a:t>
            </a:r>
          </a:p>
          <a:p xmlns:a="http://schemas.openxmlformats.org/drawingml/2006/main">
            <a:r>
              <a:t>실습: https://zeusk302-png.github.io/kdigital-physical-ai/#/sessions/2026-10-30/activity-A12</a:t>
            </a:r>
          </a:p>
          <a:p xmlns:a="http://schemas.openxmlformats.org/drawingml/2006/main">
            <a:r>
              <a:t>공식 자료: https://docs.python.org/3/tutorial/introduction.html#lists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outputs/2026-10-30/lesson.md</a:t>
            </a:r>
          </a:p>
          <a:p xmlns:a="http://schemas.openxmlformats.org/drawingml/2006/main">
            <a:r>
              <a:t>슬라이드 내용:</a:t>
            </a:r>
          </a:p>
          <a:p xmlns:a="http://schemas.openxmlformats.org/drawingml/2006/main">
            <a:r>
              <a:t>T02 FAIL</a:t>
            </a:r>
          </a:p>
          <a:p xmlns:a="http://schemas.openxmlformats.org/drawingml/2006/main">
            <a:r>
              <a:t>T03 NOT_RUN</a:t>
            </a:r>
          </a:p>
          <a:p xmlns:a="http://schemas.openxmlformats.org/drawingml/2006/main">
            <a:r>
              <a:t>비교 코드 실행과 실제 제품 시험은 다릅니다.</a:t>
            </a:r>
          </a:p>
          <a:p xmlns:a="http://schemas.openxmlformats.org/drawingml/2006/main">
            <a:r>
              <a:t>가상 비교표 [PASS,FAIL,NOT_RUN,PASS]는 통과 2건, 실패 1건, 미실행 1건입니다. 2/4는 전체 계획 중 통과 건수이며 제품 완성도 50%라고 부르지 않습니다. 실행한 비교만 보면 2/3이지만 분모의 이름이 달라지므로 따로 표시합니다. 새 요구가 중복 거절이라면 중복 loan_id의 입력과 오류 기대값을 추가합니다. 정상 입력만 시험하면 실패 경로가 비어 있습니다. 제공 비교 코드를 실행한 사실은 PASS 문자열을 계산한 코드의 검증이며 실제 대시보드 기능을 구현한 증거와 다릅니다. 위험 목록은 장비 미정, 데이터 계약 불일치, 설치 실패처럼 구체 조건과 영향, 담당, 대안을 붙입니다. 인터넷이 없어도 로컬 파일로 시험할 수 있다는 대안도 시험 범위에 맞춰 씁니다.</a:t>
            </a:r>
          </a:p>
          <a:p xmlns:a="http://schemas.openxmlformats.org/drawingml/2006/main">
            <a:r>
              <a:t>예제 자료를 열어 설명한 값이나 항목을 함께 찾는다.</a:t>
            </a:r>
          </a:p>
          <a:p xmlns:a="http://schemas.openxmlformats.org/drawingml/2006/main">
            <a:r>
              <a:t/>
            </a:r>
          </a:p>
          <a:p xmlns:a="http://schemas.openxmlformats.org/drawingml/2006/main">
            <a:r>
              <a:t>학생 교안: https://zeusk302-png.github.io/kdigital-physical-ai/#/sessions/2026-10-30/lesson</a:t>
            </a:r>
          </a:p>
          <a:p xmlns:a="http://schemas.openxmlformats.org/drawingml/2006/main">
            <a:r>
              <a:t>실습: https://zeusk302-png.github.io/kdigital-physical-ai/#/sessions/2026-10-30/activity-A12</a:t>
            </a:r>
          </a:p>
          <a:p xmlns:a="http://schemas.openxmlformats.org/drawingml/2006/main">
            <a:r>
              <a:t>공식 자료: https://docs.python.org/3/tutorial/introduction.html#lists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outputs/2026-10-30/practice-guide.md</a:t>
            </a:r>
          </a:p>
          <a:p xmlns:a="http://schemas.openxmlformats.org/drawingml/2006/main">
            <a:r>
              <a:t>슬라이드 내용:</a:t>
            </a:r>
          </a:p>
          <a:p xmlns:a="http://schemas.openxmlformats.org/drawingml/2006/main">
            <a:r>
              <a:t>기대 review·관찰 없음</a:t>
            </a:r>
          </a:p>
          <a:p xmlns:a="http://schemas.openxmlformats.org/drawingml/2006/main">
            <a:r>
              <a:t>기대 reject·관찰 reject</a:t>
            </a:r>
          </a:p>
          <a:p xmlns:a="http://schemas.openxmlformats.org/drawingml/2006/main">
            <a:r>
              <a:t>기대 normal·관찰 alert</a:t>
            </a:r>
          </a:p>
          <a:p xmlns:a="http://schemas.openxmlformats.org/drawingml/2006/main">
            <a:r>
              <a:t>복습 문제: 기대 review와 관찰 없음, 기대 reject와 관찰 reject, 기대 normal과 관찰 alert의 세 시험 상태를 판단하세요. 실제 실행되지 않은 현장 시험이 통과로 바뀌는 데 필요한 증거도 쓰세요.</a:t>
            </a:r>
          </a:p>
          <a:p xmlns:a="http://schemas.openxmlformats.org/drawingml/2006/main">
            <a:r>
              <a:t>학생이 예상한 결과와 이유를 먼저 듣고 풀이한다. 숫자뿐 아니라 단위, ID, 조건도 확인한다.</a:t>
            </a:r>
          </a:p>
          <a:p xmlns:a="http://schemas.openxmlformats.org/drawingml/2006/main">
            <a:r>
              <a:t/>
            </a:r>
          </a:p>
          <a:p xmlns:a="http://schemas.openxmlformats.org/drawingml/2006/main">
            <a:r>
              <a:t>학생 교안: https://zeusk302-png.github.io/kdigital-physical-ai/#/sessions/2026-10-30/lesson</a:t>
            </a:r>
          </a:p>
          <a:p xmlns:a="http://schemas.openxmlformats.org/drawingml/2006/main">
            <a:r>
              <a:t>실습: https://zeusk302-png.github.io/kdigital-physical-ai/#/sessions/2026-10-30/activity-A12</a:t>
            </a:r>
          </a:p>
          <a:p xmlns:a="http://schemas.openxmlformats.org/drawingml/2006/main">
            <a:r>
              <a:t>공식 자료: https://docs.python.org/3/tutorial/introduction.html#lists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outputs/2026-10-30/lesson.md</a:t>
            </a:r>
          </a:p>
          <a:p xmlns:a="http://schemas.openxmlformats.org/drawingml/2006/main">
            <a:r>
              <a:t>슬라이드 내용:</a:t>
            </a:r>
          </a:p>
          <a:p xmlns:a="http://schemas.openxmlformats.org/drawingml/2006/main">
            <a:r>
              <a:t>NOT_RUN · PASS · FAIL</a:t>
            </a:r>
          </a:p>
          <a:p xmlns:a="http://schemas.openxmlformats.org/drawingml/2006/main">
            <a:r>
              <a:t>사용한 입력과 실행 환경, 실제 결과, 판정 이유를 적으세요.</a:t>
            </a:r>
          </a:p>
          <a:p xmlns:a="http://schemas.openxmlformats.org/drawingml/2006/main">
            <a:r>
              <a:t>가상 비교표 [PASS,FAIL,NOT_RUN,PASS]는 통과 2건, 실패 1건, 미실행 1건입니다. 2/4는 전체 계획 중 통과 건수이며 제품 완성도 50%라고 부르지 않습니다. 실행한 비교만 보면 2/3이지만 분모의 이름이 달라지므로 따로 표시합니다. 새 요구가 중복 거절이라면 중복 loan_id의 입력과 오류 기대값을 추가합니다. 정상 입력만 시험하면 실패 경로가 비어 있습니다. 제공 비교 코드를 실행한 사실은 PASS 문자열을 계산한 코드의 검증이며 실제 대시보드 기능을 구현한 증거와 다릅니다. 위험 목록은 장비 미정, 데이터 계약 불일치, 설치 실패처럼 구체 조건과 영향, 담당, 대안을 붙입니다. 인터넷이 없어도 로컬 파일로 시험할 수 있다는 대안도 시험 범위에 맞춰 씁니다.</a:t>
            </a:r>
          </a:p>
          <a:p xmlns:a="http://schemas.openxmlformats.org/drawingml/2006/main">
            <a:r>
              <a:t>예제 자료를 열어 설명한 값이나 항목을 함께 찾는다.</a:t>
            </a:r>
          </a:p>
          <a:p xmlns:a="http://schemas.openxmlformats.org/drawingml/2006/main">
            <a:r>
              <a:t/>
            </a:r>
          </a:p>
          <a:p xmlns:a="http://schemas.openxmlformats.org/drawingml/2006/main">
            <a:r>
              <a:t>학생 교안: https://zeusk302-png.github.io/kdigital-physical-ai/#/sessions/2026-10-30/lesson</a:t>
            </a:r>
          </a:p>
          <a:p xmlns:a="http://schemas.openxmlformats.org/drawingml/2006/main">
            <a:r>
              <a:t>실습: https://zeusk302-png.github.io/kdigital-physical-ai/#/sessions/2026-10-30/activity-A12</a:t>
            </a:r>
          </a:p>
          <a:p xmlns:a="http://schemas.openxmlformats.org/drawingml/2006/main">
            <a:r>
              <a:t>공식 자료: https://docs.python.org/3/tutorial/introduction.html#lists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outputs/2026-10-30/practice-guide.md</a:t>
            </a:r>
          </a:p>
          <a:p xmlns:a="http://schemas.openxmlformats.org/drawingml/2006/main">
            <a:r>
              <a:t>슬라이드 내용:</a:t>
            </a:r>
          </a:p>
          <a:p xmlns:a="http://schemas.openxmlformats.org/drawingml/2006/main">
            <a:r>
              <a:t>T02 관찰을 review로 바꾸면 PASS입니다.</a:t>
            </a:r>
          </a:p>
          <a:p xmlns:a="http://schemas.openxmlformats.org/drawingml/2006/main">
            <a:r>
              <a:t>예제 표의 값만 바꾼 것입니다. 실제 제품을 다시 시험한 것은 아닙니다.</a:t>
            </a:r>
          </a:p>
          <a:p xmlns:a="http://schemas.openxmlformats.org/drawingml/2006/main">
            <a:r>
              <a:t>완성 예의 R2는 시각 누락을 review로 표시하는 요구입니다. T2의 입력은 updated_at 빈칸인 L01, 기대 결과는 L01과 review 문구 및 원문 보존입니다. 실행 전 상태는 NOT_RUN입니다. 실제 관찰이 normal이면 FAIL이고 review이면 해당 비교는 PASS입니다. 화면이 아직 없는데 예상대로 될 것이라며 PASS를 쓰지 않습니다. 정답과 같아 보이는 관찰도 어떤 실행과 파일에서 나온 결과인지 남겨야 합니다.</a:t>
            </a:r>
          </a:p>
          <a:p xmlns:a="http://schemas.openxmlformats.org/drawingml/2006/main">
            <a:r>
              <a:t>학생이 예상한 결과와 이유를 먼저 듣고 풀이한다. 숫자뿐 아니라 단위, ID, 조건도 확인한다.</a:t>
            </a:r>
          </a:p>
          <a:p xmlns:a="http://schemas.openxmlformats.org/drawingml/2006/main">
            <a:r>
              <a:t/>
            </a:r>
          </a:p>
          <a:p xmlns:a="http://schemas.openxmlformats.org/drawingml/2006/main">
            <a:r>
              <a:t>학생 교안: https://zeusk302-png.github.io/kdigital-physical-ai/#/sessions/2026-10-30/lesson</a:t>
            </a:r>
          </a:p>
          <a:p xmlns:a="http://schemas.openxmlformats.org/drawingml/2006/main">
            <a:r>
              <a:t>실습: https://zeusk302-png.github.io/kdigital-physical-ai/#/sessions/2026-10-30/activity-A12</a:t>
            </a:r>
          </a:p>
          <a:p xmlns:a="http://schemas.openxmlformats.org/drawingml/2006/main">
            <a:r>
              <a:t>공식 자료: https://docs.python.org/3/tutorial/introduction.html#lists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outputs/2026-10-30/beginner-start.md</a:t>
            </a:r>
          </a:p>
          <a:p xmlns:a="http://schemas.openxmlformats.org/drawingml/2006/main">
            <a:r>
              <a:t>슬라이드 내용:</a:t>
            </a:r>
          </a:p>
          <a:p xmlns:a="http://schemas.openxmlformats.org/drawingml/2006/main">
            <a:r>
              <a:t>기획서 작성과 실제 제품 시험은 별개의 작업입니다.</a:t>
            </a:r>
          </a:p>
          <a:p xmlns:a="http://schemas.openxmlformats.org/drawingml/2006/main">
            <a:r>
              <a:t>실행하지 않은 시험은 NOT_RUN으로 기록하세요.</a:t>
            </a:r>
          </a:p>
          <a:p xmlns:a="http://schemas.openxmlformats.org/drawingml/2006/main">
            <a:r>
              <a:t>NOT_RUN,PASS,FAIL입니다. 실제 입력과 실행 환경, 관찰 출력, 기대값 비교가 필요합니다. 관찰 없음을 실패로 단정하거나 코드 작성만으로 현장 시험을 통과 처리하면 오답입니다.</a:t>
            </a:r>
          </a:p>
          <a:p xmlns:a="http://schemas.openxmlformats.org/drawingml/2006/main">
            <a:r>
              <a:t>예제 자료를 열어 설명한 값이나 항목을 함께 찾는다.</a:t>
            </a:r>
          </a:p>
          <a:p xmlns:a="http://schemas.openxmlformats.org/drawingml/2006/main">
            <a:r>
              <a:t/>
            </a:r>
          </a:p>
          <a:p xmlns:a="http://schemas.openxmlformats.org/drawingml/2006/main">
            <a:r>
              <a:t>학생 교안: https://zeusk302-png.github.io/kdigital-physical-ai/#/sessions/2026-10-30/lesson</a:t>
            </a:r>
          </a:p>
          <a:p xmlns:a="http://schemas.openxmlformats.org/drawingml/2006/main">
            <a:r>
              <a:t>실습: https://zeusk302-png.github.io/kdigital-physical-ai/#/sessions/2026-10-30/activity-A12</a:t>
            </a:r>
          </a:p>
          <a:p xmlns:a="http://schemas.openxmlformats.org/drawingml/2006/main">
            <a:r>
              <a:t>공식 자료: https://docs.python.org/3/tutorial/introduction.html#lists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outputs/2026-10-30/lesson.md</a:t>
            </a:r>
          </a:p>
          <a:p xmlns:a="http://schemas.openxmlformats.org/drawingml/2006/main">
            <a:r>
              <a:t>슬라이드 내용:</a:t>
            </a:r>
          </a:p>
          <a:p xmlns:a="http://schemas.openxmlformats.org/drawingml/2006/main">
            <a:r>
              <a:t>PASS·FAIL·NOT_RUN은 각각 언제 기록하나요?</a:t>
            </a:r>
          </a:p>
          <a:p xmlns:a="http://schemas.openxmlformats.org/drawingml/2006/main">
            <a:r>
              <a:t>2/4를 제품 완성도라 부를 수 없는 이유는?</a:t>
            </a:r>
          </a:p>
          <a:p xmlns:a="http://schemas.openxmlformats.org/drawingml/2006/main">
            <a:r>
              <a:t>가상 비교표 [PASS,FAIL,NOT_RUN,PASS]는 통과 2건, 실패 1건, 미실행 1건입니다. 2/4는 전체 계획 중 통과 건수이며 제품 완성도 50%라고 부르지 않습니다. 실행한 비교만 보면 2/3이지만 분모의 이름이 달라지므로 따로 표시합니다. 새 요구가 중복 거절이라면 중복 loan_id의 입력과 오류 기대값을 추가합니다. 정상 입력만 시험하면 실패 경로가 비어 있습니다. 제공 비교 코드를 실행한 사실은 PASS 문자열을 계산한 코드의 검증이며 실제 대시보드 기능을 구현한 증거와 다릅니다. 위험 목록은 장비 미정, 데이터 계약 불일치, 설치 실패처럼 구체 조건과 영향, 담당, 대안을 붙입니다. 인터넷이 없어도 로컬 파일로 시험할 수 있다는 대안도 시험 범위에 맞춰 씁니다.</a:t>
            </a:r>
          </a:p>
          <a:p xmlns:a="http://schemas.openxmlformats.org/drawingml/2006/main">
            <a:r>
              <a:t>학생이 예상한 결과와 이유를 먼저 듣고 풀이한다. 숫자뿐 아니라 단위, ID, 조건도 확인한다.</a:t>
            </a:r>
          </a:p>
          <a:p xmlns:a="http://schemas.openxmlformats.org/drawingml/2006/main">
            <a:r>
              <a:t/>
            </a:r>
          </a:p>
          <a:p xmlns:a="http://schemas.openxmlformats.org/drawingml/2006/main">
            <a:r>
              <a:t>학생 교안: https://zeusk302-png.github.io/kdigital-physical-ai/#/sessions/2026-10-30/lesson</a:t>
            </a:r>
          </a:p>
          <a:p xmlns:a="http://schemas.openxmlformats.org/drawingml/2006/main">
            <a:r>
              <a:t>실습: https://zeusk302-png.github.io/kdigital-physical-ai/#/sessions/2026-10-30/activity-A12</a:t>
            </a:r>
          </a:p>
          <a:p xmlns:a="http://schemas.openxmlformats.org/drawingml/2006/main">
            <a:r>
              <a:t>공식 자료: https://docs.python.org/3/tutorial/introduction.html#lists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outputs/2026-10-30/assessment.md</a:t>
            </a:r>
          </a:p>
          <a:p xmlns:a="http://schemas.openxmlformats.org/drawingml/2006/main">
            <a:r>
              <a:t>슬라이드 내용:</a:t>
            </a:r>
          </a:p>
          <a:p xmlns:a="http://schemas.openxmlformats.org/drawingml/2006/main">
            <a:r>
              <a:t>추가·복습: 통과2·실패1·미실행2</a:t>
            </a:r>
          </a:p>
          <a:p xmlns:a="http://schemas.openxmlformats.org/drawingml/2006/main">
            <a:r>
              <a:t>계획 대비와 실행 대비 통과 비율을 쓰세요.</a:t>
            </a:r>
          </a:p>
          <a:p xmlns:a="http://schemas.openxmlformats.org/drawingml/2006/main">
            <a:r>
              <a:t>가상 비교표 [PASS,FAIL,NOT_RUN,PASS]는 통과 2건, 실패 1건, 미실행 1건입니다. 2/4는 전체 계획 중 통과 건수이며 제품 완성도 50%라고 부르지 않습니다. 실행한 비교만 보면 2/3이지만 분모의 이름이 달라지므로 따로 표시합니다. 새 요구가 중복 거절이라면 중복 loan_id의 입력과 오류 기대값을 추가합니다. 정상 입력만 시험하면 실패 경로가 비어 있습니다. 제공 비교 코드를 실행한 사실은 PASS 문자열을 계산한 코드의 검증이며 실제 대시보드 기능을 구현한 증거와 다릅니다. 위험 목록은 장비 미정, 데이터 계약 불일치, 설치 실패처럼 구체 조건과 영향, 담당, 대안을 붙입니다. 인터넷이 없어도 로컬 파일로 시험할 수 있다는 대안도 시험 범위에 맞춰 씁니다.</a:t>
            </a:r>
          </a:p>
          <a:p xmlns:a="http://schemas.openxmlformats.org/drawingml/2006/main">
            <a:r>
              <a:t>학생이 예상한 결과와 이유를 먼저 듣고 풀이한다. 숫자뿐 아니라 단위, ID, 조건도 확인한다.</a:t>
            </a:r>
          </a:p>
          <a:p xmlns:a="http://schemas.openxmlformats.org/drawingml/2006/main">
            <a:r>
              <a:t>관련 전이 문제와 해설:</a:t>
            </a:r>
          </a:p>
          <a:p xmlns:a="http://schemas.openxmlformats.org/drawingml/2006/main">
            <a:r>
              <a:t>시험 5개 중 통과2·실패1·미실행2입니다. 계획 대비와 실행 대비 통과를 설명하세요.</a:t>
            </a:r>
          </a:p>
          <a:p xmlns:a="http://schemas.openxmlformats.org/drawingml/2006/main">
            <a:r>
              <a:t/>
            </a:r>
          </a:p>
          <a:p xmlns:a="http://schemas.openxmlformats.org/drawingml/2006/main">
            <a:r>
              <a:t>&lt;details&gt;&lt;summary&gt;정답과 해설&lt;/summary&gt;</a:t>
            </a:r>
          </a:p>
          <a:p xmlns:a="http://schemas.openxmlformats.org/drawingml/2006/main">
            <a:r>
              <a:t/>
            </a:r>
          </a:p>
          <a:p xmlns:a="http://schemas.openxmlformats.org/drawingml/2006/main">
            <a:r>
              <a:t>계획 대비 2/5, 실행 비교 대비 2/3입니다. 분모를 명시하며 실제 제품 완성도나 사용성으로 해석하지 않습니다.</a:t>
            </a:r>
          </a:p>
          <a:p xmlns:a="http://schemas.openxmlformats.org/drawingml/2006/main">
            <a:r>
              <a:t/>
            </a:r>
          </a:p>
          <a:p xmlns:a="http://schemas.openxmlformats.org/drawingml/2006/main">
            <a:r>
              <a:t>&lt;/details&gt;</a:t>
            </a:r>
          </a:p>
          <a:p xmlns:a="http://schemas.openxmlformats.org/drawingml/2006/main">
            <a:r>
              <a:t>수업에서 먼저 할 실습 뒤 선택한다. 모든 슬라이드를 50분 안에 완수했다는 뜻이 아니다.</a:t>
            </a:r>
          </a:p>
          <a:p xmlns:a="http://schemas.openxmlformats.org/drawingml/2006/main">
            <a:r>
              <a:t/>
            </a:r>
          </a:p>
          <a:p xmlns:a="http://schemas.openxmlformats.org/drawingml/2006/main">
            <a:r>
              <a:t>학생 교안: https://zeusk302-png.github.io/kdigital-physical-ai/#/sessions/2026-10-30/lesson</a:t>
            </a:r>
          </a:p>
          <a:p xmlns:a="http://schemas.openxmlformats.org/drawingml/2006/main">
            <a:r>
              <a:t>실습: https://zeusk302-png.github.io/kdigital-physical-ai/#/sessions/2026-10-30/activity-A12</a:t>
            </a:r>
          </a:p>
          <a:p xmlns:a="http://schemas.openxmlformats.org/drawingml/2006/main">
            <a:r>
              <a:t>공식 자료: https://docs.python.org/3/tutorial/introduction.html#lists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outputs/2026-10-30/lesson.md</a:t>
            </a:r>
          </a:p>
          <a:p xmlns:a="http://schemas.openxmlformats.org/drawingml/2006/main">
            <a:r>
              <a:t>5교시 필수 개념 보충 · 결과물로 작업을 나누고 견적을 계산하기</a:t>
            </a:r>
          </a:p>
          <a:p xmlns:a="http://schemas.openxmlformats.org/drawingml/2006/main">
            <a:r>
              <a:t/>
            </a:r>
          </a:p>
          <a:p xmlns:a="http://schemas.openxmlformats.org/drawingml/2006/main">
            <a:r>
              <a:t>실무 상황과 원리</a:t>
            </a:r>
          </a:p>
          <a:p xmlns:a="http://schemas.openxmlformats.org/drawingml/2006/main">
            <a:r>
              <a:t/>
            </a:r>
          </a:p>
          <a:p xmlns:a="http://schemas.openxmlformats.org/drawingml/2006/main">
            <a:r>
              <a:t>의뢰자가 “며칠이면 되나요?”라고 묻습니다. 화면 한 장만 보고 기간을 정하면 데이터 계약, 오류 처리와 시험 시간이 빠집니다. 작업은 손댈 기술 이름보다 전달할 결과물로 나눕니다. 선행 관계는 다른 작업이 시작되기 전에 합의하거나 완료해야 할 조건입니다.</a:t>
            </a:r>
          </a:p>
          <a:p xmlns:a="http://schemas.openxmlformats.org/drawingml/2006/main">
            <a:r>
              <a:t/>
            </a:r>
          </a:p>
          <a:p xmlns:a="http://schemas.openxmlformats.org/drawingml/2006/main">
            <a:r>
              <a:t>이 예제에서는 W1 데이터 계약과 샘플 2시간, W2 검수 처리 4시간, W3 화면 3시간, W4 통합·시험·안내 3시간입니다. 한 사람이 순서대로 한다면 작업량 합은 12시간입니다. W1 뒤 W2와 W3를 나눠 진행할 수 있어도 인원이 실제로 정해지지 않았으면 달력 기간이 자동으로 줄지 않습니다. 검수 기준은 W1 샘플 승인, W2 정상과 오류 출력, W3 세 상태 화면, W4 요구별 시험과 재실행 안내로 붙입니다. 시간이 지났다는 이유만으로 결과물을 통과 처리하지 않습니다.</a:t>
            </a:r>
          </a:p>
          <a:p xmlns:a="http://schemas.openxmlformats.org/drawingml/2006/main">
            <a:r>
              <a:t/>
            </a:r>
          </a:p>
          <a:p xmlns:a="http://schemas.openxmlformats.org/drawingml/2006/main">
            <a:r>
              <a:t>견적 연습은 가정 시급 30000원과 작업 12시간을 곱해 360000원입니다. 여유 20%를 계산하면 72000원, 합계 432000원입니다. 이는 교육용 계산이며 실제 계약 가격이나 시장 평균이 아닙니다. 장비·유료 API·서버·세금·수정 범위의 포함 여부는 따로 명시합니다. 새 기능을 넣으면 필요한 입력, 실패 경로, 시험과 운영 문서 작업까지 추가해 다시 계산합니다. “카메라 추가”라는 한 줄의 시간만 더하면 통합과 장비 확인이 빠질 수 있습니다. 범위가 줄었다면 무엇을 제외했는지 결과물과 시험표에도 반영합니다. 위험에 대한 여유를 넣어도 미확인 요구를 확정할 수 없으므로 확인 질문과 결정 시점을 함께 남깁니다.</a:t>
            </a:r>
          </a:p>
          <a:p xmlns:a="http://schemas.openxmlformats.org/drawingml/2006/main">
            <a:r>
              <a:t/>
            </a:r>
          </a:p>
          <a:p xmlns:a="http://schemas.openxmlformats.org/drawingml/2006/main">
            <a:r>
              <a:t>다른 사례로 연습하기</a:t>
            </a:r>
          </a:p>
          <a:p xmlns:a="http://schemas.openxmlformats.org/drawingml/2006/main">
            <a:r>
              <a:t/>
            </a:r>
          </a:p>
          <a:p xmlns:a="http://schemas.openxmlformats.org/drawingml/2006/main">
            <a:r>
              <a:t>복습 문제: 작업량 8시간, 가정 시급 25000원, 여유 15%로 새 견적을 계산하고 별도 비용 두 가지를 쓰세요. 두 사람이 있다는 이유로 자동 4시간이라고 답할 수 있는지도 판단하세요.</a:t>
            </a:r>
          </a:p>
          <a:p xmlns:a="http://schemas.openxmlformats.org/drawingml/2006/main">
            <a:r>
              <a:t/>
            </a:r>
          </a:p>
          <a:p xmlns:a="http://schemas.openxmlformats.org/drawingml/2006/main">
            <a:r>
              <a:t>풀이와 주의할 점</a:t>
            </a:r>
          </a:p>
          <a:p xmlns:a="http://schemas.openxmlformats.org/drawingml/2006/main">
            <a:r>
              <a:t/>
            </a:r>
          </a:p>
          <a:p xmlns:a="http://schemas.openxmlformats.org/drawingml/2006/main">
            <a:r>
              <a:t>기본 200000원, 여유 30000원, 합계 230000원입니다. 장비와 서버 등 포함 여부를 표시합니다. 선행 관계와 분담, 통합 조건이 없으므로 자동 4시간은 아닙니다. 여유를 확정 수익이나 실제 리허설 시간으로 쓰면 오답입니다.</a:t>
            </a:r>
          </a:p>
          <a:p xmlns:a="http://schemas.openxmlformats.org/drawingml/2006/main">
            <a:r>
              <a:t/>
            </a:r>
          </a:p>
          <a:p xmlns:a="http://schemas.openxmlformats.org/drawingml/2006/main">
            <a:r>
              <a:t>확인 질문과 답</a:t>
            </a:r>
          </a:p>
          <a:p xmlns:a="http://schemas.openxmlformats.org/drawingml/2006/main">
            <a:r>
              <a:t/>
            </a:r>
          </a:p>
          <a:p xmlns:a="http://schemas.openxmlformats.org/drawingml/2006/main">
            <a:r>
              <a:t>1. 작업 합과 달력 기간은 같은가요? → 인원과 선행 조건에 따라 다릅니다.</a:t>
            </a:r>
          </a:p>
          <a:p xmlns:a="http://schemas.openxmlformats.org/drawingml/2006/main">
            <a:r>
              <a:t>2. 견적 432000원은 확정가인가요? → 교육용 가정입니다.</a:t>
            </a:r>
          </a:p>
          <a:p xmlns:a="http://schemas.openxmlformats.org/drawingml/2006/main">
            <a:r>
              <a:t>3. 완료 증거는? → 합의한 결과물과 시험입니다.</a:t>
            </a:r>
          </a:p>
          <a:p xmlns:a="http://schemas.openxmlformats.org/drawingml/2006/main">
            <a:r>
              <a:t>먼저 예제를 보여 준 뒤 함께 따라 한다. 조건 하나를 바꿔 예상 결과와 실제 결과를 비교한다. 학생에게 값이 바뀐 이유를 물어본다. 복습 문제는 기본 실습을 마친 뒤 선택한다.</a:t>
            </a:r>
          </a:p>
          <a:p xmlns:a="http://schemas.openxmlformats.org/drawingml/2006/main">
            <a:r>
              <a:t/>
            </a:r>
          </a:p>
          <a:p xmlns:a="http://schemas.openxmlformats.org/drawingml/2006/main">
            <a:r>
              <a:t>학생 교안: https://zeusk302-png.github.io/kdigital-physical-ai/#/sessions/2026-10-30/lesson</a:t>
            </a:r>
          </a:p>
          <a:p xmlns:a="http://schemas.openxmlformats.org/drawingml/2006/main">
            <a:r>
              <a:t>실습: https://zeusk302-png.github.io/kdigital-physical-ai/#/sessions/2026-10-30/activity-A12</a:t>
            </a:r>
          </a:p>
          <a:p xmlns:a="http://schemas.openxmlformats.org/drawingml/2006/main">
            <a:r>
              <a:t>공식 자료: https://docs.python.org/3/library/json.html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outputs/2026-10-30/lesson.md</a:t>
            </a:r>
          </a:p>
          <a:p xmlns:a="http://schemas.openxmlformats.org/drawingml/2006/main">
            <a:r>
              <a:t>슬라이드 내용:</a:t>
            </a:r>
          </a:p>
          <a:p xmlns:a="http://schemas.openxmlformats.org/drawingml/2006/main">
            <a:r>
              <a:t>W1 데이터 규칙·샘플 · W2 값 검사</a:t>
            </a:r>
          </a:p>
          <a:p xmlns:a="http://schemas.openxmlformats.org/drawingml/2006/main">
            <a:r>
              <a:t>W3 화면 · W4 통합·시험·안내</a:t>
            </a:r>
          </a:p>
          <a:p xmlns:a="http://schemas.openxmlformats.org/drawingml/2006/main">
            <a:r>
              <a:t>이 예제에서는 W1 데이터 계약과 샘플 2시간, W2 검수 처리 4시간, W3 화면 3시간, W4 통합·시험·안내 3시간입니다. 한 사람이 순서대로 한다면 작업량 합은 12시간입니다. W1 뒤 W2와 W3를 나눠 진행할 수 있어도 인원이 실제로 정해지지 않았으면 달력 기간이 자동으로 줄지 않습니다. 검수 기준은 W1 샘플 승인, W2 정상과 오류 출력, W3 세 상태 화면, W4 요구별 시험과 재실행 안내로 붙입니다. 시간이 지났다는 이유만으로 결과물을 통과 처리하지 않습니다.</a:t>
            </a:r>
          </a:p>
          <a:p xmlns:a="http://schemas.openxmlformats.org/drawingml/2006/main">
            <a:r>
              <a:t>예제 자료를 열어 설명한 값이나 항목을 함께 찾는다.</a:t>
            </a:r>
          </a:p>
          <a:p xmlns:a="http://schemas.openxmlformats.org/drawingml/2006/main">
            <a:r>
              <a:t/>
            </a:r>
          </a:p>
          <a:p xmlns:a="http://schemas.openxmlformats.org/drawingml/2006/main">
            <a:r>
              <a:t>화면 예의 출처: D:\KDigital_PhysicalAI\.build\copyedited-ppt\spec-2026-10-30.json#slide-70</a:t>
            </a:r>
          </a:p>
          <a:p xmlns:a="http://schemas.openxmlformats.org/drawingml/2006/main">
            <a:r>
              <a:t/>
            </a:r>
          </a:p>
          <a:p xmlns:a="http://schemas.openxmlformats.org/drawingml/2006/main">
            <a:r>
              <a:t>학생 교안: https://zeusk302-png.github.io/kdigital-physical-ai/#/sessions/2026-10-30/lesson</a:t>
            </a:r>
          </a:p>
          <a:p xmlns:a="http://schemas.openxmlformats.org/drawingml/2006/main">
            <a:r>
              <a:t>실습: https://zeusk302-png.github.io/kdigital-physical-ai/#/sessions/2026-10-30/activity-A13</a:t>
            </a:r>
          </a:p>
          <a:p xmlns:a="http://schemas.openxmlformats.org/drawingml/2006/main">
            <a:r>
              <a:t>공식 자료: https://docs.python.org/3/library/json.html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outputs/2026-10-30/lesson.md</a:t>
            </a:r>
          </a:p>
          <a:p xmlns:a="http://schemas.openxmlformats.org/drawingml/2006/main">
            <a:r>
              <a:t>슬라이드 내용:</a:t>
            </a:r>
          </a:p>
          <a:p xmlns:a="http://schemas.openxmlformats.org/drawingml/2006/main">
            <a:r>
              <a:t>W1에서 데이터 규칙을 정한 뒤 W2·W3을 진행합니다.</a:t>
            </a:r>
          </a:p>
          <a:p xmlns:a="http://schemas.openxmlformats.org/drawingml/2006/main">
            <a:r>
              <a:t>먼저 끝나야 할 작업과 확인 결과를 적으세요.</a:t>
            </a:r>
          </a:p>
          <a:p xmlns:a="http://schemas.openxmlformats.org/drawingml/2006/main">
            <a:r>
              <a:t>의뢰자가 “며칠이면 되나요?”라고 묻습니다. 화면 한 장만 보고 기간을 정하면 데이터 계약, 오류 처리와 시험 시간이 빠집니다. 작업은 손댈 기술 이름보다 전달할 결과물로 나눕니다. 선행 관계는 다른 작업이 시작되기 전에 합의하거나 완료해야 할 조건입니다.</a:t>
            </a:r>
          </a:p>
          <a:p xmlns:a="http://schemas.openxmlformats.org/drawingml/2006/main">
            <a:r>
              <a:t>예제 자료를 열어 설명한 값이나 항목을 함께 찾는다.</a:t>
            </a:r>
          </a:p>
          <a:p xmlns:a="http://schemas.openxmlformats.org/drawingml/2006/main">
            <a:r>
              <a:t/>
            </a:r>
          </a:p>
          <a:p xmlns:a="http://schemas.openxmlformats.org/drawingml/2006/main">
            <a:r>
              <a:t>화면 예의 출처: D:\KDigital_PhysicalAI\.build\copyedited-ppt\spec-2026-10-30.json#slide-70</a:t>
            </a:r>
          </a:p>
          <a:p xmlns:a="http://schemas.openxmlformats.org/drawingml/2006/main">
            <a:r>
              <a:t/>
            </a:r>
          </a:p>
          <a:p xmlns:a="http://schemas.openxmlformats.org/drawingml/2006/main">
            <a:r>
              <a:t>학생 교안: https://zeusk302-png.github.io/kdigital-physical-ai/#/sessions/2026-10-30/lesson</a:t>
            </a:r>
          </a:p>
          <a:p xmlns:a="http://schemas.openxmlformats.org/drawingml/2006/main">
            <a:r>
              <a:t>실습: https://zeusk302-png.github.io/kdigital-physical-ai/#/sessions/2026-10-30/activity-A14</a:t>
            </a:r>
          </a:p>
          <a:p xmlns:a="http://schemas.openxmlformats.org/drawingml/2006/main">
            <a:r>
              <a:t>공식 자료: https://docs.python.org/3/library/json.html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outputs/2026-10-30/lesson.md</a:t>
            </a:r>
          </a:p>
          <a:p xmlns:a="http://schemas.openxmlformats.org/drawingml/2006/main">
            <a:r>
              <a:t>슬라이드 내용:</a:t>
            </a:r>
          </a:p>
          <a:p xmlns:a="http://schemas.openxmlformats.org/drawingml/2006/main">
            <a:r>
              <a:t>가정 작업량: 2+4+3+3=12시간</a:t>
            </a:r>
          </a:p>
          <a:p xmlns:a="http://schemas.openxmlformats.org/drawingml/2006/main">
            <a:r>
              <a:t>팀원 수만으로 달력 기간을 나누지 않습니다.</a:t>
            </a:r>
          </a:p>
          <a:p xmlns:a="http://schemas.openxmlformats.org/drawingml/2006/main">
            <a:r>
              <a:t>1. 작업 합과 달력 기간은 같은가요? → 인원과 선행 조건에 따라 다릅니다.</a:t>
            </a:r>
          </a:p>
          <a:p xmlns:a="http://schemas.openxmlformats.org/drawingml/2006/main">
            <a:r>
              <a:t>2. 견적 432000원은 확정가인가요? → 교육용 가정입니다.</a:t>
            </a:r>
          </a:p>
          <a:p xmlns:a="http://schemas.openxmlformats.org/drawingml/2006/main">
            <a:r>
              <a:t>3. 완료 증거는? → 합의한 결과물과 시험입니다.</a:t>
            </a:r>
          </a:p>
          <a:p xmlns:a="http://schemas.openxmlformats.org/drawingml/2006/main">
            <a:r>
              <a:t>예제 자료를 열어 설명한 값이나 항목을 함께 찾는다.</a:t>
            </a:r>
          </a:p>
          <a:p xmlns:a="http://schemas.openxmlformats.org/drawingml/2006/main">
            <a:r>
              <a:t/>
            </a:r>
          </a:p>
          <a:p xmlns:a="http://schemas.openxmlformats.org/drawingml/2006/main">
            <a:r>
              <a:t>화면 예의 출처: D:\KDigital_PhysicalAI\.build\copyedited-ppt\spec-2026-10-30.json#slide-72</a:t>
            </a:r>
          </a:p>
          <a:p xmlns:a="http://schemas.openxmlformats.org/drawingml/2006/main">
            <a:r>
              <a:t/>
            </a:r>
          </a:p>
          <a:p xmlns:a="http://schemas.openxmlformats.org/drawingml/2006/main">
            <a:r>
              <a:t>학생 교안: https://zeusk302-png.github.io/kdigital-physical-ai/#/sessions/2026-10-30/lesson</a:t>
            </a:r>
          </a:p>
          <a:p xmlns:a="http://schemas.openxmlformats.org/drawingml/2006/main">
            <a:r>
              <a:t>실습: https://zeusk302-png.github.io/kdigital-physical-ai/#/sessions/2026-10-30/activity-A14</a:t>
            </a:r>
          </a:p>
          <a:p xmlns:a="http://schemas.openxmlformats.org/drawingml/2006/main">
            <a:r>
              <a:t>공식 자료: https://docs.python.org/3/library/json.html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outputs/2026-10-30/lesson.md</a:t>
            </a:r>
          </a:p>
          <a:p xmlns:a="http://schemas.openxmlformats.org/drawingml/2006/main">
            <a:r>
              <a:t>슬라이드 내용:</a:t>
            </a:r>
          </a:p>
          <a:p xmlns:a="http://schemas.openxmlformats.org/drawingml/2006/main">
            <a:r>
              <a:t>샘플 승인 · 정상·오류 출력 · 세 상태 화면</a:t>
            </a:r>
          </a:p>
          <a:p xmlns:a="http://schemas.openxmlformats.org/drawingml/2006/main">
            <a:r>
              <a:t>예정 시간이 지나도 결과를 확인해야 작업을 끝낼 수 있습니다.</a:t>
            </a:r>
          </a:p>
          <a:p xmlns:a="http://schemas.openxmlformats.org/drawingml/2006/main">
            <a:r>
              <a:t>이 예제에서는 W1 데이터 계약과 샘플 2시간, W2 검수 처리 4시간, W3 화면 3시간, W4 통합·시험·안내 3시간입니다. 한 사람이 순서대로 한다면 작업량 합은 12시간입니다. W1 뒤 W2와 W3를 나눠 진행할 수 있어도 인원이 실제로 정해지지 않았으면 달력 기간이 자동으로 줄지 않습니다. 검수 기준은 W1 샘플 승인, W2 정상과 오류 출력, W3 세 상태 화면, W4 요구별 시험과 재실행 안내로 붙입니다. 시간이 지났다는 이유만으로 결과물을 통과 처리하지 않습니다.</a:t>
            </a:r>
          </a:p>
          <a:p xmlns:a="http://schemas.openxmlformats.org/drawingml/2006/main">
            <a:r>
              <a:t>예제 자료를 열어 설명한 값이나 항목을 함께 찾는다.</a:t>
            </a:r>
          </a:p>
          <a:p xmlns:a="http://schemas.openxmlformats.org/drawingml/2006/main">
            <a:r>
              <a:t/>
            </a:r>
          </a:p>
          <a:p xmlns:a="http://schemas.openxmlformats.org/drawingml/2006/main">
            <a:r>
              <a:t>학생 교안: https://zeusk302-png.github.io/kdigital-physical-ai/#/sessions/2026-10-30/lesson</a:t>
            </a:r>
          </a:p>
          <a:p xmlns:a="http://schemas.openxmlformats.org/drawingml/2006/main">
            <a:r>
              <a:t>실습: https://zeusk302-png.github.io/kdigital-physical-ai/#/sessions/2026-10-30/activity-A15</a:t>
            </a:r>
          </a:p>
          <a:p xmlns:a="http://schemas.openxmlformats.org/drawingml/2006/main">
            <a:r>
              <a:t>공식 자료: https://docs.python.org/3/library/json.html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outputs/2026-10-30/lesson.md</a:t>
            </a:r>
          </a:p>
          <a:p xmlns:a="http://schemas.openxmlformats.org/drawingml/2006/main">
            <a:r>
              <a:t>슬라이드 내용:</a:t>
            </a:r>
          </a:p>
          <a:p xmlns:a="http://schemas.openxmlformats.org/drawingml/2006/main">
            <a:r>
              <a:t>12시간 × 가정 시급 30,000원</a:t>
            </a:r>
          </a:p>
          <a:p xmlns:a="http://schemas.openxmlformats.org/drawingml/2006/main">
            <a:r>
              <a:t>기본 비용 360,000원</a:t>
            </a:r>
          </a:p>
          <a:p xmlns:a="http://schemas.openxmlformats.org/drawingml/2006/main">
            <a:r>
              <a:t>복습 문제: 작업량 8시간, 가정 시급 25000원, 여유 15%로 새 견적을 계산하고 별도 비용 두 가지를 쓰세요. 두 사람이 있다는 이유로 자동 4시간이라고 답할 수 있는지도 판단하세요.</a:t>
            </a:r>
          </a:p>
          <a:p xmlns:a="http://schemas.openxmlformats.org/drawingml/2006/main">
            <a:r>
              <a:t>예제 자료를 열어 설명한 값이나 항목을 함께 찾는다.</a:t>
            </a:r>
          </a:p>
          <a:p xmlns:a="http://schemas.openxmlformats.org/drawingml/2006/main">
            <a:r>
              <a:t/>
            </a:r>
          </a:p>
          <a:p xmlns:a="http://schemas.openxmlformats.org/drawingml/2006/main">
            <a:r>
              <a:t>화면 예의 출처: D:\KDigital_PhysicalAI\.build\copyedited-ppt\spec-2026-10-30.json#slide-76</a:t>
            </a:r>
          </a:p>
          <a:p xmlns:a="http://schemas.openxmlformats.org/drawingml/2006/main">
            <a:r>
              <a:t/>
            </a:r>
          </a:p>
          <a:p xmlns:a="http://schemas.openxmlformats.org/drawingml/2006/main">
            <a:r>
              <a:t>학생 교안: https://zeusk302-png.github.io/kdigital-physical-ai/#/sessions/2026-10-30/lesson</a:t>
            </a:r>
          </a:p>
          <a:p xmlns:a="http://schemas.openxmlformats.org/drawingml/2006/main">
            <a:r>
              <a:t>실습: https://zeusk302-png.github.io/kdigital-physical-ai/#/sessions/2026-10-30/activity-A15</a:t>
            </a:r>
          </a:p>
          <a:p xmlns:a="http://schemas.openxmlformats.org/drawingml/2006/main">
            <a:r>
              <a:t>공식 자료: https://docs.python.org/3/library/json.html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outputs/2026-10-30/lesson.md</a:t>
            </a:r>
          </a:p>
          <a:p xmlns:a="http://schemas.openxmlformats.org/drawingml/2006/main">
            <a:r>
              <a:t>슬라이드 내용:</a:t>
            </a:r>
          </a:p>
          <a:p xmlns:a="http://schemas.openxmlformats.org/drawingml/2006/main">
            <a:r>
              <a:t>20% 여유 72,000원 → 합계 432,000원</a:t>
            </a:r>
          </a:p>
          <a:p xmlns:a="http://schemas.openxmlformats.org/drawingml/2006/main">
            <a:r>
              <a:t>장비·서버·API·세금 포함 여부는 따로 씁니다.</a:t>
            </a:r>
          </a:p>
          <a:p xmlns:a="http://schemas.openxmlformats.org/drawingml/2006/main">
            <a:r>
              <a:t>견적 연습은 가정 시급 30000원과 작업 12시간을 곱해 360000원입니다. 여유 20%를 계산하면 72000원, 합계 432000원입니다. 이는 교육용 계산이며 실제 계약 가격이나 시장 평균이 아닙니다. 장비·유료 API·서버·세금·수정 범위의 포함 여부는 따로 명시합니다. 새 기능을 넣으면 필요한 입력, 실패 경로, 시험과 운영 문서 작업까지 추가해 다시 계산합니다. “카메라 추가”라는 한 줄의 시간만 더하면 통합과 장비 확인이 빠질 수 있습니다. 범위가 줄었다면 무엇을 제외했는지 결과물과 시험표에도 반영합니다. 위험에 대한 여유를 넣어도 미확인 요구를 확정할 수 없으므로 확인 질문과 결정 시점을 함께 남깁니다.</a:t>
            </a:r>
          </a:p>
          <a:p xmlns:a="http://schemas.openxmlformats.org/drawingml/2006/main">
            <a:r>
              <a:t>예제 자료를 열어 설명한 값이나 항목을 함께 찾는다.</a:t>
            </a:r>
          </a:p>
          <a:p xmlns:a="http://schemas.openxmlformats.org/drawingml/2006/main">
            <a:r>
              <a:t/>
            </a:r>
          </a:p>
          <a:p xmlns:a="http://schemas.openxmlformats.org/drawingml/2006/main">
            <a:r>
              <a:t>화면 예의 출처: D:\KDigital_PhysicalAI\.build\copyedited-ppt\spec-2026-10-30.json#slide-79</a:t>
            </a:r>
          </a:p>
          <a:p xmlns:a="http://schemas.openxmlformats.org/drawingml/2006/main">
            <a:r>
              <a:t/>
            </a:r>
          </a:p>
          <a:p xmlns:a="http://schemas.openxmlformats.org/drawingml/2006/main">
            <a:r>
              <a:t>학생 교안: https://zeusk302-png.github.io/kdigital-physical-ai/#/sessions/2026-10-30/lesson</a:t>
            </a:r>
          </a:p>
          <a:p xmlns:a="http://schemas.openxmlformats.org/drawingml/2006/main">
            <a:r>
              <a:t>실습: https://zeusk302-png.github.io/kdigital-physical-ai/#/sessions/2026-10-30/activity-A15</a:t>
            </a:r>
          </a:p>
          <a:p xmlns:a="http://schemas.openxmlformats.org/drawingml/2006/main">
            <a:r>
              <a:t>공식 자료: https://docs.python.org/3/library/json.html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outputs/2026-10-30/lesson.md</a:t>
            </a:r>
          </a:p>
          <a:p xmlns:a="http://schemas.openxmlformats.org/drawingml/2006/main">
            <a:r>
              <a:t>hours*rate_won이기본비용,base_won*reserve_rate가여유다. 0.20은20%비율이며20을넣으면20배가된다. 밑줄은이름안단어를구분하는기호다. round는반올림이다. 입력수는교육용가정이며시장평균이나계약확정가격이아니다. 장비/서버/API/세금/수정범위포함여부는따로정해야한다.</a:t>
            </a:r>
          </a:p>
          <a:p xmlns:a="http://schemas.openxmlformats.org/drawingml/2006/main">
            <a:r>
              <a:t>최신 운영은 50분×6</a:t>
            </a:r>
          </a:p>
          <a:p xmlns:a="http://schemas.openxmlformats.org/drawingml/2006/main">
            <a:r>
              <a:t/>
            </a:r>
          </a:p>
          <a:p xmlns:a="http://schemas.openxmlformats.org/drawingml/2006/main">
            <a:r>
              <a:t>학생 교안: https://zeusk302-png.github.io/kdigital-physical-ai/#/sessions/2026-10-30/lesson</a:t>
            </a:r>
          </a:p>
          <a:p xmlns:a="http://schemas.openxmlformats.org/drawingml/2006/main">
            <a:r>
              <a:t>실습: https://zeusk302-png.github.io/kdigital-physical-ai/#/sessions/2026-10-30/activity-A15</a:t>
            </a:r>
          </a:p>
          <a:p xmlns:a="http://schemas.openxmlformats.org/drawingml/2006/main">
            <a:r>
              <a:t>공식 자료: https://docs.python.org/3/library/json.html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outputs/2026-10-30/lesson.md</a:t>
            </a:r>
          </a:p>
          <a:p xmlns:a="http://schemas.openxmlformats.org/drawingml/2006/main">
            <a:r>
              <a:t>hours*rate_won이기본비용,base_won*reserve_rate가여유다. 0.20은20%비율이며20을넣으면20배가된다. 밑줄은이름안단어를구분하는기호다. round는반올림이다. 입력수는교육용가정이며시장평균이나계약확정가격이아니다. 장비/서버/API/세금/수정범위포함여부는따로정해야한다.</a:t>
            </a:r>
          </a:p>
          <a:p xmlns:a="http://schemas.openxmlformats.org/drawingml/2006/main">
            <a:r>
              <a:t>기호를 정확한 이름으로 설명하기 전에 역할을 쉬운 말로 연결한다. 대입·비교·반복·출력 중 어느 단계인지 학생이 가리키게 한다.</a:t>
            </a:r>
          </a:p>
          <a:p xmlns:a="http://schemas.openxmlformats.org/drawingml/2006/main">
            <a:r>
              <a:t/>
            </a:r>
          </a:p>
          <a:p xmlns:a="http://schemas.openxmlformats.org/drawingml/2006/main">
            <a:r>
              <a:t>화면 예의 출처: D:\KDigital_PhysicalAI\.build\copyedited-ppt\spec-2026-10-30.json#slide-76</a:t>
            </a:r>
          </a:p>
          <a:p xmlns:a="http://schemas.openxmlformats.org/drawingml/2006/main">
            <a:r>
              <a:t/>
            </a:r>
          </a:p>
          <a:p xmlns:a="http://schemas.openxmlformats.org/drawingml/2006/main">
            <a:r>
              <a:t>학생 교안: https://zeusk302-png.github.io/kdigital-physical-ai/#/sessions/2026-10-30/lesson</a:t>
            </a:r>
          </a:p>
          <a:p xmlns:a="http://schemas.openxmlformats.org/drawingml/2006/main">
            <a:r>
              <a:t>실습: https://zeusk302-png.github.io/kdigital-physical-ai/#/sessions/2026-10-30/activity-A15</a:t>
            </a:r>
          </a:p>
          <a:p xmlns:a="http://schemas.openxmlformats.org/drawingml/2006/main">
            <a:r>
              <a:t>공식 자료: https://docs.python.org/3/library/json.html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outputs/2026-10-30/lesson.md</a:t>
            </a:r>
          </a:p>
          <a:p xmlns:a="http://schemas.openxmlformats.org/drawingml/2006/main">
            <a:r>
              <a:t>제공 참고 코드가 있으면 code 원본을 보존하고 work에 복사한다. 화면의 새로운 짧은 예는 표시된 work 파일에 전체를 입력하고 저장한다. 터미널의 현재 위치는 course다. 명령의 상대 경로 work/를 바꾸지 않는다. 예상 출력은 다음 슬라이드에서 비교한다. Python·numpy·cv2 설치 조건은 해당 예제에 따라 확인하고 불가이면 제공 출력 비교를 사용한다.</a:t>
            </a:r>
          </a:p>
          <a:p xmlns:a="http://schemas.openxmlformats.org/drawingml/2006/main">
            <a:r>
              <a:t>hours*rate_won이기본비용,base_won*reserve_rate가여유다. 0.20은20%비율이며20을넣으면20배가된다. 밑줄은이름안단어를구분하는기호다. round는반올림이다. 입력수는교육용가정이며시장평균이나계약확정가격이아니다. 장비/서버/API/세금/수정범위포함여부는따로정해야한다.</a:t>
            </a:r>
          </a:p>
          <a:p xmlns:a="http://schemas.openxmlformats.org/drawingml/2006/main">
            <a:r>
              <a:t/>
            </a:r>
          </a:p>
          <a:p xmlns:a="http://schemas.openxmlformats.org/drawingml/2006/main">
            <a:r>
              <a:t>학생 교안: https://zeusk302-png.github.io/kdigital-physical-ai/#/sessions/2026-10-30/lesson</a:t>
            </a:r>
          </a:p>
          <a:p xmlns:a="http://schemas.openxmlformats.org/drawingml/2006/main">
            <a:r>
              <a:t>실습: https://zeusk302-png.github.io/kdigital-physical-ai/#/sessions/2026-10-30/activity-A15</a:t>
            </a:r>
          </a:p>
          <a:p xmlns:a="http://schemas.openxmlformats.org/drawingml/2006/main">
            <a:r>
              <a:t>공식 자료: https://docs.python.org/3/library/json.html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outputs/2026-10-30/lesson.md</a:t>
            </a:r>
          </a:p>
          <a:p xmlns:a="http://schemas.openxmlformats.org/drawingml/2006/main">
            <a:r>
              <a:t>슬라이드 내용:</a:t>
            </a:r>
          </a:p>
          <a:p xmlns:a="http://schemas.openxmlformats.org/drawingml/2006/main">
            <a:r>
              <a:t>기본 360,000원 + 여유 72,000원</a:t>
            </a:r>
          </a:p>
          <a:p xmlns:a="http://schemas.openxmlformats.org/drawingml/2006/main">
            <a:r>
              <a:t>합계 432,000원</a:t>
            </a:r>
          </a:p>
          <a:p xmlns:a="http://schemas.openxmlformats.org/drawingml/2006/main">
            <a:r>
              <a:t>실제 계약 가격이 아닌 계산 연습입니다.</a:t>
            </a:r>
          </a:p>
          <a:p xmlns:a="http://schemas.openxmlformats.org/drawingml/2006/main">
            <a:r>
              <a:t>견적 연습은 가정 시급 30000원과 작업 12시간을 곱해 360000원입니다. 여유 20%를 계산하면 72000원, 합계 432000원입니다. 이는 교육용 계산이며 실제 계약 가격이나 시장 평균이 아닙니다. 장비·유료 API·서버·세금·수정 범위의 포함 여부는 따로 명시합니다. 새 기능을 넣으면 필요한 입력, 실패 경로, 시험과 운영 문서 작업까지 추가해 다시 계산합니다. “카메라 추가”라는 한 줄의 시간만 더하면 통합과 장비 확인이 빠질 수 있습니다. 범위가 줄었다면 무엇을 제외했는지 결과물과 시험표에도 반영합니다. 위험에 대한 여유를 넣어도 미확인 요구를 확정할 수 없으므로 확인 질문과 결정 시점을 함께 남깁니다.</a:t>
            </a:r>
          </a:p>
          <a:p xmlns:a="http://schemas.openxmlformats.org/drawingml/2006/main">
            <a:r>
              <a:t>예제 자료를 열어 설명한 값이나 항목을 함께 찾는다.</a:t>
            </a:r>
          </a:p>
          <a:p xmlns:a="http://schemas.openxmlformats.org/drawingml/2006/main">
            <a:r>
              <a:t/>
            </a:r>
          </a:p>
          <a:p xmlns:a="http://schemas.openxmlformats.org/drawingml/2006/main">
            <a:r>
              <a:t>학생 교안: https://zeusk302-png.github.io/kdigital-physical-ai/#/sessions/2026-10-30/lesson</a:t>
            </a:r>
          </a:p>
          <a:p xmlns:a="http://schemas.openxmlformats.org/drawingml/2006/main">
            <a:r>
              <a:t>실습: https://zeusk302-png.github.io/kdigital-physical-ai/#/sessions/2026-10-30/activity-A15</a:t>
            </a:r>
          </a:p>
          <a:p xmlns:a="http://schemas.openxmlformats.org/drawingml/2006/main">
            <a:r>
              <a:t>공식 자료: https://docs.python.org/3/library/json.html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outputs/2026-10-30/practice-guide.md</a:t>
            </a:r>
          </a:p>
          <a:p xmlns:a="http://schemas.openxmlformats.org/drawingml/2006/main">
            <a:r>
              <a:t>슬라이드 내용:</a:t>
            </a:r>
          </a:p>
          <a:p xmlns:a="http://schemas.openxmlformats.org/drawingml/2006/main">
            <a:r>
              <a:t>작업 8시간 · 가정 시급 25,000원</a:t>
            </a:r>
          </a:p>
          <a:p xmlns:a="http://schemas.openxmlformats.org/drawingml/2006/main">
            <a:r>
              <a:t>여유 15%의 합계를 계산하세요.</a:t>
            </a:r>
          </a:p>
          <a:p xmlns:a="http://schemas.openxmlformats.org/drawingml/2006/main">
            <a:r>
              <a:t>복습 문제: 작업량 8시간, 가정 시급 25000원, 여유 15%로 새 견적을 계산하고 별도 비용 두 가지를 쓰세요. 두 사람이 있다는 이유로 자동 4시간이라고 답할 수 있는지도 판단하세요.</a:t>
            </a:r>
          </a:p>
          <a:p xmlns:a="http://schemas.openxmlformats.org/drawingml/2006/main">
            <a:r>
              <a:t>학생이 예상한 결과와 이유를 먼저 듣고 풀이한다. 숫자뿐 아니라 단위, ID, 조건도 확인한다.</a:t>
            </a:r>
          </a:p>
          <a:p xmlns:a="http://schemas.openxmlformats.org/drawingml/2006/main">
            <a:r>
              <a:t/>
            </a:r>
          </a:p>
          <a:p xmlns:a="http://schemas.openxmlformats.org/drawingml/2006/main">
            <a:r>
              <a:t>학생 교안: https://zeusk302-png.github.io/kdigital-physical-ai/#/sessions/2026-10-30/lesson</a:t>
            </a:r>
          </a:p>
          <a:p xmlns:a="http://schemas.openxmlformats.org/drawingml/2006/main">
            <a:r>
              <a:t>실습: https://zeusk302-png.github.io/kdigital-physical-ai/#/sessions/2026-10-30/activity-A15</a:t>
            </a:r>
          </a:p>
          <a:p xmlns:a="http://schemas.openxmlformats.org/drawingml/2006/main">
            <a:r>
              <a:t>공식 자료: https://docs.python.org/3/library/json.html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outputs/2026-10-30/lesson.md</a:t>
            </a:r>
          </a:p>
          <a:p xmlns:a="http://schemas.openxmlformats.org/drawingml/2006/main">
            <a:r>
              <a:t>슬라이드 내용:</a:t>
            </a:r>
          </a:p>
          <a:p xmlns:a="http://schemas.openxmlformats.org/drawingml/2006/main">
            <a:r>
              <a:t>기본 200,000원 + 여유 30,000원</a:t>
            </a:r>
          </a:p>
          <a:p xmlns:a="http://schemas.openxmlformats.org/drawingml/2006/main">
            <a:r>
              <a:t>합계 230,000원</a:t>
            </a:r>
          </a:p>
          <a:p xmlns:a="http://schemas.openxmlformats.org/drawingml/2006/main">
            <a:r>
              <a:t>추가 비용과 수정할 수 있는 범위도 적으세요.</a:t>
            </a:r>
          </a:p>
          <a:p xmlns:a="http://schemas.openxmlformats.org/drawingml/2006/main">
            <a:r>
              <a:t>견적 연습은 가정 시급 30000원과 작업 12시간을 곱해 360000원입니다. 여유 20%를 계산하면 72000원, 합계 432000원입니다. 이는 교육용 계산이며 실제 계약 가격이나 시장 평균이 아닙니다. 장비·유료 API·서버·세금·수정 범위의 포함 여부는 따로 명시합니다. 새 기능을 넣으면 필요한 입력, 실패 경로, 시험과 운영 문서 작업까지 추가해 다시 계산합니다. “카메라 추가”라는 한 줄의 시간만 더하면 통합과 장비 확인이 빠질 수 있습니다. 범위가 줄었다면 무엇을 제외했는지 결과물과 시험표에도 반영합니다. 위험에 대한 여유를 넣어도 미확인 요구를 확정할 수 없으므로 확인 질문과 결정 시점을 함께 남깁니다.</a:t>
            </a:r>
          </a:p>
          <a:p xmlns:a="http://schemas.openxmlformats.org/drawingml/2006/main">
            <a:r>
              <a:t>예제 자료를 열어 설명한 값이나 항목을 함께 찾는다.</a:t>
            </a:r>
          </a:p>
          <a:p xmlns:a="http://schemas.openxmlformats.org/drawingml/2006/main">
            <a:r>
              <a:t/>
            </a:r>
          </a:p>
          <a:p xmlns:a="http://schemas.openxmlformats.org/drawingml/2006/main">
            <a:r>
              <a:t>학생 교안: https://zeusk302-png.github.io/kdigital-physical-ai/#/sessions/2026-10-30/lesson</a:t>
            </a:r>
          </a:p>
          <a:p xmlns:a="http://schemas.openxmlformats.org/drawingml/2006/main">
            <a:r>
              <a:t>실습: https://zeusk302-png.github.io/kdigital-physical-ai/#/sessions/2026-10-30/activity-A15</a:t>
            </a:r>
          </a:p>
          <a:p xmlns:a="http://schemas.openxmlformats.org/drawingml/2006/main">
            <a:r>
              <a:t>공식 자료: https://docs.python.org/3/library/json.html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outputs/2026-10-30/practice-guide.md</a:t>
            </a:r>
          </a:p>
          <a:p xmlns:a="http://schemas.openxmlformats.org/drawingml/2006/main">
            <a:r>
              <a:t>슬라이드 내용:</a:t>
            </a:r>
          </a:p>
          <a:p xmlns:a="http://schemas.openxmlformats.org/drawingml/2006/main">
            <a:r>
              <a:t>참고 코드의 hours를 8로 바꿉니다.</a:t>
            </a:r>
          </a:p>
          <a:p xmlns:a="http://schemas.openxmlformats.org/drawingml/2006/main">
            <a:r>
              <a:t>시급·여유 유지 시 합계 288,000원입니다.</a:t>
            </a:r>
          </a:p>
          <a:p xmlns:a="http://schemas.openxmlformats.org/drawingml/2006/main">
            <a:r>
              <a:t>견적 연습은 가정 시급 30000원과 작업 12시간을 곱해 360000원입니다. 여유 20%를 계산하면 72000원, 합계 432000원입니다. 이는 교육용 계산이며 실제 계약 가격이나 시장 평균이 아닙니다. 장비·유료 API·서버·세금·수정 범위의 포함 여부는 따로 명시합니다. 새 기능을 넣으면 필요한 입력, 실패 경로, 시험과 운영 문서 작업까지 추가해 다시 계산합니다. “카메라 추가”라는 한 줄의 시간만 더하면 통합과 장비 확인이 빠질 수 있습니다. 범위가 줄었다면 무엇을 제외했는지 결과물과 시험표에도 반영합니다. 위험에 대한 여유를 넣어도 미확인 요구를 확정할 수 없으므로 확인 질문과 결정 시점을 함께 남깁니다.</a:t>
            </a:r>
          </a:p>
          <a:p xmlns:a="http://schemas.openxmlformats.org/drawingml/2006/main">
            <a:r>
              <a:t>학생이 예상한 결과와 이유를 먼저 듣고 풀이한다. 숫자뿐 아니라 단위, ID, 조건도 확인한다.</a:t>
            </a:r>
          </a:p>
          <a:p xmlns:a="http://schemas.openxmlformats.org/drawingml/2006/main">
            <a:r>
              <a:t/>
            </a:r>
          </a:p>
          <a:p xmlns:a="http://schemas.openxmlformats.org/drawingml/2006/main">
            <a:r>
              <a:t>학생 교안: https://zeusk302-png.github.io/kdigital-physical-ai/#/sessions/2026-10-30/lesson</a:t>
            </a:r>
          </a:p>
          <a:p xmlns:a="http://schemas.openxmlformats.org/drawingml/2006/main">
            <a:r>
              <a:t>실습: https://zeusk302-png.github.io/kdigital-physical-ai/#/sessions/2026-10-30/activity-A15</a:t>
            </a:r>
          </a:p>
          <a:p xmlns:a="http://schemas.openxmlformats.org/drawingml/2006/main">
            <a:r>
              <a:t>공식 자료: https://docs.python.org/3/library/json.html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outputs/2026-10-30/beginner-start.md</a:t>
            </a:r>
          </a:p>
          <a:p xmlns:a="http://schemas.openxmlformats.org/drawingml/2006/main">
            <a:r>
              <a:t>슬라이드 내용:</a:t>
            </a:r>
          </a:p>
          <a:p xmlns:a="http://schemas.openxmlformats.org/drawingml/2006/main">
            <a:r>
              <a:t>20%는 20이 아니라 0.20입니다.</a:t>
            </a:r>
          </a:p>
          <a:p xmlns:a="http://schemas.openxmlformats.org/drawingml/2006/main">
            <a:r>
              <a:t>기능을 추가하면 오류 처리, 시험, 문서 수정 시간도 다시 계산합니다.</a:t>
            </a:r>
          </a:p>
          <a:p xmlns:a="http://schemas.openxmlformats.org/drawingml/2006/main">
            <a:r>
              <a:t>의뢰자가 “며칠이면 되나요?”라고 묻습니다. 화면 한 장만 보고 기간을 정하면 데이터 계약, 오류 처리와 시험 시간이 빠집니다. 작업은 손댈 기술 이름보다 전달할 결과물로 나눕니다. 선행 관계는 다른 작업이 시작되기 전에 합의하거나 완료해야 할 조건입니다.</a:t>
            </a:r>
          </a:p>
          <a:p xmlns:a="http://schemas.openxmlformats.org/drawingml/2006/main">
            <a:r>
              <a:t>예제 자료를 열어 설명한 값이나 항목을 함께 찾는다.</a:t>
            </a:r>
          </a:p>
          <a:p xmlns:a="http://schemas.openxmlformats.org/drawingml/2006/main">
            <a:r>
              <a:t/>
            </a:r>
          </a:p>
          <a:p xmlns:a="http://schemas.openxmlformats.org/drawingml/2006/main">
            <a:r>
              <a:t>학생 교안: https://zeusk302-png.github.io/kdigital-physical-ai/#/sessions/2026-10-30/lesson</a:t>
            </a:r>
          </a:p>
          <a:p xmlns:a="http://schemas.openxmlformats.org/drawingml/2006/main">
            <a:r>
              <a:t>실습: https://zeusk302-png.github.io/kdigital-physical-ai/#/sessions/2026-10-30/activity-A15</a:t>
            </a:r>
          </a:p>
          <a:p xmlns:a="http://schemas.openxmlformats.org/drawingml/2006/main">
            <a:r>
              <a:t>공식 자료: https://docs.python.org/3/library/json.html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outputs/2026-10-30/lesson.md</a:t>
            </a:r>
          </a:p>
          <a:p xmlns:a="http://schemas.openxmlformats.org/drawingml/2006/main">
            <a:r>
              <a:t>슬라이드 내용:</a:t>
            </a:r>
          </a:p>
          <a:p xmlns:a="http://schemas.openxmlformats.org/drawingml/2006/main">
            <a:r>
              <a:t>총 작업 시간과 실제 완료 날짜는 어떻게 다른가요?</a:t>
            </a:r>
          </a:p>
          <a:p xmlns:a="http://schemas.openxmlformats.org/drawingml/2006/main">
            <a:r>
              <a:t>견적에서 아직 정하지 않은 비용은 무엇인가요?</a:t>
            </a:r>
          </a:p>
          <a:p xmlns:a="http://schemas.openxmlformats.org/drawingml/2006/main">
            <a:r>
              <a:t>이 예제에서는 W1 데이터 계약과 샘플 2시간, W2 검수 처리 4시간, W3 화면 3시간, W4 통합·시험·안내 3시간입니다. 한 사람이 순서대로 한다면 작업량 합은 12시간입니다. W1 뒤 W2와 W3를 나눠 진행할 수 있어도 인원이 실제로 정해지지 않았으면 달력 기간이 자동으로 줄지 않습니다. 검수 기준은 W1 샘플 승인, W2 정상과 오류 출력, W3 세 상태 화면, W4 요구별 시험과 재실행 안내로 붙입니다. 시간이 지났다는 이유만으로 결과물을 통과 처리하지 않습니다.</a:t>
            </a:r>
          </a:p>
          <a:p xmlns:a="http://schemas.openxmlformats.org/drawingml/2006/main">
            <a:r>
              <a:t>학생이 예상한 결과와 이유를 먼저 듣고 풀이한다. 숫자뿐 아니라 단위, ID, 조건도 확인한다.</a:t>
            </a:r>
          </a:p>
          <a:p xmlns:a="http://schemas.openxmlformats.org/drawingml/2006/main">
            <a:r>
              <a:t/>
            </a:r>
          </a:p>
          <a:p xmlns:a="http://schemas.openxmlformats.org/drawingml/2006/main">
            <a:r>
              <a:t>학생 교안: https://zeusk302-png.github.io/kdigital-physical-ai/#/sessions/2026-10-30/lesson</a:t>
            </a:r>
          </a:p>
          <a:p xmlns:a="http://schemas.openxmlformats.org/drawingml/2006/main">
            <a:r>
              <a:t>실습: https://zeusk302-png.github.io/kdigital-physical-ai/#/sessions/2026-10-30/activity-A15</a:t>
            </a:r>
          </a:p>
          <a:p xmlns:a="http://schemas.openxmlformats.org/drawingml/2006/main">
            <a:r>
              <a:t>공식 자료: https://docs.python.org/3/library/json.html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outputs/2026-10-30/assessment.md</a:t>
            </a:r>
          </a:p>
          <a:p xmlns:a="http://schemas.openxmlformats.org/drawingml/2006/main">
            <a:r>
              <a:t>슬라이드 내용:</a:t>
            </a:r>
          </a:p>
          <a:p xmlns:a="http://schemas.openxmlformats.org/drawingml/2006/main">
            <a:r>
              <a:t>추가·복습: 10시간·시급2만원·여유10%</a:t>
            </a:r>
          </a:p>
          <a:p xmlns:a="http://schemas.openxmlformats.org/drawingml/2006/main">
            <a:r>
              <a:t>견적과 기능 추가 영향을 쓰세요.</a:t>
            </a:r>
          </a:p>
          <a:p xmlns:a="http://schemas.openxmlformats.org/drawingml/2006/main">
            <a:r>
              <a:t>복습 문제: 작업량 8시간, 가정 시급 25000원, 여유 15%로 새 견적을 계산하고 별도 비용 두 가지를 쓰세요. 두 사람이 있다는 이유로 자동 4시간이라고 답할 수 있는지도 판단하세요.</a:t>
            </a:r>
          </a:p>
          <a:p xmlns:a="http://schemas.openxmlformats.org/drawingml/2006/main">
            <a:r>
              <a:t>학생이 예상한 결과와 이유를 먼저 듣고 풀이한다. 숫자뿐 아니라 단위, ID, 조건도 확인한다.</a:t>
            </a:r>
          </a:p>
          <a:p xmlns:a="http://schemas.openxmlformats.org/drawingml/2006/main">
            <a:r>
              <a:t>관련 전이 문제와 해설:</a:t>
            </a:r>
          </a:p>
          <a:p xmlns:a="http://schemas.openxmlformats.org/drawingml/2006/main">
            <a:r>
              <a:t>10시간·가정 시급2만원·여유10%의 견적과 추가 기능의 영향을 쓰세요.</a:t>
            </a:r>
          </a:p>
          <a:p xmlns:a="http://schemas.openxmlformats.org/drawingml/2006/main">
            <a:r>
              <a:t/>
            </a:r>
          </a:p>
          <a:p xmlns:a="http://schemas.openxmlformats.org/drawingml/2006/main">
            <a:r>
              <a:t>&lt;details&gt;&lt;summary&gt;정답과 해설&lt;/summary&gt;</a:t>
            </a:r>
          </a:p>
          <a:p xmlns:a="http://schemas.openxmlformats.org/drawingml/2006/main">
            <a:r>
              <a:t/>
            </a:r>
          </a:p>
          <a:p xmlns:a="http://schemas.openxmlformats.org/drawingml/2006/main">
            <a:r>
              <a:t>기본20만원+여유2만원=22만원입니다. 추가 기능은 데이터·오류·시험·문서 작업을 포함해 재산정하고 별도 비용 포함 여부를 적습니다.</a:t>
            </a:r>
          </a:p>
          <a:p xmlns:a="http://schemas.openxmlformats.org/drawingml/2006/main">
            <a:r>
              <a:t/>
            </a:r>
          </a:p>
          <a:p xmlns:a="http://schemas.openxmlformats.org/drawingml/2006/main">
            <a:r>
              <a:t>&lt;/details&gt;</a:t>
            </a:r>
          </a:p>
          <a:p xmlns:a="http://schemas.openxmlformats.org/drawingml/2006/main">
            <a:r>
              <a:t>수업에서 먼저 할 실습 뒤 선택한다. 모든 슬라이드를 50분 안에 완수했다는 뜻이 아니다.</a:t>
            </a:r>
          </a:p>
          <a:p xmlns:a="http://schemas.openxmlformats.org/drawingml/2006/main">
            <a:r>
              <a:t/>
            </a:r>
          </a:p>
          <a:p xmlns:a="http://schemas.openxmlformats.org/drawingml/2006/main">
            <a:r>
              <a:t>학생 교안: https://zeusk302-png.github.io/kdigital-physical-ai/#/sessions/2026-10-30/lesson</a:t>
            </a:r>
          </a:p>
          <a:p xmlns:a="http://schemas.openxmlformats.org/drawingml/2006/main">
            <a:r>
              <a:t>실습: https://zeusk302-png.github.io/kdigital-physical-ai/#/sessions/2026-10-30/activity-A15</a:t>
            </a:r>
          </a:p>
          <a:p xmlns:a="http://schemas.openxmlformats.org/drawingml/2006/main">
            <a:r>
              <a:t>공식 자료: https://docs.python.org/3/library/json.html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outputs/2026-10-30/lesson.md</a:t>
            </a:r>
          </a:p>
          <a:p xmlns:a="http://schemas.openxmlformats.org/drawingml/2006/main">
            <a:r>
              <a:t>6교시 필수 개념 보충 · 기획 통합과 발표 뒤 변경을 추적하기</a:t>
            </a:r>
          </a:p>
          <a:p xmlns:a="http://schemas.openxmlformats.org/drawingml/2006/main">
            <a:r>
              <a:t/>
            </a:r>
          </a:p>
          <a:p xmlns:a="http://schemas.openxmlformats.org/drawingml/2006/main">
            <a:r>
              <a:t>실무 상황과 원리</a:t>
            </a:r>
          </a:p>
          <a:p xmlns:a="http://schemas.openxmlformats.org/drawingml/2006/main">
            <a:r>
              <a:t/>
            </a:r>
          </a:p>
          <a:p xmlns:a="http://schemas.openxmlformats.org/drawingml/2006/main">
            <a:r>
              <a:t>발표에서 동료가 “카메라가 없는데 카메라 시험이 통과인가요?”라고 묻습니다. 이때는 가능하다고 단정하기보다 확인한 내용과 아직 확인하지 않은 내용을 따로 설명하는 것입니다. 한 장 기획서에도 사용자 불편, 만들 기능, 데이터, 시험 방법, 작업 계획이 서로 맞아야 합니다.</a:t>
            </a:r>
          </a:p>
          <a:p xmlns:a="http://schemas.openxmlformats.org/drawingml/2006/main">
            <a:r>
              <a:t/>
            </a:r>
          </a:p>
          <a:p xmlns:a="http://schemas.openxmlformats.org/drawingml/2006/main">
            <a:r>
              <a:t>완성 요약은 사용자: 마감 담당자, 문제: 미확인 기록 탐색 지연, 근거: 가상 E01·E02, 포함: CSV 검수와 목록, 요구: R01~R04, 시험: T01~T04, 제외: 카메라와 자동 잠금입니다. R2의 누락 시각 입력과 T2의 review 기대값이 같아야 합니다. 화면 설명에서 자동 완료라고 바꾸면 요구와 충돌합니다. 발표는 문제·근거, 입력과 결과, 시험, 미확정 질문 순으로 전달합니다. 효과를 아직 측정하지 않았다면 기대 효과라고 말합니다.</a:t>
            </a:r>
          </a:p>
          <a:p xmlns:a="http://schemas.openxmlformats.org/drawingml/2006/main">
            <a:r>
              <a:t/>
            </a:r>
          </a:p>
          <a:p xmlns:a="http://schemas.openxmlformats.org/drawingml/2006/main">
            <a:r>
              <a:t>변경 예는 “실시간 카메라 요청 보류”입니다. 이유는 모델과 조건 미확정이고 영향 문서는 범위, 위험, 시험과 견적입니다. 요구에서 제외했는데 시험표가 실물 PASS로 남아 있으면 인수인계 오류입니다. 변경 전후 문장, 결정 이유, 관련 ID와 담당을 기록합니다. 피드백 한 개를 수정한 다음 문제 근거와 연결이 유지되는지 다시 읽습니다. 전달 묶음은 최신 기획서, 데이터 계약, 샘플, 요구·시험 연결표, 작업·위험 계획, 변경 이력입니다. 다음 사람이 모르는 조건을 확인할 수 있도록 질문과 확인 방법도 넣습니다. 오늘의 완료는 기획 자료와 제공 비교 코드 확인이며 실제 제품 구현, 현장 사용성과 성능은 미실행입니다. </a:t>
            </a:r>
          </a:p>
          <a:p xmlns:a="http://schemas.openxmlformats.org/drawingml/2006/main">
            <a:r>
              <a:t/>
            </a:r>
          </a:p>
          <a:p xmlns:a="http://schemas.openxmlformats.org/drawingml/2006/main">
            <a:r>
              <a:t>다른 사례로 연습하기</a:t>
            </a:r>
          </a:p>
          <a:p xmlns:a="http://schemas.openxmlformats.org/drawingml/2006/main">
            <a:r>
              <a:t/>
            </a:r>
          </a:p>
          <a:p xmlns:a="http://schemas.openxmlformats.org/drawingml/2006/main">
            <a:r>
              <a:t>복습 문제: 요구에서 카메라를 제외했지만 예산에는 카메라 구매, 시험표에는 실물 PASS가 남았습니다. 어떤 문서를 왜 고칠지 쓰고 다음 확인 질문 한 가지를 작성하세요.</a:t>
            </a:r>
          </a:p>
          <a:p xmlns:a="http://schemas.openxmlformats.org/drawingml/2006/main">
            <a:r>
              <a:t/>
            </a:r>
          </a:p>
          <a:p xmlns:a="http://schemas.openxmlformats.org/drawingml/2006/main">
            <a:r>
              <a:t>풀이와 주의할 점</a:t>
            </a:r>
          </a:p>
          <a:p xmlns:a="http://schemas.openxmlformats.org/drawingml/2006/main">
            <a:r>
              <a:t/>
            </a:r>
          </a:p>
          <a:p xmlns:a="http://schemas.openxmlformats.org/drawingml/2006/main">
            <a:r>
              <a:t>범위 결정에 맞춰 예산의 구매 포함 여부와 시험 상태·입력 조건을 갱신하고 미실행 실물 시험을 통과라고 쓰지 않습니다. 모델·보유 장비·운영 필요를 확인하는 질문이 적절합니다. 발표문 한 문장만 고치면 문서 간 충돌이 남습니다.</a:t>
            </a:r>
          </a:p>
          <a:p xmlns:a="http://schemas.openxmlformats.org/drawingml/2006/main">
            <a:r>
              <a:t/>
            </a:r>
          </a:p>
          <a:p xmlns:a="http://schemas.openxmlformats.org/drawingml/2006/main">
            <a:r>
              <a:t>확인 질문과 답</a:t>
            </a:r>
          </a:p>
          <a:p xmlns:a="http://schemas.openxmlformats.org/drawingml/2006/main">
            <a:r>
              <a:t/>
            </a:r>
          </a:p>
          <a:p xmlns:a="http://schemas.openxmlformats.org/drawingml/2006/main">
            <a:r>
              <a:t>1. 변경 이력에 필요한 것은? → 전후·이유·영향·담당입니다.</a:t>
            </a:r>
          </a:p>
          <a:p xmlns:a="http://schemas.openxmlformats.org/drawingml/2006/main">
            <a:r>
              <a:t>2. 미확정 질문은 어떻게 전달하나요? → 확인 방법과 함께 남깁니다.</a:t>
            </a:r>
          </a:p>
          <a:p xmlns:a="http://schemas.openxmlformats.org/drawingml/2006/main">
            <a:r>
              <a:t>3. 오늘 기획 완료가 실제 제품 완료인가요? → 아닙니다.</a:t>
            </a:r>
          </a:p>
          <a:p xmlns:a="http://schemas.openxmlformats.org/drawingml/2006/main">
            <a:r>
              <a:t>먼저 예제를 보여 준 뒤 함께 따라 한다. 조건 하나를 바꿔 예상 결과와 실제 결과를 비교한다. 학생에게 값이 바뀐 이유를 물어본다. 복습 문제는 기본 실습을 마친 뒤 선택한다.</a:t>
            </a:r>
          </a:p>
          <a:p xmlns:a="http://schemas.openxmlformats.org/drawingml/2006/main">
            <a:r>
              <a:t/>
            </a:r>
          </a:p>
          <a:p xmlns:a="http://schemas.openxmlformats.org/drawingml/2006/main">
            <a:r>
              <a:t>학생 교안: https://zeusk302-png.github.io/kdigital-physical-ai/#/sessions/2026-10-30/lesson</a:t>
            </a:r>
          </a:p>
          <a:p xmlns:a="http://schemas.openxmlformats.org/drawingml/2006/main">
            <a:r>
              <a:t>실습: https://zeusk302-png.github.io/kdigital-physical-ai/#/sessions/2026-10-30/activity-A15</a:t>
            </a:r>
          </a:p>
          <a:p xmlns:a="http://schemas.openxmlformats.org/drawingml/2006/main">
            <a:r>
              <a:t>공식 자료: https://docs.python.org/3/library/csv.html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outputs/2026-10-30/lesson.md</a:t>
            </a:r>
          </a:p>
          <a:p xmlns:a="http://schemas.openxmlformats.org/drawingml/2006/main">
            <a:r>
              <a:t>슬라이드 내용:</a:t>
            </a:r>
          </a:p>
          <a:p xmlns:a="http://schemas.openxmlformats.org/drawingml/2006/main">
            <a:r>
              <a:t>근거 → 문제 → 작은 범위 → 요구 → 시험</a:t>
            </a:r>
          </a:p>
          <a:p xmlns:a="http://schemas.openxmlformats.org/drawingml/2006/main">
            <a:r>
              <a:t>기획서에 적은 기능에 맞춰 데이터와 작업 계획을 작성하세요.</a:t>
            </a:r>
          </a:p>
          <a:p xmlns:a="http://schemas.openxmlformats.org/drawingml/2006/main">
            <a:r>
              <a:t>변경 예는 “실시간 카메라 요청 보류”입니다. 이유는 모델과 조건 미확정이고 영향 문서는 범위, 위험, 시험과 견적입니다. 요구에서 제외했는데 시험표가 실물 PASS로 남아 있으면 인수인계 오류입니다. 변경 전후 문장, 결정 이유, 관련 ID와 담당을 기록합니다. 피드백 한 개를 수정한 다음 문제 근거와 연결이 유지되는지 다시 읽습니다. 전달 묶음은 최신 기획서, 데이터 계약, 샘플, 요구·시험 연결표, 작업·위험 계획, 변경 이력입니다. 다음 사람이 모르는 조건을 확인할 수 있도록 질문과 확인 방법도 넣습니다. 오늘의 완료는 기획 자료와 제공 비교 코드 확인이며 실제 제품 구현, 현장 사용성과 성능은 미실행입니다. </a:t>
            </a:r>
          </a:p>
          <a:p xmlns:a="http://schemas.openxmlformats.org/drawingml/2006/main">
            <a:r>
              <a:t>예제 자료를 열어 설명한 값이나 항목을 함께 찾는다.</a:t>
            </a:r>
          </a:p>
          <a:p xmlns:a="http://schemas.openxmlformats.org/drawingml/2006/main">
            <a:r>
              <a:t/>
            </a:r>
          </a:p>
          <a:p xmlns:a="http://schemas.openxmlformats.org/drawingml/2006/main">
            <a:r>
              <a:t>화면 예의 출처: D:\KDigital_PhysicalAI\.build\copyedited-ppt\spec-2026-10-30.json#slide-96</a:t>
            </a:r>
          </a:p>
          <a:p xmlns:a="http://schemas.openxmlformats.org/drawingml/2006/main">
            <a:r>
              <a:t/>
            </a:r>
          </a:p>
          <a:p xmlns:a="http://schemas.openxmlformats.org/drawingml/2006/main">
            <a:r>
              <a:t>학생 교안: https://zeusk302-png.github.io/kdigital-physical-ai/#/sessions/2026-10-30/lesson</a:t>
            </a:r>
          </a:p>
          <a:p xmlns:a="http://schemas.openxmlformats.org/drawingml/2006/main">
            <a:r>
              <a:t>실습: https://zeusk302-png.github.io/kdigital-physical-ai/#/sessions/2026-10-30/activity-A16</a:t>
            </a:r>
          </a:p>
          <a:p xmlns:a="http://schemas.openxmlformats.org/drawingml/2006/main">
            <a:r>
              <a:t>공식 자료: https://docs.python.org/3/library/csv.html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outputs/2026-10-30/lesson.md</a:t>
            </a:r>
          </a:p>
          <a:p xmlns:a="http://schemas.openxmlformats.org/drawingml/2006/main">
            <a:r>
              <a:t>슬라이드 내용:</a:t>
            </a:r>
          </a:p>
          <a:p xmlns:a="http://schemas.openxmlformats.org/drawingml/2006/main">
            <a:r>
              <a:t>문제·근거 → 입력·결과 → 시험</a:t>
            </a:r>
          </a:p>
          <a:p xmlns:a="http://schemas.openxmlformats.org/drawingml/2006/main">
            <a:r>
              <a:t>마지막에는 더 확인해야 할 질문을 말하세요.</a:t>
            </a:r>
          </a:p>
          <a:p xmlns:a="http://schemas.openxmlformats.org/drawingml/2006/main">
            <a:r>
              <a:t>완성 요약은 사용자: 마감 담당자, 문제: 미확인 기록 탐색 지연, 근거: 가상 E01·E02, 포함: CSV 검수와 목록, 요구: R01~R04, 시험: T01~T04, 제외: 카메라와 자동 잠금입니다. R2의 누락 시각 입력과 T2의 review 기대값이 같아야 합니다. 화면 설명에서 자동 완료라고 바꾸면 요구와 충돌합니다. 발표는 문제·근거, 입력과 결과, 시험, 미확정 질문 순으로 전달합니다. 효과를 아직 측정하지 않았다면 기대 효과라고 말합니다.</a:t>
            </a:r>
          </a:p>
          <a:p xmlns:a="http://schemas.openxmlformats.org/drawingml/2006/main">
            <a:r>
              <a:t>예제 자료를 열어 설명한 값이나 항목을 함께 찾는다.</a:t>
            </a:r>
          </a:p>
          <a:p xmlns:a="http://schemas.openxmlformats.org/drawingml/2006/main">
            <a:r>
              <a:t/>
            </a:r>
          </a:p>
          <a:p xmlns:a="http://schemas.openxmlformats.org/drawingml/2006/main">
            <a:r>
              <a:t>화면 예의 출처: D:\KDigital_PhysicalAI\.build\copyedited-ppt\spec-2026-10-30.json#slide-88</a:t>
            </a:r>
          </a:p>
          <a:p xmlns:a="http://schemas.openxmlformats.org/drawingml/2006/main">
            <a:r>
              <a:t/>
            </a:r>
          </a:p>
          <a:p xmlns:a="http://schemas.openxmlformats.org/drawingml/2006/main">
            <a:r>
              <a:t>학생 교안: https://zeusk302-png.github.io/kdigital-physical-ai/#/sessions/2026-10-30/lesson</a:t>
            </a:r>
          </a:p>
          <a:p xmlns:a="http://schemas.openxmlformats.org/drawingml/2006/main">
            <a:r>
              <a:t>실습: https://zeusk302-png.github.io/kdigital-physical-ai/#/sessions/2026-10-30/activity-A17</a:t>
            </a:r>
          </a:p>
          <a:p xmlns:a="http://schemas.openxmlformats.org/drawingml/2006/main">
            <a:r>
              <a:t>공식 자료: https://docs.python.org/3/library/csv.html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outputs/2026-10-30/lesson.md</a:t>
            </a:r>
          </a:p>
          <a:p xmlns:a="http://schemas.openxmlformats.org/drawingml/2006/main">
            <a:r>
              <a:t>슬라이드 내용:</a:t>
            </a:r>
          </a:p>
          <a:p xmlns:a="http://schemas.openxmlformats.org/drawingml/2006/main">
            <a:r>
              <a:t>현장에서 측정한 효과는 아직 없습니다.</a:t>
            </a:r>
          </a:p>
          <a:p xmlns:a="http://schemas.openxmlformats.org/drawingml/2006/main">
            <a:r>
              <a:t>예상한 효과와 그 효과를 측정할 방법을 적으세요.</a:t>
            </a:r>
          </a:p>
          <a:p xmlns:a="http://schemas.openxmlformats.org/drawingml/2006/main">
            <a:r>
              <a:t>완성 요약은 사용자: 마감 담당자, 문제: 미확인 기록 탐색 지연, 근거: 가상 E01·E02, 포함: CSV 검수와 목록, 요구: R01~R04, 시험: T01~T04, 제외: 카메라와 자동 잠금입니다. R2의 누락 시각 입력과 T2의 review 기대값이 같아야 합니다. 화면 설명에서 자동 완료라고 바꾸면 요구와 충돌합니다. 발표는 문제·근거, 입력과 결과, 시험, 미확정 질문 순으로 전달합니다. 효과를 아직 측정하지 않았다면 기대 효과라고 말합니다.</a:t>
            </a:r>
          </a:p>
          <a:p xmlns:a="http://schemas.openxmlformats.org/drawingml/2006/main">
            <a:r>
              <a:t>예제 자료를 열어 설명한 값이나 항목을 함께 찾는다.</a:t>
            </a:r>
          </a:p>
          <a:p xmlns:a="http://schemas.openxmlformats.org/drawingml/2006/main">
            <a:r>
              <a:t/>
            </a:r>
          </a:p>
          <a:p xmlns:a="http://schemas.openxmlformats.org/drawingml/2006/main">
            <a:r>
              <a:t>화면 예의 출처: D:\KDigital_PhysicalAI\.build\copyedited-ppt\spec-2026-10-30.json#slide-96</a:t>
            </a:r>
          </a:p>
          <a:p xmlns:a="http://schemas.openxmlformats.org/drawingml/2006/main">
            <a:r>
              <a:t/>
            </a:r>
          </a:p>
          <a:p xmlns:a="http://schemas.openxmlformats.org/drawingml/2006/main">
            <a:r>
              <a:t>학생 교안: https://zeusk302-png.github.io/kdigital-physical-ai/#/sessions/2026-10-30/lesson</a:t>
            </a:r>
          </a:p>
          <a:p xmlns:a="http://schemas.openxmlformats.org/drawingml/2006/main">
            <a:r>
              <a:t>실습: https://zeusk302-png.github.io/kdigital-physical-ai/#/sessions/2026-10-30/activity-A17</a:t>
            </a:r>
          </a:p>
          <a:p xmlns:a="http://schemas.openxmlformats.org/drawingml/2006/main">
            <a:r>
              <a:t>공식 자료: https://docs.python.org/3/library/csv.html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outputs/2026-10-30/lesson.md</a:t>
            </a:r>
          </a:p>
          <a:p xmlns:a="http://schemas.openxmlformats.org/drawingml/2006/main">
            <a:r>
              <a:t>슬라이드 내용:</a:t>
            </a:r>
          </a:p>
          <a:p xmlns:a="http://schemas.openxmlformats.org/drawingml/2006/main">
            <a:r>
              <a:t>카메라 보류 → 범위·시험·위험·견적 변경</a:t>
            </a:r>
          </a:p>
          <a:p xmlns:a="http://schemas.openxmlformats.org/drawingml/2006/main">
            <a:r>
              <a:t>발표문만 고치면 시험표와 견적에는 카메라 내용이 남습니다.</a:t>
            </a:r>
          </a:p>
          <a:p xmlns:a="http://schemas.openxmlformats.org/drawingml/2006/main">
            <a:r>
              <a:t>변경 예는 “실시간 카메라 요청 보류”입니다. 이유는 모델과 조건 미확정이고 영향 문서는 범위, 위험, 시험과 견적입니다. 요구에서 제외했는데 시험표가 실물 PASS로 남아 있으면 인수인계 오류입니다. 변경 전후 문장, 결정 이유, 관련 ID와 담당을 기록합니다. 피드백 한 개를 수정한 다음 문제 근거와 연결이 유지되는지 다시 읽습니다. 전달 묶음은 최신 기획서, 데이터 계약, 샘플, 요구·시험 연결표, 작업·위험 계획, 변경 이력입니다. 다음 사람이 모르는 조건을 확인할 수 있도록 질문과 확인 방법도 넣습니다. 오늘의 완료는 기획 자료와 제공 비교 코드 확인이며 실제 제품 구현, 현장 사용성과 성능은 미실행입니다. </a:t>
            </a:r>
          </a:p>
          <a:p xmlns:a="http://schemas.openxmlformats.org/drawingml/2006/main">
            <a:r>
              <a:t>예제 자료를 열어 설명한 값이나 항목을 함께 찾는다.</a:t>
            </a:r>
          </a:p>
          <a:p xmlns:a="http://schemas.openxmlformats.org/drawingml/2006/main">
            <a:r>
              <a:t/>
            </a:r>
          </a:p>
          <a:p xmlns:a="http://schemas.openxmlformats.org/drawingml/2006/main">
            <a:r>
              <a:t>화면 예의 출처: D:\KDigital_PhysicalAI\.build\copyedited-ppt\spec-2026-10-30.json#slide-96</a:t>
            </a:r>
          </a:p>
          <a:p xmlns:a="http://schemas.openxmlformats.org/drawingml/2006/main">
            <a:r>
              <a:t/>
            </a:r>
          </a:p>
          <a:p xmlns:a="http://schemas.openxmlformats.org/drawingml/2006/main">
            <a:r>
              <a:t>학생 교안: https://zeusk302-png.github.io/kdigital-physical-ai/#/sessions/2026-10-30/lesson</a:t>
            </a:r>
          </a:p>
          <a:p xmlns:a="http://schemas.openxmlformats.org/drawingml/2006/main">
            <a:r>
              <a:t>실습: https://zeusk302-png.github.io/kdigital-physical-ai/#/sessions/2026-10-30/activity-A18</a:t>
            </a:r>
          </a:p>
          <a:p xmlns:a="http://schemas.openxmlformats.org/drawingml/2006/main">
            <a:r>
              <a:t>공식 자료: https://docs.python.org/3/library/csv.html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outputs/2026-10-30/lesson.md</a:t>
            </a:r>
          </a:p>
          <a:p xmlns:a="http://schemas.openxmlformats.org/drawingml/2006/main">
            <a:r>
              <a:t>슬라이드 내용:</a:t>
            </a:r>
          </a:p>
          <a:p xmlns:a="http://schemas.openxmlformats.org/drawingml/2006/main">
            <a:r>
              <a:t>변경 전 · 변경 후 · 이유 · 관련 ID · 담당</a:t>
            </a:r>
          </a:p>
          <a:p xmlns:a="http://schemas.openxmlformats.org/drawingml/2006/main">
            <a:r>
              <a:t>다음 담당자가 무엇을 왜 바꿨는지 알 수 있어야 합니다.</a:t>
            </a:r>
          </a:p>
          <a:p xmlns:a="http://schemas.openxmlformats.org/drawingml/2006/main">
            <a:r>
              <a:t>변경 예는 “실시간 카메라 요청 보류”입니다. 이유는 모델과 조건 미확정이고 영향 문서는 범위, 위험, 시험과 견적입니다. 요구에서 제외했는데 시험표가 실물 PASS로 남아 있으면 인수인계 오류입니다. 변경 전후 문장, 결정 이유, 관련 ID와 담당을 기록합니다. 피드백 한 개를 수정한 다음 문제 근거와 연결이 유지되는지 다시 읽습니다. 전달 묶음은 최신 기획서, 데이터 계약, 샘플, 요구·시험 연결표, 작업·위험 계획, 변경 이력입니다. 다음 사람이 모르는 조건을 확인할 수 있도록 질문과 확인 방법도 넣습니다. 오늘의 완료는 기획 자료와 제공 비교 코드 확인이며 실제 제품 구현, 현장 사용성과 성능은 미실행입니다. </a:t>
            </a:r>
          </a:p>
          <a:p xmlns:a="http://schemas.openxmlformats.org/drawingml/2006/main">
            <a:r>
              <a:t>예제 자료를 열어 설명한 값이나 항목을 함께 찾는다.</a:t>
            </a:r>
          </a:p>
          <a:p xmlns:a="http://schemas.openxmlformats.org/drawingml/2006/main">
            <a:r>
              <a:t/>
            </a:r>
          </a:p>
          <a:p xmlns:a="http://schemas.openxmlformats.org/drawingml/2006/main">
            <a:r>
              <a:t>화면 예의 출처: D:\KDigital_PhysicalAI\.build\copyedited-ppt\spec-2026-10-30.json#slide-90</a:t>
            </a:r>
          </a:p>
          <a:p xmlns:a="http://schemas.openxmlformats.org/drawingml/2006/main">
            <a:r>
              <a:t/>
            </a:r>
          </a:p>
          <a:p xmlns:a="http://schemas.openxmlformats.org/drawingml/2006/main">
            <a:r>
              <a:t>학생 교안: https://zeusk302-png.github.io/kdigital-physical-ai/#/sessions/2026-10-30/lesson</a:t>
            </a:r>
          </a:p>
          <a:p xmlns:a="http://schemas.openxmlformats.org/drawingml/2006/main">
            <a:r>
              <a:t>실습: https://zeusk302-png.github.io/kdigital-physical-ai/#/sessions/2026-10-30/activity-A18</a:t>
            </a:r>
          </a:p>
          <a:p xmlns:a="http://schemas.openxmlformats.org/drawingml/2006/main">
            <a:r>
              <a:t>공식 자료: https://docs.python.org/3/library/csv.html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outputs/2026-10-30/lesson.md</a:t>
            </a:r>
          </a:p>
          <a:p xmlns:a="http://schemas.openxmlformats.org/drawingml/2006/main">
            <a:r>
              <a:t>슬라이드 내용:</a:t>
            </a:r>
          </a:p>
          <a:p xmlns:a="http://schemas.openxmlformats.org/drawingml/2006/main">
            <a:r>
              <a:t>이번에 완료할 것: 기획서 작성과 예제 코드 실행</a:t>
            </a:r>
          </a:p>
          <a:p xmlns:a="http://schemas.openxmlformats.org/drawingml/2006/main">
            <a:r>
              <a:t>실제 제품 개발·사용자 시험·장비 성능 시험은 별도로 진행</a:t>
            </a:r>
          </a:p>
          <a:p xmlns:a="http://schemas.openxmlformats.org/drawingml/2006/main">
            <a:r>
              <a:t>변경 예는 “실시간 카메라 요청 보류”입니다. 이유는 모델과 조건 미확정이고 영향 문서는 범위, 위험, 시험과 견적입니다. 요구에서 제외했는데 시험표가 실물 PASS로 남아 있으면 인수인계 오류입니다. 변경 전후 문장, 결정 이유, 관련 ID와 담당을 기록합니다. 피드백 한 개를 수정한 다음 문제 근거와 연결이 유지되는지 다시 읽습니다. 전달 묶음은 최신 기획서, 데이터 계약, 샘플, 요구·시험 연결표, 작업·위험 계획, 변경 이력입니다. 다음 사람이 모르는 조건을 확인할 수 있도록 질문과 확인 방법도 넣습니다. 오늘의 완료는 기획 자료와 제공 비교 코드 확인이며 실제 제품 구현, 현장 사용성과 성능은 미실행입니다. </a:t>
            </a:r>
          </a:p>
          <a:p xmlns:a="http://schemas.openxmlformats.org/drawingml/2006/main">
            <a:r>
              <a:t>예제 자료를 열어 설명한 값이나 항목을 함께 찾는다.</a:t>
            </a:r>
          </a:p>
          <a:p xmlns:a="http://schemas.openxmlformats.org/drawingml/2006/main">
            <a:r>
              <a:t/>
            </a:r>
          </a:p>
          <a:p xmlns:a="http://schemas.openxmlformats.org/drawingml/2006/main">
            <a:r>
              <a:t>화면 예의 출처: D:\KDigital_PhysicalAI\.build\copyedited-ppt\spec-2026-10-30.json#slide-96</a:t>
            </a:r>
          </a:p>
          <a:p xmlns:a="http://schemas.openxmlformats.org/drawingml/2006/main">
            <a:r>
              <a:t/>
            </a:r>
          </a:p>
          <a:p xmlns:a="http://schemas.openxmlformats.org/drawingml/2006/main">
            <a:r>
              <a:t>학생 교안: https://zeusk302-png.github.io/kdigital-physical-ai/#/sessions/2026-10-30/lesson</a:t>
            </a:r>
          </a:p>
          <a:p xmlns:a="http://schemas.openxmlformats.org/drawingml/2006/main">
            <a:r>
              <a:t>실습: https://zeusk302-png.github.io/kdigital-physical-ai/#/sessions/2026-10-30/activity-A18</a:t>
            </a:r>
          </a:p>
          <a:p xmlns:a="http://schemas.openxmlformats.org/drawingml/2006/main">
            <a:r>
              <a:t>공식 자료: https://docs.python.org/3/library/csv.html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outputs/2026-10-30/lesson.md</a:t>
            </a:r>
          </a:p>
          <a:p xmlns:a="http://schemas.openxmlformats.org/drawingml/2006/main">
            <a:r>
              <a:t>슬라이드 내용:</a:t>
            </a:r>
          </a:p>
          <a:p xmlns:a="http://schemas.openxmlformats.org/drawingml/2006/main">
            <a:r>
              <a:t/>
            </a:r>
          </a:p>
          <a:p xmlns:a="http://schemas.openxmlformats.org/drawingml/2006/main">
            <a:r>
              <a:t>변경 예는 “실시간 카메라 요청 보류”입니다. 이유는 모델과 조건 미확정이고 영향 문서는 범위, 위험, 시험과 견적입니다. 요구에서 제외했는데 시험표가 실물 PASS로 남아 있으면 인수인계 오류입니다. 변경 전후 문장, 결정 이유, 관련 ID와 담당을 기록합니다. 피드백 한 개를 수정한 다음 문제 근거와 연결이 유지되는지 다시 읽습니다. 전달 묶음은 최신 기획서, 데이터 계약, 샘플, 요구·시험 연결표, 작업·위험 계획, 변경 이력입니다. 다음 사람이 모르는 조건을 확인할 수 있도록 질문과 확인 방법도 넣습니다. 오늘의 완료는 기획 자료와 제공 비교 코드 확인이며 실제 제품 구현, 현장 사용성과 성능은 미실행입니다. </a:t>
            </a:r>
          </a:p>
          <a:p xmlns:a="http://schemas.openxmlformats.org/drawingml/2006/main">
            <a:r>
              <a:t>한 행을 입력과 기대 출력으로 이어 읽게 한다. 표의 값은 조건과 범위를 함께 확인한다.</a:t>
            </a:r>
          </a:p>
          <a:p xmlns:a="http://schemas.openxmlformats.org/drawingml/2006/main">
            <a:r>
              <a:t/>
            </a:r>
          </a:p>
          <a:p xmlns:a="http://schemas.openxmlformats.org/drawingml/2006/main">
            <a:r>
              <a:t>학생 교안: https://zeusk302-png.github.io/kdigital-physical-ai/#/sessions/2026-10-30/lesson</a:t>
            </a:r>
          </a:p>
          <a:p xmlns:a="http://schemas.openxmlformats.org/drawingml/2006/main">
            <a:r>
              <a:t>실습: https://zeusk302-png.github.io/kdigital-physical-ai/#/sessions/2026-10-30/activity-A18</a:t>
            </a:r>
          </a:p>
          <a:p xmlns:a="http://schemas.openxmlformats.org/drawingml/2006/main">
            <a:r>
              <a:t>공식 자료: https://docs.python.org/3/library/csv.html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outputs/2026-10-30/lesson.md</a:t>
            </a:r>
          </a:p>
          <a:p xmlns:a="http://schemas.openxmlformats.org/drawingml/2006/main">
            <a:r>
              <a:t>슬라이드 내용:</a:t>
            </a:r>
          </a:p>
          <a:p xmlns:a="http://schemas.openxmlformats.org/drawingml/2006/main">
            <a:r>
              <a:t>기획서에 사용할 입력과 작업 완료 조건이 적혀 있나요?</a:t>
            </a:r>
          </a:p>
          <a:p xmlns:a="http://schemas.openxmlformats.org/drawingml/2006/main">
            <a:r>
              <a:t>기획서, 시험표, 견적의 값과 ID가 서로 맞는지 확인하세요.</a:t>
            </a:r>
          </a:p>
          <a:p xmlns:a="http://schemas.openxmlformats.org/drawingml/2006/main">
            <a:r>
              <a:t>변경 예는 “실시간 카메라 요청 보류”입니다. 이유는 모델과 조건 미확정이고 영향 문서는 범위, 위험, 시험과 견적입니다. 요구에서 제외했는데 시험표가 실물 PASS로 남아 있으면 인수인계 오류입니다. 변경 전후 문장, 결정 이유, 관련 ID와 담당을 기록합니다. 피드백 한 개를 수정한 다음 문제 근거와 연결이 유지되는지 다시 읽습니다. 전달 묶음은 최신 기획서, 데이터 계약, 샘플, 요구·시험 연결표, 작업·위험 계획, 변경 이력입니다. 다음 사람이 모르는 조건을 확인할 수 있도록 질문과 확인 방법도 넣습니다. 오늘의 완료는 기획 자료와 제공 비교 코드 확인이며 실제 제품 구현, 현장 사용성과 성능은 미실행입니다. </a:t>
            </a:r>
          </a:p>
          <a:p xmlns:a="http://schemas.openxmlformats.org/drawingml/2006/main">
            <a:r>
              <a:t>예제 자료를 열어 설명한 값이나 항목을 함께 찾는다.</a:t>
            </a:r>
          </a:p>
          <a:p xmlns:a="http://schemas.openxmlformats.org/drawingml/2006/main">
            <a:r>
              <a:t/>
            </a:r>
          </a:p>
          <a:p xmlns:a="http://schemas.openxmlformats.org/drawingml/2006/main">
            <a:r>
              <a:t>학생 교안: https://zeusk302-png.github.io/kdigital-physical-ai/#/sessions/2026-10-30/lesson</a:t>
            </a:r>
          </a:p>
          <a:p xmlns:a="http://schemas.openxmlformats.org/drawingml/2006/main">
            <a:r>
              <a:t>실습: https://zeusk302-png.github.io/kdigital-physical-ai/#/sessions/2026-10-30/activity-A18</a:t>
            </a:r>
          </a:p>
          <a:p xmlns:a="http://schemas.openxmlformats.org/drawingml/2006/main">
            <a:r>
              <a:t>공식 자료: https://docs.python.org/3/library/csv.html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outputs/2026-10-30/practice-guide.md</a:t>
            </a:r>
          </a:p>
          <a:p xmlns:a="http://schemas.openxmlformats.org/drawingml/2006/main">
            <a:r>
              <a:t>슬라이드 내용:</a:t>
            </a:r>
          </a:p>
          <a:p xmlns:a="http://schemas.openxmlformats.org/drawingml/2006/main">
            <a:r>
              <a:t>범위에서 카메라를 제외했습니다.</a:t>
            </a:r>
          </a:p>
          <a:p xmlns:a="http://schemas.openxmlformats.org/drawingml/2006/main">
            <a:r>
              <a:t>예산에는 구매, 시험표에는 실물 PASS가 있습니다.</a:t>
            </a:r>
          </a:p>
          <a:p xmlns:a="http://schemas.openxmlformats.org/drawingml/2006/main">
            <a:r>
              <a:t>어디를 왜 고칠까요?</a:t>
            </a:r>
          </a:p>
          <a:p xmlns:a="http://schemas.openxmlformats.org/drawingml/2006/main">
            <a:r>
              <a:t>범위 결정에 맞춰 예산의 구매 포함 여부와 시험 상태·입력 조건을 갱신하고 미실행 실물 시험을 통과라고 쓰지 않습니다. 모델·보유 장비·운영 필요를 확인하는 질문이 적절합니다. 발표문 한 문장만 고치면 문서 간 충돌이 남습니다.</a:t>
            </a:r>
          </a:p>
          <a:p xmlns:a="http://schemas.openxmlformats.org/drawingml/2006/main">
            <a:r>
              <a:t>학생이 예상한 결과와 이유를 먼저 듣고 풀이한다. 숫자뿐 아니라 단위, ID, 조건도 확인한다.</a:t>
            </a:r>
          </a:p>
          <a:p xmlns:a="http://schemas.openxmlformats.org/drawingml/2006/main">
            <a:r>
              <a:t/>
            </a:r>
          </a:p>
          <a:p xmlns:a="http://schemas.openxmlformats.org/drawingml/2006/main">
            <a:r>
              <a:t>학생 교안: https://zeusk302-png.github.io/kdigital-physical-ai/#/sessions/2026-10-30/lesson</a:t>
            </a:r>
          </a:p>
          <a:p xmlns:a="http://schemas.openxmlformats.org/drawingml/2006/main">
            <a:r>
              <a:t>실습: https://zeusk302-png.github.io/kdigital-physical-ai/#/sessions/2026-10-30/activity-A18</a:t>
            </a:r>
          </a:p>
          <a:p xmlns:a="http://schemas.openxmlformats.org/drawingml/2006/main">
            <a:r>
              <a:t>공식 자료: https://docs.python.org/3/library/csv.html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outputs/2026-10-30/lesson.md</a:t>
            </a:r>
          </a:p>
          <a:p xmlns:a="http://schemas.openxmlformats.org/drawingml/2006/main">
            <a:r>
              <a:t>슬라이드 내용:</a:t>
            </a:r>
          </a:p>
          <a:p xmlns:a="http://schemas.openxmlformats.org/drawingml/2006/main">
            <a:r>
              <a:t>카메라를 제외한 내용을 기능 목록, 예산, 시험표에 모두 반영하세요.</a:t>
            </a:r>
          </a:p>
          <a:p xmlns:a="http://schemas.openxmlformats.org/drawingml/2006/main">
            <a:r>
              <a:t>카메라 시험을 하지 않았다면 PASS를 NOT_RUN으로 고치세요.</a:t>
            </a:r>
          </a:p>
          <a:p xmlns:a="http://schemas.openxmlformats.org/drawingml/2006/main">
            <a:r>
              <a:t>필요한 장비 모델과 가지고 있는 장비도 확인하세요.</a:t>
            </a:r>
          </a:p>
          <a:p xmlns:a="http://schemas.openxmlformats.org/drawingml/2006/main">
            <a:r>
              <a:t>범위 결정에 맞춰 예산의 구매 포함 여부와 시험 상태·입력 조건을 갱신하고 미실행 실물 시험을 통과라고 쓰지 않습니다. 모델·보유 장비·운영 필요를 확인하는 질문이 적절합니다. 발표문 한 문장만 고치면 문서 간 충돌이 남습니다.</a:t>
            </a:r>
          </a:p>
          <a:p xmlns:a="http://schemas.openxmlformats.org/drawingml/2006/main">
            <a:r>
              <a:t>예제 자료를 열어 설명한 값이나 항목을 함께 찾는다.</a:t>
            </a:r>
          </a:p>
          <a:p xmlns:a="http://schemas.openxmlformats.org/drawingml/2006/main">
            <a:r>
              <a:t/>
            </a:r>
          </a:p>
          <a:p xmlns:a="http://schemas.openxmlformats.org/drawingml/2006/main">
            <a:r>
              <a:t>학생 교안: https://zeusk302-png.github.io/kdigital-physical-ai/#/sessions/2026-10-30/lesson</a:t>
            </a:r>
          </a:p>
          <a:p xmlns:a="http://schemas.openxmlformats.org/drawingml/2006/main">
            <a:r>
              <a:t>실습: https://zeusk302-png.github.io/kdigital-physical-ai/#/sessions/2026-10-30/activity-A18</a:t>
            </a:r>
          </a:p>
          <a:p xmlns:a="http://schemas.openxmlformats.org/drawingml/2006/main">
            <a:r>
              <a:t>공식 자료: https://docs.python.org/3/library/csv.html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outputs/2026-10-30/practice-guide.md</a:t>
            </a:r>
          </a:p>
          <a:p xmlns:a="http://schemas.openxmlformats.org/drawingml/2006/main">
            <a:r>
              <a:t>슬라이드 내용:</a:t>
            </a:r>
          </a:p>
          <a:p xmlns:a="http://schemas.openxmlformats.org/drawingml/2006/main">
            <a:r>
              <a:t>자동 잠금 요청이 추가되면</a:t>
            </a:r>
          </a:p>
          <a:p xmlns:a="http://schemas.openxmlformats.org/drawingml/2006/main">
            <a:r>
              <a:t>장비·안전 조건·범위·시험·견적을 재검토합니다.</a:t>
            </a:r>
          </a:p>
          <a:p xmlns:a="http://schemas.openxmlformats.org/drawingml/2006/main">
            <a:r>
              <a:t>변경 예는 “실시간 카메라 요청 보류”입니다. 이유는 모델과 조건 미확정이고 영향 문서는 범위, 위험, 시험과 견적입니다. 요구에서 제외했는데 시험표가 실물 PASS로 남아 있으면 인수인계 오류입니다. 변경 전후 문장, 결정 이유, 관련 ID와 담당을 기록합니다. 피드백 한 개를 수정한 다음 문제 근거와 연결이 유지되는지 다시 읽습니다. 전달 묶음은 최신 기획서, 데이터 계약, 샘플, 요구·시험 연결표, 작업·위험 계획, 변경 이력입니다. 다음 사람이 모르는 조건을 확인할 수 있도록 질문과 확인 방법도 넣습니다. 오늘의 완료는 기획 자료와 제공 비교 코드 확인이며 실제 제품 구현, 현장 사용성과 성능은 미실행입니다. </a:t>
            </a:r>
          </a:p>
          <a:p xmlns:a="http://schemas.openxmlformats.org/drawingml/2006/main">
            <a:r>
              <a:t>학생이 예상한 결과와 이유를 먼저 듣고 풀이한다. 숫자뿐 아니라 단위, ID, 조건도 확인한다.</a:t>
            </a:r>
          </a:p>
          <a:p xmlns:a="http://schemas.openxmlformats.org/drawingml/2006/main">
            <a:r>
              <a:t/>
            </a:r>
          </a:p>
          <a:p xmlns:a="http://schemas.openxmlformats.org/drawingml/2006/main">
            <a:r>
              <a:t>학생 교안: https://zeusk302-png.github.io/kdigital-physical-ai/#/sessions/2026-10-30/lesson</a:t>
            </a:r>
          </a:p>
          <a:p xmlns:a="http://schemas.openxmlformats.org/drawingml/2006/main">
            <a:r>
              <a:t>실습: https://zeusk302-png.github.io/kdigital-physical-ai/#/sessions/2026-10-30/activity-A18</a:t>
            </a:r>
          </a:p>
          <a:p xmlns:a="http://schemas.openxmlformats.org/drawingml/2006/main">
            <a:r>
              <a:t>공식 자료: https://docs.python.org/3/library/csv.html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outputs/2026-10-30/beginner-start.md</a:t>
            </a:r>
          </a:p>
          <a:p xmlns:a="http://schemas.openxmlformats.org/drawingml/2006/main">
            <a:r>
              <a:t>슬라이드 내용:</a:t>
            </a:r>
          </a:p>
          <a:p xmlns:a="http://schemas.openxmlformats.org/drawingml/2006/main">
            <a:r>
              <a:t>아직 모르는 조건은 확인이 필요하다고 적으세요.</a:t>
            </a:r>
          </a:p>
          <a:p xmlns:a="http://schemas.openxmlformats.org/drawingml/2006/main">
            <a:r>
              <a:t>무엇을 물을지, 누구에게 물을지, 어떤 자료가 필요한지 적으세요.</a:t>
            </a:r>
          </a:p>
          <a:p xmlns:a="http://schemas.openxmlformats.org/drawingml/2006/main">
            <a:r>
              <a:t>변경 예는 “실시간 카메라 요청 보류”입니다. 이유는 모델과 조건 미확정이고 영향 문서는 범위, 위험, 시험과 견적입니다. 요구에서 제외했는데 시험표가 실물 PASS로 남아 있으면 인수인계 오류입니다. 변경 전후 문장, 결정 이유, 관련 ID와 담당을 기록합니다. 피드백 한 개를 수정한 다음 문제 근거와 연결이 유지되는지 다시 읽습니다. 전달 묶음은 최신 기획서, 데이터 계약, 샘플, 요구·시험 연결표, 작업·위험 계획, 변경 이력입니다. 다음 사람이 모르는 조건을 확인할 수 있도록 질문과 확인 방법도 넣습니다. 오늘의 완료는 기획 자료와 제공 비교 코드 확인이며 실제 제품 구현, 현장 사용성과 성능은 미실행입니다. </a:t>
            </a:r>
          </a:p>
          <a:p xmlns:a="http://schemas.openxmlformats.org/drawingml/2006/main">
            <a:r>
              <a:t>예제 자료를 열어 설명한 값이나 항목을 함께 찾는다.</a:t>
            </a:r>
          </a:p>
          <a:p xmlns:a="http://schemas.openxmlformats.org/drawingml/2006/main">
            <a:r>
              <a:t/>
            </a:r>
          </a:p>
          <a:p xmlns:a="http://schemas.openxmlformats.org/drawingml/2006/main">
            <a:r>
              <a:t>학생 교안: https://zeusk302-png.github.io/kdigital-physical-ai/#/sessions/2026-10-30/lesson</a:t>
            </a:r>
          </a:p>
          <a:p xmlns:a="http://schemas.openxmlformats.org/drawingml/2006/main">
            <a:r>
              <a:t>실습: https://zeusk302-png.github.io/kdigital-physical-ai/#/sessions/2026-10-30/activity-A18</a:t>
            </a:r>
          </a:p>
          <a:p xmlns:a="http://schemas.openxmlformats.org/drawingml/2006/main">
            <a:r>
              <a:t>공식 자료: https://docs.python.org/3/library/csv.html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outputs/2026-10-30/lesson.md</a:t>
            </a:r>
          </a:p>
          <a:p xmlns:a="http://schemas.openxmlformats.org/drawingml/2006/main">
            <a:r>
              <a:t>슬라이드 내용:</a:t>
            </a:r>
          </a:p>
          <a:p xmlns:a="http://schemas.openxmlformats.org/drawingml/2006/main">
            <a:r>
              <a:t>2분 안에 사용자 불편과 시험 방법을 설명해 보세요.</a:t>
            </a:r>
          </a:p>
          <a:p xmlns:a="http://schemas.openxmlformats.org/drawingml/2006/main">
            <a:r>
              <a:t>자료에서 확인한 사실과 아직 확인하지 못한 내용을 나눠 말하세요.</a:t>
            </a:r>
          </a:p>
          <a:p xmlns:a="http://schemas.openxmlformats.org/drawingml/2006/main">
            <a:r>
              <a:t>발표에서 동료가 “카메라가 없는데 카메라 시험이 통과인가요?”라고 묻습니다. 이때는 가능하다고 단정하기보다 확인한 내용과 아직 확인하지 않은 내용을 따로 설명하는 것입니다. 한 장 기획서에도 사용자 불편, 만들 기능, 데이터, 시험 방법, 작업 계획이 서로 맞아야 합니다.</a:t>
            </a:r>
          </a:p>
          <a:p xmlns:a="http://schemas.openxmlformats.org/drawingml/2006/main">
            <a:r>
              <a:t>학생이 예상한 결과와 이유를 먼저 듣고 풀이한다. 숫자뿐 아니라 단위, ID, 조건도 확인한다.</a:t>
            </a:r>
          </a:p>
          <a:p xmlns:a="http://schemas.openxmlformats.org/drawingml/2006/main">
            <a:r>
              <a:t/>
            </a:r>
          </a:p>
          <a:p xmlns:a="http://schemas.openxmlformats.org/drawingml/2006/main">
            <a:r>
              <a:t>학생 교안: https://zeusk302-png.github.io/kdigital-physical-ai/#/sessions/2026-10-30/lesson</a:t>
            </a:r>
          </a:p>
          <a:p xmlns:a="http://schemas.openxmlformats.org/drawingml/2006/main">
            <a:r>
              <a:t>실습: https://zeusk302-png.github.io/kdigital-physical-ai/#/sessions/2026-10-30/activity-A18</a:t>
            </a:r>
          </a:p>
          <a:p xmlns:a="http://schemas.openxmlformats.org/drawingml/2006/main">
            <a:r>
              <a:t>공식 자료: https://docs.python.org/3/library/csv.html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outputs/2026-10-30/assessment.md</a:t>
            </a:r>
          </a:p>
          <a:p xmlns:a="http://schemas.openxmlformats.org/drawingml/2006/main">
            <a:r>
              <a:t>슬라이드 내용:</a:t>
            </a:r>
          </a:p>
          <a:p xmlns:a="http://schemas.openxmlformats.org/drawingml/2006/main">
            <a:r>
              <a:t>추가·도전: CSV 기획에 자동 잠금 추가</a:t>
            </a:r>
          </a:p>
          <a:p xmlns:a="http://schemas.openxmlformats.org/drawingml/2006/main">
            <a:r>
              <a:t>고쳐야 할 문서와 기능 추가를 미룰 이유를 적으세요.</a:t>
            </a:r>
          </a:p>
          <a:p xmlns:a="http://schemas.openxmlformats.org/drawingml/2006/main">
            <a:r>
              <a:t>완성 요약은 사용자: 마감 담당자, 문제: 미확인 기록 탐색 지연, 근거: 가상 E01·E02, 포함: CSV 검수와 목록, 요구: R01~R04, 시험: T01~T04, 제외: 카메라와 자동 잠금입니다. R2의 누락 시각 입력과 T2의 review 기대값이 같아야 합니다. 화면 설명에서 자동 완료라고 바꾸면 요구와 충돌합니다. 발표는 문제·근거, 입력과 결과, 시험, 미확정 질문 순으로 전달합니다. 효과를 아직 측정하지 않았다면 기대 효과라고 말합니다.</a:t>
            </a:r>
          </a:p>
          <a:p xmlns:a="http://schemas.openxmlformats.org/drawingml/2006/main">
            <a:r>
              <a:t>학생이 예상한 결과와 이유를 먼저 듣고 풀이한다. 숫자뿐 아니라 단위, ID, 조건도 확인한다.</a:t>
            </a:r>
          </a:p>
          <a:p xmlns:a="http://schemas.openxmlformats.org/drawingml/2006/main">
            <a:r>
              <a:t>관련 전이 문제와 해설:</a:t>
            </a:r>
          </a:p>
          <a:p xmlns:a="http://schemas.openxmlformats.org/drawingml/2006/main">
            <a:r>
              <a:t>CSV 기획에 자동 잠금 요청이 추가됐습니다. 같이 갱신할 문서와 보류 근거를 쓰세요.</a:t>
            </a:r>
          </a:p>
          <a:p xmlns:a="http://schemas.openxmlformats.org/drawingml/2006/main">
            <a:r>
              <a:t/>
            </a:r>
          </a:p>
          <a:p xmlns:a="http://schemas.openxmlformats.org/drawingml/2006/main">
            <a:r>
              <a:t>&lt;details&gt;&lt;summary&gt;정답과 해설&lt;/summary&gt;</a:t>
            </a:r>
          </a:p>
          <a:p xmlns:a="http://schemas.openxmlformats.org/drawingml/2006/main">
            <a:r>
              <a:t/>
            </a:r>
          </a:p>
          <a:p xmlns:a="http://schemas.openxmlformats.org/drawingml/2006/main">
            <a:r>
              <a:t>범위·요구·데이터·위험·시험·작업·견적을 검토합니다. 장비와 안전 조건이 없으면 확인 질문과 대안으로 남기며 현장 통과라고 쓰지 않습니다.</a:t>
            </a:r>
          </a:p>
          <a:p xmlns:a="http://schemas.openxmlformats.org/drawingml/2006/main">
            <a:r>
              <a:t/>
            </a:r>
          </a:p>
          <a:p xmlns:a="http://schemas.openxmlformats.org/drawingml/2006/main">
            <a:r>
              <a:t>&lt;/details&gt;</a:t>
            </a:r>
          </a:p>
          <a:p xmlns:a="http://schemas.openxmlformats.org/drawingml/2006/main">
            <a:r>
              <a:t>수업에서 먼저 할 실습 뒤 선택한다. 모든 슬라이드를 50분 안에 완수했다는 뜻이 아니다.</a:t>
            </a:r>
          </a:p>
          <a:p xmlns:a="http://schemas.openxmlformats.org/drawingml/2006/main">
            <a:r>
              <a:t/>
            </a:r>
          </a:p>
          <a:p xmlns:a="http://schemas.openxmlformats.org/drawingml/2006/main">
            <a:r>
              <a:t>학생 교안: https://zeusk302-png.github.io/kdigital-physical-ai/#/sessions/2026-10-30/lesson</a:t>
            </a:r>
          </a:p>
          <a:p xmlns:a="http://schemas.openxmlformats.org/drawingml/2006/main">
            <a:r>
              <a:t>실습: https://zeusk302-png.github.io/kdigital-physical-ai/#/sessions/2026-10-30/activity-A18</a:t>
            </a:r>
          </a:p>
          <a:p xmlns:a="http://schemas.openxmlformats.org/drawingml/2006/main">
            <a:r>
              <a:t>공식 자료: https://docs.python.org/3/library/csv.html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outputs/2026-10-30/assessment.md</a:t>
            </a:r>
          </a:p>
          <a:p xmlns:a="http://schemas.openxmlformats.org/drawingml/2006/main">
            <a:r>
              <a:t>슬라이드 내용:</a:t>
            </a:r>
          </a:p>
          <a:p xmlns:a="http://schemas.openxmlformats.org/drawingml/2006/main">
            <a:r>
              <a:t>work의 기록과 수정본을 저장합니다.</a:t>
            </a:r>
          </a:p>
          <a:p xmlns:a="http://schemas.openxmlformats.org/drawingml/2006/main">
            <a:r>
              <a:t>기록한 입력과 설정이 실행 결과에 사용한 것인지 확인하세요.</a:t>
            </a:r>
          </a:p>
          <a:p xmlns:a="http://schemas.openxmlformats.org/drawingml/2006/main">
            <a:r>
              <a:t>결과를 확인한 방법과 남은 작업을 적으세요.</a:t>
            </a:r>
          </a:p>
          <a:p xmlns:a="http://schemas.openxmlformats.org/drawingml/2006/main">
            <a:r>
              <a:t>1. 변경 이력에 필요한 것은? → 전후·이유·영향·담당입니다.</a:t>
            </a:r>
          </a:p>
          <a:p xmlns:a="http://schemas.openxmlformats.org/drawingml/2006/main">
            <a:r>
              <a:t>2. 미확정 질문은 어떻게 전달하나요? → 확인 방법과 함께 남깁니다.</a:t>
            </a:r>
          </a:p>
          <a:p xmlns:a="http://schemas.openxmlformats.org/drawingml/2006/main">
            <a:r>
              <a:t>3. 오늘 기획 완료가 실제 제품 완료인가요? → 아닙니다.</a:t>
            </a:r>
          </a:p>
          <a:p xmlns:a="http://schemas.openxmlformats.org/drawingml/2006/main">
            <a:r>
              <a:t>예제 자료를 열어 설명한 값이나 항목을 함께 찾는다.</a:t>
            </a:r>
          </a:p>
          <a:p xmlns:a="http://schemas.openxmlformats.org/drawingml/2006/main">
            <a:r>
              <a:t/>
            </a:r>
          </a:p>
          <a:p xmlns:a="http://schemas.openxmlformats.org/drawingml/2006/main">
            <a:r>
              <a:t>화면 예의 출처: D:\KDigital_PhysicalAI\.build\copyedited-ppt\spec-2026-10-30.json#slide-101</a:t>
            </a:r>
          </a:p>
          <a:p xmlns:a="http://schemas.openxmlformats.org/drawingml/2006/main">
            <a:r>
              <a:t/>
            </a:r>
          </a:p>
          <a:p xmlns:a="http://schemas.openxmlformats.org/drawingml/2006/main">
            <a:r>
              <a:t>학생 교안: https://zeusk302-png.github.io/kdigital-physical-ai/#/sessions/2026-10-30/lesson</a:t>
            </a:r>
          </a:p>
          <a:p xmlns:a="http://schemas.openxmlformats.org/drawingml/2006/main">
            <a:r>
              <a:t>실습: https://zeusk302-png.github.io/kdigital-physical-ai/#/sessions/2026-10-30/activity-A18</a:t>
            </a:r>
          </a:p>
          <a:p xmlns:a="http://schemas.openxmlformats.org/drawingml/2006/main">
            <a:r>
              <a:t>공식 자료: https://docs.python.org/3/library/csv.html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outputs/2026-10-30/instructor-notes.md</a:t>
            </a:r>
          </a:p>
          <a:p xmlns:a="http://schemas.openxmlformats.org/drawingml/2006/main">
            <a:r>
              <a:t>슬라이드 내용:</a:t>
            </a:r>
          </a:p>
          <a:p xmlns:a="http://schemas.openxmlformats.org/drawingml/2006/main">
            <a:r>
              <a:t>어느 폴더에서 어떤 명령을 실행하는지 설명해 보세요.</a:t>
            </a:r>
          </a:p>
          <a:p xmlns:a="http://schemas.openxmlformats.org/drawingml/2006/main">
            <a:r>
              <a:t>실행 결과로 알 수 있는 것과 알 수 없는 것은 무엇인가요?</a:t>
            </a:r>
          </a:p>
          <a:p xmlns:a="http://schemas.openxmlformats.org/drawingml/2006/main">
            <a:r>
              <a:t>막힌 단계와 다음에 확인할 내용을 적으세요.</a:t>
            </a:r>
          </a:p>
          <a:p xmlns:a="http://schemas.openxmlformats.org/drawingml/2006/main">
            <a:r>
              <a:t>발표에서 동료가 “카메라가 없는데 카메라 시험이 통과인가요?”라고 묻습니다. 이때는 가능하다고 단정하기보다 확인한 내용과 아직 확인하지 않은 내용을 따로 설명하는 것입니다. 한 장 기획서에도 사용자 불편, 만들 기능, 데이터, 시험 방법, 작업 계획이 서로 맞아야 합니다.</a:t>
            </a:r>
          </a:p>
          <a:p xmlns:a="http://schemas.openxmlformats.org/drawingml/2006/main">
            <a:r>
              <a:t>학생이 예상한 결과와 이유를 먼저 듣고 풀이한다. 숫자뿐 아니라 단위, ID, 조건도 확인한다.</a:t>
            </a:r>
          </a:p>
          <a:p xmlns:a="http://schemas.openxmlformats.org/drawingml/2006/main">
            <a:r>
              <a:t/>
            </a:r>
          </a:p>
          <a:p xmlns:a="http://schemas.openxmlformats.org/drawingml/2006/main">
            <a:r>
              <a:t>학생 교안: https://zeusk302-png.github.io/kdigital-physical-ai/#/sessions/2026-10-30/lesson</a:t>
            </a:r>
          </a:p>
          <a:p xmlns:a="http://schemas.openxmlformats.org/drawingml/2006/main">
            <a:r>
              <a:t>실습: https://zeusk302-png.github.io/kdigital-physical-ai/#/sessions/2026-10-30/activity-A18</a:t>
            </a:r>
          </a:p>
          <a:p xmlns:a="http://schemas.openxmlformats.org/drawingml/2006/main">
            <a:r>
              <a:t>공식 자료: https://docs.python.org/3/library/csv.html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처음 시작 안내</a:t>
            </a:r>
          </a:p>
          <a:p xmlns:a="http://schemas.openxmlformats.org/drawingml/2006/main">
            <a:r>
              <a:t>https://zeusk302-png.github.io/kdigital-physical-ai/#/sessions/2026-10-30/start</a:t>
            </a:r>
          </a:p>
          <a:p xmlns:a="http://schemas.openxmlformats.org/drawingml/2006/main">
            <a:r>
              <a:t/>
            </a:r>
          </a:p>
          <a:p xmlns:a="http://schemas.openxmlformats.org/drawingml/2006/main">
            <a:r>
              <a:t>학생 교안</a:t>
            </a:r>
          </a:p>
          <a:p xmlns:a="http://schemas.openxmlformats.org/drawingml/2006/main">
            <a:r>
              <a:t>https://zeusk302-png.github.io/kdigital-physical-ai/#/sessions/2026-10-30/lesson</a:t>
            </a:r>
          </a:p>
          <a:p xmlns:a="http://schemas.openxmlformats.org/drawingml/2006/main">
            <a:r>
              <a:t/>
            </a:r>
          </a:p>
          <a:p xmlns:a="http://schemas.openxmlformats.org/drawingml/2006/main">
            <a:r>
              <a:t>실습 활동</a:t>
            </a:r>
          </a:p>
          <a:p xmlns:a="http://schemas.openxmlformats.org/drawingml/2006/main">
            <a:r>
              <a:t>https://zeusk302-png.github.io/kdigital-physical-ai/#/sessions/2026-10-30/workbook</a:t>
            </a:r>
          </a:p>
          <a:p xmlns:a="http://schemas.openxmlformats.org/drawingml/2006/main">
            <a:r>
              <a:t/>
            </a:r>
          </a:p>
          <a:p xmlns:a="http://schemas.openxmlformats.org/drawingml/2006/main">
            <a:r>
              <a:t>예제 코드와 데이터 ZIP</a:t>
            </a:r>
          </a:p>
          <a:p xmlns:a="http://schemas.openxmlformats.org/drawingml/2006/main">
            <a:r>
              <a:t>https://zeusk302-png.github.io/kdigital-physical-ai/downloads/2026-10-30/student-examples.zip</a:t>
            </a:r>
          </a:p>
          <a:p xmlns:a="http://schemas.openxmlformats.org/drawingml/2006/main">
            <a:r>
              <a:t/>
            </a:r>
          </a:p>
          <a:p xmlns:a="http://schemas.openxmlformats.org/drawingml/2006/main">
            <a:r>
              <a:t>날짜별 자료 다운로드</a:t>
            </a:r>
          </a:p>
          <a:p xmlns:a="http://schemas.openxmlformats.org/drawingml/2006/main">
            <a:r>
              <a:t>https://zeusk302-png.github.io/kdigital-physical-ai/#/sessions/2026-10-30/files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Python 리스트와 반복</a:t>
            </a:r>
          </a:p>
          <a:p xmlns:a="http://schemas.openxmlformats.org/drawingml/2006/main">
            <a:r>
              <a:t>https://docs.python.org/3/tutorial/introduction.html#lists</a:t>
            </a:r>
          </a:p>
          <a:p xmlns:a="http://schemas.openxmlformats.org/drawingml/2006/main">
            <a:r>
              <a:t/>
            </a:r>
          </a:p>
          <a:p xmlns:a="http://schemas.openxmlformats.org/drawingml/2006/main">
            <a:r>
              <a:t>Python JSON 읽기</a:t>
            </a:r>
          </a:p>
          <a:p xmlns:a="http://schemas.openxmlformats.org/drawingml/2006/main">
            <a:r>
              <a:t>https://docs.python.org/3/library/json.html</a:t>
            </a:r>
          </a:p>
          <a:p xmlns:a="http://schemas.openxmlformats.org/drawingml/2006/main">
            <a:r>
              <a:t/>
            </a:r>
          </a:p>
          <a:p xmlns:a="http://schemas.openxmlformats.org/drawingml/2006/main">
            <a:r>
              <a:t>Python CSV 읽기</a:t>
            </a:r>
          </a:p>
          <a:p xmlns:a="http://schemas.openxmlformats.org/drawingml/2006/main">
            <a:r>
              <a:t>https://docs.python.org/3/library/csv.html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c26d266a369481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6b32ba852f649df" /><Relationship Type="http://schemas.openxmlformats.org/officeDocument/2006/relationships/slideLayout" Target="/ppt/slideLayouts/slideLayout1.xml" Id="Rc259d5a7ff8f401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259d5a7ff8f401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ns0:Relationships xmlns:ns0="http://schemas.openxmlformats.org/package/2006/relationships"><ns0:Relationship Type="http://schemas.openxmlformats.org/officeDocument/2006/relationships/slideLayout" Target="/ppt/slideLayouts/slideLayout1.xml" Id="R886ef11796c241dd" /><ns0:Relationship Type="http://schemas.openxmlformats.org/officeDocument/2006/relationships/image" Target="/ppt/media/image.png" Id="R247e712d70c6432a" /><ns0:Relationship Type="http://schemas.openxmlformats.org/officeDocument/2006/relationships/notesSlide" Target="/ppt/notesSlides/notesSlide1.xml" Id="R0aacb1a0e09241bf" /><ns0:Relationship Id="rIdLink1" Type="http://schemas.openxmlformats.org/officeDocument/2006/relationships/hyperlink" Target="https://zeusk302-png.github.io/kdigital-physical-ai/#/sessions/2026-10-30/lesson" TargetMode="External" /><ns0:Relationship Id="rIdLink2" Type="http://schemas.openxmlformats.org/officeDocument/2006/relationships/hyperlink" Target="https://zeusk302-png.github.io/kdigital-physical-ai/#/sessions/2026-10-30/activity-A01" TargetMode="External" /><ns0:Relationship Id="rIdLink3" Type="http://schemas.openxmlformats.org/officeDocument/2006/relationships/hyperlink" Target="https://docs.python.org/3/library/csv.html" TargetMode="External" /></ns0:Relationships>
</file>

<file path=ppt/slides/_rels/slide2.xml.rels><?xml version='1.0' encoding='utf-8'?>
<ns0:Relationships xmlns:ns0="http://schemas.openxmlformats.org/package/2006/relationships"><ns0:Relationship Type="http://schemas.openxmlformats.org/officeDocument/2006/relationships/slideLayout" Target="/ppt/slideLayouts/slideLayout1.xml" Id="R3d854f0e4353453b" /><ns0:Relationship Type="http://schemas.openxmlformats.org/officeDocument/2006/relationships/notesSlide" Target="/ppt/notesSlides/notesSlide2.xml" Id="R422905917c0b49e3" /><ns0:Relationship Id="rIdLink1" Type="http://schemas.openxmlformats.org/officeDocument/2006/relationships/hyperlink" Target="https://zeusk302-png.github.io/kdigital-physical-ai/#/sessions/2026-10-30/lesson" TargetMode="External" /><ns0:Relationship Id="rIdLink2" Type="http://schemas.openxmlformats.org/officeDocument/2006/relationships/hyperlink" Target="https://zeusk302-png.github.io/kdigital-physical-ai/#/sessions/2026-10-30/activity-A01" TargetMode="External" /><ns0:Relationship Id="rIdLink3" Type="http://schemas.openxmlformats.org/officeDocument/2006/relationships/hyperlink" Target="https://docs.python.org/3/library/csv.html" TargetMode="External" /></ns0:Relationships>
</file>

<file path=ppt/slides/_rels/slide3.xml.rels><?xml version='1.0' encoding='utf-8'?>
<ns0:Relationships xmlns:ns0="http://schemas.openxmlformats.org/package/2006/relationships"><ns0:Relationship Type="http://schemas.openxmlformats.org/officeDocument/2006/relationships/slideLayout" Target="/ppt/slideLayouts/slideLayout1.xml" Id="R36213b12e8fd4845" /><ns0:Relationship Type="http://schemas.openxmlformats.org/officeDocument/2006/relationships/notesSlide" Target="/ppt/notesSlides/notesSlide3.xml" Id="R7bec9080a7be40b3" /><ns0:Relationship Id="rIdLink1" Type="http://schemas.openxmlformats.org/officeDocument/2006/relationships/hyperlink" Target="https://zeusk302-png.github.io/kdigital-physical-ai/#/sessions/2026-10-30/lesson" TargetMode="External" /><ns0:Relationship Id="rIdLink2" Type="http://schemas.openxmlformats.org/officeDocument/2006/relationships/hyperlink" Target="https://zeusk302-png.github.io/kdigital-physical-ai/#/sessions/2026-10-30/activity-A01" TargetMode="External" /><ns0:Relationship Id="rIdLink3" Type="http://schemas.openxmlformats.org/officeDocument/2006/relationships/hyperlink" Target="https://docs.python.org/3/library/csv.html" TargetMode="External" /></ns0:Relationships>
</file>

<file path=ppt/slides/_rels/slide4.xml.rels><?xml version='1.0' encoding='utf-8'?>
<ns0:Relationships xmlns:ns0="http://schemas.openxmlformats.org/package/2006/relationships"><ns0:Relationship Type="http://schemas.openxmlformats.org/officeDocument/2006/relationships/slideLayout" Target="/ppt/slideLayouts/slideLayout1.xml" Id="R8bc74ad5bd9e447a" /><ns0:Relationship Type="http://schemas.openxmlformats.org/officeDocument/2006/relationships/notesSlide" Target="/ppt/notesSlides/notesSlide4.xml" Id="Ra7795fa9a6694efe" /><ns0:Relationship Id="rIdLink1" Type="http://schemas.openxmlformats.org/officeDocument/2006/relationships/hyperlink" Target="https://zeusk302-png.github.io/kdigital-physical-ai/#/sessions/2026-10-30/lesson" TargetMode="External" /><ns0:Relationship Id="rIdLink2" Type="http://schemas.openxmlformats.org/officeDocument/2006/relationships/hyperlink" Target="https://zeusk302-png.github.io/kdigital-physical-ai/#/sessions/2026-10-30/activity-A01" TargetMode="External" /><ns0:Relationship Id="rIdLink3" Type="http://schemas.openxmlformats.org/officeDocument/2006/relationships/hyperlink" Target="https://docs.python.org/3/library/csv.html" TargetMode="External" /></ns0:Relationships>
</file>

<file path=ppt/slides/_rels/slide5.xml.rels><?xml version='1.0' encoding='utf-8'?>
<ns0:Relationships xmlns:ns0="http://schemas.openxmlformats.org/package/2006/relationships"><ns0:Relationship Type="http://schemas.openxmlformats.org/officeDocument/2006/relationships/slideLayout" Target="/ppt/slideLayouts/slideLayout1.xml" Id="R9c1122f4d54a4975" /><ns0:Relationship Type="http://schemas.openxmlformats.org/officeDocument/2006/relationships/notesSlide" Target="/ppt/notesSlides/notesSlide5.xml" Id="R277bc0a7d2a54f67" /><ns0:Relationship Id="rIdLink1" Type="http://schemas.openxmlformats.org/officeDocument/2006/relationships/hyperlink" Target="https://zeusk302-png.github.io/kdigital-physical-ai/#/sessions/2026-10-30/lesson" TargetMode="External" /><ns0:Relationship Id="rIdLink2" Type="http://schemas.openxmlformats.org/officeDocument/2006/relationships/hyperlink" Target="https://zeusk302-png.github.io/kdigital-physical-ai/#/sessions/2026-10-30/activity-A01" TargetMode="External" /><ns0:Relationship Id="rIdLink3" Type="http://schemas.openxmlformats.org/officeDocument/2006/relationships/hyperlink" Target="https://docs.python.org/3/tutorial/introduction.html#lists" TargetMode="External" /></ns0:Relationships>
</file>

<file path=ppt/slides/_rels/slide6.xml.rels><?xml version='1.0' encoding='utf-8'?>
<ns0:Relationships xmlns:ns0="http://schemas.openxmlformats.org/package/2006/relationships"><ns0:Relationship Type="http://schemas.openxmlformats.org/officeDocument/2006/relationships/slideLayout" Target="/ppt/slideLayouts/slideLayout1.xml" Id="Rc2ad9a5a85734edf" /><ns0:Relationship Type="http://schemas.openxmlformats.org/officeDocument/2006/relationships/notesSlide" Target="/ppt/notesSlides/notesSlide6.xml" Id="R7899a354e2874641" /><ns0:Relationship Id="rIdLink1" Type="http://schemas.openxmlformats.org/officeDocument/2006/relationships/hyperlink" Target="https://zeusk302-png.github.io/kdigital-physical-ai/#/sessions/2026-10-30/lesson" TargetMode="External" /><ns0:Relationship Id="rIdLink2" Type="http://schemas.openxmlformats.org/officeDocument/2006/relationships/hyperlink" Target="https://zeusk302-png.github.io/kdigital-physical-ai/#/sessions/2026-10-30/activity-A01" TargetMode="External" /><ns0:Relationship Id="rIdLink3" Type="http://schemas.openxmlformats.org/officeDocument/2006/relationships/hyperlink" Target="https://docs.python.org/3/tutorial/introduction.html#lists" TargetMode="External" /></ns0:Relationships>
</file>

<file path=ppt/slides/_rels/slide7.xml.rels><?xml version='1.0' encoding='utf-8'?>
<ns0:Relationships xmlns:ns0="http://schemas.openxmlformats.org/package/2006/relationships"><ns0:Relationship Type="http://schemas.openxmlformats.org/officeDocument/2006/relationships/slideLayout" Target="/ppt/slideLayouts/slideLayout1.xml" Id="R618d722e11a94511" /><ns0:Relationship Type="http://schemas.openxmlformats.org/officeDocument/2006/relationships/notesSlide" Target="/ppt/notesSlides/notesSlide7.xml" Id="R1055fae5b5ee435f" /><ns0:Relationship Id="rIdLink1" Type="http://schemas.openxmlformats.org/officeDocument/2006/relationships/hyperlink" Target="https://zeusk302-png.github.io/kdigital-physical-ai/#/sessions/2026-10-30/lesson" TargetMode="External" /><ns0:Relationship Id="rIdLink2" Type="http://schemas.openxmlformats.org/officeDocument/2006/relationships/hyperlink" Target="https://zeusk302-png.github.io/kdigital-physical-ai/#/sessions/2026-10-30/activity-A01" TargetMode="External" /><ns0:Relationship Id="rIdLink3" Type="http://schemas.openxmlformats.org/officeDocument/2006/relationships/hyperlink" Target="https://docs.python.org/3/tutorial/introduction.html#lists" TargetMode="External" /></ns0:Relationships>
</file>

<file path=ppt/slides/_rels/slide8.xml.rels><?xml version='1.0' encoding='utf-8'?>
<ns0:Relationships xmlns:ns0="http://schemas.openxmlformats.org/package/2006/relationships"><ns0:Relationship Type="http://schemas.openxmlformats.org/officeDocument/2006/relationships/slideLayout" Target="/ppt/slideLayouts/slideLayout1.xml" Id="Rd50f3069df7e47e7" /><ns0:Relationship Type="http://schemas.openxmlformats.org/officeDocument/2006/relationships/notesSlide" Target="/ppt/notesSlides/notesSlide8.xml" Id="R147b2eceb15f4862" /><ns0:Relationship Id="rIdLink1" Type="http://schemas.openxmlformats.org/officeDocument/2006/relationships/hyperlink" Target="https://zeusk302-png.github.io/kdigital-physical-ai/#/sessions/2026-10-30/lesson" TargetMode="External" /><ns0:Relationship Id="rIdLink2" Type="http://schemas.openxmlformats.org/officeDocument/2006/relationships/hyperlink" Target="https://zeusk302-png.github.io/kdigital-physical-ai/#/sessions/2026-10-30/activity-A03" TargetMode="External" /><ns0:Relationship Id="rIdLink3" Type="http://schemas.openxmlformats.org/officeDocument/2006/relationships/hyperlink" Target="https://docs.python.org/3/tutorial/introduction.html#lists" TargetMode="External" /></ns0:Relationships>
</file>

<file path=ppt/slides/_rels/slide9.xml.rels><?xml version='1.0' encoding='utf-8'?>
<ns0:Relationships xmlns:ns0="http://schemas.openxmlformats.org/package/2006/relationships"><ns0:Relationship Type="http://schemas.openxmlformats.org/officeDocument/2006/relationships/slideLayout" Target="/ppt/slideLayouts/slideLayout1.xml" Id="R3280780edcdd414c" /><ns0:Relationship Type="http://schemas.openxmlformats.org/officeDocument/2006/relationships/notesSlide" Target="/ppt/notesSlides/notesSlide9.xml" Id="R60688e04fbc949b7" /><ns0:Relationship Id="rIdLink1" Type="http://schemas.openxmlformats.org/officeDocument/2006/relationships/hyperlink" Target="https://zeusk302-png.github.io/kdigital-physical-ai/#/sessions/2026-10-30/lesson" TargetMode="External" /><ns0:Relationship Id="rIdLink2" Type="http://schemas.openxmlformats.org/officeDocument/2006/relationships/hyperlink" Target="https://zeusk302-png.github.io/kdigital-physical-ai/#/sessions/2026-10-30/activity-A03" TargetMode="External" /><ns0:Relationship Id="rIdLink3" Type="http://schemas.openxmlformats.org/officeDocument/2006/relationships/hyperlink" Target="https://docs.python.org/3/tutorial/introduction.html#lists" TargetMode="External" /></ns0:Relationships>
</file>

<file path=ppt/slides/_rels/slide10.xml.rels><?xml version='1.0' encoding='utf-8'?>
<ns0:Relationships xmlns:ns0="http://schemas.openxmlformats.org/package/2006/relationships"><ns0:Relationship Type="http://schemas.openxmlformats.org/officeDocument/2006/relationships/slideLayout" Target="/ppt/slideLayouts/slideLayout1.xml" Id="R5c45686619c346e5" /><ns0:Relationship Type="http://schemas.openxmlformats.org/officeDocument/2006/relationships/notesSlide" Target="/ppt/notesSlides/notesSlide10.xml" Id="R904da6cdcc3d4dd9" /><ns0:Relationship Id="rIdLink1" Type="http://schemas.openxmlformats.org/officeDocument/2006/relationships/hyperlink" Target="https://zeusk302-png.github.io/kdigital-physical-ai/#/sessions/2026-10-30/lesson" TargetMode="External" /><ns0:Relationship Id="rIdLink2" Type="http://schemas.openxmlformats.org/officeDocument/2006/relationships/hyperlink" Target="https://zeusk302-png.github.io/kdigital-physical-ai/#/sessions/2026-10-30/activity-A03" TargetMode="External" /><ns0:Relationship Id="rIdLink3" Type="http://schemas.openxmlformats.org/officeDocument/2006/relationships/hyperlink" Target="https://docs.python.org/3/tutorial/introduction.html#lists" TargetMode="External" /></ns0:Relationships>
</file>

<file path=ppt/slides/_rels/slide11.xml.rels><?xml version='1.0' encoding='utf-8'?>
<ns0:Relationships xmlns:ns0="http://schemas.openxmlformats.org/package/2006/relationships"><ns0:Relationship Type="http://schemas.openxmlformats.org/officeDocument/2006/relationships/slideLayout" Target="/ppt/slideLayouts/slideLayout1.xml" Id="R65ce53bfbd214747" /><ns0:Relationship Type="http://schemas.openxmlformats.org/officeDocument/2006/relationships/notesSlide" Target="/ppt/notesSlides/notesSlide11.xml" Id="Rb700c03fc21149b0" /><ns0:Relationship Id="rIdLink1" Type="http://schemas.openxmlformats.org/officeDocument/2006/relationships/hyperlink" Target="https://zeusk302-png.github.io/kdigital-physical-ai/#/sessions/2026-10-30/lesson" TargetMode="External" /><ns0:Relationship Id="rIdLink2" Type="http://schemas.openxmlformats.org/officeDocument/2006/relationships/hyperlink" Target="https://zeusk302-png.github.io/kdigital-physical-ai/#/sessions/2026-10-30/activity-A03" TargetMode="External" /><ns0:Relationship Id="rIdLink3" Type="http://schemas.openxmlformats.org/officeDocument/2006/relationships/hyperlink" Target="https://docs.python.org/3/tutorial/introduction.html#lists" TargetMode="External" /></ns0:Relationships>
</file>

<file path=ppt/slides/_rels/slide12.xml.rels><?xml version='1.0' encoding='utf-8'?>
<ns0:Relationships xmlns:ns0="http://schemas.openxmlformats.org/package/2006/relationships"><ns0:Relationship Type="http://schemas.openxmlformats.org/officeDocument/2006/relationships/slideLayout" Target="/ppt/slideLayouts/slideLayout1.xml" Id="R0bd95537be794df0" /><ns0:Relationship Type="http://schemas.openxmlformats.org/officeDocument/2006/relationships/notesSlide" Target="/ppt/notesSlides/notesSlide12.xml" Id="R65cdf160617f4f1d" /><ns0:Relationship Id="rIdLink1" Type="http://schemas.openxmlformats.org/officeDocument/2006/relationships/hyperlink" Target="https://zeusk302-png.github.io/kdigital-physical-ai/#/sessions/2026-10-30/lesson" TargetMode="External" /><ns0:Relationship Id="rIdLink2" Type="http://schemas.openxmlformats.org/officeDocument/2006/relationships/hyperlink" Target="https://zeusk302-png.github.io/kdigital-physical-ai/#/sessions/2026-10-30/activity-A03" TargetMode="External" /><ns0:Relationship Id="rIdLink3" Type="http://schemas.openxmlformats.org/officeDocument/2006/relationships/hyperlink" Target="https://docs.python.org/3/tutorial/introduction.html#lists" TargetMode="External" /></ns0:Relationships>
</file>

<file path=ppt/slides/_rels/slide13.xml.rels><?xml version='1.0' encoding='utf-8'?>
<ns0:Relationships xmlns:ns0="http://schemas.openxmlformats.org/package/2006/relationships"><ns0:Relationship Type="http://schemas.openxmlformats.org/officeDocument/2006/relationships/slideLayout" Target="/ppt/slideLayouts/slideLayout1.xml" Id="Rcfeaf62ec1cf4a9d" /><ns0:Relationship Type="http://schemas.openxmlformats.org/officeDocument/2006/relationships/notesSlide" Target="/ppt/notesSlides/notesSlide13.xml" Id="R4bd9cebd66904eff" /><ns0:Relationship Id="rIdLink1" Type="http://schemas.openxmlformats.org/officeDocument/2006/relationships/hyperlink" Target="https://zeusk302-png.github.io/kdigital-physical-ai/#/sessions/2026-10-30/lesson" TargetMode="External" /><ns0:Relationship Id="rIdLink2" Type="http://schemas.openxmlformats.org/officeDocument/2006/relationships/hyperlink" Target="https://zeusk302-png.github.io/kdigital-physical-ai/#/sessions/2026-10-30/activity-A03" TargetMode="External" /><ns0:Relationship Id="rIdLink3" Type="http://schemas.openxmlformats.org/officeDocument/2006/relationships/hyperlink" Target="https://docs.python.org/3/tutorial/introduction.html#lists" TargetMode="External" /></ns0:Relationships>
</file>

<file path=ppt/slides/_rels/slide14.xml.rels><?xml version='1.0' encoding='utf-8'?>
<ns0:Relationships xmlns:ns0="http://schemas.openxmlformats.org/package/2006/relationships"><ns0:Relationship Type="http://schemas.openxmlformats.org/officeDocument/2006/relationships/slideLayout" Target="/ppt/slideLayouts/slideLayout1.xml" Id="Rea45768016714caf" /><ns0:Relationship Type="http://schemas.openxmlformats.org/officeDocument/2006/relationships/notesSlide" Target="/ppt/notesSlides/notesSlide14.xml" Id="R4f893f9496fd4980" /><ns0:Relationship Id="rIdLink1" Type="http://schemas.openxmlformats.org/officeDocument/2006/relationships/hyperlink" Target="https://zeusk302-png.github.io/kdigital-physical-ai/#/sessions/2026-10-30/lesson" TargetMode="External" /><ns0:Relationship Id="rIdLink2" Type="http://schemas.openxmlformats.org/officeDocument/2006/relationships/hyperlink" Target="https://zeusk302-png.github.io/kdigital-physical-ai/#/sessions/2026-10-30/activity-A03" TargetMode="External" /><ns0:Relationship Id="rIdLink3" Type="http://schemas.openxmlformats.org/officeDocument/2006/relationships/hyperlink" Target="https://docs.python.org/3/tutorial/introduction.html#lists" TargetMode="External" /></ns0:Relationships>
</file>

<file path=ppt/slides/_rels/slide15.xml.rels><?xml version='1.0' encoding='utf-8'?>
<ns0:Relationships xmlns:ns0="http://schemas.openxmlformats.org/package/2006/relationships"><ns0:Relationship Type="http://schemas.openxmlformats.org/officeDocument/2006/relationships/slideLayout" Target="/ppt/slideLayouts/slideLayout1.xml" Id="R0abebe8984f9436b" /><ns0:Relationship Type="http://schemas.openxmlformats.org/officeDocument/2006/relationships/notesSlide" Target="/ppt/notesSlides/notesSlide15.xml" Id="Rfae63e05872e4a33" /><ns0:Relationship Id="rIdLink1" Type="http://schemas.openxmlformats.org/officeDocument/2006/relationships/hyperlink" Target="https://zeusk302-png.github.io/kdigital-physical-ai/#/sessions/2026-10-30/lesson" TargetMode="External" /><ns0:Relationship Id="rIdLink2" Type="http://schemas.openxmlformats.org/officeDocument/2006/relationships/hyperlink" Target="https://zeusk302-png.github.io/kdigital-physical-ai/#/sessions/2026-10-30/activity-A03" TargetMode="External" /><ns0:Relationship Id="rIdLink3" Type="http://schemas.openxmlformats.org/officeDocument/2006/relationships/hyperlink" Target="https://docs.python.org/3/tutorial/introduction.html#lists" TargetMode="External" /></ns0:Relationships>
</file>

<file path=ppt/slides/_rels/slide16.xml.rels><?xml version='1.0' encoding='utf-8'?>
<ns0:Relationships xmlns:ns0="http://schemas.openxmlformats.org/package/2006/relationships"><ns0:Relationship Type="http://schemas.openxmlformats.org/officeDocument/2006/relationships/slideLayout" Target="/ppt/slideLayouts/slideLayout1.xml" Id="R7d58eca7c26b45f6" /><ns0:Relationship Type="http://schemas.openxmlformats.org/officeDocument/2006/relationships/notesSlide" Target="/ppt/notesSlides/notesSlide16.xml" Id="R7538d246a17a48af" /><ns0:Relationship Id="rIdLink1" Type="http://schemas.openxmlformats.org/officeDocument/2006/relationships/hyperlink" Target="https://zeusk302-png.github.io/kdigital-physical-ai/#/sessions/2026-10-30/lesson" TargetMode="External" /><ns0:Relationship Id="rIdLink2" Type="http://schemas.openxmlformats.org/officeDocument/2006/relationships/hyperlink" Target="https://zeusk302-png.github.io/kdigital-physical-ai/#/sessions/2026-10-30/activity-A03" TargetMode="External" /><ns0:Relationship Id="rIdLink3" Type="http://schemas.openxmlformats.org/officeDocument/2006/relationships/hyperlink" Target="https://docs.python.org/3/tutorial/introduction.html#lists" TargetMode="External" /></ns0:Relationships>
</file>

<file path=ppt/slides/_rels/slide17.xml.rels><?xml version='1.0' encoding='utf-8'?>
<ns0:Relationships xmlns:ns0="http://schemas.openxmlformats.org/package/2006/relationships"><ns0:Relationship Type="http://schemas.openxmlformats.org/officeDocument/2006/relationships/slideLayout" Target="/ppt/slideLayouts/slideLayout1.xml" Id="R399b15a76ae94b83" /><ns0:Relationship Type="http://schemas.openxmlformats.org/officeDocument/2006/relationships/notesSlide" Target="/ppt/notesSlides/notesSlide17.xml" Id="Rb5e5b1edd2294c49" /><ns0:Relationship Id="rIdLink1" Type="http://schemas.openxmlformats.org/officeDocument/2006/relationships/hyperlink" Target="https://zeusk302-png.github.io/kdigital-physical-ai/#/sessions/2026-10-30/lesson" TargetMode="External" /><ns0:Relationship Id="rIdLink2" Type="http://schemas.openxmlformats.org/officeDocument/2006/relationships/hyperlink" Target="https://zeusk302-png.github.io/kdigital-physical-ai/#/sessions/2026-10-30/activity-A03" TargetMode="External" /><ns0:Relationship Id="rIdLink3" Type="http://schemas.openxmlformats.org/officeDocument/2006/relationships/hyperlink" Target="https://docs.python.org/3/tutorial/introduction.html#lists" TargetMode="External" /></ns0:Relationships>
</file>

<file path=ppt/slides/_rels/slide18.xml.rels><?xml version='1.0' encoding='utf-8'?>
<ns0:Relationships xmlns:ns0="http://schemas.openxmlformats.org/package/2006/relationships"><ns0:Relationship Type="http://schemas.openxmlformats.org/officeDocument/2006/relationships/slideLayout" Target="/ppt/slideLayouts/slideLayout1.xml" Id="R6535a4e705ee452d" /><ns0:Relationship Type="http://schemas.openxmlformats.org/officeDocument/2006/relationships/notesSlide" Target="/ppt/notesSlides/notesSlide18.xml" Id="Rb572064db7c24b41" /><ns0:Relationship Id="rIdLink1" Type="http://schemas.openxmlformats.org/officeDocument/2006/relationships/hyperlink" Target="https://zeusk302-png.github.io/kdigital-physical-ai/#/sessions/2026-10-30/lesson" TargetMode="External" /><ns0:Relationship Id="rIdLink2" Type="http://schemas.openxmlformats.org/officeDocument/2006/relationships/hyperlink" Target="https://zeusk302-png.github.io/kdigital-physical-ai/#/sessions/2026-10-30/activity-A03" TargetMode="External" /><ns0:Relationship Id="rIdLink3" Type="http://schemas.openxmlformats.org/officeDocument/2006/relationships/hyperlink" Target="https://docs.python.org/3/tutorial/introduction.html#lists" TargetMode="External" /></ns0:Relationships>
</file>

<file path=ppt/slides/_rels/slide19.xml.rels><?xml version='1.0' encoding='utf-8'?>
<ns0:Relationships xmlns:ns0="http://schemas.openxmlformats.org/package/2006/relationships"><ns0:Relationship Type="http://schemas.openxmlformats.org/officeDocument/2006/relationships/slideLayout" Target="/ppt/slideLayouts/slideLayout1.xml" Id="R976b84d250244d64" /><ns0:Relationship Type="http://schemas.openxmlformats.org/officeDocument/2006/relationships/notesSlide" Target="/ppt/notesSlides/notesSlide19.xml" Id="Rf9b017aa561c4af1" /><ns0:Relationship Id="rIdLink1" Type="http://schemas.openxmlformats.org/officeDocument/2006/relationships/hyperlink" Target="https://zeusk302-png.github.io/kdigital-physical-ai/#/sessions/2026-10-30/lesson" TargetMode="External" /><ns0:Relationship Id="rIdLink2" Type="http://schemas.openxmlformats.org/officeDocument/2006/relationships/hyperlink" Target="https://zeusk302-png.github.io/kdigital-physical-ai/#/sessions/2026-10-30/activity-A03" TargetMode="External" /><ns0:Relationship Id="rIdLink3" Type="http://schemas.openxmlformats.org/officeDocument/2006/relationships/hyperlink" Target="https://docs.python.org/3/tutorial/introduction.html#lists" TargetMode="External" /></ns0:Relationships>
</file>

<file path=ppt/slides/_rels/slide20.xml.rels><?xml version='1.0' encoding='utf-8'?>
<ns0:Relationships xmlns:ns0="http://schemas.openxmlformats.org/package/2006/relationships"><ns0:Relationship Type="http://schemas.openxmlformats.org/officeDocument/2006/relationships/slideLayout" Target="/ppt/slideLayouts/slideLayout1.xml" Id="R4a104497b4b14aad" /><ns0:Relationship Type="http://schemas.openxmlformats.org/officeDocument/2006/relationships/notesSlide" Target="/ppt/notesSlides/notesSlide20.xml" Id="Rbd11aaba9a9349aa" /><ns0:Relationship Id="rIdLink1" Type="http://schemas.openxmlformats.org/officeDocument/2006/relationships/hyperlink" Target="https://zeusk302-png.github.io/kdigital-physical-ai/#/sessions/2026-10-30/lesson" TargetMode="External" /><ns0:Relationship Id="rIdLink2" Type="http://schemas.openxmlformats.org/officeDocument/2006/relationships/hyperlink" Target="https://zeusk302-png.github.io/kdigital-physical-ai/#/sessions/2026-10-30/activity-A03" TargetMode="External" /><ns0:Relationship Id="rIdLink3" Type="http://schemas.openxmlformats.org/officeDocument/2006/relationships/hyperlink" Target="https://docs.python.org/3/library/json.html" TargetMode="External" /></ns0:Relationships>
</file>

<file path=ppt/slides/_rels/slide21.xml.rels><?xml version='1.0' encoding='utf-8'?>
<ns0:Relationships xmlns:ns0="http://schemas.openxmlformats.org/package/2006/relationships"><ns0:Relationship Type="http://schemas.openxmlformats.org/officeDocument/2006/relationships/slideLayout" Target="/ppt/slideLayouts/slideLayout1.xml" Id="R3450e4ced4314c3f" /><ns0:Relationship Type="http://schemas.openxmlformats.org/officeDocument/2006/relationships/notesSlide" Target="/ppt/notesSlides/notesSlide21.xml" Id="Rf75961aee2de4010" /><ns0:Relationship Id="rIdLink1" Type="http://schemas.openxmlformats.org/officeDocument/2006/relationships/hyperlink" Target="https://zeusk302-png.github.io/kdigital-physical-ai/#/sessions/2026-10-30/lesson" TargetMode="External" /><ns0:Relationship Id="rIdLink2" Type="http://schemas.openxmlformats.org/officeDocument/2006/relationships/hyperlink" Target="https://zeusk302-png.github.io/kdigital-physical-ai/#/sessions/2026-10-30/activity-A04" TargetMode="External" /><ns0:Relationship Id="rIdLink3" Type="http://schemas.openxmlformats.org/officeDocument/2006/relationships/hyperlink" Target="https://docs.python.org/3/library/json.html" TargetMode="External" /></ns0:Relationships>
</file>

<file path=ppt/slides/_rels/slide22.xml.rels><?xml version='1.0' encoding='utf-8'?>
<ns0:Relationships xmlns:ns0="http://schemas.openxmlformats.org/package/2006/relationships"><ns0:Relationship Type="http://schemas.openxmlformats.org/officeDocument/2006/relationships/slideLayout" Target="/ppt/slideLayouts/slideLayout1.xml" Id="Rf0852c5e00f342ce" /><ns0:Relationship Type="http://schemas.openxmlformats.org/officeDocument/2006/relationships/notesSlide" Target="/ppt/notesSlides/notesSlide22.xml" Id="R71b25b3763c9499f" /><ns0:Relationship Id="rIdLink1" Type="http://schemas.openxmlformats.org/officeDocument/2006/relationships/hyperlink" Target="https://zeusk302-png.github.io/kdigital-physical-ai/#/sessions/2026-10-30/lesson" TargetMode="External" /><ns0:Relationship Id="rIdLink2" Type="http://schemas.openxmlformats.org/officeDocument/2006/relationships/hyperlink" Target="https://zeusk302-png.github.io/kdigital-physical-ai/#/sessions/2026-10-30/activity-A04" TargetMode="External" /><ns0:Relationship Id="rIdLink3" Type="http://schemas.openxmlformats.org/officeDocument/2006/relationships/hyperlink" Target="https://docs.python.org/3/library/json.html" TargetMode="External" /></ns0:Relationships>
</file>

<file path=ppt/slides/_rels/slide23.xml.rels><?xml version='1.0' encoding='utf-8'?>
<ns0:Relationships xmlns:ns0="http://schemas.openxmlformats.org/package/2006/relationships"><ns0:Relationship Type="http://schemas.openxmlformats.org/officeDocument/2006/relationships/slideLayout" Target="/ppt/slideLayouts/slideLayout1.xml" Id="Rccb1c2562e514d70" /><ns0:Relationship Type="http://schemas.openxmlformats.org/officeDocument/2006/relationships/notesSlide" Target="/ppt/notesSlides/notesSlide23.xml" Id="R6807ff3ff4934c04" /><ns0:Relationship Id="rIdLink1" Type="http://schemas.openxmlformats.org/officeDocument/2006/relationships/hyperlink" Target="https://zeusk302-png.github.io/kdigital-physical-ai/#/sessions/2026-10-30/lesson" TargetMode="External" /><ns0:Relationship Id="rIdLink2" Type="http://schemas.openxmlformats.org/officeDocument/2006/relationships/hyperlink" Target="https://zeusk302-png.github.io/kdigital-physical-ai/#/sessions/2026-10-30/activity-A04" TargetMode="External" /><ns0:Relationship Id="rIdLink3" Type="http://schemas.openxmlformats.org/officeDocument/2006/relationships/hyperlink" Target="https://docs.python.org/3/library/json.html" TargetMode="External" /></ns0:Relationships>
</file>

<file path=ppt/slides/_rels/slide24.xml.rels><?xml version='1.0' encoding='utf-8'?>
<ns0:Relationships xmlns:ns0="http://schemas.openxmlformats.org/package/2006/relationships"><ns0:Relationship Type="http://schemas.openxmlformats.org/officeDocument/2006/relationships/slideLayout" Target="/ppt/slideLayouts/slideLayout1.xml" Id="Rf9a08751ee0d44c5" /><ns0:Relationship Type="http://schemas.openxmlformats.org/officeDocument/2006/relationships/notesSlide" Target="/ppt/notesSlides/notesSlide24.xml" Id="R29ce2ed1487c44a7" /><ns0:Relationship Id="rIdLink1" Type="http://schemas.openxmlformats.org/officeDocument/2006/relationships/hyperlink" Target="https://zeusk302-png.github.io/kdigital-physical-ai/#/sessions/2026-10-30/lesson" TargetMode="External" /><ns0:Relationship Id="rIdLink2" Type="http://schemas.openxmlformats.org/officeDocument/2006/relationships/hyperlink" Target="https://zeusk302-png.github.io/kdigital-physical-ai/#/sessions/2026-10-30/activity-A05" TargetMode="External" /><ns0:Relationship Id="rIdLink3" Type="http://schemas.openxmlformats.org/officeDocument/2006/relationships/hyperlink" Target="https://docs.python.org/3/library/json.html" TargetMode="External" /></ns0:Relationships>
</file>

<file path=ppt/slides/_rels/slide25.xml.rels><?xml version='1.0' encoding='utf-8'?>
<ns0:Relationships xmlns:ns0="http://schemas.openxmlformats.org/package/2006/relationships"><ns0:Relationship Type="http://schemas.openxmlformats.org/officeDocument/2006/relationships/slideLayout" Target="/ppt/slideLayouts/slideLayout1.xml" Id="R86afa57ddd7348ca" /><ns0:Relationship Type="http://schemas.openxmlformats.org/officeDocument/2006/relationships/notesSlide" Target="/ppt/notesSlides/notesSlide25.xml" Id="R5639e5765ec54efa" /><ns0:Relationship Id="rIdLink1" Type="http://schemas.openxmlformats.org/officeDocument/2006/relationships/hyperlink" Target="https://zeusk302-png.github.io/kdigital-physical-ai/#/sessions/2026-10-30/lesson" TargetMode="External" /><ns0:Relationship Id="rIdLink2" Type="http://schemas.openxmlformats.org/officeDocument/2006/relationships/hyperlink" Target="https://zeusk302-png.github.io/kdigital-physical-ai/#/sessions/2026-10-30/activity-A06" TargetMode="External" /><ns0:Relationship Id="rIdLink3" Type="http://schemas.openxmlformats.org/officeDocument/2006/relationships/hyperlink" Target="https://docs.python.org/3/library/json.html" TargetMode="External" /></ns0:Relationships>
</file>

<file path=ppt/slides/_rels/slide26.xml.rels><?xml version='1.0' encoding='utf-8'?>
<ns0:Relationships xmlns:ns0="http://schemas.openxmlformats.org/package/2006/relationships"><ns0:Relationship Type="http://schemas.openxmlformats.org/officeDocument/2006/relationships/slideLayout" Target="/ppt/slideLayouts/slideLayout1.xml" Id="R0cab53580c4a4d7f" /><ns0:Relationship Type="http://schemas.openxmlformats.org/officeDocument/2006/relationships/notesSlide" Target="/ppt/notesSlides/notesSlide26.xml" Id="R1a7eef819f67493b" /><ns0:Relationship Id="rIdLink1" Type="http://schemas.openxmlformats.org/officeDocument/2006/relationships/hyperlink" Target="https://zeusk302-png.github.io/kdigital-physical-ai/#/sessions/2026-10-30/lesson" TargetMode="External" /><ns0:Relationship Id="rIdLink2" Type="http://schemas.openxmlformats.org/officeDocument/2006/relationships/hyperlink" Target="https://zeusk302-png.github.io/kdigital-physical-ai/#/sessions/2026-10-30/activity-A06" TargetMode="External" /><ns0:Relationship Id="rIdLink3" Type="http://schemas.openxmlformats.org/officeDocument/2006/relationships/hyperlink" Target="https://docs.python.org/3/library/json.html" TargetMode="External" /></ns0:Relationships>
</file>

<file path=ppt/slides/_rels/slide27.xml.rels><?xml version='1.0' encoding='utf-8'?>
<ns0:Relationships xmlns:ns0="http://schemas.openxmlformats.org/package/2006/relationships"><ns0:Relationship Type="http://schemas.openxmlformats.org/officeDocument/2006/relationships/slideLayout" Target="/ppt/slideLayouts/slideLayout1.xml" Id="Rc81c323a4ed24826" /><ns0:Relationship Type="http://schemas.openxmlformats.org/officeDocument/2006/relationships/notesSlide" Target="/ppt/notesSlides/notesSlide27.xml" Id="R241818989d074a54" /><ns0:Relationship Id="rIdLink1" Type="http://schemas.openxmlformats.org/officeDocument/2006/relationships/hyperlink" Target="https://zeusk302-png.github.io/kdigital-physical-ai/#/sessions/2026-10-30/lesson" TargetMode="External" /><ns0:Relationship Id="rIdLink2" Type="http://schemas.openxmlformats.org/officeDocument/2006/relationships/hyperlink" Target="https://zeusk302-png.github.io/kdigital-physical-ai/#/sessions/2026-10-30/activity-A06" TargetMode="External" /><ns0:Relationship Id="rIdLink3" Type="http://schemas.openxmlformats.org/officeDocument/2006/relationships/hyperlink" Target="https://docs.python.org/3/library/json.html" TargetMode="External" /></ns0:Relationships>
</file>

<file path=ppt/slides/_rels/slide28.xml.rels><?xml version='1.0' encoding='utf-8'?>
<ns0:Relationships xmlns:ns0="http://schemas.openxmlformats.org/package/2006/relationships"><ns0:Relationship Type="http://schemas.openxmlformats.org/officeDocument/2006/relationships/slideLayout" Target="/ppt/slideLayouts/slideLayout1.xml" Id="Ra2912b3f76714f0a" /><ns0:Relationship Type="http://schemas.openxmlformats.org/officeDocument/2006/relationships/notesSlide" Target="/ppt/notesSlides/notesSlide28.xml" Id="R0fca47aa24d54026" /><ns0:Relationship Id="rIdLink1" Type="http://schemas.openxmlformats.org/officeDocument/2006/relationships/hyperlink" Target="https://zeusk302-png.github.io/kdigital-physical-ai/#/sessions/2026-10-30/lesson" TargetMode="External" /><ns0:Relationship Id="rIdLink2" Type="http://schemas.openxmlformats.org/officeDocument/2006/relationships/hyperlink" Target="https://zeusk302-png.github.io/kdigital-physical-ai/#/sessions/2026-10-30/activity-A06" TargetMode="External" /><ns0:Relationship Id="rIdLink3" Type="http://schemas.openxmlformats.org/officeDocument/2006/relationships/hyperlink" Target="https://docs.python.org/3/library/json.html" TargetMode="External" /></ns0:Relationships>
</file>

<file path=ppt/slides/_rels/slide29.xml.rels><?xml version='1.0' encoding='utf-8'?>
<ns0:Relationships xmlns:ns0="http://schemas.openxmlformats.org/package/2006/relationships"><ns0:Relationship Type="http://schemas.openxmlformats.org/officeDocument/2006/relationships/slideLayout" Target="/ppt/slideLayouts/slideLayout1.xml" Id="R72f29700ac484498" /><ns0:Relationship Type="http://schemas.openxmlformats.org/officeDocument/2006/relationships/notesSlide" Target="/ppt/notesSlides/notesSlide29.xml" Id="Re81401b1d200422e" /><ns0:Relationship Id="rIdLink1" Type="http://schemas.openxmlformats.org/officeDocument/2006/relationships/hyperlink" Target="https://zeusk302-png.github.io/kdigital-physical-ai/#/sessions/2026-10-30/lesson" TargetMode="External" /><ns0:Relationship Id="rIdLink2" Type="http://schemas.openxmlformats.org/officeDocument/2006/relationships/hyperlink" Target="https://zeusk302-png.github.io/kdigital-physical-ai/#/sessions/2026-10-30/activity-A06" TargetMode="External" /><ns0:Relationship Id="rIdLink3" Type="http://schemas.openxmlformats.org/officeDocument/2006/relationships/hyperlink" Target="https://docs.python.org/3/library/json.html" TargetMode="External" /></ns0:Relationships>
</file>

<file path=ppt/slides/_rels/slide30.xml.rels><?xml version='1.0' encoding='utf-8'?>
<ns0:Relationships xmlns:ns0="http://schemas.openxmlformats.org/package/2006/relationships"><ns0:Relationship Type="http://schemas.openxmlformats.org/officeDocument/2006/relationships/slideLayout" Target="/ppt/slideLayouts/slideLayout1.xml" Id="R2e83df744412415f" /><ns0:Relationship Type="http://schemas.openxmlformats.org/officeDocument/2006/relationships/notesSlide" Target="/ppt/notesSlides/notesSlide30.xml" Id="R2081e19b23c94cfb" /><ns0:Relationship Id="rIdLink1" Type="http://schemas.openxmlformats.org/officeDocument/2006/relationships/hyperlink" Target="https://zeusk302-png.github.io/kdigital-physical-ai/#/sessions/2026-10-30/lesson" TargetMode="External" /><ns0:Relationship Id="rIdLink2" Type="http://schemas.openxmlformats.org/officeDocument/2006/relationships/hyperlink" Target="https://zeusk302-png.github.io/kdigital-physical-ai/#/sessions/2026-10-30/activity-A06" TargetMode="External" /><ns0:Relationship Id="rIdLink3" Type="http://schemas.openxmlformats.org/officeDocument/2006/relationships/hyperlink" Target="https://docs.python.org/3/library/json.html" TargetMode="External" /></ns0:Relationships>
</file>

<file path=ppt/slides/_rels/slide31.xml.rels><?xml version='1.0' encoding='utf-8'?>
<ns0:Relationships xmlns:ns0="http://schemas.openxmlformats.org/package/2006/relationships"><ns0:Relationship Type="http://schemas.openxmlformats.org/officeDocument/2006/relationships/slideLayout" Target="/ppt/slideLayouts/slideLayout1.xml" Id="R81b986b2650e4750" /><ns0:Relationship Type="http://schemas.openxmlformats.org/officeDocument/2006/relationships/notesSlide" Target="/ppt/notesSlides/notesSlide31.xml" Id="Rd18db425e9214cc8" /><ns0:Relationship Id="rIdLink1" Type="http://schemas.openxmlformats.org/officeDocument/2006/relationships/hyperlink" Target="https://zeusk302-png.github.io/kdigital-physical-ai/#/sessions/2026-10-30/lesson" TargetMode="External" /><ns0:Relationship Id="rIdLink2" Type="http://schemas.openxmlformats.org/officeDocument/2006/relationships/hyperlink" Target="https://zeusk302-png.github.io/kdigital-physical-ai/#/sessions/2026-10-30/activity-A06" TargetMode="External" /><ns0:Relationship Id="rIdLink3" Type="http://schemas.openxmlformats.org/officeDocument/2006/relationships/hyperlink" Target="https://docs.python.org/3/library/json.html" TargetMode="External" /></ns0:Relationships>
</file>

<file path=ppt/slides/_rels/slide32.xml.rels><?xml version='1.0' encoding='utf-8'?>
<ns0:Relationships xmlns:ns0="http://schemas.openxmlformats.org/package/2006/relationships"><ns0:Relationship Type="http://schemas.openxmlformats.org/officeDocument/2006/relationships/slideLayout" Target="/ppt/slideLayouts/slideLayout1.xml" Id="R1cdc7f51c3524661" /><ns0:Relationship Type="http://schemas.openxmlformats.org/officeDocument/2006/relationships/notesSlide" Target="/ppt/notesSlides/notesSlide32.xml" Id="Rab70ebc28034438b" /><ns0:Relationship Id="rIdLink1" Type="http://schemas.openxmlformats.org/officeDocument/2006/relationships/hyperlink" Target="https://zeusk302-png.github.io/kdigital-physical-ai/#/sessions/2026-10-30/lesson" TargetMode="External" /><ns0:Relationship Id="rIdLink2" Type="http://schemas.openxmlformats.org/officeDocument/2006/relationships/hyperlink" Target="https://zeusk302-png.github.io/kdigital-physical-ai/#/sessions/2026-10-30/activity-A06" TargetMode="External" /><ns0:Relationship Id="rIdLink3" Type="http://schemas.openxmlformats.org/officeDocument/2006/relationships/hyperlink" Target="https://docs.python.org/3/library/json.html" TargetMode="External" /></ns0:Relationships>
</file>

<file path=ppt/slides/_rels/slide33.xml.rels><?xml version='1.0' encoding='utf-8'?>
<ns0:Relationships xmlns:ns0="http://schemas.openxmlformats.org/package/2006/relationships"><ns0:Relationship Type="http://schemas.openxmlformats.org/officeDocument/2006/relationships/slideLayout" Target="/ppt/slideLayouts/slideLayout1.xml" Id="Rc9f3fd479a664399" /><ns0:Relationship Type="http://schemas.openxmlformats.org/officeDocument/2006/relationships/notesSlide" Target="/ppt/notesSlides/notesSlide33.xml" Id="R1cb427a4bedd44b2" /><ns0:Relationship Id="rIdLink1" Type="http://schemas.openxmlformats.org/officeDocument/2006/relationships/hyperlink" Target="https://zeusk302-png.github.io/kdigital-physical-ai/#/sessions/2026-10-30/lesson" TargetMode="External" /><ns0:Relationship Id="rIdLink2" Type="http://schemas.openxmlformats.org/officeDocument/2006/relationships/hyperlink" Target="https://zeusk302-png.github.io/kdigital-physical-ai/#/sessions/2026-10-30/activity-A06" TargetMode="External" /><ns0:Relationship Id="rIdLink3" Type="http://schemas.openxmlformats.org/officeDocument/2006/relationships/hyperlink" Target="https://docs.python.org/3/library/json.html" TargetMode="External" /></ns0:Relationships>
</file>

<file path=ppt/slides/_rels/slide34.xml.rels><?xml version='1.0' encoding='utf-8'?>
<ns0:Relationships xmlns:ns0="http://schemas.openxmlformats.org/package/2006/relationships"><ns0:Relationship Type="http://schemas.openxmlformats.org/officeDocument/2006/relationships/slideLayout" Target="/ppt/slideLayouts/slideLayout1.xml" Id="R33b7d83157f04fea" /><ns0:Relationship Type="http://schemas.openxmlformats.org/officeDocument/2006/relationships/notesSlide" Target="/ppt/notesSlides/notesSlide34.xml" Id="R2e6745ee4b3c4c1e" /><ns0:Relationship Id="rIdLink1" Type="http://schemas.openxmlformats.org/officeDocument/2006/relationships/hyperlink" Target="https://zeusk302-png.github.io/kdigital-physical-ai/#/sessions/2026-10-30/lesson" TargetMode="External" /><ns0:Relationship Id="rIdLink2" Type="http://schemas.openxmlformats.org/officeDocument/2006/relationships/hyperlink" Target="https://zeusk302-png.github.io/kdigital-physical-ai/#/sessions/2026-10-30/activity-A06" TargetMode="External" /><ns0:Relationship Id="rIdLink3" Type="http://schemas.openxmlformats.org/officeDocument/2006/relationships/hyperlink" Target="https://docs.python.org/3/library/json.html" TargetMode="External" /></ns0:Relationships>
</file>

<file path=ppt/slides/_rels/slide35.xml.rels><?xml version='1.0' encoding='utf-8'?>
<ns0:Relationships xmlns:ns0="http://schemas.openxmlformats.org/package/2006/relationships"><ns0:Relationship Type="http://schemas.openxmlformats.org/officeDocument/2006/relationships/slideLayout" Target="/ppt/slideLayouts/slideLayout1.xml" Id="R2f82a7d26e2c46f0" /><ns0:Relationship Type="http://schemas.openxmlformats.org/officeDocument/2006/relationships/notesSlide" Target="/ppt/notesSlides/notesSlide35.xml" Id="R8c145f398ebb4d98" /><ns0:Relationship Id="rIdLink1" Type="http://schemas.openxmlformats.org/officeDocument/2006/relationships/hyperlink" Target="https://zeusk302-png.github.io/kdigital-physical-ai/#/sessions/2026-10-30/lesson" TargetMode="External" /><ns0:Relationship Id="rIdLink2" Type="http://schemas.openxmlformats.org/officeDocument/2006/relationships/hyperlink" Target="https://zeusk302-png.github.io/kdigital-physical-ai/#/sessions/2026-10-30/activity-A06" TargetMode="External" /><ns0:Relationship Id="rIdLink3" Type="http://schemas.openxmlformats.org/officeDocument/2006/relationships/hyperlink" Target="https://docs.python.org/3/library/json.html" TargetMode="External" /></ns0:Relationships>
</file>

<file path=ppt/slides/_rels/slide36.xml.rels><?xml version='1.0' encoding='utf-8'?>
<ns0:Relationships xmlns:ns0="http://schemas.openxmlformats.org/package/2006/relationships"><ns0:Relationship Type="http://schemas.openxmlformats.org/officeDocument/2006/relationships/slideLayout" Target="/ppt/slideLayouts/slideLayout1.xml" Id="R9ed3857b63f74d07" /><ns0:Relationship Type="http://schemas.openxmlformats.org/officeDocument/2006/relationships/notesSlide" Target="/ppt/notesSlides/notesSlide36.xml" Id="R05f73f84dfd74ce0" /><ns0:Relationship Id="rIdLink1" Type="http://schemas.openxmlformats.org/officeDocument/2006/relationships/hyperlink" Target="https://zeusk302-png.github.io/kdigital-physical-ai/#/sessions/2026-10-30/lesson" TargetMode="External" /><ns0:Relationship Id="rIdLink2" Type="http://schemas.openxmlformats.org/officeDocument/2006/relationships/hyperlink" Target="https://zeusk302-png.github.io/kdigital-physical-ai/#/sessions/2026-10-30/activity-A06" TargetMode="External" /><ns0:Relationship Id="rIdLink3" Type="http://schemas.openxmlformats.org/officeDocument/2006/relationships/hyperlink" Target="https://docs.python.org/3/library/json.html" TargetMode="External" /></ns0:Relationships>
</file>

<file path=ppt/slides/_rels/slide37.xml.rels><?xml version='1.0' encoding='utf-8'?>
<ns0:Relationships xmlns:ns0="http://schemas.openxmlformats.org/package/2006/relationships"><ns0:Relationship Type="http://schemas.openxmlformats.org/officeDocument/2006/relationships/slideLayout" Target="/ppt/slideLayouts/slideLayout1.xml" Id="Rc5d5ce7a8a88464e" /><ns0:Relationship Type="http://schemas.openxmlformats.org/officeDocument/2006/relationships/notesSlide" Target="/ppt/notesSlides/notesSlide37.xml" Id="R4fb8f23a523d46ef" /><ns0:Relationship Id="rIdLink1" Type="http://schemas.openxmlformats.org/officeDocument/2006/relationships/hyperlink" Target="https://zeusk302-png.github.io/kdigital-physical-ai/#/sessions/2026-10-30/lesson" TargetMode="External" /><ns0:Relationship Id="rIdLink2" Type="http://schemas.openxmlformats.org/officeDocument/2006/relationships/hyperlink" Target="https://zeusk302-png.github.io/kdigital-physical-ai/#/sessions/2026-10-30/activity-A06" TargetMode="External" /><ns0:Relationship Id="rIdLink3" Type="http://schemas.openxmlformats.org/officeDocument/2006/relationships/hyperlink" Target="https://docs.python.org/3/library/csv.html" TargetMode="External" /></ns0:Relationships>
</file>

<file path=ppt/slides/_rels/slide38.xml.rels><?xml version='1.0' encoding='utf-8'?>
<ns0:Relationships xmlns:ns0="http://schemas.openxmlformats.org/package/2006/relationships"><ns0:Relationship Type="http://schemas.openxmlformats.org/officeDocument/2006/relationships/slideLayout" Target="/ppt/slideLayouts/slideLayout1.xml" Id="R63538d48c63d4327" /><ns0:Relationship Type="http://schemas.openxmlformats.org/officeDocument/2006/relationships/notesSlide" Target="/ppt/notesSlides/notesSlide38.xml" Id="R4b813ab245554084" /><ns0:Relationship Id="rIdLink1" Type="http://schemas.openxmlformats.org/officeDocument/2006/relationships/hyperlink" Target="https://zeusk302-png.github.io/kdigital-physical-ai/#/sessions/2026-10-30/lesson" TargetMode="External" /><ns0:Relationship Id="rIdLink2" Type="http://schemas.openxmlformats.org/officeDocument/2006/relationships/hyperlink" Target="https://zeusk302-png.github.io/kdigital-physical-ai/#/sessions/2026-10-30/activity-A07" TargetMode="External" /><ns0:Relationship Id="rIdLink3" Type="http://schemas.openxmlformats.org/officeDocument/2006/relationships/hyperlink" Target="https://docs.python.org/3/library/csv.html" TargetMode="External" /></ns0:Relationships>
</file>

<file path=ppt/slides/_rels/slide39.xml.rels><?xml version='1.0' encoding='utf-8'?>
<ns0:Relationships xmlns:ns0="http://schemas.openxmlformats.org/package/2006/relationships"><ns0:Relationship Type="http://schemas.openxmlformats.org/officeDocument/2006/relationships/slideLayout" Target="/ppt/slideLayouts/slideLayout1.xml" Id="Rb35d817567624df0" /><ns0:Relationship Type="http://schemas.openxmlformats.org/officeDocument/2006/relationships/notesSlide" Target="/ppt/notesSlides/notesSlide39.xml" Id="R8ef69c914306414d" /><ns0:Relationship Id="rIdLink1" Type="http://schemas.openxmlformats.org/officeDocument/2006/relationships/hyperlink" Target="https://zeusk302-png.github.io/kdigital-physical-ai/#/sessions/2026-10-30/lesson" TargetMode="External" /><ns0:Relationship Id="rIdLink2" Type="http://schemas.openxmlformats.org/officeDocument/2006/relationships/hyperlink" Target="https://zeusk302-png.github.io/kdigital-physical-ai/#/sessions/2026-10-30/activity-A07" TargetMode="External" /><ns0:Relationship Id="rIdLink3" Type="http://schemas.openxmlformats.org/officeDocument/2006/relationships/hyperlink" Target="https://docs.python.org/3/library/csv.html" TargetMode="External" /></ns0:Relationships>
</file>

<file path=ppt/slides/_rels/slide40.xml.rels><?xml version='1.0' encoding='utf-8'?>
<ns0:Relationships xmlns:ns0="http://schemas.openxmlformats.org/package/2006/relationships"><ns0:Relationship Type="http://schemas.openxmlformats.org/officeDocument/2006/relationships/slideLayout" Target="/ppt/slideLayouts/slideLayout1.xml" Id="Rf1f48b68b9854803" /><ns0:Relationship Type="http://schemas.openxmlformats.org/officeDocument/2006/relationships/notesSlide" Target="/ppt/notesSlides/notesSlide40.xml" Id="R640c982e62fe4279" /><ns0:Relationship Id="rIdLink1" Type="http://schemas.openxmlformats.org/officeDocument/2006/relationships/hyperlink" Target="https://zeusk302-png.github.io/kdigital-physical-ai/#/sessions/2026-10-30/lesson" TargetMode="External" /><ns0:Relationship Id="rIdLink2" Type="http://schemas.openxmlformats.org/officeDocument/2006/relationships/hyperlink" Target="https://zeusk302-png.github.io/kdigital-physical-ai/#/sessions/2026-10-30/activity-A07" TargetMode="External" /><ns0:Relationship Id="rIdLink3" Type="http://schemas.openxmlformats.org/officeDocument/2006/relationships/hyperlink" Target="https://docs.python.org/3/library/csv.html" TargetMode="External" /></ns0:Relationships>
</file>

<file path=ppt/slides/_rels/slide41.xml.rels><?xml version='1.0' encoding='utf-8'?>
<ns0:Relationships xmlns:ns0="http://schemas.openxmlformats.org/package/2006/relationships"><ns0:Relationship Type="http://schemas.openxmlformats.org/officeDocument/2006/relationships/slideLayout" Target="/ppt/slideLayouts/slideLayout1.xml" Id="R8feb610ac1b64076" /><ns0:Relationship Type="http://schemas.openxmlformats.org/officeDocument/2006/relationships/notesSlide" Target="/ppt/notesSlides/notesSlide41.xml" Id="Rf2d5ff24dfeb4979" /><ns0:Relationship Id="rIdLink1" Type="http://schemas.openxmlformats.org/officeDocument/2006/relationships/hyperlink" Target="https://zeusk302-png.github.io/kdigital-physical-ai/#/sessions/2026-10-30/lesson" TargetMode="External" /><ns0:Relationship Id="rIdLink2" Type="http://schemas.openxmlformats.org/officeDocument/2006/relationships/hyperlink" Target="https://zeusk302-png.github.io/kdigital-physical-ai/#/sessions/2026-10-30/activity-A07" TargetMode="External" /><ns0:Relationship Id="rIdLink3" Type="http://schemas.openxmlformats.org/officeDocument/2006/relationships/hyperlink" Target="https://docs.python.org/3/library/csv.html" TargetMode="External" /></ns0:Relationships>
</file>

<file path=ppt/slides/_rels/slide42.xml.rels><?xml version='1.0' encoding='utf-8'?>
<ns0:Relationships xmlns:ns0="http://schemas.openxmlformats.org/package/2006/relationships"><ns0:Relationship Type="http://schemas.openxmlformats.org/officeDocument/2006/relationships/slideLayout" Target="/ppt/slideLayouts/slideLayout1.xml" Id="R776fdd9cbd1747b6" /><ns0:Relationship Type="http://schemas.openxmlformats.org/officeDocument/2006/relationships/notesSlide" Target="/ppt/notesSlides/notesSlide42.xml" Id="R99ef7c4e9d1b4294" /><ns0:Relationship Id="rIdLink1" Type="http://schemas.openxmlformats.org/officeDocument/2006/relationships/hyperlink" Target="https://zeusk302-png.github.io/kdigital-physical-ai/#/sessions/2026-10-30/lesson" TargetMode="External" /><ns0:Relationship Id="rIdLink2" Type="http://schemas.openxmlformats.org/officeDocument/2006/relationships/hyperlink" Target="https://zeusk302-png.github.io/kdigital-physical-ai/#/sessions/2026-10-30/activity-A08" TargetMode="External" /><ns0:Relationship Id="rIdLink3" Type="http://schemas.openxmlformats.org/officeDocument/2006/relationships/hyperlink" Target="https://docs.python.org/3/library/csv.html" TargetMode="External" /></ns0:Relationships>
</file>

<file path=ppt/slides/_rels/slide43.xml.rels><?xml version='1.0' encoding='utf-8'?>
<ns0:Relationships xmlns:ns0="http://schemas.openxmlformats.org/package/2006/relationships"><ns0:Relationship Type="http://schemas.openxmlformats.org/officeDocument/2006/relationships/slideLayout" Target="/ppt/slideLayouts/slideLayout1.xml" Id="R210fd8e84937410c" /><ns0:Relationship Type="http://schemas.openxmlformats.org/officeDocument/2006/relationships/notesSlide" Target="/ppt/notesSlides/notesSlide43.xml" Id="Rf86ae1f3e2504f57" /><ns0:Relationship Id="rIdLink1" Type="http://schemas.openxmlformats.org/officeDocument/2006/relationships/hyperlink" Target="https://zeusk302-png.github.io/kdigital-physical-ai/#/sessions/2026-10-30/lesson" TargetMode="External" /><ns0:Relationship Id="rIdLink2" Type="http://schemas.openxmlformats.org/officeDocument/2006/relationships/hyperlink" Target="https://zeusk302-png.github.io/kdigital-physical-ai/#/sessions/2026-10-30/activity-A08" TargetMode="External" /><ns0:Relationship Id="rIdLink3" Type="http://schemas.openxmlformats.org/officeDocument/2006/relationships/hyperlink" Target="https://docs.python.org/3/library/csv.html" TargetMode="External" /></ns0:Relationships>
</file>

<file path=ppt/slides/_rels/slide44.xml.rels><?xml version='1.0' encoding='utf-8'?>
<ns0:Relationships xmlns:ns0="http://schemas.openxmlformats.org/package/2006/relationships"><ns0:Relationship Type="http://schemas.openxmlformats.org/officeDocument/2006/relationships/slideLayout" Target="/ppt/slideLayouts/slideLayout1.xml" Id="R1d834c4dcf994dff" /><ns0:Relationship Type="http://schemas.openxmlformats.org/officeDocument/2006/relationships/notesSlide" Target="/ppt/notesSlides/notesSlide44.xml" Id="Rbac783aeaf054bb6" /><ns0:Relationship Id="rIdLink1" Type="http://schemas.openxmlformats.org/officeDocument/2006/relationships/hyperlink" Target="https://zeusk302-png.github.io/kdigital-physical-ai/#/sessions/2026-10-30/lesson" TargetMode="External" /><ns0:Relationship Id="rIdLink2" Type="http://schemas.openxmlformats.org/officeDocument/2006/relationships/hyperlink" Target="https://zeusk302-png.github.io/kdigital-physical-ai/#/sessions/2026-10-30/activity-A09" TargetMode="External" /><ns0:Relationship Id="rIdLink3" Type="http://schemas.openxmlformats.org/officeDocument/2006/relationships/hyperlink" Target="https://docs.python.org/3/library/csv.html" TargetMode="External" /></ns0:Relationships>
</file>

<file path=ppt/slides/_rels/slide45.xml.rels><?xml version='1.0' encoding='utf-8'?>
<ns0:Relationships xmlns:ns0="http://schemas.openxmlformats.org/package/2006/relationships"><ns0:Relationship Type="http://schemas.openxmlformats.org/officeDocument/2006/relationships/slideLayout" Target="/ppt/slideLayouts/slideLayout1.xml" Id="Rb21d3d73e316463b" /><ns0:Relationship Type="http://schemas.openxmlformats.org/officeDocument/2006/relationships/notesSlide" Target="/ppt/notesSlides/notesSlide45.xml" Id="R5c4d05b8555a46c3" /><ns0:Relationship Id="rIdLink1" Type="http://schemas.openxmlformats.org/officeDocument/2006/relationships/hyperlink" Target="https://zeusk302-png.github.io/kdigital-physical-ai/#/sessions/2026-10-30/lesson" TargetMode="External" /><ns0:Relationship Id="rIdLink2" Type="http://schemas.openxmlformats.org/officeDocument/2006/relationships/hyperlink" Target="https://zeusk302-png.github.io/kdigital-physical-ai/#/sessions/2026-10-30/activity-A09" TargetMode="External" /><ns0:Relationship Id="rIdLink3" Type="http://schemas.openxmlformats.org/officeDocument/2006/relationships/hyperlink" Target="https://docs.python.org/3/library/csv.html" TargetMode="External" /></ns0:Relationships>
</file>

<file path=ppt/slides/_rels/slide46.xml.rels><?xml version='1.0' encoding='utf-8'?>
<ns0:Relationships xmlns:ns0="http://schemas.openxmlformats.org/package/2006/relationships"><ns0:Relationship Type="http://schemas.openxmlformats.org/officeDocument/2006/relationships/slideLayout" Target="/ppt/slideLayouts/slideLayout1.xml" Id="Re17e88c2327444ca" /><ns0:Relationship Type="http://schemas.openxmlformats.org/officeDocument/2006/relationships/notesSlide" Target="/ppt/notesSlides/notesSlide46.xml" Id="R9a307d012b714934" /><ns0:Relationship Id="rIdLink1" Type="http://schemas.openxmlformats.org/officeDocument/2006/relationships/hyperlink" Target="https://zeusk302-png.github.io/kdigital-physical-ai/#/sessions/2026-10-30/lesson" TargetMode="External" /><ns0:Relationship Id="rIdLink2" Type="http://schemas.openxmlformats.org/officeDocument/2006/relationships/hyperlink" Target="https://zeusk302-png.github.io/kdigital-physical-ai/#/sessions/2026-10-30/activity-A09" TargetMode="External" /><ns0:Relationship Id="rIdLink3" Type="http://schemas.openxmlformats.org/officeDocument/2006/relationships/hyperlink" Target="https://docs.python.org/3/library/csv.html" TargetMode="External" /></ns0:Relationships>
</file>

<file path=ppt/slides/_rels/slide47.xml.rels><?xml version='1.0' encoding='utf-8'?>
<ns0:Relationships xmlns:ns0="http://schemas.openxmlformats.org/package/2006/relationships"><ns0:Relationship Type="http://schemas.openxmlformats.org/officeDocument/2006/relationships/slideLayout" Target="/ppt/slideLayouts/slideLayout1.xml" Id="R8ab138bf65a74f69" /><ns0:Relationship Type="http://schemas.openxmlformats.org/officeDocument/2006/relationships/notesSlide" Target="/ppt/notesSlides/notesSlide47.xml" Id="Rc77da25c16934bfe" /><ns0:Relationship Id="rIdLink1" Type="http://schemas.openxmlformats.org/officeDocument/2006/relationships/hyperlink" Target="https://zeusk302-png.github.io/kdigital-physical-ai/#/sessions/2026-10-30/lesson" TargetMode="External" /><ns0:Relationship Id="rIdLink2" Type="http://schemas.openxmlformats.org/officeDocument/2006/relationships/hyperlink" Target="https://zeusk302-png.github.io/kdigital-physical-ai/#/sessions/2026-10-30/activity-A09" TargetMode="External" /><ns0:Relationship Id="rIdLink3" Type="http://schemas.openxmlformats.org/officeDocument/2006/relationships/hyperlink" Target="https://docs.python.org/3/library/csv.html" TargetMode="External" /></ns0:Relationships>
</file>

<file path=ppt/slides/_rels/slide48.xml.rels><?xml version='1.0' encoding='utf-8'?>
<ns0:Relationships xmlns:ns0="http://schemas.openxmlformats.org/package/2006/relationships"><ns0:Relationship Type="http://schemas.openxmlformats.org/officeDocument/2006/relationships/slideLayout" Target="/ppt/slideLayouts/slideLayout1.xml" Id="R36d7fb616319440d" /><ns0:Relationship Type="http://schemas.openxmlformats.org/officeDocument/2006/relationships/notesSlide" Target="/ppt/notesSlides/notesSlide48.xml" Id="R364c19de5424409d" /><ns0:Relationship Id="rIdLink1" Type="http://schemas.openxmlformats.org/officeDocument/2006/relationships/hyperlink" Target="https://zeusk302-png.github.io/kdigital-physical-ai/#/sessions/2026-10-30/lesson" TargetMode="External" /><ns0:Relationship Id="rIdLink2" Type="http://schemas.openxmlformats.org/officeDocument/2006/relationships/hyperlink" Target="https://zeusk302-png.github.io/kdigital-physical-ai/#/sessions/2026-10-30/activity-A09" TargetMode="External" /><ns0:Relationship Id="rIdLink3" Type="http://schemas.openxmlformats.org/officeDocument/2006/relationships/hyperlink" Target="https://docs.python.org/3/library/csv.html" TargetMode="External" /></ns0:Relationships>
</file>

<file path=ppt/slides/_rels/slide49.xml.rels><?xml version='1.0' encoding='utf-8'?>
<ns0:Relationships xmlns:ns0="http://schemas.openxmlformats.org/package/2006/relationships"><ns0:Relationship Type="http://schemas.openxmlformats.org/officeDocument/2006/relationships/slideLayout" Target="/ppt/slideLayouts/slideLayout1.xml" Id="R336255ddc0f24ca4" /><ns0:Relationship Type="http://schemas.openxmlformats.org/officeDocument/2006/relationships/notesSlide" Target="/ppt/notesSlides/notesSlide49.xml" Id="R244af3b0e93a4092" /><ns0:Relationship Id="rIdLink1" Type="http://schemas.openxmlformats.org/officeDocument/2006/relationships/hyperlink" Target="https://zeusk302-png.github.io/kdigital-physical-ai/#/sessions/2026-10-30/lesson" TargetMode="External" /><ns0:Relationship Id="rIdLink2" Type="http://schemas.openxmlformats.org/officeDocument/2006/relationships/hyperlink" Target="https://zeusk302-png.github.io/kdigital-physical-ai/#/sessions/2026-10-30/activity-A09" TargetMode="External" /><ns0:Relationship Id="rIdLink3" Type="http://schemas.openxmlformats.org/officeDocument/2006/relationships/hyperlink" Target="https://docs.python.org/3/library/csv.html" TargetMode="External" /></ns0:Relationships>
</file>

<file path=ppt/slides/_rels/slide50.xml.rels><?xml version='1.0' encoding='utf-8'?>
<ns0:Relationships xmlns:ns0="http://schemas.openxmlformats.org/package/2006/relationships"><ns0:Relationship Type="http://schemas.openxmlformats.org/officeDocument/2006/relationships/slideLayout" Target="/ppt/slideLayouts/slideLayout1.xml" Id="Rb9b38fee901b4673" /><ns0:Relationship Type="http://schemas.openxmlformats.org/officeDocument/2006/relationships/notesSlide" Target="/ppt/notesSlides/notesSlide50.xml" Id="R158f7c11319448d2" /><ns0:Relationship Id="rIdLink1" Type="http://schemas.openxmlformats.org/officeDocument/2006/relationships/hyperlink" Target="https://zeusk302-png.github.io/kdigital-physical-ai/#/sessions/2026-10-30/lesson" TargetMode="External" /><ns0:Relationship Id="rIdLink2" Type="http://schemas.openxmlformats.org/officeDocument/2006/relationships/hyperlink" Target="https://zeusk302-png.github.io/kdigital-physical-ai/#/sessions/2026-10-30/activity-A09" TargetMode="External" /><ns0:Relationship Id="rIdLink3" Type="http://schemas.openxmlformats.org/officeDocument/2006/relationships/hyperlink" Target="https://docs.python.org/3/library/csv.html" TargetMode="External" /></ns0:Relationships>
</file>

<file path=ppt/slides/_rels/slide51.xml.rels><?xml version='1.0' encoding='utf-8'?>
<ns0:Relationships xmlns:ns0="http://schemas.openxmlformats.org/package/2006/relationships"><ns0:Relationship Type="http://schemas.openxmlformats.org/officeDocument/2006/relationships/slideLayout" Target="/ppt/slideLayouts/slideLayout1.xml" Id="Rc3058c809b7e48d9" /><ns0:Relationship Type="http://schemas.openxmlformats.org/officeDocument/2006/relationships/notesSlide" Target="/ppt/notesSlides/notesSlide51.xml" Id="Rc4cb3482377d443b" /><ns0:Relationship Id="rIdLink1" Type="http://schemas.openxmlformats.org/officeDocument/2006/relationships/hyperlink" Target="https://zeusk302-png.github.io/kdigital-physical-ai/#/sessions/2026-10-30/lesson" TargetMode="External" /><ns0:Relationship Id="rIdLink2" Type="http://schemas.openxmlformats.org/officeDocument/2006/relationships/hyperlink" Target="https://zeusk302-png.github.io/kdigital-physical-ai/#/sessions/2026-10-30/activity-A09" TargetMode="External" /><ns0:Relationship Id="rIdLink3" Type="http://schemas.openxmlformats.org/officeDocument/2006/relationships/hyperlink" Target="https://docs.python.org/3/library/csv.html" TargetMode="External" /></ns0:Relationships>
</file>

<file path=ppt/slides/_rels/slide52.xml.rels><?xml version='1.0' encoding='utf-8'?>
<ns0:Relationships xmlns:ns0="http://schemas.openxmlformats.org/package/2006/relationships"><ns0:Relationship Type="http://schemas.openxmlformats.org/officeDocument/2006/relationships/slideLayout" Target="/ppt/slideLayouts/slideLayout1.xml" Id="R330dc05e4eae4371" /><ns0:Relationship Type="http://schemas.openxmlformats.org/officeDocument/2006/relationships/notesSlide" Target="/ppt/notesSlides/notesSlide52.xml" Id="R527551316b95447b" /><ns0:Relationship Id="rIdLink1" Type="http://schemas.openxmlformats.org/officeDocument/2006/relationships/hyperlink" Target="https://zeusk302-png.github.io/kdigital-physical-ai/#/sessions/2026-10-30/lesson" TargetMode="External" /><ns0:Relationship Id="rIdLink2" Type="http://schemas.openxmlformats.org/officeDocument/2006/relationships/hyperlink" Target="https://zeusk302-png.github.io/kdigital-physical-ai/#/sessions/2026-10-30/activity-A09" TargetMode="External" /><ns0:Relationship Id="rIdLink3" Type="http://schemas.openxmlformats.org/officeDocument/2006/relationships/hyperlink" Target="https://docs.python.org/3/tutorial/introduction.html#lists" TargetMode="External" /></ns0:Relationships>
</file>

<file path=ppt/slides/_rels/slide53.xml.rels><?xml version='1.0' encoding='utf-8'?>
<ns0:Relationships xmlns:ns0="http://schemas.openxmlformats.org/package/2006/relationships"><ns0:Relationship Type="http://schemas.openxmlformats.org/officeDocument/2006/relationships/slideLayout" Target="/ppt/slideLayouts/slideLayout1.xml" Id="Rada8da0c38484fa5" /><ns0:Relationship Type="http://schemas.openxmlformats.org/officeDocument/2006/relationships/notesSlide" Target="/ppt/notesSlides/notesSlide53.xml" Id="R1dfbd894a3114e0e" /><ns0:Relationship Id="rIdLink1" Type="http://schemas.openxmlformats.org/officeDocument/2006/relationships/hyperlink" Target="https://zeusk302-png.github.io/kdigital-physical-ai/#/sessions/2026-10-30/lesson" TargetMode="External" /><ns0:Relationship Id="rIdLink2" Type="http://schemas.openxmlformats.org/officeDocument/2006/relationships/hyperlink" Target="https://zeusk302-png.github.io/kdigital-physical-ai/#/sessions/2026-10-30/activity-A10" TargetMode="External" /><ns0:Relationship Id="rIdLink3" Type="http://schemas.openxmlformats.org/officeDocument/2006/relationships/hyperlink" Target="https://docs.python.org/3/tutorial/introduction.html#lists" TargetMode="External" /></ns0:Relationships>
</file>

<file path=ppt/slides/_rels/slide54.xml.rels><?xml version='1.0' encoding='utf-8'?>
<ns0:Relationships xmlns:ns0="http://schemas.openxmlformats.org/package/2006/relationships"><ns0:Relationship Type="http://schemas.openxmlformats.org/officeDocument/2006/relationships/slideLayout" Target="/ppt/slideLayouts/slideLayout1.xml" Id="Rf5da4c3727064f7d" /><ns0:Relationship Type="http://schemas.openxmlformats.org/officeDocument/2006/relationships/notesSlide" Target="/ppt/notesSlides/notesSlide54.xml" Id="Rb043b9db89484ea8" /><ns0:Relationship Id="rIdLink1" Type="http://schemas.openxmlformats.org/officeDocument/2006/relationships/hyperlink" Target="https://zeusk302-png.github.io/kdigital-physical-ai/#/sessions/2026-10-30/lesson" TargetMode="External" /><ns0:Relationship Id="rIdLink2" Type="http://schemas.openxmlformats.org/officeDocument/2006/relationships/hyperlink" Target="https://zeusk302-png.github.io/kdigital-physical-ai/#/sessions/2026-10-30/activity-A10" TargetMode="External" /><ns0:Relationship Id="rIdLink3" Type="http://schemas.openxmlformats.org/officeDocument/2006/relationships/hyperlink" Target="https://docs.python.org/3/tutorial/introduction.html#lists" TargetMode="External" /></ns0:Relationships>
</file>

<file path=ppt/slides/_rels/slide55.xml.rels><?xml version='1.0' encoding='utf-8'?>
<ns0:Relationships xmlns:ns0="http://schemas.openxmlformats.org/package/2006/relationships"><ns0:Relationship Type="http://schemas.openxmlformats.org/officeDocument/2006/relationships/slideLayout" Target="/ppt/slideLayouts/slideLayout1.xml" Id="R0b011a6654184d6a" /><ns0:Relationship Type="http://schemas.openxmlformats.org/officeDocument/2006/relationships/notesSlide" Target="/ppt/notesSlides/notesSlide55.xml" Id="R3bea94f61c1c4d02" /><ns0:Relationship Id="rIdLink1" Type="http://schemas.openxmlformats.org/officeDocument/2006/relationships/hyperlink" Target="https://zeusk302-png.github.io/kdigital-physical-ai/#/sessions/2026-10-30/lesson" TargetMode="External" /><ns0:Relationship Id="rIdLink2" Type="http://schemas.openxmlformats.org/officeDocument/2006/relationships/hyperlink" Target="https://zeusk302-png.github.io/kdigital-physical-ai/#/sessions/2026-10-30/activity-A11" TargetMode="External" /><ns0:Relationship Id="rIdLink3" Type="http://schemas.openxmlformats.org/officeDocument/2006/relationships/hyperlink" Target="https://docs.python.org/3/tutorial/introduction.html#lists" TargetMode="External" /></ns0:Relationships>
</file>

<file path=ppt/slides/_rels/slide56.xml.rels><?xml version='1.0' encoding='utf-8'?>
<ns0:Relationships xmlns:ns0="http://schemas.openxmlformats.org/package/2006/relationships"><ns0:Relationship Type="http://schemas.openxmlformats.org/officeDocument/2006/relationships/slideLayout" Target="/ppt/slideLayouts/slideLayout1.xml" Id="Re47ed58bc20343bd" /><ns0:Relationship Type="http://schemas.openxmlformats.org/officeDocument/2006/relationships/notesSlide" Target="/ppt/notesSlides/notesSlide56.xml" Id="R5786dfd1847b4af6" /><ns0:Relationship Id="rIdLink1" Type="http://schemas.openxmlformats.org/officeDocument/2006/relationships/hyperlink" Target="https://zeusk302-png.github.io/kdigital-physical-ai/#/sessions/2026-10-30/lesson" TargetMode="External" /><ns0:Relationship Id="rIdLink2" Type="http://schemas.openxmlformats.org/officeDocument/2006/relationships/hyperlink" Target="https://zeusk302-png.github.io/kdigital-physical-ai/#/sessions/2026-10-30/activity-A11" TargetMode="External" /><ns0:Relationship Id="rIdLink3" Type="http://schemas.openxmlformats.org/officeDocument/2006/relationships/hyperlink" Target="https://docs.python.org/3/tutorial/introduction.html#lists" TargetMode="External" /></ns0:Relationships>
</file>

<file path=ppt/slides/_rels/slide57.xml.rels><?xml version='1.0' encoding='utf-8'?>
<ns0:Relationships xmlns:ns0="http://schemas.openxmlformats.org/package/2006/relationships"><ns0:Relationship Type="http://schemas.openxmlformats.org/officeDocument/2006/relationships/slideLayout" Target="/ppt/slideLayouts/slideLayout1.xml" Id="R2d2290eefc94446e" /><ns0:Relationship Type="http://schemas.openxmlformats.org/officeDocument/2006/relationships/notesSlide" Target="/ppt/notesSlides/notesSlide57.xml" Id="R2e0499e652d64240" /><ns0:Relationship Id="rIdLink1" Type="http://schemas.openxmlformats.org/officeDocument/2006/relationships/hyperlink" Target="https://zeusk302-png.github.io/kdigital-physical-ai/#/sessions/2026-10-30/lesson" TargetMode="External" /><ns0:Relationship Id="rIdLink2" Type="http://schemas.openxmlformats.org/officeDocument/2006/relationships/hyperlink" Target="https://zeusk302-png.github.io/kdigital-physical-ai/#/sessions/2026-10-30/activity-A11" TargetMode="External" /><ns0:Relationship Id="rIdLink3" Type="http://schemas.openxmlformats.org/officeDocument/2006/relationships/hyperlink" Target="https://docs.python.org/3/tutorial/introduction.html#lists" TargetMode="External" /></ns0:Relationships>
</file>

<file path=ppt/slides/_rels/slide58.xml.rels><?xml version='1.0' encoding='utf-8'?>
<ns0:Relationships xmlns:ns0="http://schemas.openxmlformats.org/package/2006/relationships"><ns0:Relationship Type="http://schemas.openxmlformats.org/officeDocument/2006/relationships/slideLayout" Target="/ppt/slideLayouts/slideLayout1.xml" Id="R1a0962ce944e4b53" /><ns0:Relationship Type="http://schemas.openxmlformats.org/officeDocument/2006/relationships/notesSlide" Target="/ppt/notesSlides/notesSlide58.xml" Id="Rd15b86ec4c5246c5" /><ns0:Relationship Id="rIdLink1" Type="http://schemas.openxmlformats.org/officeDocument/2006/relationships/hyperlink" Target="https://zeusk302-png.github.io/kdigital-physical-ai/#/sessions/2026-10-30/lesson" TargetMode="External" /><ns0:Relationship Id="rIdLink2" Type="http://schemas.openxmlformats.org/officeDocument/2006/relationships/hyperlink" Target="https://zeusk302-png.github.io/kdigital-physical-ai/#/sessions/2026-10-30/activity-A12" TargetMode="External" /><ns0:Relationship Id="rIdLink3" Type="http://schemas.openxmlformats.org/officeDocument/2006/relationships/hyperlink" Target="https://docs.python.org/3/tutorial/introduction.html#lists" TargetMode="External" /></ns0:Relationships>
</file>

<file path=ppt/slides/_rels/slide59.xml.rels><?xml version='1.0' encoding='utf-8'?>
<ns0:Relationships xmlns:ns0="http://schemas.openxmlformats.org/package/2006/relationships"><ns0:Relationship Type="http://schemas.openxmlformats.org/officeDocument/2006/relationships/slideLayout" Target="/ppt/slideLayouts/slideLayout1.xml" Id="R30249aace41548f3" /><ns0:Relationship Type="http://schemas.openxmlformats.org/officeDocument/2006/relationships/notesSlide" Target="/ppt/notesSlides/notesSlide59.xml" Id="Ra2450ac528d44dca" /><ns0:Relationship Id="rIdLink1" Type="http://schemas.openxmlformats.org/officeDocument/2006/relationships/hyperlink" Target="https://zeusk302-png.github.io/kdigital-physical-ai/#/sessions/2026-10-30/lesson" TargetMode="External" /><ns0:Relationship Id="rIdLink2" Type="http://schemas.openxmlformats.org/officeDocument/2006/relationships/hyperlink" Target="https://zeusk302-png.github.io/kdigital-physical-ai/#/sessions/2026-10-30/activity-A12" TargetMode="External" /><ns0:Relationship Id="rIdLink3" Type="http://schemas.openxmlformats.org/officeDocument/2006/relationships/hyperlink" Target="https://docs.python.org/3/tutorial/introduction.html#lists" TargetMode="External" /></ns0:Relationships>
</file>

<file path=ppt/slides/_rels/slide60.xml.rels><?xml version='1.0' encoding='utf-8'?>
<ns0:Relationships xmlns:ns0="http://schemas.openxmlformats.org/package/2006/relationships"><ns0:Relationship Type="http://schemas.openxmlformats.org/officeDocument/2006/relationships/slideLayout" Target="/ppt/slideLayouts/slideLayout1.xml" Id="R719b261caf594297" /><ns0:Relationship Type="http://schemas.openxmlformats.org/officeDocument/2006/relationships/notesSlide" Target="/ppt/notesSlides/notesSlide60.xml" Id="R72cca7a5276846c1" /><ns0:Relationship Id="rIdLink1" Type="http://schemas.openxmlformats.org/officeDocument/2006/relationships/hyperlink" Target="https://zeusk302-png.github.io/kdigital-physical-ai/#/sessions/2026-10-30/lesson" TargetMode="External" /><ns0:Relationship Id="rIdLink2" Type="http://schemas.openxmlformats.org/officeDocument/2006/relationships/hyperlink" Target="https://zeusk302-png.github.io/kdigital-physical-ai/#/sessions/2026-10-30/activity-A12" TargetMode="External" /><ns0:Relationship Id="rIdLink3" Type="http://schemas.openxmlformats.org/officeDocument/2006/relationships/hyperlink" Target="https://docs.python.org/3/tutorial/introduction.html#lists" TargetMode="External" /></ns0:Relationships>
</file>

<file path=ppt/slides/_rels/slide61.xml.rels><?xml version='1.0' encoding='utf-8'?>
<ns0:Relationships xmlns:ns0="http://schemas.openxmlformats.org/package/2006/relationships"><ns0:Relationship Type="http://schemas.openxmlformats.org/officeDocument/2006/relationships/slideLayout" Target="/ppt/slideLayouts/slideLayout1.xml" Id="R9857937ff2394a17" /><ns0:Relationship Type="http://schemas.openxmlformats.org/officeDocument/2006/relationships/notesSlide" Target="/ppt/notesSlides/notesSlide61.xml" Id="R8d17033db8e6451d" /><ns0:Relationship Id="rIdLink1" Type="http://schemas.openxmlformats.org/officeDocument/2006/relationships/hyperlink" Target="https://zeusk302-png.github.io/kdigital-physical-ai/#/sessions/2026-10-30/lesson" TargetMode="External" /><ns0:Relationship Id="rIdLink2" Type="http://schemas.openxmlformats.org/officeDocument/2006/relationships/hyperlink" Target="https://zeusk302-png.github.io/kdigital-physical-ai/#/sessions/2026-10-30/activity-A12" TargetMode="External" /><ns0:Relationship Id="rIdLink3" Type="http://schemas.openxmlformats.org/officeDocument/2006/relationships/hyperlink" Target="https://docs.python.org/3/tutorial/introduction.html#lists" TargetMode="External" /></ns0:Relationships>
</file>

<file path=ppt/slides/_rels/slide62.xml.rels><?xml version='1.0' encoding='utf-8'?>
<ns0:Relationships xmlns:ns0="http://schemas.openxmlformats.org/package/2006/relationships"><ns0:Relationship Type="http://schemas.openxmlformats.org/officeDocument/2006/relationships/slideLayout" Target="/ppt/slideLayouts/slideLayout1.xml" Id="Rac4b2e66737b44f2" /><ns0:Relationship Type="http://schemas.openxmlformats.org/officeDocument/2006/relationships/notesSlide" Target="/ppt/notesSlides/notesSlide62.xml" Id="R85e115f8836f40df" /><ns0:Relationship Id="rIdLink1" Type="http://schemas.openxmlformats.org/officeDocument/2006/relationships/hyperlink" Target="https://zeusk302-png.github.io/kdigital-physical-ai/#/sessions/2026-10-30/lesson" TargetMode="External" /><ns0:Relationship Id="rIdLink2" Type="http://schemas.openxmlformats.org/officeDocument/2006/relationships/hyperlink" Target="https://zeusk302-png.github.io/kdigital-physical-ai/#/sessions/2026-10-30/activity-A12" TargetMode="External" /><ns0:Relationship Id="rIdLink3" Type="http://schemas.openxmlformats.org/officeDocument/2006/relationships/hyperlink" Target="https://docs.python.org/3/tutorial/introduction.html#lists" TargetMode="External" /></ns0:Relationships>
</file>

<file path=ppt/slides/_rels/slide63.xml.rels><?xml version='1.0' encoding='utf-8'?>
<ns0:Relationships xmlns:ns0="http://schemas.openxmlformats.org/package/2006/relationships"><ns0:Relationship Type="http://schemas.openxmlformats.org/officeDocument/2006/relationships/slideLayout" Target="/ppt/slideLayouts/slideLayout1.xml" Id="Rbb109a9e00af4e75" /><ns0:Relationship Type="http://schemas.openxmlformats.org/officeDocument/2006/relationships/notesSlide" Target="/ppt/notesSlides/notesSlide63.xml" Id="R90311615e0e841bb" /><ns0:Relationship Id="rIdLink1" Type="http://schemas.openxmlformats.org/officeDocument/2006/relationships/hyperlink" Target="https://zeusk302-png.github.io/kdigital-physical-ai/#/sessions/2026-10-30/lesson" TargetMode="External" /><ns0:Relationship Id="rIdLink2" Type="http://schemas.openxmlformats.org/officeDocument/2006/relationships/hyperlink" Target="https://zeusk302-png.github.io/kdigital-physical-ai/#/sessions/2026-10-30/activity-A12" TargetMode="External" /><ns0:Relationship Id="rIdLink3" Type="http://schemas.openxmlformats.org/officeDocument/2006/relationships/hyperlink" Target="https://docs.python.org/3/tutorial/introduction.html#lists" TargetMode="External" /></ns0:Relationships>
</file>

<file path=ppt/slides/_rels/slide64.xml.rels><?xml version='1.0' encoding='utf-8'?>
<ns0:Relationships xmlns:ns0="http://schemas.openxmlformats.org/package/2006/relationships"><ns0:Relationship Type="http://schemas.openxmlformats.org/officeDocument/2006/relationships/slideLayout" Target="/ppt/slideLayouts/slideLayout1.xml" Id="R51e6b280771346fc" /><ns0:Relationship Type="http://schemas.openxmlformats.org/officeDocument/2006/relationships/notesSlide" Target="/ppt/notesSlides/notesSlide64.xml" Id="R5e3eace069a4456b" /><ns0:Relationship Id="rIdLink1" Type="http://schemas.openxmlformats.org/officeDocument/2006/relationships/hyperlink" Target="https://zeusk302-png.github.io/kdigital-physical-ai/#/sessions/2026-10-30/lesson" TargetMode="External" /><ns0:Relationship Id="rIdLink2" Type="http://schemas.openxmlformats.org/officeDocument/2006/relationships/hyperlink" Target="https://zeusk302-png.github.io/kdigital-physical-ai/#/sessions/2026-10-30/activity-A12" TargetMode="External" /><ns0:Relationship Id="rIdLink3" Type="http://schemas.openxmlformats.org/officeDocument/2006/relationships/hyperlink" Target="https://docs.python.org/3/tutorial/introduction.html#lists" TargetMode="External" /></ns0:Relationships>
</file>

<file path=ppt/slides/_rels/slide65.xml.rels><?xml version='1.0' encoding='utf-8'?>
<ns0:Relationships xmlns:ns0="http://schemas.openxmlformats.org/package/2006/relationships"><ns0:Relationship Type="http://schemas.openxmlformats.org/officeDocument/2006/relationships/slideLayout" Target="/ppt/slideLayouts/slideLayout1.xml" Id="R7b9a5a3554d44be4" /><ns0:Relationship Type="http://schemas.openxmlformats.org/officeDocument/2006/relationships/notesSlide" Target="/ppt/notesSlides/notesSlide65.xml" Id="R260037552fb64c9a" /><ns0:Relationship Id="rIdLink1" Type="http://schemas.openxmlformats.org/officeDocument/2006/relationships/hyperlink" Target="https://zeusk302-png.github.io/kdigital-physical-ai/#/sessions/2026-10-30/lesson" TargetMode="External" /><ns0:Relationship Id="rIdLink2" Type="http://schemas.openxmlformats.org/officeDocument/2006/relationships/hyperlink" Target="https://zeusk302-png.github.io/kdigital-physical-ai/#/sessions/2026-10-30/activity-A12" TargetMode="External" /><ns0:Relationship Id="rIdLink3" Type="http://schemas.openxmlformats.org/officeDocument/2006/relationships/hyperlink" Target="https://docs.python.org/3/tutorial/introduction.html#lists" TargetMode="External" /></ns0:Relationships>
</file>

<file path=ppt/slides/_rels/slide66.xml.rels><?xml version='1.0' encoding='utf-8'?>
<ns0:Relationships xmlns:ns0="http://schemas.openxmlformats.org/package/2006/relationships"><ns0:Relationship Type="http://schemas.openxmlformats.org/officeDocument/2006/relationships/slideLayout" Target="/ppt/slideLayouts/slideLayout1.xml" Id="Rf9298756bf98406d" /><ns0:Relationship Type="http://schemas.openxmlformats.org/officeDocument/2006/relationships/notesSlide" Target="/ppt/notesSlides/notesSlide66.xml" Id="Ra608efa0236b4ed9" /><ns0:Relationship Id="rIdLink1" Type="http://schemas.openxmlformats.org/officeDocument/2006/relationships/hyperlink" Target="https://zeusk302-png.github.io/kdigital-physical-ai/#/sessions/2026-10-30/lesson" TargetMode="External" /><ns0:Relationship Id="rIdLink2" Type="http://schemas.openxmlformats.org/officeDocument/2006/relationships/hyperlink" Target="https://zeusk302-png.github.io/kdigital-physical-ai/#/sessions/2026-10-30/activity-A12" TargetMode="External" /><ns0:Relationship Id="rIdLink3" Type="http://schemas.openxmlformats.org/officeDocument/2006/relationships/hyperlink" Target="https://docs.python.org/3/tutorial/introduction.html#lists" TargetMode="External" /></ns0:Relationships>
</file>

<file path=ppt/slides/_rels/slide67.xml.rels><?xml version='1.0' encoding='utf-8'?>
<ns0:Relationships xmlns:ns0="http://schemas.openxmlformats.org/package/2006/relationships"><ns0:Relationship Type="http://schemas.openxmlformats.org/officeDocument/2006/relationships/slideLayout" Target="/ppt/slideLayouts/slideLayout1.xml" Id="R7d6c5e1ff3c94e5f" /><ns0:Relationship Type="http://schemas.openxmlformats.org/officeDocument/2006/relationships/notesSlide" Target="/ppt/notesSlides/notesSlide67.xml" Id="R3d26036ea66b4a9e" /><ns0:Relationship Id="rIdLink1" Type="http://schemas.openxmlformats.org/officeDocument/2006/relationships/hyperlink" Target="https://zeusk302-png.github.io/kdigital-physical-ai/#/sessions/2026-10-30/lesson" TargetMode="External" /><ns0:Relationship Id="rIdLink2" Type="http://schemas.openxmlformats.org/officeDocument/2006/relationships/hyperlink" Target="https://zeusk302-png.github.io/kdigital-physical-ai/#/sessions/2026-10-30/activity-A12" TargetMode="External" /><ns0:Relationship Id="rIdLink3" Type="http://schemas.openxmlformats.org/officeDocument/2006/relationships/hyperlink" Target="https://docs.python.org/3/tutorial/introduction.html#lists" TargetMode="External" /></ns0:Relationships>
</file>

<file path=ppt/slides/_rels/slide68.xml.rels><?xml version='1.0' encoding='utf-8'?>
<ns0:Relationships xmlns:ns0="http://schemas.openxmlformats.org/package/2006/relationships"><ns0:Relationship Type="http://schemas.openxmlformats.org/officeDocument/2006/relationships/slideLayout" Target="/ppt/slideLayouts/slideLayout1.xml" Id="R1b79fc37253a4323" /><ns0:Relationship Type="http://schemas.openxmlformats.org/officeDocument/2006/relationships/notesSlide" Target="/ppt/notesSlides/notesSlide68.xml" Id="R4a8c1384bbd5494d" /><ns0:Relationship Id="rIdLink1" Type="http://schemas.openxmlformats.org/officeDocument/2006/relationships/hyperlink" Target="https://zeusk302-png.github.io/kdigital-physical-ai/#/sessions/2026-10-30/lesson" TargetMode="External" /><ns0:Relationship Id="rIdLink2" Type="http://schemas.openxmlformats.org/officeDocument/2006/relationships/hyperlink" Target="https://zeusk302-png.github.io/kdigital-physical-ai/#/sessions/2026-10-30/activity-A12" TargetMode="External" /><ns0:Relationship Id="rIdLink3" Type="http://schemas.openxmlformats.org/officeDocument/2006/relationships/hyperlink" Target="https://docs.python.org/3/tutorial/introduction.html#lists" TargetMode="External" /></ns0:Relationships>
</file>

<file path=ppt/slides/_rels/slide69.xml.rels><?xml version='1.0' encoding='utf-8'?>
<ns0:Relationships xmlns:ns0="http://schemas.openxmlformats.org/package/2006/relationships"><ns0:Relationship Type="http://schemas.openxmlformats.org/officeDocument/2006/relationships/slideLayout" Target="/ppt/slideLayouts/slideLayout1.xml" Id="Rb7c228fa8acd4110" /><ns0:Relationship Type="http://schemas.openxmlformats.org/officeDocument/2006/relationships/notesSlide" Target="/ppt/notesSlides/notesSlide69.xml" Id="Rf10c834db1b6476c" /><ns0:Relationship Id="rIdLink1" Type="http://schemas.openxmlformats.org/officeDocument/2006/relationships/hyperlink" Target="https://zeusk302-png.github.io/kdigital-physical-ai/#/sessions/2026-10-30/lesson" TargetMode="External" /><ns0:Relationship Id="rIdLink2" Type="http://schemas.openxmlformats.org/officeDocument/2006/relationships/hyperlink" Target="https://zeusk302-png.github.io/kdigital-physical-ai/#/sessions/2026-10-30/activity-A12" TargetMode="External" /><ns0:Relationship Id="rIdLink3" Type="http://schemas.openxmlformats.org/officeDocument/2006/relationships/hyperlink" Target="https://docs.python.org/3/library/json.html" TargetMode="External" /></ns0:Relationships>
</file>

<file path=ppt/slides/_rels/slide70.xml.rels><?xml version='1.0' encoding='utf-8'?>
<ns0:Relationships xmlns:ns0="http://schemas.openxmlformats.org/package/2006/relationships"><ns0:Relationship Type="http://schemas.openxmlformats.org/officeDocument/2006/relationships/slideLayout" Target="/ppt/slideLayouts/slideLayout1.xml" Id="R94c3ce1cf00c408b" /><ns0:Relationship Type="http://schemas.openxmlformats.org/officeDocument/2006/relationships/notesSlide" Target="/ppt/notesSlides/notesSlide70.xml" Id="R349b6ece69774dac" /><ns0:Relationship Id="rIdLink1" Type="http://schemas.openxmlformats.org/officeDocument/2006/relationships/hyperlink" Target="https://zeusk302-png.github.io/kdigital-physical-ai/#/sessions/2026-10-30/lesson" TargetMode="External" /><ns0:Relationship Id="rIdLink2" Type="http://schemas.openxmlformats.org/officeDocument/2006/relationships/hyperlink" Target="https://zeusk302-png.github.io/kdigital-physical-ai/#/sessions/2026-10-30/activity-A13" TargetMode="External" /><ns0:Relationship Id="rIdLink3" Type="http://schemas.openxmlformats.org/officeDocument/2006/relationships/hyperlink" Target="https://docs.python.org/3/library/json.html" TargetMode="External" /></ns0:Relationships>
</file>

<file path=ppt/slides/_rels/slide71.xml.rels><?xml version='1.0' encoding='utf-8'?>
<ns0:Relationships xmlns:ns0="http://schemas.openxmlformats.org/package/2006/relationships"><ns0:Relationship Type="http://schemas.openxmlformats.org/officeDocument/2006/relationships/slideLayout" Target="/ppt/slideLayouts/slideLayout1.xml" Id="R0f53a06fc0e64c67" /><ns0:Relationship Type="http://schemas.openxmlformats.org/officeDocument/2006/relationships/notesSlide" Target="/ppt/notesSlides/notesSlide71.xml" Id="Re2dbe3b563a94722" /><ns0:Relationship Id="rIdLink1" Type="http://schemas.openxmlformats.org/officeDocument/2006/relationships/hyperlink" Target="https://zeusk302-png.github.io/kdigital-physical-ai/#/sessions/2026-10-30/lesson" TargetMode="External" /><ns0:Relationship Id="rIdLink2" Type="http://schemas.openxmlformats.org/officeDocument/2006/relationships/hyperlink" Target="https://zeusk302-png.github.io/kdigital-physical-ai/#/sessions/2026-10-30/activity-A14" TargetMode="External" /><ns0:Relationship Id="rIdLink3" Type="http://schemas.openxmlformats.org/officeDocument/2006/relationships/hyperlink" Target="https://docs.python.org/3/library/json.html" TargetMode="External" /></ns0:Relationships>
</file>

<file path=ppt/slides/_rels/slide72.xml.rels><?xml version='1.0' encoding='utf-8'?>
<ns0:Relationships xmlns:ns0="http://schemas.openxmlformats.org/package/2006/relationships"><ns0:Relationship Type="http://schemas.openxmlformats.org/officeDocument/2006/relationships/slideLayout" Target="/ppt/slideLayouts/slideLayout1.xml" Id="R943f9ae4833a4b44" /><ns0:Relationship Type="http://schemas.openxmlformats.org/officeDocument/2006/relationships/notesSlide" Target="/ppt/notesSlides/notesSlide72.xml" Id="R3b7cddfa2db846ed" /><ns0:Relationship Id="rIdLink1" Type="http://schemas.openxmlformats.org/officeDocument/2006/relationships/hyperlink" Target="https://zeusk302-png.github.io/kdigital-physical-ai/#/sessions/2026-10-30/lesson" TargetMode="External" /><ns0:Relationship Id="rIdLink2" Type="http://schemas.openxmlformats.org/officeDocument/2006/relationships/hyperlink" Target="https://zeusk302-png.github.io/kdigital-physical-ai/#/sessions/2026-10-30/activity-A14" TargetMode="External" /><ns0:Relationship Id="rIdLink3" Type="http://schemas.openxmlformats.org/officeDocument/2006/relationships/hyperlink" Target="https://docs.python.org/3/library/json.html" TargetMode="External" /></ns0:Relationships>
</file>

<file path=ppt/slides/_rels/slide73.xml.rels><?xml version='1.0' encoding='utf-8'?>
<ns0:Relationships xmlns:ns0="http://schemas.openxmlformats.org/package/2006/relationships"><ns0:Relationship Type="http://schemas.openxmlformats.org/officeDocument/2006/relationships/slideLayout" Target="/ppt/slideLayouts/slideLayout1.xml" Id="Rb386b379552a4840" /><ns0:Relationship Type="http://schemas.openxmlformats.org/officeDocument/2006/relationships/notesSlide" Target="/ppt/notesSlides/notesSlide73.xml" Id="R33efad3af87442fe" /><ns0:Relationship Id="rIdLink1" Type="http://schemas.openxmlformats.org/officeDocument/2006/relationships/hyperlink" Target="https://zeusk302-png.github.io/kdigital-physical-ai/#/sessions/2026-10-30/lesson" TargetMode="External" /><ns0:Relationship Id="rIdLink2" Type="http://schemas.openxmlformats.org/officeDocument/2006/relationships/hyperlink" Target="https://zeusk302-png.github.io/kdigital-physical-ai/#/sessions/2026-10-30/activity-A15" TargetMode="External" /><ns0:Relationship Id="rIdLink3" Type="http://schemas.openxmlformats.org/officeDocument/2006/relationships/hyperlink" Target="https://docs.python.org/3/library/json.html" TargetMode="External" /></ns0:Relationships>
</file>

<file path=ppt/slides/_rels/slide74.xml.rels><?xml version='1.0' encoding='utf-8'?>
<ns0:Relationships xmlns:ns0="http://schemas.openxmlformats.org/package/2006/relationships"><ns0:Relationship Type="http://schemas.openxmlformats.org/officeDocument/2006/relationships/slideLayout" Target="/ppt/slideLayouts/slideLayout1.xml" Id="R4f8d7bc0ca05431f" /><ns0:Relationship Type="http://schemas.openxmlformats.org/officeDocument/2006/relationships/notesSlide" Target="/ppt/notesSlides/notesSlide74.xml" Id="Rfd6c2a296f354f39" /><ns0:Relationship Id="rIdLink1" Type="http://schemas.openxmlformats.org/officeDocument/2006/relationships/hyperlink" Target="https://zeusk302-png.github.io/kdigital-physical-ai/#/sessions/2026-10-30/lesson" TargetMode="External" /><ns0:Relationship Id="rIdLink2" Type="http://schemas.openxmlformats.org/officeDocument/2006/relationships/hyperlink" Target="https://zeusk302-png.github.io/kdigital-physical-ai/#/sessions/2026-10-30/activity-A15" TargetMode="External" /><ns0:Relationship Id="rIdLink3" Type="http://schemas.openxmlformats.org/officeDocument/2006/relationships/hyperlink" Target="https://docs.python.org/3/library/json.html" TargetMode="External" /></ns0:Relationships>
</file>

<file path=ppt/slides/_rels/slide75.xml.rels><?xml version='1.0' encoding='utf-8'?>
<ns0:Relationships xmlns:ns0="http://schemas.openxmlformats.org/package/2006/relationships"><ns0:Relationship Type="http://schemas.openxmlformats.org/officeDocument/2006/relationships/slideLayout" Target="/ppt/slideLayouts/slideLayout1.xml" Id="R02584c171a07437e" /><ns0:Relationship Type="http://schemas.openxmlformats.org/officeDocument/2006/relationships/notesSlide" Target="/ppt/notesSlides/notesSlide75.xml" Id="R76baef35a3e746a3" /><ns0:Relationship Id="rIdLink1" Type="http://schemas.openxmlformats.org/officeDocument/2006/relationships/hyperlink" Target="https://zeusk302-png.github.io/kdigital-physical-ai/#/sessions/2026-10-30/lesson" TargetMode="External" /><ns0:Relationship Id="rIdLink2" Type="http://schemas.openxmlformats.org/officeDocument/2006/relationships/hyperlink" Target="https://zeusk302-png.github.io/kdigital-physical-ai/#/sessions/2026-10-30/activity-A15" TargetMode="External" /><ns0:Relationship Id="rIdLink3" Type="http://schemas.openxmlformats.org/officeDocument/2006/relationships/hyperlink" Target="https://docs.python.org/3/library/json.html" TargetMode="External" /></ns0:Relationships>
</file>

<file path=ppt/slides/_rels/slide76.xml.rels><?xml version='1.0' encoding='utf-8'?>
<ns0:Relationships xmlns:ns0="http://schemas.openxmlformats.org/package/2006/relationships"><ns0:Relationship Type="http://schemas.openxmlformats.org/officeDocument/2006/relationships/slideLayout" Target="/ppt/slideLayouts/slideLayout1.xml" Id="Rb29e6fa656e84ab7" /><ns0:Relationship Type="http://schemas.openxmlformats.org/officeDocument/2006/relationships/notesSlide" Target="/ppt/notesSlides/notesSlide76.xml" Id="Ra1f7bd21145844d4" /><ns0:Relationship Id="rIdLink1" Type="http://schemas.openxmlformats.org/officeDocument/2006/relationships/hyperlink" Target="https://zeusk302-png.github.io/kdigital-physical-ai/#/sessions/2026-10-30/lesson" TargetMode="External" /><ns0:Relationship Id="rIdLink2" Type="http://schemas.openxmlformats.org/officeDocument/2006/relationships/hyperlink" Target="https://zeusk302-png.github.io/kdigital-physical-ai/#/sessions/2026-10-30/activity-A15" TargetMode="External" /><ns0:Relationship Id="rIdLink3" Type="http://schemas.openxmlformats.org/officeDocument/2006/relationships/hyperlink" Target="https://docs.python.org/3/library/json.html" TargetMode="External" /></ns0:Relationships>
</file>

<file path=ppt/slides/_rels/slide77.xml.rels><?xml version='1.0' encoding='utf-8'?>
<ns0:Relationships xmlns:ns0="http://schemas.openxmlformats.org/package/2006/relationships"><ns0:Relationship Type="http://schemas.openxmlformats.org/officeDocument/2006/relationships/slideLayout" Target="/ppt/slideLayouts/slideLayout1.xml" Id="R61a837d200534e35" /><ns0:Relationship Type="http://schemas.openxmlformats.org/officeDocument/2006/relationships/notesSlide" Target="/ppt/notesSlides/notesSlide77.xml" Id="R4a132149cf984d8c" /><ns0:Relationship Id="rIdLink1" Type="http://schemas.openxmlformats.org/officeDocument/2006/relationships/hyperlink" Target="https://zeusk302-png.github.io/kdigital-physical-ai/#/sessions/2026-10-30/lesson" TargetMode="External" /><ns0:Relationship Id="rIdLink2" Type="http://schemas.openxmlformats.org/officeDocument/2006/relationships/hyperlink" Target="https://zeusk302-png.github.io/kdigital-physical-ai/#/sessions/2026-10-30/activity-A15" TargetMode="External" /><ns0:Relationship Id="rIdLink3" Type="http://schemas.openxmlformats.org/officeDocument/2006/relationships/hyperlink" Target="https://docs.python.org/3/library/json.html" TargetMode="External" /></ns0:Relationships>
</file>

<file path=ppt/slides/_rels/slide78.xml.rels><?xml version='1.0' encoding='utf-8'?>
<ns0:Relationships xmlns:ns0="http://schemas.openxmlformats.org/package/2006/relationships"><ns0:Relationship Type="http://schemas.openxmlformats.org/officeDocument/2006/relationships/slideLayout" Target="/ppt/slideLayouts/slideLayout1.xml" Id="Rb941ad044b154b89" /><ns0:Relationship Type="http://schemas.openxmlformats.org/officeDocument/2006/relationships/notesSlide" Target="/ppt/notesSlides/notesSlide78.xml" Id="R02c54c351ba2493d" /><ns0:Relationship Id="rIdLink1" Type="http://schemas.openxmlformats.org/officeDocument/2006/relationships/hyperlink" Target="https://zeusk302-png.github.io/kdigital-physical-ai/#/sessions/2026-10-30/lesson" TargetMode="External" /><ns0:Relationship Id="rIdLink2" Type="http://schemas.openxmlformats.org/officeDocument/2006/relationships/hyperlink" Target="https://zeusk302-png.github.io/kdigital-physical-ai/#/sessions/2026-10-30/activity-A15" TargetMode="External" /><ns0:Relationship Id="rIdLink3" Type="http://schemas.openxmlformats.org/officeDocument/2006/relationships/hyperlink" Target="https://docs.python.org/3/library/json.html" TargetMode="External" /></ns0:Relationships>
</file>

<file path=ppt/slides/_rels/slide79.xml.rels><?xml version='1.0' encoding='utf-8'?>
<ns0:Relationships xmlns:ns0="http://schemas.openxmlformats.org/package/2006/relationships"><ns0:Relationship Type="http://schemas.openxmlformats.org/officeDocument/2006/relationships/slideLayout" Target="/ppt/slideLayouts/slideLayout1.xml" Id="Ra2a437ddebeb45f0" /><ns0:Relationship Type="http://schemas.openxmlformats.org/officeDocument/2006/relationships/notesSlide" Target="/ppt/notesSlides/notesSlide79.xml" Id="R5ee1618829a64751" /><ns0:Relationship Id="rIdLink1" Type="http://schemas.openxmlformats.org/officeDocument/2006/relationships/hyperlink" Target="https://zeusk302-png.github.io/kdigital-physical-ai/#/sessions/2026-10-30/lesson" TargetMode="External" /><ns0:Relationship Id="rIdLink2" Type="http://schemas.openxmlformats.org/officeDocument/2006/relationships/hyperlink" Target="https://zeusk302-png.github.io/kdigital-physical-ai/#/sessions/2026-10-30/activity-A15" TargetMode="External" /><ns0:Relationship Id="rIdLink3" Type="http://schemas.openxmlformats.org/officeDocument/2006/relationships/hyperlink" Target="https://docs.python.org/3/library/json.html" TargetMode="External" /></ns0:Relationships>
</file>

<file path=ppt/slides/_rels/slide80.xml.rels><?xml version='1.0' encoding='utf-8'?>
<ns0:Relationships xmlns:ns0="http://schemas.openxmlformats.org/package/2006/relationships"><ns0:Relationship Type="http://schemas.openxmlformats.org/officeDocument/2006/relationships/slideLayout" Target="/ppt/slideLayouts/slideLayout1.xml" Id="R9b69f58614e24149" /><ns0:Relationship Type="http://schemas.openxmlformats.org/officeDocument/2006/relationships/notesSlide" Target="/ppt/notesSlides/notesSlide80.xml" Id="Rbbcb7c7db2434555" /><ns0:Relationship Id="rIdLink1" Type="http://schemas.openxmlformats.org/officeDocument/2006/relationships/hyperlink" Target="https://zeusk302-png.github.io/kdigital-physical-ai/#/sessions/2026-10-30/lesson" TargetMode="External" /><ns0:Relationship Id="rIdLink2" Type="http://schemas.openxmlformats.org/officeDocument/2006/relationships/hyperlink" Target="https://zeusk302-png.github.io/kdigital-physical-ai/#/sessions/2026-10-30/activity-A15" TargetMode="External" /><ns0:Relationship Id="rIdLink3" Type="http://schemas.openxmlformats.org/officeDocument/2006/relationships/hyperlink" Target="https://docs.python.org/3/library/json.html" TargetMode="External" /></ns0:Relationships>
</file>

<file path=ppt/slides/_rels/slide81.xml.rels><?xml version='1.0' encoding='utf-8'?>
<ns0:Relationships xmlns:ns0="http://schemas.openxmlformats.org/package/2006/relationships"><ns0:Relationship Type="http://schemas.openxmlformats.org/officeDocument/2006/relationships/slideLayout" Target="/ppt/slideLayouts/slideLayout1.xml" Id="Ra0b7ec8ba82d4e8f" /><ns0:Relationship Type="http://schemas.openxmlformats.org/officeDocument/2006/relationships/notesSlide" Target="/ppt/notesSlides/notesSlide81.xml" Id="R61e370479bd24ce0" /><ns0:Relationship Id="rIdLink1" Type="http://schemas.openxmlformats.org/officeDocument/2006/relationships/hyperlink" Target="https://zeusk302-png.github.io/kdigital-physical-ai/#/sessions/2026-10-30/lesson" TargetMode="External" /><ns0:Relationship Id="rIdLink2" Type="http://schemas.openxmlformats.org/officeDocument/2006/relationships/hyperlink" Target="https://zeusk302-png.github.io/kdigital-physical-ai/#/sessions/2026-10-30/activity-A15" TargetMode="External" /><ns0:Relationship Id="rIdLink3" Type="http://schemas.openxmlformats.org/officeDocument/2006/relationships/hyperlink" Target="https://docs.python.org/3/library/json.html" TargetMode="External" /></ns0:Relationships>
</file>

<file path=ppt/slides/_rels/slide82.xml.rels><?xml version='1.0' encoding='utf-8'?>
<ns0:Relationships xmlns:ns0="http://schemas.openxmlformats.org/package/2006/relationships"><ns0:Relationship Type="http://schemas.openxmlformats.org/officeDocument/2006/relationships/slideLayout" Target="/ppt/slideLayouts/slideLayout1.xml" Id="R1b84fae0231d400a" /><ns0:Relationship Type="http://schemas.openxmlformats.org/officeDocument/2006/relationships/notesSlide" Target="/ppt/notesSlides/notesSlide82.xml" Id="Rc3b7d53f7bb54dec" /><ns0:Relationship Id="rIdLink1" Type="http://schemas.openxmlformats.org/officeDocument/2006/relationships/hyperlink" Target="https://zeusk302-png.github.io/kdigital-physical-ai/#/sessions/2026-10-30/lesson" TargetMode="External" /><ns0:Relationship Id="rIdLink2" Type="http://schemas.openxmlformats.org/officeDocument/2006/relationships/hyperlink" Target="https://zeusk302-png.github.io/kdigital-physical-ai/#/sessions/2026-10-30/activity-A15" TargetMode="External" /><ns0:Relationship Id="rIdLink3" Type="http://schemas.openxmlformats.org/officeDocument/2006/relationships/hyperlink" Target="https://docs.python.org/3/library/json.html" TargetMode="External" /></ns0:Relationships>
</file>

<file path=ppt/slides/_rels/slide83.xml.rels><?xml version='1.0' encoding='utf-8'?>
<ns0:Relationships xmlns:ns0="http://schemas.openxmlformats.org/package/2006/relationships"><ns0:Relationship Type="http://schemas.openxmlformats.org/officeDocument/2006/relationships/slideLayout" Target="/ppt/slideLayouts/slideLayout1.xml" Id="Rc49a5464acb9426e" /><ns0:Relationship Type="http://schemas.openxmlformats.org/officeDocument/2006/relationships/notesSlide" Target="/ppt/notesSlides/notesSlide83.xml" Id="Ra4dadf12eaad4504" /><ns0:Relationship Id="rIdLink1" Type="http://schemas.openxmlformats.org/officeDocument/2006/relationships/hyperlink" Target="https://zeusk302-png.github.io/kdigital-physical-ai/#/sessions/2026-10-30/lesson" TargetMode="External" /><ns0:Relationship Id="rIdLink2" Type="http://schemas.openxmlformats.org/officeDocument/2006/relationships/hyperlink" Target="https://zeusk302-png.github.io/kdigital-physical-ai/#/sessions/2026-10-30/activity-A15" TargetMode="External" /><ns0:Relationship Id="rIdLink3" Type="http://schemas.openxmlformats.org/officeDocument/2006/relationships/hyperlink" Target="https://docs.python.org/3/library/json.html" TargetMode="External" /></ns0:Relationships>
</file>

<file path=ppt/slides/_rels/slide84.xml.rels><?xml version='1.0' encoding='utf-8'?>
<ns0:Relationships xmlns:ns0="http://schemas.openxmlformats.org/package/2006/relationships"><ns0:Relationship Type="http://schemas.openxmlformats.org/officeDocument/2006/relationships/slideLayout" Target="/ppt/slideLayouts/slideLayout1.xml" Id="Rbc10951ad200447f" /><ns0:Relationship Type="http://schemas.openxmlformats.org/officeDocument/2006/relationships/notesSlide" Target="/ppt/notesSlides/notesSlide84.xml" Id="R5d396d114da646a6" /><ns0:Relationship Id="rIdLink1" Type="http://schemas.openxmlformats.org/officeDocument/2006/relationships/hyperlink" Target="https://zeusk302-png.github.io/kdigital-physical-ai/#/sessions/2026-10-30/lesson" TargetMode="External" /><ns0:Relationship Id="rIdLink2" Type="http://schemas.openxmlformats.org/officeDocument/2006/relationships/hyperlink" Target="https://zeusk302-png.github.io/kdigital-physical-ai/#/sessions/2026-10-30/activity-A15" TargetMode="External" /><ns0:Relationship Id="rIdLink3" Type="http://schemas.openxmlformats.org/officeDocument/2006/relationships/hyperlink" Target="https://docs.python.org/3/library/json.html" TargetMode="External" /></ns0:Relationships>
</file>

<file path=ppt/slides/_rels/slide85.xml.rels><?xml version='1.0' encoding='utf-8'?>
<ns0:Relationships xmlns:ns0="http://schemas.openxmlformats.org/package/2006/relationships"><ns0:Relationship Type="http://schemas.openxmlformats.org/officeDocument/2006/relationships/slideLayout" Target="/ppt/slideLayouts/slideLayout1.xml" Id="Rd641cf598d8d4dda" /><ns0:Relationship Type="http://schemas.openxmlformats.org/officeDocument/2006/relationships/notesSlide" Target="/ppt/notesSlides/notesSlide85.xml" Id="R9d1ff27890724c45" /><ns0:Relationship Id="rIdLink1" Type="http://schemas.openxmlformats.org/officeDocument/2006/relationships/hyperlink" Target="https://zeusk302-png.github.io/kdigital-physical-ai/#/sessions/2026-10-30/lesson" TargetMode="External" /><ns0:Relationship Id="rIdLink2" Type="http://schemas.openxmlformats.org/officeDocument/2006/relationships/hyperlink" Target="https://zeusk302-png.github.io/kdigital-physical-ai/#/sessions/2026-10-30/activity-A15" TargetMode="External" /><ns0:Relationship Id="rIdLink3" Type="http://schemas.openxmlformats.org/officeDocument/2006/relationships/hyperlink" Target="https://docs.python.org/3/library/json.html" TargetMode="External" /></ns0:Relationships>
</file>

<file path=ppt/slides/_rels/slide86.xml.rels><?xml version='1.0' encoding='utf-8'?>
<ns0:Relationships xmlns:ns0="http://schemas.openxmlformats.org/package/2006/relationships"><ns0:Relationship Type="http://schemas.openxmlformats.org/officeDocument/2006/relationships/slideLayout" Target="/ppt/slideLayouts/slideLayout1.xml" Id="Rd84a7644eeee492b" /><ns0:Relationship Type="http://schemas.openxmlformats.org/officeDocument/2006/relationships/notesSlide" Target="/ppt/notesSlides/notesSlide86.xml" Id="R34e03bb1eccf428a" /><ns0:Relationship Id="rIdLink1" Type="http://schemas.openxmlformats.org/officeDocument/2006/relationships/hyperlink" Target="https://zeusk302-png.github.io/kdigital-physical-ai/#/sessions/2026-10-30/lesson" TargetMode="External" /><ns0:Relationship Id="rIdLink2" Type="http://schemas.openxmlformats.org/officeDocument/2006/relationships/hyperlink" Target="https://zeusk302-png.github.io/kdigital-physical-ai/#/sessions/2026-10-30/activity-A15" TargetMode="External" /><ns0:Relationship Id="rIdLink3" Type="http://schemas.openxmlformats.org/officeDocument/2006/relationships/hyperlink" Target="https://docs.python.org/3/library/csv.html" TargetMode="External" /></ns0:Relationships>
</file>

<file path=ppt/slides/_rels/slide87.xml.rels><?xml version='1.0' encoding='utf-8'?>
<ns0:Relationships xmlns:ns0="http://schemas.openxmlformats.org/package/2006/relationships"><ns0:Relationship Type="http://schemas.openxmlformats.org/officeDocument/2006/relationships/slideLayout" Target="/ppt/slideLayouts/slideLayout1.xml" Id="R3a23ba0a0c1e4f74" /><ns0:Relationship Type="http://schemas.openxmlformats.org/officeDocument/2006/relationships/notesSlide" Target="/ppt/notesSlides/notesSlide87.xml" Id="Red01e1869da04b8c" /><ns0:Relationship Id="rIdLink1" Type="http://schemas.openxmlformats.org/officeDocument/2006/relationships/hyperlink" Target="https://zeusk302-png.github.io/kdigital-physical-ai/#/sessions/2026-10-30/lesson" TargetMode="External" /><ns0:Relationship Id="rIdLink2" Type="http://schemas.openxmlformats.org/officeDocument/2006/relationships/hyperlink" Target="https://zeusk302-png.github.io/kdigital-physical-ai/#/sessions/2026-10-30/activity-A16" TargetMode="External" /><ns0:Relationship Id="rIdLink3" Type="http://schemas.openxmlformats.org/officeDocument/2006/relationships/hyperlink" Target="https://docs.python.org/3/library/csv.html" TargetMode="External" /></ns0:Relationships>
</file>

<file path=ppt/slides/_rels/slide88.xml.rels><?xml version='1.0' encoding='utf-8'?>
<ns0:Relationships xmlns:ns0="http://schemas.openxmlformats.org/package/2006/relationships"><ns0:Relationship Type="http://schemas.openxmlformats.org/officeDocument/2006/relationships/slideLayout" Target="/ppt/slideLayouts/slideLayout1.xml" Id="R2503da348e714a3c" /><ns0:Relationship Type="http://schemas.openxmlformats.org/officeDocument/2006/relationships/notesSlide" Target="/ppt/notesSlides/notesSlide88.xml" Id="R920a1451e46d433e" /><ns0:Relationship Id="rIdLink1" Type="http://schemas.openxmlformats.org/officeDocument/2006/relationships/hyperlink" Target="https://zeusk302-png.github.io/kdigital-physical-ai/#/sessions/2026-10-30/lesson" TargetMode="External" /><ns0:Relationship Id="rIdLink2" Type="http://schemas.openxmlformats.org/officeDocument/2006/relationships/hyperlink" Target="https://zeusk302-png.github.io/kdigital-physical-ai/#/sessions/2026-10-30/activity-A17" TargetMode="External" /><ns0:Relationship Id="rIdLink3" Type="http://schemas.openxmlformats.org/officeDocument/2006/relationships/hyperlink" Target="https://docs.python.org/3/library/csv.html" TargetMode="External" /></ns0:Relationships>
</file>

<file path=ppt/slides/_rels/slide89.xml.rels><?xml version='1.0' encoding='utf-8'?>
<ns0:Relationships xmlns:ns0="http://schemas.openxmlformats.org/package/2006/relationships"><ns0:Relationship Type="http://schemas.openxmlformats.org/officeDocument/2006/relationships/slideLayout" Target="/ppt/slideLayouts/slideLayout1.xml" Id="Rdf2c4cb6a0334c39" /><ns0:Relationship Type="http://schemas.openxmlformats.org/officeDocument/2006/relationships/notesSlide" Target="/ppt/notesSlides/notesSlide89.xml" Id="R5b219e27479a4b34" /><ns0:Relationship Id="rIdLink1" Type="http://schemas.openxmlformats.org/officeDocument/2006/relationships/hyperlink" Target="https://zeusk302-png.github.io/kdigital-physical-ai/#/sessions/2026-10-30/lesson" TargetMode="External" /><ns0:Relationship Id="rIdLink2" Type="http://schemas.openxmlformats.org/officeDocument/2006/relationships/hyperlink" Target="https://zeusk302-png.github.io/kdigital-physical-ai/#/sessions/2026-10-30/activity-A17" TargetMode="External" /><ns0:Relationship Id="rIdLink3" Type="http://schemas.openxmlformats.org/officeDocument/2006/relationships/hyperlink" Target="https://docs.python.org/3/library/csv.html" TargetMode="External" /></ns0:Relationships>
</file>

<file path=ppt/slides/_rels/slide90.xml.rels><?xml version='1.0' encoding='utf-8'?>
<ns0:Relationships xmlns:ns0="http://schemas.openxmlformats.org/package/2006/relationships"><ns0:Relationship Type="http://schemas.openxmlformats.org/officeDocument/2006/relationships/slideLayout" Target="/ppt/slideLayouts/slideLayout1.xml" Id="R428e3a1e2ef04153" /><ns0:Relationship Type="http://schemas.openxmlformats.org/officeDocument/2006/relationships/notesSlide" Target="/ppt/notesSlides/notesSlide90.xml" Id="Re799a1441911404c" /><ns0:Relationship Id="rIdLink1" Type="http://schemas.openxmlformats.org/officeDocument/2006/relationships/hyperlink" Target="https://zeusk302-png.github.io/kdigital-physical-ai/#/sessions/2026-10-30/lesson" TargetMode="External" /><ns0:Relationship Id="rIdLink2" Type="http://schemas.openxmlformats.org/officeDocument/2006/relationships/hyperlink" Target="https://zeusk302-png.github.io/kdigital-physical-ai/#/sessions/2026-10-30/activity-A18" TargetMode="External" /><ns0:Relationship Id="rIdLink3" Type="http://schemas.openxmlformats.org/officeDocument/2006/relationships/hyperlink" Target="https://docs.python.org/3/library/csv.html" TargetMode="External" /></ns0:Relationships>
</file>

<file path=ppt/slides/_rels/slide91.xml.rels><?xml version='1.0' encoding='utf-8'?>
<ns0:Relationships xmlns:ns0="http://schemas.openxmlformats.org/package/2006/relationships"><ns0:Relationship Type="http://schemas.openxmlformats.org/officeDocument/2006/relationships/slideLayout" Target="/ppt/slideLayouts/slideLayout1.xml" Id="R721b511afc724948" /><ns0:Relationship Type="http://schemas.openxmlformats.org/officeDocument/2006/relationships/notesSlide" Target="/ppt/notesSlides/notesSlide91.xml" Id="Rb2ec4549e8da4a22" /><ns0:Relationship Id="rIdLink1" Type="http://schemas.openxmlformats.org/officeDocument/2006/relationships/hyperlink" Target="https://zeusk302-png.github.io/kdigital-physical-ai/#/sessions/2026-10-30/lesson" TargetMode="External" /><ns0:Relationship Id="rIdLink2" Type="http://schemas.openxmlformats.org/officeDocument/2006/relationships/hyperlink" Target="https://zeusk302-png.github.io/kdigital-physical-ai/#/sessions/2026-10-30/activity-A18" TargetMode="External" /><ns0:Relationship Id="rIdLink3" Type="http://schemas.openxmlformats.org/officeDocument/2006/relationships/hyperlink" Target="https://docs.python.org/3/library/csv.html" TargetMode="External" /></ns0:Relationships>
</file>

<file path=ppt/slides/_rels/slide92.xml.rels><?xml version='1.0' encoding='utf-8'?>
<ns0:Relationships xmlns:ns0="http://schemas.openxmlformats.org/package/2006/relationships"><ns0:Relationship Type="http://schemas.openxmlformats.org/officeDocument/2006/relationships/slideLayout" Target="/ppt/slideLayouts/slideLayout1.xml" Id="R862eadf51b29463a" /><ns0:Relationship Type="http://schemas.openxmlformats.org/officeDocument/2006/relationships/notesSlide" Target="/ppt/notesSlides/notesSlide92.xml" Id="R57e18d252437490c" /><ns0:Relationship Id="rIdLink1" Type="http://schemas.openxmlformats.org/officeDocument/2006/relationships/hyperlink" Target="https://zeusk302-png.github.io/kdigital-physical-ai/#/sessions/2026-10-30/lesson" TargetMode="External" /><ns0:Relationship Id="rIdLink2" Type="http://schemas.openxmlformats.org/officeDocument/2006/relationships/hyperlink" Target="https://zeusk302-png.github.io/kdigital-physical-ai/#/sessions/2026-10-30/activity-A18" TargetMode="External" /><ns0:Relationship Id="rIdLink3" Type="http://schemas.openxmlformats.org/officeDocument/2006/relationships/hyperlink" Target="https://docs.python.org/3/library/csv.html" TargetMode="External" /></ns0:Relationships>
</file>

<file path=ppt/slides/_rels/slide93.xml.rels><?xml version='1.0' encoding='utf-8'?>
<ns0:Relationships xmlns:ns0="http://schemas.openxmlformats.org/package/2006/relationships"><ns0:Relationship Type="http://schemas.openxmlformats.org/officeDocument/2006/relationships/slideLayout" Target="/ppt/slideLayouts/slideLayout1.xml" Id="R0db2a0f6b1f64dbf" /><ns0:Relationship Type="http://schemas.openxmlformats.org/officeDocument/2006/relationships/notesSlide" Target="/ppt/notesSlides/notesSlide93.xml" Id="R9fe3ae8662bb48d6" /><ns0:Relationship Id="rIdLink1" Type="http://schemas.openxmlformats.org/officeDocument/2006/relationships/hyperlink" Target="https://zeusk302-png.github.io/kdigital-physical-ai/#/sessions/2026-10-30/lesson" TargetMode="External" /><ns0:Relationship Id="rIdLink2" Type="http://schemas.openxmlformats.org/officeDocument/2006/relationships/hyperlink" Target="https://zeusk302-png.github.io/kdigital-physical-ai/#/sessions/2026-10-30/activity-A18" TargetMode="External" /><ns0:Relationship Id="rIdLink3" Type="http://schemas.openxmlformats.org/officeDocument/2006/relationships/hyperlink" Target="https://docs.python.org/3/library/csv.html" TargetMode="External" /></ns0:Relationships>
</file>

<file path=ppt/slides/_rels/slide94.xml.rels><?xml version='1.0' encoding='utf-8'?>
<ns0:Relationships xmlns:ns0="http://schemas.openxmlformats.org/package/2006/relationships"><ns0:Relationship Type="http://schemas.openxmlformats.org/officeDocument/2006/relationships/slideLayout" Target="/ppt/slideLayouts/slideLayout1.xml" Id="R3bd0e045b1054c95" /><ns0:Relationship Type="http://schemas.openxmlformats.org/officeDocument/2006/relationships/notesSlide" Target="/ppt/notesSlides/notesSlide94.xml" Id="R878317a782ac4de9" /><ns0:Relationship Id="rIdLink1" Type="http://schemas.openxmlformats.org/officeDocument/2006/relationships/hyperlink" Target="https://zeusk302-png.github.io/kdigital-physical-ai/#/sessions/2026-10-30/lesson" TargetMode="External" /><ns0:Relationship Id="rIdLink2" Type="http://schemas.openxmlformats.org/officeDocument/2006/relationships/hyperlink" Target="https://zeusk302-png.github.io/kdigital-physical-ai/#/sessions/2026-10-30/activity-A18" TargetMode="External" /><ns0:Relationship Id="rIdLink3" Type="http://schemas.openxmlformats.org/officeDocument/2006/relationships/hyperlink" Target="https://docs.python.org/3/library/csv.html" TargetMode="External" /></ns0:Relationships>
</file>

<file path=ppt/slides/_rels/slide95.xml.rels><?xml version='1.0' encoding='utf-8'?>
<ns0:Relationships xmlns:ns0="http://schemas.openxmlformats.org/package/2006/relationships"><ns0:Relationship Type="http://schemas.openxmlformats.org/officeDocument/2006/relationships/slideLayout" Target="/ppt/slideLayouts/slideLayout1.xml" Id="Rc4774db2043448cc" /><ns0:Relationship Type="http://schemas.openxmlformats.org/officeDocument/2006/relationships/notesSlide" Target="/ppt/notesSlides/notesSlide95.xml" Id="R95b048e7caf44191" /><ns0:Relationship Id="rIdLink1" Type="http://schemas.openxmlformats.org/officeDocument/2006/relationships/hyperlink" Target="https://zeusk302-png.github.io/kdigital-physical-ai/#/sessions/2026-10-30/lesson" TargetMode="External" /><ns0:Relationship Id="rIdLink2" Type="http://schemas.openxmlformats.org/officeDocument/2006/relationships/hyperlink" Target="https://zeusk302-png.github.io/kdigital-physical-ai/#/sessions/2026-10-30/activity-A18" TargetMode="External" /><ns0:Relationship Id="rIdLink3" Type="http://schemas.openxmlformats.org/officeDocument/2006/relationships/hyperlink" Target="https://docs.python.org/3/library/csv.html" TargetMode="External" /></ns0:Relationships>
</file>

<file path=ppt/slides/_rels/slide96.xml.rels><?xml version='1.0' encoding='utf-8'?>
<ns0:Relationships xmlns:ns0="http://schemas.openxmlformats.org/package/2006/relationships"><ns0:Relationship Type="http://schemas.openxmlformats.org/officeDocument/2006/relationships/slideLayout" Target="/ppt/slideLayouts/slideLayout1.xml" Id="Rf41651d73a834c21" /><ns0:Relationship Type="http://schemas.openxmlformats.org/officeDocument/2006/relationships/notesSlide" Target="/ppt/notesSlides/notesSlide96.xml" Id="R459ad5b8c65340f0" /><ns0:Relationship Id="rIdLink1" Type="http://schemas.openxmlformats.org/officeDocument/2006/relationships/hyperlink" Target="https://zeusk302-png.github.io/kdigital-physical-ai/#/sessions/2026-10-30/lesson" TargetMode="External" /><ns0:Relationship Id="rIdLink2" Type="http://schemas.openxmlformats.org/officeDocument/2006/relationships/hyperlink" Target="https://zeusk302-png.github.io/kdigital-physical-ai/#/sessions/2026-10-30/activity-A18" TargetMode="External" /><ns0:Relationship Id="rIdLink3" Type="http://schemas.openxmlformats.org/officeDocument/2006/relationships/hyperlink" Target="https://docs.python.org/3/library/csv.html" TargetMode="External" /></ns0:Relationships>
</file>

<file path=ppt/slides/_rels/slide97.xml.rels><?xml version='1.0' encoding='utf-8'?>
<ns0:Relationships xmlns:ns0="http://schemas.openxmlformats.org/package/2006/relationships"><ns0:Relationship Type="http://schemas.openxmlformats.org/officeDocument/2006/relationships/slideLayout" Target="/ppt/slideLayouts/slideLayout1.xml" Id="R0504d5a2742b4924" /><ns0:Relationship Type="http://schemas.openxmlformats.org/officeDocument/2006/relationships/notesSlide" Target="/ppt/notesSlides/notesSlide97.xml" Id="R9a0aa18fdc23482e" /><ns0:Relationship Id="rIdLink1" Type="http://schemas.openxmlformats.org/officeDocument/2006/relationships/hyperlink" Target="https://zeusk302-png.github.io/kdigital-physical-ai/#/sessions/2026-10-30/lesson" TargetMode="External" /><ns0:Relationship Id="rIdLink2" Type="http://schemas.openxmlformats.org/officeDocument/2006/relationships/hyperlink" Target="https://zeusk302-png.github.io/kdigital-physical-ai/#/sessions/2026-10-30/activity-A18" TargetMode="External" /><ns0:Relationship Id="rIdLink3" Type="http://schemas.openxmlformats.org/officeDocument/2006/relationships/hyperlink" Target="https://docs.python.org/3/library/csv.html" TargetMode="External" /></ns0:Relationships>
</file>

<file path=ppt/slides/_rels/slide98.xml.rels><?xml version='1.0' encoding='utf-8'?>
<ns0:Relationships xmlns:ns0="http://schemas.openxmlformats.org/package/2006/relationships"><ns0:Relationship Type="http://schemas.openxmlformats.org/officeDocument/2006/relationships/slideLayout" Target="/ppt/slideLayouts/slideLayout1.xml" Id="Radaa47b72ed44ac9" /><ns0:Relationship Type="http://schemas.openxmlformats.org/officeDocument/2006/relationships/notesSlide" Target="/ppt/notesSlides/notesSlide98.xml" Id="R9898f1280c8d46cd" /><ns0:Relationship Id="rIdLink1" Type="http://schemas.openxmlformats.org/officeDocument/2006/relationships/hyperlink" Target="https://zeusk302-png.github.io/kdigital-physical-ai/#/sessions/2026-10-30/lesson" TargetMode="External" /><ns0:Relationship Id="rIdLink2" Type="http://schemas.openxmlformats.org/officeDocument/2006/relationships/hyperlink" Target="https://zeusk302-png.github.io/kdigital-physical-ai/#/sessions/2026-10-30/activity-A18" TargetMode="External" /><ns0:Relationship Id="rIdLink3" Type="http://schemas.openxmlformats.org/officeDocument/2006/relationships/hyperlink" Target="https://docs.python.org/3/library/csv.html" TargetMode="External" /></ns0:Relationships>
</file>

<file path=ppt/slides/_rels/slide99.xml.rels><?xml version='1.0' encoding='utf-8'?>
<ns0:Relationships xmlns:ns0="http://schemas.openxmlformats.org/package/2006/relationships"><ns0:Relationship Type="http://schemas.openxmlformats.org/officeDocument/2006/relationships/slideLayout" Target="/ppt/slideLayouts/slideLayout1.xml" Id="Re4af93c910bb402b" /><ns0:Relationship Type="http://schemas.openxmlformats.org/officeDocument/2006/relationships/notesSlide" Target="/ppt/notesSlides/notesSlide99.xml" Id="R46693c9c6dd34a2e" /><ns0:Relationship Id="rIdLink1" Type="http://schemas.openxmlformats.org/officeDocument/2006/relationships/hyperlink" Target="https://zeusk302-png.github.io/kdigital-physical-ai/#/sessions/2026-10-30/lesson" TargetMode="External" /><ns0:Relationship Id="rIdLink2" Type="http://schemas.openxmlformats.org/officeDocument/2006/relationships/hyperlink" Target="https://zeusk302-png.github.io/kdigital-physical-ai/#/sessions/2026-10-30/activity-A18" TargetMode="External" /><ns0:Relationship Id="rIdLink3" Type="http://schemas.openxmlformats.org/officeDocument/2006/relationships/hyperlink" Target="https://docs.python.org/3/library/csv.html" TargetMode="External" /></ns0:Relationships>
</file>

<file path=ppt/slides/_rels/slide100.xml.rels><?xml version='1.0' encoding='utf-8'?>
<ns0:Relationships xmlns:ns0="http://schemas.openxmlformats.org/package/2006/relationships"><ns0:Relationship Type="http://schemas.openxmlformats.org/officeDocument/2006/relationships/slideLayout" Target="/ppt/slideLayouts/slideLayout1.xml" Id="R6aa25eab68c245f5" /><ns0:Relationship Type="http://schemas.openxmlformats.org/officeDocument/2006/relationships/notesSlide" Target="/ppt/notesSlides/notesSlide100.xml" Id="Reabacc757849410b" /><ns0:Relationship Id="rIdLink1" Type="http://schemas.openxmlformats.org/officeDocument/2006/relationships/hyperlink" Target="https://zeusk302-png.github.io/kdigital-physical-ai/#/sessions/2026-10-30/lesson" TargetMode="External" /><ns0:Relationship Id="rIdLink2" Type="http://schemas.openxmlformats.org/officeDocument/2006/relationships/hyperlink" Target="https://zeusk302-png.github.io/kdigital-physical-ai/#/sessions/2026-10-30/activity-A18" TargetMode="External" /><ns0:Relationship Id="rIdLink3" Type="http://schemas.openxmlformats.org/officeDocument/2006/relationships/hyperlink" Target="https://docs.python.org/3/library/csv.html" TargetMode="External" /></ns0:Relationships>
</file>

<file path=ppt/slides/_rels/slide101.xml.rels><?xml version='1.0' encoding='utf-8'?>
<ns0:Relationships xmlns:ns0="http://schemas.openxmlformats.org/package/2006/relationships"><ns0:Relationship Type="http://schemas.openxmlformats.org/officeDocument/2006/relationships/slideLayout" Target="/ppt/slideLayouts/slideLayout1.xml" Id="R8a7c21438bf74fef" /><ns0:Relationship Type="http://schemas.openxmlformats.org/officeDocument/2006/relationships/notesSlide" Target="/ppt/notesSlides/notesSlide101.xml" Id="Rfc673c097ad74a1f" /><ns0:Relationship Id="rIdLink1" Type="http://schemas.openxmlformats.org/officeDocument/2006/relationships/hyperlink" Target="https://zeusk302-png.github.io/kdigital-physical-ai/#/sessions/2026-10-30/lesson" TargetMode="External" /><ns0:Relationship Id="rIdLink2" Type="http://schemas.openxmlformats.org/officeDocument/2006/relationships/hyperlink" Target="https://zeusk302-png.github.io/kdigital-physical-ai/#/sessions/2026-10-30/activity-A18" TargetMode="External" /><ns0:Relationship Id="rIdLink3" Type="http://schemas.openxmlformats.org/officeDocument/2006/relationships/hyperlink" Target="https://docs.python.org/3/library/csv.html" TargetMode="External" /></ns0:Relationships>
</file>

<file path=ppt/slides/_rels/slide102.xml.rels><?xml version='1.0' encoding='utf-8'?>
<ns0:Relationships xmlns:ns0="http://schemas.openxmlformats.org/package/2006/relationships"><ns0:Relationship Type="http://schemas.openxmlformats.org/officeDocument/2006/relationships/slideLayout" Target="/ppt/slideLayouts/slideLayout1.xml" Id="R1829cc8981984c03" /><ns0:Relationship Type="http://schemas.openxmlformats.org/officeDocument/2006/relationships/notesSlide" Target="/ppt/notesSlides/notesSlide102.xml" Id="R2f5c76c2a90240c9" /><ns0:Relationship Id="rIdLink1" Type="http://schemas.openxmlformats.org/officeDocument/2006/relationships/hyperlink" Target="https://zeusk302-png.github.io/kdigital-physical-ai/#/sessions/2026-10-30/lesson" TargetMode="External" /><ns0:Relationship Id="rIdLink2" Type="http://schemas.openxmlformats.org/officeDocument/2006/relationships/hyperlink" Target="https://zeusk302-png.github.io/kdigital-physical-ai/#/sessions/2026-10-30/activity-A18" TargetMode="External" /><ns0:Relationship Id="rIdLink3" Type="http://schemas.openxmlformats.org/officeDocument/2006/relationships/hyperlink" Target="https://docs.python.org/3/library/csv.html" TargetMode="External" /></ns0:Relationships>
</file>

<file path=ppt/slides/_rels/slide103.xml.rels><?xml version='1.0' encoding='utf-8'?>
<ns0:Relationships xmlns:ns0="http://schemas.openxmlformats.org/package/2006/relationships"><ns0:Relationship Type="http://schemas.openxmlformats.org/officeDocument/2006/relationships/slideLayout" Target="/ppt/slideLayouts/slideLayout1.xml" Id="Ref045d78088e432f" /><ns0:Relationship Type="http://schemas.openxmlformats.org/officeDocument/2006/relationships/notesSlide" Target="/ppt/notesSlides/notesSlide103.xml" Id="R3f0dce1aff634d54" /><ns0:Relationship Id="rIdLink1" Type="http://schemas.openxmlformats.org/officeDocument/2006/relationships/hyperlink" Target="https://zeusk302-png.github.io/kdigital-physical-ai/#/sessions/2026-10-30/lesson" TargetMode="External" /><ns0:Relationship Id="rIdLink2" Type="http://schemas.openxmlformats.org/officeDocument/2006/relationships/hyperlink" Target="https://zeusk302-png.github.io/kdigital-physical-ai/#/sessions/2026-10-30/practice" TargetMode="External" /><ns0:Relationship Id="rIdLink3" Type="http://schemas.openxmlformats.org/officeDocument/2006/relationships/hyperlink" Target="https://docs.python.org/3/tutorial/introduction.html#lists" TargetMode="External" /><ns0:Relationship Id="rIdLink4" Type="http://schemas.openxmlformats.org/officeDocument/2006/relationships/hyperlink" Target="https://zeusk302-png.github.io/kdigital-physical-ai/#/sessions/2026-10-30/start" TargetMode="External" /><ns0:Relationship Id="rIdLink5" Type="http://schemas.openxmlformats.org/officeDocument/2006/relationships/hyperlink" Target="https://zeusk302-png.github.io/kdigital-physical-ai/#/sessions/2026-10-30/lesson" TargetMode="External" /><ns0:Relationship Id="rIdLink6" Type="http://schemas.openxmlformats.org/officeDocument/2006/relationships/hyperlink" Target="https://zeusk302-png.github.io/kdigital-physical-ai/#/sessions/2026-10-30/workbook" TargetMode="External" /><ns0:Relationship Id="rIdLink7" Type="http://schemas.openxmlformats.org/officeDocument/2006/relationships/hyperlink" Target="https://zeusk302-png.github.io/kdigital-physical-ai/downloads/2026-10-30/student-examples.zip" TargetMode="External" /><ns0:Relationship Id="rIdLink8" Type="http://schemas.openxmlformats.org/officeDocument/2006/relationships/hyperlink" Target="https://zeusk302-png.github.io/kdigital-physical-ai/#/sessions/2026-10-30/files" TargetMode="External" /></ns0:Relationships>
</file>

<file path=ppt/slides/_rels/slide104.xml.rels><?xml version='1.0' encoding='utf-8'?>
<ns0:Relationships xmlns:ns0="http://schemas.openxmlformats.org/package/2006/relationships"><ns0:Relationship Type="http://schemas.openxmlformats.org/officeDocument/2006/relationships/slideLayout" Target="/ppt/slideLayouts/slideLayout1.xml" Id="R16a84e09216d4a8e" /><ns0:Relationship Type="http://schemas.openxmlformats.org/officeDocument/2006/relationships/notesSlide" Target="/ppt/notesSlides/notesSlide104.xml" Id="R60156cd106ac4672" /><ns0:Relationship Id="rIdLink1" Type="http://schemas.openxmlformats.org/officeDocument/2006/relationships/hyperlink" Target="https://zeusk302-png.github.io/kdigital-physical-ai/#/sessions/2026-10-30/lesson" TargetMode="External" /><ns0:Relationship Id="rIdLink2" Type="http://schemas.openxmlformats.org/officeDocument/2006/relationships/hyperlink" Target="https://zeusk302-png.github.io/kdigital-physical-ai/#/sessions/2026-10-30/practice" TargetMode="External" /><ns0:Relationship Id="rIdLink3" Type="http://schemas.openxmlformats.org/officeDocument/2006/relationships/hyperlink" Target="https://docs.python.org/3/tutorial/introduction.html#lists" TargetMode="External" /><ns0:Relationship Id="rIdLink4" Type="http://schemas.openxmlformats.org/officeDocument/2006/relationships/hyperlink" Target="https://docs.python.org/3/tutorial/introduction.html#lists" TargetMode="External" /><ns0:Relationship Id="rIdLink5" Type="http://schemas.openxmlformats.org/officeDocument/2006/relationships/hyperlink" Target="https://docs.python.org/3/library/json.html" TargetMode="External" /><ns0:Relationship Id="rIdLink6" Type="http://schemas.openxmlformats.org/officeDocument/2006/relationships/hyperlink" Target="https://docs.python.org/3/library/csv.html" TargetMode="External" /></ns0:Relationships>
</file>

<file path=ppt/slides/slide1.xml><?xml version="1.0" encoding="utf-8"?>
<p:sld xmlns:a="http://schemas.openxmlformats.org/drawingml/2006/main" xmlns:ns3="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pic>
        <p:nvPicPr>
          <p:cNvPr id="12" name=""/>
          <p:cNvPicPr>
            <a:picLocks noChangeAspect="1"/>
          </p:cNvPicPr>
          <p:nvPr/>
        </p:nvPicPr>
        <p:blipFill>
          <a:blip r:embed="R247e712d70c6432a"/>
          <a:srcRect l="0" t="27" r="0" b="27"/>
          <a:stretch>
            <a:fillRect l="0" t="0" r="0" b="0"/>
          </a:stretch>
        </p:blipFill>
        <p:spPr>
          <a:xfrm>
            <a:off x="0" y="0"/>
            <a:ext cx="12192000" cy="6858000"/>
          </a:xfrm>
          <a:prstGeom prst="rect">
            <a:avLst/>
          </a:prstGeom>
        </p:spPr>
      </p:pic>
      <p:sp>
        <p:nvSpPr>
          <p:cNvPr id="2" name="">
            <a:extLst>
              <a:ext uri="{FF2B5EF4-FFF2-40B4-BE49-F238E27FC236}">
                <ns3:creationId id="{AF0CE76D-7CCD-46B1-884C-3B222C82D404}"/>
              </a:ext>
            </a:extLst>
          </p:cNvPr>
          <p:cNvSpPr>
            <a:spLocks noGrp="1"/>
          </p:cNvSpPr>
          <p:nvPr/>
        </p:nvSpPr>
        <p:spPr>
          <a:xfrm>
            <a:off x="685800" y="733425"/>
            <a:ext cx="5715000" cy="428625"/>
          </a:xfrm>
          <a:prstGeom prst="rect">
            <a:avLst/>
          </a:prstGeom>
          <a:noFill/>
          <a:ln w="0">
            <a:noFill/>
          </a:ln>
        </p:spPr>
        <p:txBody>
          <a:bodyPr wrap="square" lIns="0" tIns="0" rIns="0" bIns="0">
            <a:noAutofit/>
          </a:bodyPr>
          <a:lstStyle/>
          <a:p>
            <a:pPr>
              <a:defRPr sz="1800" b="1">
                <a:solidFill>
                  <a:srgbClr val="08786F"/>
                </a:solidFill>
                <a:latin typeface="Noto Sans KR"/>
                <a:ea typeface="Noto Sans KR"/>
                <a:cs typeface="Noto Sans KR"/>
              </a:defRPr>
            </a:pPr>
            <a:r>
              <a:t>피지컬AI 직무훈련</a:t>
            </a:r>
          </a:p>
        </p:txBody>
      </p:sp>
      <p:sp>
        <p:nvSpPr>
          <p:cNvPr id="3" name="">
            <a:extLst>
              <a:ext uri="{FF2B5EF4-FFF2-40B4-BE49-F238E27FC236}">
                <ns3:creationId id="{71A80E45-550C-49D7-8CDD-A3D26C7DD8E1}"/>
              </a:ext>
            </a:extLst>
          </p:cNvPr>
          <p:cNvSpPr>
            <a:spLocks noGrp="1"/>
          </p:cNvSpPr>
          <p:nvPr/>
        </p:nvSpPr>
        <p:spPr>
          <a:xfrm>
            <a:off x="685800" y="1562100"/>
            <a:ext cx="5667375" cy="2571750"/>
          </a:xfrm>
          <a:prstGeom prst="rect">
            <a:avLst/>
          </a:prstGeom>
          <a:noFill/>
          <a:ln w="0">
            <a:noFill/>
          </a:ln>
        </p:spPr>
        <p:txBody>
          <a:bodyPr wrap="square" lIns="0" tIns="0" rIns="0" bIns="0">
            <a:noAutofit/>
          </a:bodyPr>
          <a:lstStyle/>
          <a:p>
            <a:pPr>
              <a:defRPr sz="4650" b="1">
                <a:solidFill>
                  <a:srgbClr val="172F39"/>
                </a:solidFill>
                <a:latin typeface="Noto Sans KR"/>
                <a:ea typeface="Noto Sans KR"/>
                <a:cs typeface="Noto Sans KR"/>
              </a:defRPr>
            </a:pPr>
            <a:r>
              <a:t>프로젝트 기획</a:t>
            </a:r>
          </a:p>
        </p:txBody>
      </p:sp>
      <p:sp>
        <p:nvSpPr>
          <p:cNvPr id="4" name="">
            <a:extLst>
              <a:ext uri="{FF2B5EF4-FFF2-40B4-BE49-F238E27FC236}">
                <ns3:creationId id="{8C4C989E-3E28-472A-A928-C132DEABCAAF}"/>
              </a:ext>
            </a:extLst>
          </p:cNvPr>
          <p:cNvSpPr>
            <a:spLocks noGrp="1"/>
          </p:cNvSpPr>
          <p:nvPr/>
        </p:nvSpPr>
        <p:spPr>
          <a:xfrm>
            <a:off x="685800" y="4267200"/>
            <a:ext cx="5619750" cy="395288"/>
          </a:xfrm>
          <a:prstGeom prst="rect">
            <a:avLst/>
          </a:prstGeom>
          <a:noFill/>
          <a:ln w="0">
            <a:noFill/>
          </a:ln>
        </p:spPr>
        <p:txBody>
          <a:bodyPr wrap="square" lIns="0" tIns="0" rIns="0" bIns="0">
            <a:noAutofit/>
          </a:bodyPr>
          <a:lstStyle/>
          <a:p>
            <a:pPr>
              <a:defRPr sz="1875" b="0">
                <a:solidFill>
                  <a:srgbClr val="52636B"/>
                </a:solidFill>
                <a:latin typeface="Noto Sans KR"/>
                <a:ea typeface="Noto Sans KR"/>
                <a:cs typeface="Noto Sans KR"/>
              </a:defRPr>
            </a:pPr>
            <a:r>
              <a:t>2026-10-30</a:t>
            </a:r>
          </a:p>
        </p:txBody>
      </p:sp>
      <p:sp>
        <p:nvSpPr>
          <p:cNvPr id="5" name="">
            <a:extLst>
              <a:ext uri="{FF2B5EF4-FFF2-40B4-BE49-F238E27FC236}">
                <ns3:creationId id="{9510DE5C-9A24-4252-8FF2-082D33A88C78}"/>
              </a:ext>
            </a:extLst>
          </p:cNvPr>
          <p:cNvSpPr>
            <a:spLocks noGrp="1"/>
          </p:cNvSpPr>
          <p:nvPr/>
        </p:nvSpPr>
        <p:spPr>
          <a:xfrm>
            <a:off x="685800" y="4710113"/>
            <a:ext cx="5619750" cy="395288"/>
          </a:xfrm>
          <a:prstGeom prst="rect">
            <a:avLst/>
          </a:prstGeom>
          <a:noFill/>
          <a:ln w="0">
            <a:noFill/>
          </a:ln>
        </p:spPr>
        <p:txBody>
          <a:bodyPr wrap="square" lIns="0" tIns="0" rIns="0" bIns="0">
            <a:noAutofit/>
          </a:bodyPr>
          <a:lstStyle/>
          <a:p>
            <a:pPr>
              <a:defRPr sz="1875" b="0">
                <a:solidFill>
                  <a:srgbClr val="52636B"/>
                </a:solidFill>
                <a:latin typeface="Noto Sans KR"/>
                <a:ea typeface="Noto Sans KR"/>
                <a:cs typeface="Noto Sans KR"/>
              </a:defRPr>
            </a:pPr>
            <a:r>
              <a:t>실습실의 대여·반납 관리 프로그램을 기획합니다.</a:t>
            </a:r>
          </a:p>
        </p:txBody>
      </p:sp>
      <p:sp>
        <p:nvSpPr>
          <p:cNvPr id="6" name="">
            <a:extLst>
              <a:ext uri="{FF2B5EF4-FFF2-40B4-BE49-F238E27FC236}">
                <ns3:creationId id="{747914C6-596C-4762-90B7-F078F708792A}"/>
              </a:ext>
            </a:extLst>
          </p:cNvPr>
          <p:cNvSpPr>
            <a:spLocks noGrp="1"/>
          </p:cNvSpPr>
          <p:nvPr/>
        </p:nvSpPr>
        <p:spPr>
          <a:xfrm>
            <a:off x="685800" y="5153025"/>
            <a:ext cx="5619750" cy="676275"/>
          </a:xfrm>
          <a:prstGeom prst="rect">
            <a:avLst/>
          </a:prstGeom>
          <a:noFill/>
          <a:ln w="0">
            <a:noFill/>
          </a:ln>
        </p:spPr>
        <p:txBody>
          <a:bodyPr wrap="square" lIns="0" tIns="0" rIns="0" bIns="0">
            <a:noAutofit/>
          </a:bodyPr>
          <a:lstStyle/>
          <a:p>
            <a:pPr>
              <a:defRPr sz="1875" b="0">
                <a:solidFill>
                  <a:srgbClr val="52636B"/>
                </a:solidFill>
                <a:latin typeface="Noto Sans KR"/>
                <a:ea typeface="Noto Sans KR"/>
                <a:cs typeface="Noto Sans KR"/>
              </a:defRPr>
            </a:pPr>
            <a:r>
              <a:t>예제 자료로 연습하며, 실제 장비 시험은 별도로 진행합니다.</a:t>
            </a:r>
          </a:p>
        </p:txBody>
      </p:sp>
      <p:sp>
        <p:nvSpPr>
          <p:cNvPr id="7" name="">
            <a:extLst>
              <a:ext uri="{FF2B5EF4-FFF2-40B4-BE49-F238E27FC236}">
                <ns3:creationId id="{D7637AC7-E382-4369-A9A6-A0F72CE56571}"/>
              </a:ext>
            </a:extLst>
          </p:cNvPr>
          <p:cNvSpPr>
            <a:spLocks noGrp="1"/>
          </p:cNvSpPr>
          <p:nvPr/>
        </p:nvSpPr>
        <p:spPr>
          <a:xfrm>
            <a:off x="685800" y="6172200"/>
            <a:ext cx="10820400" cy="9525"/>
          </a:xfrm>
          <a:prstGeom prst="rect">
            <a:avLst/>
          </a:prstGeom>
          <a:solidFill>
            <a:srgbClr val="D5DEDD"/>
          </a:solidFill>
          <a:ln w="0">
            <a:noFill/>
          </a:ln>
        </p:spPr>
      </p:sp>
      <p:sp>
        <p:nvSpPr>
          <p:cNvPr id="8" name="">
            <a:extLst>
              <a:ext uri="{FF2B5EF4-FFF2-40B4-BE49-F238E27FC236}">
                <ns3:creationId id="{CDE47151-0D9E-4F2F-8825-9E2A4B89F182}"/>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9" name="">
            <a:extLst>
              <a:ext uri="{FF2B5EF4-FFF2-40B4-BE49-F238E27FC236}">
                <ns3:creationId id="{DDE61D65-2DBD-49A4-8F37-847E94091469}"/>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0" name="">
            <a:extLst>
              <a:ext uri="{FF2B5EF4-FFF2-40B4-BE49-F238E27FC236}">
                <ns3:creationId id="{C498571A-AAE8-43FF-BC0E-FB068604A8F0}"/>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1" name="">
            <a:extLst>
              <a:ext uri="{FF2B5EF4-FFF2-40B4-BE49-F238E27FC236}">
                <ns3:creationId id="{558696C0-4F82-4083-8299-5CE8F8D2AE9E}"/>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10/30   001</a:t>
            </a:r>
          </a:p>
        </p:txBody>
      </p:sp>
    </p:spTree>
    <p:extLst>
      <p:ext uri="{BB962C8B-B14F-4D97-AF65-F5344CB8AC3E}">
        <ns4:creationId val="394126563"/>
      </p:ext>
    </p:extLst>
  </p:cSld>
</p:sld>
</file>

<file path=ppt/slides/slide2.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4" name="">
            <a:extLst>
              <a:ext uri="{FF2B5EF4-FFF2-40B4-BE49-F238E27FC236}">
                <ns2:creationId id="{77679CAC-0306-4BAC-9575-1D4AF2672A68}"/>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10/30 수업</a:t>
            </a:r>
          </a:p>
        </p:txBody>
      </p:sp>
      <p:sp>
        <p:nvSpPr>
          <p:cNvPr id="2" name="">
            <a:extLst>
              <a:ext uri="{FF2B5EF4-FFF2-40B4-BE49-F238E27FC236}">
                <ns2:creationId id="{DC4824E0-6BDB-4DDB-A0DD-FF87176FB61D}"/>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자료 폴더와 학생 작업 파일</a:t>
            </a:r>
          </a:p>
        </p:txBody>
      </p:sp>
      <p:sp>
        <p:nvSpPr>
          <p:cNvPr id="3" name="">
            <a:extLst>
              <a:ext uri="{FF2B5EF4-FFF2-40B4-BE49-F238E27FC236}">
                <ns2:creationId id="{5D69C249-2888-4074-816B-50815191ED27}"/>
              </a:ext>
            </a:extLst>
          </p:cNvPr>
          <p:cNvSpPr>
            <a:spLocks noGrp="1"/>
          </p:cNvSpPr>
          <p:nvPr/>
        </p:nvSpPr>
        <p:spPr>
          <a:xfrm>
            <a:off x="685800" y="1933575"/>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data: 실습에 사용할 자료</a:t>
            </a:r>
          </a:p>
        </p:txBody>
      </p:sp>
      <p:sp>
        <p:nvSpPr>
          <p:cNvPr id="4" name="">
            <a:extLst>
              <a:ext uri="{FF2B5EF4-FFF2-40B4-BE49-F238E27FC236}">
                <ns2:creationId id="{7C955971-4A70-49DA-B78D-84BC47FC9A12}"/>
              </a:ext>
            </a:extLst>
          </p:cNvPr>
          <p:cNvSpPr>
            <a:spLocks noGrp="1"/>
          </p:cNvSpPr>
          <p:nvPr/>
        </p:nvSpPr>
        <p:spPr>
          <a:xfrm>
            <a:off x="685800" y="2432685"/>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code: 강사가 보여 줄 예제 코드</a:t>
            </a:r>
          </a:p>
        </p:txBody>
      </p:sp>
      <p:sp>
        <p:nvSpPr>
          <p:cNvPr id="5" name="">
            <a:extLst>
              <a:ext uri="{FF2B5EF4-FFF2-40B4-BE49-F238E27FC236}">
                <ns2:creationId id="{C34D53CD-C68A-44F3-8E8B-E1F26EFC1F24}"/>
              </a:ext>
            </a:extLst>
          </p:cNvPr>
          <p:cNvSpPr>
            <a:spLocks noGrp="1"/>
          </p:cNvSpPr>
          <p:nvPr/>
        </p:nvSpPr>
        <p:spPr>
          <a:xfrm>
            <a:off x="685800" y="2931795"/>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work: 내가 수정하고 저장할 파일</a:t>
            </a:r>
          </a:p>
        </p:txBody>
      </p:sp>
      <p:sp>
        <p:nvSpPr>
          <p:cNvPr id="6" name="">
            <a:extLst>
              <a:ext uri="{FF2B5EF4-FFF2-40B4-BE49-F238E27FC236}">
                <ns2:creationId id="{D72D430F-062F-4C60-9882-53AEE010B20A}"/>
              </a:ext>
            </a:extLst>
          </p:cNvPr>
          <p:cNvSpPr>
            <a:spLocks noGrp="1"/>
          </p:cNvSpPr>
          <p:nvPr/>
        </p:nvSpPr>
        <p:spPr>
          <a:xfrm>
            <a:off x="685800" y="3430905"/>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저장한 뒤 실행해야 결과가 나옵니다.</a:t>
            </a:r>
          </a:p>
        </p:txBody>
      </p:sp>
      <p:sp>
        <p:nvSpPr>
          <p:cNvPr id="7" name="">
            <a:extLst>
              <a:ext uri="{FF2B5EF4-FFF2-40B4-BE49-F238E27FC236}">
                <ns2:creationId id="{4ED2870C-14E7-4D93-82AB-54FD3CEE451F}"/>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작업할 폴더</a:t>
            </a:r>
          </a:p>
        </p:txBody>
      </p:sp>
      <p:graphicFrame>
        <p:nvGraphicFramePr>
          <p:cNvPr id="21" name=""/>
          <p:cNvGraphicFramePr/>
          <p:nvPr/>
        </p:nvGraphicFramePr>
        <p:xfrm>
          <a:off x="6267450" y="2628900"/>
          <a:ext cx="5238750" cy="2057400"/>
        </p:xfrm>
        <a:graphic>
          <a:graphicData uri="http://schemas.openxmlformats.org/drawingml/2006/table">
            <a:tbl>
              <a:tblPr firstRow="1" bandRow="0"/>
              <a:tblGrid>
                <a:gridCol w="1638661"/>
                <a:gridCol w="3600089"/>
              </a:tblGrid>
              <a:tr h="514350">
                <a:tc>
                  <a:txBody>
                    <a:bodyPr wrap="square"/>
                    <a:lstStyle/>
                    <a:p>
                      <a:pPr>
                        <a:lnSpc>
                          <a:spcPct val="102000"/>
                        </a:lnSpc>
                        <a:buNone/>
                      </a:pPr>
                      <a:r>
                        <a:rPr sz="1875" b="1">
                          <a:solidFill>
                            <a:srgbClr val="172F39"/>
                          </a:solidFill>
                          <a:latin typeface="Noto Sans KR"/>
                          <a:ea typeface="Noto Sans KR"/>
                          <a:cs typeface="Noto Sans KR"/>
                        </a:rPr>
                        <a:t>폴더</a:t>
                      </a:r>
                    </a:p>
                  </a:txBody>
                  <a:tcPr marL="114300" marR="114300" marT="76200" marB="76200" anchor="ctr">
                    <a:solidFill>
                      <a:srgbClr val="DCECE8"/>
                    </a:solidFill>
                  </a:tcPr>
                </a:tc>
                <a:tc>
                  <a:txBody>
                    <a:bodyPr wrap="square"/>
                    <a:lstStyle/>
                    <a:p>
                      <a:pPr>
                        <a:lnSpc>
                          <a:spcPct val="102000"/>
                        </a:lnSpc>
                        <a:buNone/>
                      </a:pPr>
                      <a:r>
                        <a:rPr sz="1875" b="1">
                          <a:solidFill>
                            <a:srgbClr val="172F39"/>
                          </a:solidFill>
                          <a:latin typeface="Noto Sans KR"/>
                          <a:ea typeface="Noto Sans KR"/>
                          <a:cs typeface="Noto Sans KR"/>
                        </a:rPr>
                        <a:t>역할</a:t>
                      </a:r>
                    </a:p>
                  </a:txBody>
                  <a:tcPr marL="114300" marR="114300" marT="76200" marB="76200" anchor="ctr">
                    <a:solidFill>
                      <a:srgbClr val="DCECE8"/>
                    </a:solidFill>
                  </a:tcPr>
                </a:tc>
              </a:tr>
              <a:tr h="514350">
                <a:tc>
                  <a:txBody>
                    <a:bodyPr wrap="square"/>
                    <a:lstStyle/>
                    <a:p>
                      <a:pPr>
                        <a:lnSpc>
                          <a:spcPct val="102000"/>
                        </a:lnSpc>
                        <a:buNone/>
                      </a:pPr>
                      <a:r>
                        <a:rPr sz="1875" b="0">
                          <a:solidFill>
                            <a:srgbClr val="172F39"/>
                          </a:solidFill>
                          <a:latin typeface="Noto Sans KR"/>
                          <a:ea typeface="Noto Sans KR"/>
                          <a:cs typeface="Noto Sans KR"/>
                        </a:rPr>
                        <a:t>data</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입력을 읽음</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code</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예제를 읽음</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work</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수정한 파일을 저장</a:t>
                      </a:r>
                    </a:p>
                  </a:txBody>
                  <a:tcPr marL="114300" marR="114300" marT="76200" marB="76200" anchor="ctr">
                    <a:solidFill>
                      <a:srgbClr val="FFFFFF"/>
                    </a:solidFill>
                  </a:tcPr>
                </a:tc>
              </a:tr>
            </a:tbl>
          </a:graphicData>
        </a:graphic>
      </p:graphicFrame>
      <p:sp>
        <p:nvSpPr>
          <p:cNvPr id="9" name="">
            <a:extLst>
              <a:ext uri="{FF2B5EF4-FFF2-40B4-BE49-F238E27FC236}">
                <ns2:creationId id="{09639DDF-960C-4399-9623-A87EE6064522}"/>
              </a:ext>
            </a:extLst>
          </p:cNvPr>
          <p:cNvSpPr>
            <a:spLocks noGrp="1"/>
          </p:cNvSpPr>
          <p:nvPr/>
        </p:nvSpPr>
        <p:spPr>
          <a:xfrm>
            <a:off x="685800" y="6172200"/>
            <a:ext cx="10820400" cy="9525"/>
          </a:xfrm>
          <a:prstGeom prst="rect">
            <a:avLst/>
          </a:prstGeom>
          <a:solidFill>
            <a:srgbClr val="D5DEDD"/>
          </a:solidFill>
          <a:ln w="0">
            <a:noFill/>
          </a:ln>
        </p:spPr>
      </p:sp>
      <p:sp>
        <p:nvSpPr>
          <p:cNvPr id="10" name="">
            <a:extLst>
              <a:ext uri="{FF2B5EF4-FFF2-40B4-BE49-F238E27FC236}">
                <ns2:creationId id="{032664DC-AEAA-4329-9FA6-22A69CF40DE3}"/>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1" name="">
            <a:extLst>
              <a:ext uri="{FF2B5EF4-FFF2-40B4-BE49-F238E27FC236}">
                <ns2:creationId id="{4463A5B3-C594-4567-8EF0-7ADFE370E23F}"/>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2" name="">
            <a:extLst>
              <a:ext uri="{FF2B5EF4-FFF2-40B4-BE49-F238E27FC236}">
                <ns2:creationId id="{6805E548-C8A2-426C-8AA8-476734F983E0}"/>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3" name="">
            <a:extLst>
              <a:ext uri="{FF2B5EF4-FFF2-40B4-BE49-F238E27FC236}">
                <ns2:creationId id="{032FFEDC-E124-4CC3-8E6D-2B1A5985B02B}"/>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10/30   002</a:t>
            </a:r>
          </a:p>
        </p:txBody>
      </p:sp>
    </p:spTree>
    <p:extLst>
      <p:ext uri="{BB962C8B-B14F-4D97-AF65-F5344CB8AC3E}">
        <ns4:creationId val="1527271769"/>
      </p:ext>
    </p:extLst>
  </p:cSld>
</p:sld>
</file>

<file path=ppt/slides/slide3.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2" name="">
            <a:extLst>
              <a:ext uri="{FF2B5EF4-FFF2-40B4-BE49-F238E27FC236}">
                <ns2:creationId id="{CC8165F7-3994-4A71-BEA4-A5C1923D1E7F}"/>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10/30 수업</a:t>
            </a:r>
          </a:p>
        </p:txBody>
      </p:sp>
      <p:sp>
        <p:nvSpPr>
          <p:cNvPr id="2" name="">
            <a:extLst>
              <a:ext uri="{FF2B5EF4-FFF2-40B4-BE49-F238E27FC236}">
                <ns2:creationId id="{853A369F-2CF6-40A7-A028-03DB190E0FA2}"/>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오늘의 6교시 일정</a:t>
            </a:r>
          </a:p>
        </p:txBody>
      </p:sp>
      <p:sp>
        <p:nvSpPr>
          <p:cNvPr id="3" name="">
            <a:extLst>
              <a:ext uri="{FF2B5EF4-FFF2-40B4-BE49-F238E27FC236}">
                <ns2:creationId id="{FE15CB88-A280-42D7-B0B6-3F9052C5A0DB}"/>
              </a:ext>
            </a:extLst>
          </p:cNvPr>
          <p:cNvSpPr>
            <a:spLocks noGrp="1"/>
          </p:cNvSpPr>
          <p:nvPr/>
        </p:nvSpPr>
        <p:spPr>
          <a:xfrm>
            <a:off x="685800" y="1990725"/>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1·2교시 10:00~11:50</a:t>
            </a:r>
          </a:p>
        </p:txBody>
      </p:sp>
      <p:sp>
        <p:nvSpPr>
          <p:cNvPr id="4" name="">
            <a:extLst>
              <a:ext uri="{FF2B5EF4-FFF2-40B4-BE49-F238E27FC236}">
                <ns2:creationId id="{F9981C3C-23F0-4AF1-A713-49CCC3CD57F2}"/>
              </a:ext>
            </a:extLst>
          </p:cNvPr>
          <p:cNvSpPr>
            <a:spLocks noGrp="1"/>
          </p:cNvSpPr>
          <p:nvPr/>
        </p:nvSpPr>
        <p:spPr>
          <a:xfrm>
            <a:off x="685800" y="2534793"/>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중식 11:50~13:00</a:t>
            </a:r>
          </a:p>
        </p:txBody>
      </p:sp>
      <p:sp>
        <p:nvSpPr>
          <p:cNvPr id="5" name="">
            <a:extLst>
              <a:ext uri="{FF2B5EF4-FFF2-40B4-BE49-F238E27FC236}">
                <ns2:creationId id="{9F069E4D-6612-491E-981D-559B0E327932}"/>
              </a:ext>
            </a:extLst>
          </p:cNvPr>
          <p:cNvSpPr>
            <a:spLocks noGrp="1"/>
          </p:cNvSpPr>
          <p:nvPr/>
        </p:nvSpPr>
        <p:spPr>
          <a:xfrm>
            <a:off x="685800" y="3078861"/>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3~6교시 13:00~16:50</a:t>
            </a:r>
          </a:p>
        </p:txBody>
      </p:sp>
      <p:sp>
        <p:nvSpPr>
          <p:cNvPr id="6" name="">
            <a:extLst>
              <a:ext uri="{FF2B5EF4-FFF2-40B4-BE49-F238E27FC236}">
                <ns2:creationId id="{1BE4677A-88E3-4BD3-B687-AA93E482FB4B}"/>
              </a:ext>
            </a:extLst>
          </p:cNvPr>
          <p:cNvSpPr>
            <a:spLocks noGrp="1"/>
          </p:cNvSpPr>
          <p:nvPr/>
        </p:nvSpPr>
        <p:spPr>
          <a:xfrm>
            <a:off x="685800" y="3622929"/>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수업 300분 · 나머지는 휴식과 정리입니다.</a:t>
            </a:r>
          </a:p>
        </p:txBody>
      </p:sp>
      <p:sp>
        <p:nvSpPr>
          <p:cNvPr id="7" name="">
            <a:extLst>
              <a:ext uri="{FF2B5EF4-FFF2-40B4-BE49-F238E27FC236}">
                <ns2:creationId id="{1CBB2D9E-1DEA-48FA-89D4-EB4838BDF4EC}"/>
              </a:ext>
            </a:extLst>
          </p:cNvPr>
          <p:cNvSpPr>
            <a:spLocks noGrp="1"/>
          </p:cNvSpPr>
          <p:nvPr/>
        </p:nvSpPr>
        <p:spPr>
          <a:xfrm>
            <a:off x="685800" y="6172200"/>
            <a:ext cx="10820400" cy="9525"/>
          </a:xfrm>
          <a:prstGeom prst="rect">
            <a:avLst/>
          </a:prstGeom>
          <a:solidFill>
            <a:srgbClr val="D5DEDD"/>
          </a:solidFill>
          <a:ln w="0">
            <a:noFill/>
          </a:ln>
        </p:spPr>
      </p:sp>
      <p:sp>
        <p:nvSpPr>
          <p:cNvPr id="8" name="">
            <a:extLst>
              <a:ext uri="{FF2B5EF4-FFF2-40B4-BE49-F238E27FC236}">
                <ns2:creationId id="{621DA69F-0687-43C3-963D-C71615F35DDB}"/>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9" name="">
            <a:extLst>
              <a:ext uri="{FF2B5EF4-FFF2-40B4-BE49-F238E27FC236}">
                <ns2:creationId id="{FD366C67-1175-4E9B-87CE-E54C385850D5}"/>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0" name="">
            <a:extLst>
              <a:ext uri="{FF2B5EF4-FFF2-40B4-BE49-F238E27FC236}">
                <ns2:creationId id="{A71E020A-4C2F-466A-AE10-AEAAF66E834F}"/>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1" name="">
            <a:extLst>
              <a:ext uri="{FF2B5EF4-FFF2-40B4-BE49-F238E27FC236}">
                <ns2:creationId id="{88155DE7-014B-4482-86F4-030DA7294D0C}"/>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10/30   003</a:t>
            </a:r>
          </a:p>
        </p:txBody>
      </p:sp>
    </p:spTree>
    <p:extLst>
      <p:ext uri="{BB962C8B-B14F-4D97-AF65-F5344CB8AC3E}">
        <ns4:creationId val="216629889"/>
      </p:ext>
    </p:extLst>
  </p:cSld>
</p:sld>
</file>

<file path=ppt/slides/slide4.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2" name="">
            <a:extLst>
              <a:ext uri="{FF2B5EF4-FFF2-40B4-BE49-F238E27FC236}">
                <ns2:creationId id="{220206BE-5659-42AD-BFF5-94B8D64DA544}"/>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10/30 수업</a:t>
            </a:r>
          </a:p>
        </p:txBody>
      </p:sp>
      <p:sp>
        <p:nvSpPr>
          <p:cNvPr id="2" name="">
            <a:extLst>
              <a:ext uri="{FF2B5EF4-FFF2-40B4-BE49-F238E27FC236}">
                <ns2:creationId id="{6990B061-011B-471C-B318-E88E311824B6}"/>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예제를 따라 한 뒤 결과 설명하기</a:t>
            </a:r>
          </a:p>
        </p:txBody>
      </p:sp>
      <p:sp>
        <p:nvSpPr>
          <p:cNvPr id="3" name="">
            <a:extLst>
              <a:ext uri="{FF2B5EF4-FFF2-40B4-BE49-F238E27FC236}">
                <ns2:creationId id="{6E49CC16-0F84-4036-B1E9-ECF003680BCD}"/>
              </a:ext>
            </a:extLst>
          </p:cNvPr>
          <p:cNvSpPr>
            <a:spLocks noGrp="1"/>
          </p:cNvSpPr>
          <p:nvPr/>
        </p:nvSpPr>
        <p:spPr>
          <a:xfrm>
            <a:off x="685800" y="1990725"/>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강사가 실행하는 모습을 먼저 봅니다.</a:t>
            </a:r>
          </a:p>
        </p:txBody>
      </p:sp>
      <p:sp>
        <p:nvSpPr>
          <p:cNvPr id="4" name="">
            <a:extLst>
              <a:ext uri="{FF2B5EF4-FFF2-40B4-BE49-F238E27FC236}">
                <ns2:creationId id="{4986D46A-125A-4DDC-8950-66135CB8C9EC}"/>
              </a:ext>
            </a:extLst>
          </p:cNvPr>
          <p:cNvSpPr>
            <a:spLocks noGrp="1"/>
          </p:cNvSpPr>
          <p:nvPr/>
        </p:nvSpPr>
        <p:spPr>
          <a:xfrm>
            <a:off x="685800" y="2534793"/>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같은 예제를 실행한 뒤 값 하나를 바꿔 봅니다.</a:t>
            </a:r>
          </a:p>
        </p:txBody>
      </p:sp>
      <p:sp>
        <p:nvSpPr>
          <p:cNvPr id="5" name="">
            <a:extLst>
              <a:ext uri="{FF2B5EF4-FFF2-40B4-BE49-F238E27FC236}">
                <ns2:creationId id="{6E9EEDDE-6072-4996-AB3B-84D8F3E636A5}"/>
              </a:ext>
            </a:extLst>
          </p:cNvPr>
          <p:cNvSpPr>
            <a:spLocks noGrp="1"/>
          </p:cNvSpPr>
          <p:nvPr/>
        </p:nvSpPr>
        <p:spPr>
          <a:xfrm>
            <a:off x="685800" y="3078861"/>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바꾸기 전에 예상한 값과 실행 결과를 비교합니다.</a:t>
            </a:r>
          </a:p>
        </p:txBody>
      </p:sp>
      <p:sp>
        <p:nvSpPr>
          <p:cNvPr id="6" name="">
            <a:extLst>
              <a:ext uri="{FF2B5EF4-FFF2-40B4-BE49-F238E27FC236}">
                <ns2:creationId id="{CACA42DE-2F93-4166-9E76-8EA655CE654D}"/>
              </a:ext>
            </a:extLst>
          </p:cNvPr>
          <p:cNvSpPr>
            <a:spLocks noGrp="1"/>
          </p:cNvSpPr>
          <p:nvPr/>
        </p:nvSpPr>
        <p:spPr>
          <a:xfrm>
            <a:off x="685800" y="3622929"/>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값이 달라진 이유를 설명해 봅니다.</a:t>
            </a:r>
          </a:p>
        </p:txBody>
      </p:sp>
      <p:sp>
        <p:nvSpPr>
          <p:cNvPr id="7" name="">
            <a:extLst>
              <a:ext uri="{FF2B5EF4-FFF2-40B4-BE49-F238E27FC236}">
                <ns2:creationId id="{C2856F44-D4DE-452A-9400-2DD5E4A7B44D}"/>
              </a:ext>
            </a:extLst>
          </p:cNvPr>
          <p:cNvSpPr>
            <a:spLocks noGrp="1"/>
          </p:cNvSpPr>
          <p:nvPr/>
        </p:nvSpPr>
        <p:spPr>
          <a:xfrm>
            <a:off x="685800" y="6172200"/>
            <a:ext cx="10820400" cy="9525"/>
          </a:xfrm>
          <a:prstGeom prst="rect">
            <a:avLst/>
          </a:prstGeom>
          <a:solidFill>
            <a:srgbClr val="D5DEDD"/>
          </a:solidFill>
          <a:ln w="0">
            <a:noFill/>
          </a:ln>
        </p:spPr>
      </p:sp>
      <p:sp>
        <p:nvSpPr>
          <p:cNvPr id="8" name="">
            <a:extLst>
              <a:ext uri="{FF2B5EF4-FFF2-40B4-BE49-F238E27FC236}">
                <ns2:creationId id="{A7C7BD9D-FA8B-4DDF-975D-882784849EFC}"/>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9" name="">
            <a:extLst>
              <a:ext uri="{FF2B5EF4-FFF2-40B4-BE49-F238E27FC236}">
                <ns2:creationId id="{A00E2366-C0EC-47FF-AC8D-94276A41F72A}"/>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0" name="">
            <a:extLst>
              <a:ext uri="{FF2B5EF4-FFF2-40B4-BE49-F238E27FC236}">
                <ns2:creationId id="{CA9520B1-AFB3-4A40-9742-DC01B5A68377}"/>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1" name="">
            <a:extLst>
              <a:ext uri="{FF2B5EF4-FFF2-40B4-BE49-F238E27FC236}">
                <ns2:creationId id="{DF0F751B-7871-46BD-8616-523B7E823DD1}"/>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10/30   004</a:t>
            </a:r>
          </a:p>
        </p:txBody>
      </p:sp>
    </p:spTree>
    <p:extLst>
      <p:ext uri="{BB962C8B-B14F-4D97-AF65-F5344CB8AC3E}">
        <ns4:creationId val="555099885"/>
      </p:ext>
    </p:extLst>
  </p:cSld>
</p:sld>
</file>

<file path=ppt/slides/slide5.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1" name="">
            <a:extLst>
              <a:ext uri="{FF2B5EF4-FFF2-40B4-BE49-F238E27FC236}">
                <ns2:creationId id="{0AFD4354-976F-405A-94B8-3D667F9F3D9B}"/>
              </a:ext>
            </a:extLst>
          </p:cNvPr>
          <p:cNvSpPr>
            <a:spLocks noGrp="1"/>
          </p:cNvSpPr>
          <p:nvPr/>
        </p:nvSpPr>
        <p:spPr>
          <a:xfrm>
            <a:off x="685800" y="657225"/>
            <a:ext cx="10820400" cy="400050"/>
          </a:xfrm>
          <a:prstGeom prst="rect">
            <a:avLst/>
          </a:prstGeom>
          <a:noFill/>
          <a:ln w="0">
            <a:noFill/>
          </a:ln>
        </p:spPr>
        <p:txBody>
          <a:bodyPr wrap="square" lIns="0" tIns="0" rIns="0" bIns="0">
            <a:noAutofit/>
          </a:bodyPr>
          <a:lstStyle/>
          <a:p>
            <a:pPr>
              <a:defRPr sz="1950" b="1">
                <a:solidFill>
                  <a:srgbClr val="08786F"/>
                </a:solidFill>
                <a:latin typeface="Noto Sans KR"/>
                <a:ea typeface="Noto Sans KR"/>
                <a:cs typeface="Noto Sans KR"/>
              </a:defRPr>
            </a:pPr>
            <a:r>
              <a:t>1교시</a:t>
            </a:r>
          </a:p>
        </p:txBody>
      </p:sp>
      <p:sp>
        <p:nvSpPr>
          <p:cNvPr id="2" name="">
            <a:extLst>
              <a:ext uri="{FF2B5EF4-FFF2-40B4-BE49-F238E27FC236}">
                <ns2:creationId id="{D3BA6D31-BED1-4E89-9FBC-68559D7541AE}"/>
              </a:ext>
            </a:extLst>
          </p:cNvPr>
          <p:cNvSpPr>
            <a:spLocks noGrp="1"/>
          </p:cNvSpPr>
          <p:nvPr/>
        </p:nvSpPr>
        <p:spPr>
          <a:xfrm>
            <a:off x="685800" y="1552575"/>
            <a:ext cx="10668000" cy="1905000"/>
          </a:xfrm>
          <a:prstGeom prst="rect">
            <a:avLst/>
          </a:prstGeom>
          <a:noFill/>
          <a:ln w="0">
            <a:noFill/>
          </a:ln>
        </p:spPr>
        <p:txBody>
          <a:bodyPr wrap="square" lIns="0" tIns="0" rIns="0" bIns="0">
            <a:noAutofit/>
          </a:bodyPr>
          <a:lstStyle/>
          <a:p>
            <a:pPr>
              <a:defRPr sz="4725" b="1">
                <a:solidFill>
                  <a:srgbClr val="172F39"/>
                </a:solidFill>
                <a:latin typeface="Noto Sans KR"/>
                <a:ea typeface="Noto Sans KR"/>
                <a:cs typeface="Noto Sans KR"/>
              </a:defRPr>
            </a:pPr>
            <a:r>
              <a:t>문제·사용자·근거</a:t>
            </a:r>
          </a:p>
        </p:txBody>
      </p:sp>
      <p:sp>
        <p:nvSpPr>
          <p:cNvPr id="3" name="">
            <a:extLst>
              <a:ext uri="{FF2B5EF4-FFF2-40B4-BE49-F238E27FC236}">
                <ns2:creationId id="{B093AC8C-A2DE-4084-AD48-453538A2A5E7}"/>
              </a:ext>
            </a:extLst>
          </p:cNvPr>
          <p:cNvSpPr>
            <a:spLocks noGrp="1"/>
          </p:cNvSpPr>
          <p:nvPr/>
        </p:nvSpPr>
        <p:spPr>
          <a:xfrm>
            <a:off x="723900" y="3638550"/>
            <a:ext cx="10001250" cy="473964"/>
          </a:xfrm>
          <a:prstGeom prst="rect">
            <a:avLst/>
          </a:prstGeom>
          <a:noFill/>
          <a:ln w="0">
            <a:noFill/>
          </a:ln>
        </p:spPr>
        <p:txBody>
          <a:bodyPr wrap="square" lIns="0" tIns="0" rIns="0" bIns="0">
            <a:noAutofit/>
          </a:bodyPr>
          <a:lstStyle/>
          <a:p>
            <a:pPr>
              <a:defRPr sz="2400" b="0">
                <a:solidFill>
                  <a:srgbClr val="52636B"/>
                </a:solidFill>
                <a:latin typeface="Noto Sans KR"/>
                <a:ea typeface="Noto Sans KR"/>
                <a:cs typeface="Noto Sans KR"/>
              </a:defRPr>
            </a:pPr>
            <a:r>
              <a:t>10:00~10:50 · 50분</a:t>
            </a:r>
          </a:p>
        </p:txBody>
      </p:sp>
      <p:sp>
        <p:nvSpPr>
          <p:cNvPr id="4" name="">
            <a:extLst>
              <a:ext uri="{FF2B5EF4-FFF2-40B4-BE49-F238E27FC236}">
                <ns2:creationId id="{073245EF-ECA8-4699-A518-47BCD884AA5D}"/>
              </a:ext>
            </a:extLst>
          </p:cNvPr>
          <p:cNvSpPr>
            <a:spLocks noGrp="1"/>
          </p:cNvSpPr>
          <p:nvPr/>
        </p:nvSpPr>
        <p:spPr>
          <a:xfrm>
            <a:off x="723900" y="4160139"/>
            <a:ext cx="10001250" cy="473964"/>
          </a:xfrm>
          <a:prstGeom prst="rect">
            <a:avLst/>
          </a:prstGeom>
          <a:noFill/>
          <a:ln w="0">
            <a:noFill/>
          </a:ln>
        </p:spPr>
        <p:txBody>
          <a:bodyPr wrap="square" lIns="0" tIns="0" rIns="0" bIns="0">
            <a:noAutofit/>
          </a:bodyPr>
          <a:lstStyle/>
          <a:p>
            <a:pPr>
              <a:defRPr sz="2400" b="0">
                <a:solidFill>
                  <a:srgbClr val="52636B"/>
                </a:solidFill>
                <a:latin typeface="Noto Sans KR"/>
                <a:ea typeface="Noto Sans KR"/>
                <a:cs typeface="Noto Sans KR"/>
              </a:defRPr>
            </a:pPr>
            <a:r>
              <a:t>A01 · A02 · A03</a:t>
            </a:r>
          </a:p>
        </p:txBody>
      </p:sp>
      <p:sp>
        <p:nvSpPr>
          <p:cNvPr id="5" name="">
            <a:extLst>
              <a:ext uri="{FF2B5EF4-FFF2-40B4-BE49-F238E27FC236}">
                <ns2:creationId id="{F3144107-703D-4A1E-982C-E35D31D69A97}"/>
              </a:ext>
            </a:extLst>
          </p:cNvPr>
          <p:cNvSpPr>
            <a:spLocks noGrp="1"/>
          </p:cNvSpPr>
          <p:nvPr/>
        </p:nvSpPr>
        <p:spPr>
          <a:xfrm>
            <a:off x="723900" y="4681728"/>
            <a:ext cx="10001250" cy="473964"/>
          </a:xfrm>
          <a:prstGeom prst="rect">
            <a:avLst/>
          </a:prstGeom>
          <a:noFill/>
          <a:ln w="0">
            <a:noFill/>
          </a:ln>
        </p:spPr>
        <p:txBody>
          <a:bodyPr wrap="square" lIns="0" tIns="0" rIns="0" bIns="0">
            <a:noAutofit/>
          </a:bodyPr>
          <a:lstStyle/>
          <a:p>
            <a:pPr>
              <a:defRPr sz="2400" b="0">
                <a:solidFill>
                  <a:srgbClr val="52636B"/>
                </a:solidFill>
                <a:latin typeface="Noto Sans KR"/>
                <a:ea typeface="Noto Sans KR"/>
                <a:cs typeface="Noto Sans KR"/>
              </a:defRPr>
            </a:pPr>
            <a:r>
              <a:t>설명 → 예제 따라 하기 → 직접 해 보기 → 풀이</a:t>
            </a:r>
          </a:p>
        </p:txBody>
      </p:sp>
      <p:sp>
        <p:nvSpPr>
          <p:cNvPr id="6" name="">
            <a:extLst>
              <a:ext uri="{FF2B5EF4-FFF2-40B4-BE49-F238E27FC236}">
                <ns2:creationId id="{D3DEA631-F1D1-441B-9102-64FDFC315855}"/>
              </a:ext>
            </a:extLst>
          </p:cNvPr>
          <p:cNvSpPr>
            <a:spLocks noGrp="1"/>
          </p:cNvSpPr>
          <p:nvPr/>
        </p:nvSpPr>
        <p:spPr>
          <a:xfrm>
            <a:off x="685800" y="6172200"/>
            <a:ext cx="10820400" cy="9525"/>
          </a:xfrm>
          <a:prstGeom prst="rect">
            <a:avLst/>
          </a:prstGeom>
          <a:solidFill>
            <a:srgbClr val="D5DEDD"/>
          </a:solidFill>
          <a:ln w="0">
            <a:noFill/>
          </a:ln>
        </p:spPr>
      </p:sp>
      <p:sp>
        <p:nvSpPr>
          <p:cNvPr id="7" name="">
            <a:extLst>
              <a:ext uri="{FF2B5EF4-FFF2-40B4-BE49-F238E27FC236}">
                <ns2:creationId id="{C0AB7001-EA48-4A0B-B170-B11C72DBC429}"/>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8" name="">
            <a:extLst>
              <a:ext uri="{FF2B5EF4-FFF2-40B4-BE49-F238E27FC236}">
                <ns2:creationId id="{31E01ACE-E639-462B-8B5E-03A6878FF50E}"/>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9" name="">
            <a:extLst>
              <a:ext uri="{FF2B5EF4-FFF2-40B4-BE49-F238E27FC236}">
                <ns2:creationId id="{ADE5978A-5613-4AC5-B6C4-65489474F6E4}"/>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0" name="">
            <a:extLst>
              <a:ext uri="{FF2B5EF4-FFF2-40B4-BE49-F238E27FC236}">
                <ns2:creationId id="{A6CE14C3-4535-4023-BA9E-1BEC7F8E1761}"/>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10/30   005</a:t>
            </a:r>
          </a:p>
        </p:txBody>
      </p:sp>
    </p:spTree>
    <p:extLst>
      <p:ext uri="{BB962C8B-B14F-4D97-AF65-F5344CB8AC3E}">
        <ns4:creationId val="255934277"/>
      </p:ext>
    </p:extLst>
  </p:cSld>
</p:sld>
</file>

<file path=ppt/slides/slide6.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2" name="">
            <a:extLst>
              <a:ext uri="{FF2B5EF4-FFF2-40B4-BE49-F238E27FC236}">
                <ns2:creationId id="{2A297102-9CDA-4935-99F1-71646530AE37}"/>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1교시</a:t>
            </a:r>
          </a:p>
        </p:txBody>
      </p:sp>
      <p:sp>
        <p:nvSpPr>
          <p:cNvPr id="2" name="">
            <a:extLst>
              <a:ext uri="{FF2B5EF4-FFF2-40B4-BE49-F238E27FC236}">
                <ns2:creationId id="{40BF8191-D21D-4256-BB41-F191029683EB}"/>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누가 이 프로그램을 사용할까요?</a:t>
            </a:r>
          </a:p>
        </p:txBody>
      </p:sp>
      <p:sp>
        <p:nvSpPr>
          <p:cNvPr id="3" name="">
            <a:extLst>
              <a:ext uri="{FF2B5EF4-FFF2-40B4-BE49-F238E27FC236}">
                <ns2:creationId id="{E7AACD9A-348B-4F24-A693-96973BB78407}"/>
              </a:ext>
            </a:extLst>
          </p:cNvPr>
          <p:cNvSpPr>
            <a:spLocks noGrp="1"/>
          </p:cNvSpPr>
          <p:nvPr/>
        </p:nvSpPr>
        <p:spPr>
          <a:xfrm>
            <a:off x="685800" y="1933575"/>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마감 전에 미확인 기록을 찾는 담당자</a:t>
            </a:r>
          </a:p>
        </p:txBody>
      </p:sp>
      <p:sp>
        <p:nvSpPr>
          <p:cNvPr id="4" name="">
            <a:extLst>
              <a:ext uri="{FF2B5EF4-FFF2-40B4-BE49-F238E27FC236}">
                <ns2:creationId id="{FB926A16-3E98-4601-A580-F449CC880508}"/>
              </a:ext>
            </a:extLst>
          </p:cNvPr>
          <p:cNvSpPr>
            <a:spLocks noGrp="1"/>
          </p:cNvSpPr>
          <p:nvPr/>
        </p:nvSpPr>
        <p:spPr>
          <a:xfrm>
            <a:off x="685800" y="2432685"/>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학생은 반납하고, 시설 담당자는 설치 조건을 확인합니다.</a:t>
            </a:r>
          </a:p>
        </p:txBody>
      </p:sp>
      <p:sp>
        <p:nvSpPr>
          <p:cNvPr id="5" name="">
            <a:extLst>
              <a:ext uri="{FF2B5EF4-FFF2-40B4-BE49-F238E27FC236}">
                <ns2:creationId id="{C2ACAC1E-2EAA-4088-96F7-F0E77D374FCF}"/>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역할 나누기</a:t>
            </a:r>
          </a:p>
        </p:txBody>
      </p:sp>
      <p:graphicFrame>
        <p:nvGraphicFramePr>
          <p:cNvPr id="17" name=""/>
          <p:cNvGraphicFramePr/>
          <p:nvPr/>
        </p:nvGraphicFramePr>
        <p:xfrm>
          <a:off x="6267450" y="2628900"/>
          <a:ext cx="5238750" cy="2057400"/>
        </p:xfrm>
        <a:graphic>
          <a:graphicData uri="http://schemas.openxmlformats.org/drawingml/2006/table">
            <a:tbl>
              <a:tblPr firstRow="1" bandRow="0"/>
              <a:tblGrid>
                <a:gridCol w="2300615"/>
                <a:gridCol w="2938135"/>
              </a:tblGrid>
              <a:tr h="514350">
                <a:tc>
                  <a:txBody>
                    <a:bodyPr wrap="square"/>
                    <a:lstStyle/>
                    <a:p>
                      <a:pPr>
                        <a:lnSpc>
                          <a:spcPct val="102000"/>
                        </a:lnSpc>
                        <a:buNone/>
                      </a:pPr>
                      <a:r>
                        <a:rPr sz="1875" b="1">
                          <a:solidFill>
                            <a:srgbClr val="172F39"/>
                          </a:solidFill>
                          <a:latin typeface="Noto Sans KR"/>
                          <a:ea typeface="Noto Sans KR"/>
                          <a:cs typeface="Noto Sans KR"/>
                        </a:rPr>
                        <a:t>사람</a:t>
                      </a:r>
                    </a:p>
                  </a:txBody>
                  <a:tcPr marL="114300" marR="114300" marT="76200" marB="76200" anchor="ctr">
                    <a:solidFill>
                      <a:srgbClr val="DCECE8"/>
                    </a:solidFill>
                  </a:tcPr>
                </a:tc>
                <a:tc>
                  <a:txBody>
                    <a:bodyPr wrap="square"/>
                    <a:lstStyle/>
                    <a:p>
                      <a:pPr>
                        <a:lnSpc>
                          <a:spcPct val="102000"/>
                        </a:lnSpc>
                        <a:buNone/>
                      </a:pPr>
                      <a:r>
                        <a:rPr sz="1875" b="1">
                          <a:solidFill>
                            <a:srgbClr val="172F39"/>
                          </a:solidFill>
                          <a:latin typeface="Noto Sans KR"/>
                          <a:ea typeface="Noto Sans KR"/>
                          <a:cs typeface="Noto Sans KR"/>
                        </a:rPr>
                        <a:t>할 일</a:t>
                      </a:r>
                    </a:p>
                  </a:txBody>
                  <a:tcPr marL="114300" marR="114300" marT="76200" marB="76200" anchor="ctr">
                    <a:solidFill>
                      <a:srgbClr val="DCECE8"/>
                    </a:solidFill>
                  </a:tcPr>
                </a:tc>
              </a:tr>
              <a:tr h="514350">
                <a:tc>
                  <a:txBody>
                    <a:bodyPr wrap="square"/>
                    <a:lstStyle/>
                    <a:p>
                      <a:pPr>
                        <a:lnSpc>
                          <a:spcPct val="102000"/>
                        </a:lnSpc>
                        <a:buNone/>
                      </a:pPr>
                      <a:r>
                        <a:rPr sz="1875" b="0">
                          <a:solidFill>
                            <a:srgbClr val="172F39"/>
                          </a:solidFill>
                          <a:latin typeface="Noto Sans KR"/>
                          <a:ea typeface="Noto Sans KR"/>
                          <a:cs typeface="Noto Sans KR"/>
                        </a:rPr>
                        <a:t>담당자</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미확인 기록 찾기</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학생</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물품 반납</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시설 담당자</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설치 조건 확인</a:t>
                      </a:r>
                    </a:p>
                  </a:txBody>
                  <a:tcPr marL="114300" marR="114300" marT="76200" marB="76200" anchor="ctr">
                    <a:solidFill>
                      <a:srgbClr val="FFFFFF"/>
                    </a:solidFill>
                  </a:tcPr>
                </a:tc>
              </a:tr>
            </a:tbl>
          </a:graphicData>
        </a:graphic>
      </p:graphicFrame>
      <p:sp>
        <p:nvSpPr>
          <p:cNvPr id="7" name="">
            <a:extLst>
              <a:ext uri="{FF2B5EF4-FFF2-40B4-BE49-F238E27FC236}">
                <ns2:creationId id="{E46BE06E-9077-4BB6-92C9-886966C01644}"/>
              </a:ext>
            </a:extLst>
          </p:cNvPr>
          <p:cNvSpPr>
            <a:spLocks noGrp="1"/>
          </p:cNvSpPr>
          <p:nvPr/>
        </p:nvSpPr>
        <p:spPr>
          <a:xfrm>
            <a:off x="685800" y="6172200"/>
            <a:ext cx="10820400" cy="9525"/>
          </a:xfrm>
          <a:prstGeom prst="rect">
            <a:avLst/>
          </a:prstGeom>
          <a:solidFill>
            <a:srgbClr val="D5DEDD"/>
          </a:solidFill>
          <a:ln w="0">
            <a:noFill/>
          </a:ln>
        </p:spPr>
      </p:sp>
      <p:sp>
        <p:nvSpPr>
          <p:cNvPr id="8" name="">
            <a:extLst>
              <a:ext uri="{FF2B5EF4-FFF2-40B4-BE49-F238E27FC236}">
                <ns2:creationId id="{309A6019-0202-47A9-A2AD-881AB11A5033}"/>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9" name="">
            <a:extLst>
              <a:ext uri="{FF2B5EF4-FFF2-40B4-BE49-F238E27FC236}">
                <ns2:creationId id="{7838A1A9-7C96-45BD-A970-F2EC71BA8E9F}"/>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0" name="">
            <a:extLst>
              <a:ext uri="{FF2B5EF4-FFF2-40B4-BE49-F238E27FC236}">
                <ns2:creationId id="{2CBE71C0-01DF-42AB-A44B-CA4ED4D555C0}"/>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1" name="">
            <a:extLst>
              <a:ext uri="{FF2B5EF4-FFF2-40B4-BE49-F238E27FC236}">
                <ns2:creationId id="{20C43A51-E639-4303-BA78-FA88EF960DF0}"/>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10/30   006</a:t>
            </a:r>
          </a:p>
        </p:txBody>
      </p:sp>
    </p:spTree>
    <p:extLst>
      <p:ext uri="{BB962C8B-B14F-4D97-AF65-F5344CB8AC3E}">
        <ns4:creationId val="252009026"/>
      </p:ext>
    </p:extLst>
  </p:cSld>
</p:sld>
</file>

<file path=ppt/slides/slide7.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2" name="">
            <a:extLst>
              <a:ext uri="{FF2B5EF4-FFF2-40B4-BE49-F238E27FC236}">
                <ns2:creationId id="{95BA64E9-0C46-4843-9A40-C75E2067E15B}"/>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1교시</a:t>
            </a:r>
          </a:p>
        </p:txBody>
      </p:sp>
      <p:sp>
        <p:nvSpPr>
          <p:cNvPr id="2" name="">
            <a:extLst>
              <a:ext uri="{FF2B5EF4-FFF2-40B4-BE49-F238E27FC236}">
                <ns2:creationId id="{BA18ADE4-FCA7-455C-A7B8-4E6B5020B25B}"/>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문제와 기능 후보</a:t>
            </a:r>
          </a:p>
        </p:txBody>
      </p:sp>
      <p:sp>
        <p:nvSpPr>
          <p:cNvPr id="3" name="">
            <a:extLst>
              <a:ext uri="{FF2B5EF4-FFF2-40B4-BE49-F238E27FC236}">
                <ns2:creationId id="{F721E3C7-A102-4DD0-ABCD-99F5696D3877}"/>
              </a:ext>
            </a:extLst>
          </p:cNvPr>
          <p:cNvSpPr>
            <a:spLocks noGrp="1"/>
          </p:cNvSpPr>
          <p:nvPr/>
        </p:nvSpPr>
        <p:spPr>
          <a:xfrm>
            <a:off x="685800" y="1933575"/>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문제: 기록을 찾느라 확인이 늦습니다.</a:t>
            </a:r>
          </a:p>
        </p:txBody>
      </p:sp>
      <p:sp>
        <p:nvSpPr>
          <p:cNvPr id="4" name="">
            <a:extLst>
              <a:ext uri="{FF2B5EF4-FFF2-40B4-BE49-F238E27FC236}">
                <ns2:creationId id="{D2C82CCB-84CC-498F-B9F3-AE102C57FF7A}"/>
              </a:ext>
            </a:extLst>
          </p:cNvPr>
          <p:cNvSpPr>
            <a:spLocks noGrp="1"/>
          </p:cNvSpPr>
          <p:nvPr/>
        </p:nvSpPr>
        <p:spPr>
          <a:xfrm>
            <a:off x="685800" y="2432685"/>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기능 후보: 미확인 목록을 보여 줍니다.</a:t>
            </a:r>
          </a:p>
        </p:txBody>
      </p:sp>
      <p:sp>
        <p:nvSpPr>
          <p:cNvPr id="5" name="">
            <a:extLst>
              <a:ext uri="{FF2B5EF4-FFF2-40B4-BE49-F238E27FC236}">
                <ns2:creationId id="{1B8C51FB-9BA4-48F1-98F3-699ADBFC9788}"/>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사용자의 문제와 기능</a:t>
            </a:r>
          </a:p>
        </p:txBody>
      </p:sp>
      <p:graphicFrame>
        <p:nvGraphicFramePr>
          <p:cNvPr id="17" name=""/>
          <p:cNvGraphicFramePr/>
          <p:nvPr/>
        </p:nvGraphicFramePr>
        <p:xfrm>
          <a:off x="6267450" y="2628900"/>
          <a:ext cx="5238750" cy="2571750"/>
        </p:xfrm>
        <a:graphic>
          <a:graphicData uri="http://schemas.openxmlformats.org/drawingml/2006/table">
            <a:tbl>
              <a:tblPr firstRow="1" bandRow="0"/>
              <a:tblGrid>
                <a:gridCol w="1893212"/>
                <a:gridCol w="3345538"/>
              </a:tblGrid>
              <a:tr h="514350">
                <a:tc>
                  <a:txBody>
                    <a:bodyPr wrap="square"/>
                    <a:lstStyle/>
                    <a:p>
                      <a:pPr>
                        <a:lnSpc>
                          <a:spcPct val="102000"/>
                        </a:lnSpc>
                        <a:buNone/>
                      </a:pPr>
                      <a:r>
                        <a:rPr sz="1875" b="1">
                          <a:solidFill>
                            <a:srgbClr val="172F39"/>
                          </a:solidFill>
                          <a:latin typeface="Noto Sans KR"/>
                          <a:ea typeface="Noto Sans KR"/>
                          <a:cs typeface="Noto Sans KR"/>
                        </a:rPr>
                        <a:t>구분</a:t>
                      </a:r>
                    </a:p>
                  </a:txBody>
                  <a:tcPr marL="114300" marR="114300" marT="76200" marB="76200" anchor="ctr">
                    <a:solidFill>
                      <a:srgbClr val="DCECE8"/>
                    </a:solidFill>
                  </a:tcPr>
                </a:tc>
                <a:tc>
                  <a:txBody>
                    <a:bodyPr wrap="square"/>
                    <a:lstStyle/>
                    <a:p>
                      <a:pPr>
                        <a:lnSpc>
                          <a:spcPct val="102000"/>
                        </a:lnSpc>
                        <a:buNone/>
                      </a:pPr>
                      <a:r>
                        <a:rPr sz="1875" b="1">
                          <a:solidFill>
                            <a:srgbClr val="172F39"/>
                          </a:solidFill>
                          <a:latin typeface="Noto Sans KR"/>
                          <a:ea typeface="Noto Sans KR"/>
                          <a:cs typeface="Noto Sans KR"/>
                        </a:rPr>
                        <a:t>문장</a:t>
                      </a:r>
                    </a:p>
                  </a:txBody>
                  <a:tcPr marL="114300" marR="114300" marT="76200" marB="76200" anchor="ctr">
                    <a:solidFill>
                      <a:srgbClr val="DCECE8"/>
                    </a:solidFill>
                  </a:tcPr>
                </a:tc>
              </a:tr>
              <a:tr h="514350">
                <a:tc>
                  <a:txBody>
                    <a:bodyPr wrap="square"/>
                    <a:lstStyle/>
                    <a:p>
                      <a:pPr>
                        <a:lnSpc>
                          <a:spcPct val="102000"/>
                        </a:lnSpc>
                        <a:buNone/>
                      </a:pPr>
                      <a:r>
                        <a:rPr sz="1875" b="0">
                          <a:solidFill>
                            <a:srgbClr val="172F39"/>
                          </a:solidFill>
                          <a:latin typeface="Noto Sans KR"/>
                          <a:ea typeface="Noto Sans KR"/>
                          <a:cs typeface="Noto Sans KR"/>
                        </a:rPr>
                        <a:t>사용자</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마감 확인 담당자</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문제</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전체 기록을 다시 찾음</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기능 후보</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미확인 목록 표시</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가설</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탐색 시간이 줄어듦</a:t>
                      </a:r>
                    </a:p>
                  </a:txBody>
                  <a:tcPr marL="114300" marR="114300" marT="76200" marB="76200" anchor="ctr">
                    <a:solidFill>
                      <a:srgbClr val="FFFFFF"/>
                    </a:solidFill>
                  </a:tcPr>
                </a:tc>
              </a:tr>
            </a:tbl>
          </a:graphicData>
        </a:graphic>
      </p:graphicFrame>
      <p:sp>
        <p:nvSpPr>
          <p:cNvPr id="7" name="">
            <a:extLst>
              <a:ext uri="{FF2B5EF4-FFF2-40B4-BE49-F238E27FC236}">
                <ns2:creationId id="{72FF4CF7-B3BC-48EF-9E4A-DCCED369C05B}"/>
              </a:ext>
            </a:extLst>
          </p:cNvPr>
          <p:cNvSpPr>
            <a:spLocks noGrp="1"/>
          </p:cNvSpPr>
          <p:nvPr/>
        </p:nvSpPr>
        <p:spPr>
          <a:xfrm>
            <a:off x="685800" y="6172200"/>
            <a:ext cx="10820400" cy="9525"/>
          </a:xfrm>
          <a:prstGeom prst="rect">
            <a:avLst/>
          </a:prstGeom>
          <a:solidFill>
            <a:srgbClr val="D5DEDD"/>
          </a:solidFill>
          <a:ln w="0">
            <a:noFill/>
          </a:ln>
        </p:spPr>
      </p:sp>
      <p:sp>
        <p:nvSpPr>
          <p:cNvPr id="8" name="">
            <a:extLst>
              <a:ext uri="{FF2B5EF4-FFF2-40B4-BE49-F238E27FC236}">
                <ns2:creationId id="{2238D214-6473-498C-9309-BCACA64B0AC0}"/>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9" name="">
            <a:extLst>
              <a:ext uri="{FF2B5EF4-FFF2-40B4-BE49-F238E27FC236}">
                <ns2:creationId id="{5FEAD8FB-5138-4E93-84B1-F3438796FF6B}"/>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0" name="">
            <a:extLst>
              <a:ext uri="{FF2B5EF4-FFF2-40B4-BE49-F238E27FC236}">
                <ns2:creationId id="{34B50678-B531-4284-A312-77B7BBBBFE60}"/>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1" name="">
            <a:extLst>
              <a:ext uri="{FF2B5EF4-FFF2-40B4-BE49-F238E27FC236}">
                <ns2:creationId id="{1A1251B3-6757-4139-A30D-45D5CD06A7C1}"/>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10/30   007</a:t>
            </a:r>
          </a:p>
        </p:txBody>
      </p:sp>
    </p:spTree>
    <p:extLst>
      <p:ext uri="{BB962C8B-B14F-4D97-AF65-F5344CB8AC3E}">
        <ns4:creationId val="2082365175"/>
      </p:ext>
    </p:extLst>
  </p:cSld>
</p:sld>
</file>

<file path=ppt/slides/slide8.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3" name="">
            <a:extLst>
              <a:ext uri="{FF2B5EF4-FFF2-40B4-BE49-F238E27FC236}">
                <ns2:creationId id="{A3D4F8E5-A590-4979-8FDB-072A840AD968}"/>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1교시</a:t>
            </a:r>
          </a:p>
        </p:txBody>
      </p:sp>
      <p:sp>
        <p:nvSpPr>
          <p:cNvPr id="2" name="">
            <a:extLst>
              <a:ext uri="{FF2B5EF4-FFF2-40B4-BE49-F238E27FC236}">
                <ns2:creationId id="{1640C82E-7EF8-4645-BBDB-C68DBA5CB17B}"/>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예제 대여 기록 읽기</a:t>
            </a:r>
          </a:p>
        </p:txBody>
      </p:sp>
      <p:sp>
        <p:nvSpPr>
          <p:cNvPr id="3" name="">
            <a:extLst>
              <a:ext uri="{FF2B5EF4-FFF2-40B4-BE49-F238E27FC236}">
                <ns2:creationId id="{D6533CBA-B1F1-46FF-9A24-78125A257E59}"/>
              </a:ext>
            </a:extLst>
          </p:cNvPr>
          <p:cNvSpPr>
            <a:spLocks noGrp="1"/>
          </p:cNvSpPr>
          <p:nvPr/>
        </p:nvSpPr>
        <p:spPr>
          <a:xfrm>
            <a:off x="685800" y="1933575"/>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가상 대여 20건 중 기록 지연 4건</a:t>
            </a:r>
          </a:p>
        </p:txBody>
      </p:sp>
      <p:sp>
        <p:nvSpPr>
          <p:cNvPr id="4" name="">
            <a:extLst>
              <a:ext uri="{FF2B5EF4-FFF2-40B4-BE49-F238E27FC236}">
                <ns2:creationId id="{C5E3DCC0-A884-4FFC-B5C4-35041624525F}"/>
              </a:ext>
            </a:extLst>
          </p:cNvPr>
          <p:cNvSpPr>
            <a:spLocks noGrp="1"/>
          </p:cNvSpPr>
          <p:nvPr/>
        </p:nvSpPr>
        <p:spPr>
          <a:xfrm>
            <a:off x="685800" y="2432685"/>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이 표본의 지연 비율은 20%입니다.</a:t>
            </a:r>
          </a:p>
        </p:txBody>
      </p:sp>
      <p:sp>
        <p:nvSpPr>
          <p:cNvPr id="5" name="">
            <a:extLst>
              <a:ext uri="{FF2B5EF4-FFF2-40B4-BE49-F238E27FC236}">
                <ns2:creationId id="{337FFD4F-616A-4060-BABD-FE6BD5125DC0}"/>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20건 중 지연 4건</a:t>
            </a:r>
          </a:p>
        </p:txBody>
      </p:sp>
      <p:sp>
        <p:nvSpPr>
          <p:cNvPr id="6" name="">
            <a:extLst>
              <a:ext uri="{FF2B5EF4-FFF2-40B4-BE49-F238E27FC236}">
                <ns2:creationId id="{3319A9AF-BD06-4377-B81F-0755FA1A6AD7}"/>
              </a:ext>
            </a:extLst>
          </p:cNvPr>
          <p:cNvSpPr>
            <a:spLocks noGrp="1"/>
          </p:cNvSpPr>
          <p:nvPr/>
        </p:nvSpPr>
        <p:spPr>
          <a:xfrm>
            <a:off x="6267450" y="2628900"/>
            <a:ext cx="5238750" cy="440246"/>
          </a:xfrm>
          <a:prstGeom prst="rect">
            <a:avLst/>
          </a:prstGeom>
          <a:noFill/>
          <a:ln w="0">
            <a:noFill/>
          </a:ln>
        </p:spPr>
        <p:txBody>
          <a:bodyPr wrap="square" lIns="0" tIns="0" rIns="0" bIns="0">
            <a:noAutofit/>
          </a:bodyPr>
          <a:lstStyle/>
          <a:p>
            <a:pPr>
              <a:defRPr sz="2175" b="0">
                <a:solidFill>
                  <a:srgbClr val="172F39"/>
                </a:solidFill>
                <a:latin typeface="Noto Sans KR"/>
                <a:ea typeface="Noto Sans KR"/>
                <a:cs typeface="Noto Sans KR"/>
              </a:defRPr>
            </a:pPr>
            <a:r>
              <a:t>4 ÷ 20 × 100 = 20%</a:t>
            </a:r>
          </a:p>
        </p:txBody>
      </p:sp>
      <p:sp>
        <p:nvSpPr>
          <p:cNvPr id="7" name="">
            <a:extLst>
              <a:ext uri="{FF2B5EF4-FFF2-40B4-BE49-F238E27FC236}">
                <ns2:creationId id="{44113A6C-D406-4E41-B273-45D13ADB9965}"/>
              </a:ext>
            </a:extLst>
          </p:cNvPr>
          <p:cNvSpPr>
            <a:spLocks noGrp="1"/>
          </p:cNvSpPr>
          <p:nvPr/>
        </p:nvSpPr>
        <p:spPr>
          <a:xfrm>
            <a:off x="6267450" y="3116771"/>
            <a:ext cx="5238750" cy="440246"/>
          </a:xfrm>
          <a:prstGeom prst="rect">
            <a:avLst/>
          </a:prstGeom>
          <a:noFill/>
          <a:ln w="0">
            <a:noFill/>
          </a:ln>
        </p:spPr>
        <p:txBody>
          <a:bodyPr wrap="square" lIns="0" tIns="0" rIns="0" bIns="0">
            <a:noAutofit/>
          </a:bodyPr>
          <a:lstStyle/>
          <a:p>
            <a:pPr>
              <a:defRPr sz="2175" b="0">
                <a:solidFill>
                  <a:srgbClr val="172F39"/>
                </a:solidFill>
                <a:latin typeface="Noto Sans KR"/>
                <a:ea typeface="Noto Sans KR"/>
                <a:cs typeface="Noto Sans KR"/>
              </a:defRPr>
            </a:pPr>
            <a:r>
              <a:t>이 20건의 표에 한정된 비율입니다.</a:t>
            </a:r>
          </a:p>
        </p:txBody>
      </p:sp>
      <p:sp>
        <p:nvSpPr>
          <p:cNvPr id="8" name="">
            <a:extLst>
              <a:ext uri="{FF2B5EF4-FFF2-40B4-BE49-F238E27FC236}">
                <ns2:creationId id="{486C9549-E8E9-485C-A32D-9F2EF14CDD4F}"/>
              </a:ext>
            </a:extLst>
          </p:cNvPr>
          <p:cNvSpPr>
            <a:spLocks noGrp="1"/>
          </p:cNvSpPr>
          <p:nvPr/>
        </p:nvSpPr>
        <p:spPr>
          <a:xfrm>
            <a:off x="685800" y="6172200"/>
            <a:ext cx="10820400" cy="9525"/>
          </a:xfrm>
          <a:prstGeom prst="rect">
            <a:avLst/>
          </a:prstGeom>
          <a:solidFill>
            <a:srgbClr val="D5DEDD"/>
          </a:solidFill>
          <a:ln w="0">
            <a:noFill/>
          </a:ln>
        </p:spPr>
      </p:sp>
      <p:sp>
        <p:nvSpPr>
          <p:cNvPr id="9" name="">
            <a:extLst>
              <a:ext uri="{FF2B5EF4-FFF2-40B4-BE49-F238E27FC236}">
                <ns2:creationId id="{470B14AA-59DB-45FA-811B-15B3BE120B11}"/>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0" name="">
            <a:extLst>
              <a:ext uri="{FF2B5EF4-FFF2-40B4-BE49-F238E27FC236}">
                <ns2:creationId id="{F215C958-DC33-49B5-AAB5-2D705A4E2CB2}"/>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1" name="">
            <a:extLst>
              <a:ext uri="{FF2B5EF4-FFF2-40B4-BE49-F238E27FC236}">
                <ns2:creationId id="{FE58A499-317F-4DE7-BB3A-3CD96BD8D645}"/>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2" name="">
            <a:extLst>
              <a:ext uri="{FF2B5EF4-FFF2-40B4-BE49-F238E27FC236}">
                <ns2:creationId id="{F4E43C19-50E6-4541-96C8-DD7BA4CB6655}"/>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10/30   008</a:t>
            </a:r>
          </a:p>
        </p:txBody>
      </p:sp>
    </p:spTree>
    <p:extLst>
      <p:ext uri="{BB962C8B-B14F-4D97-AF65-F5344CB8AC3E}">
        <ns4:creationId val="395359176"/>
      </p:ext>
    </p:extLst>
  </p:cSld>
</p:sld>
</file>

<file path=ppt/slides/slide9.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2" name="">
            <a:extLst>
              <a:ext uri="{FF2B5EF4-FFF2-40B4-BE49-F238E27FC236}">
                <ns2:creationId id="{4674E438-AADE-4AFF-BE41-28107BAEC71E}"/>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1교시</a:t>
            </a:r>
          </a:p>
        </p:txBody>
      </p:sp>
      <p:sp>
        <p:nvSpPr>
          <p:cNvPr id="2" name="">
            <a:extLst>
              <a:ext uri="{FF2B5EF4-FFF2-40B4-BE49-F238E27FC236}">
                <ns2:creationId id="{87D709A8-AA46-4B69-910F-F2FF98198C43}"/>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관찰과 해석</a:t>
            </a:r>
          </a:p>
        </p:txBody>
      </p:sp>
      <p:sp>
        <p:nvSpPr>
          <p:cNvPr id="3" name="">
            <a:extLst>
              <a:ext uri="{FF2B5EF4-FFF2-40B4-BE49-F238E27FC236}">
                <ns2:creationId id="{21450C64-BC4E-47CE-92ED-2B42443F4B45}"/>
              </a:ext>
            </a:extLst>
          </p:cNvPr>
          <p:cNvSpPr>
            <a:spLocks noGrp="1"/>
          </p:cNvSpPr>
          <p:nvPr/>
        </p:nvSpPr>
        <p:spPr>
          <a:xfrm>
            <a:off x="685800" y="1933575"/>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기록 확인이 어려울 수 있습니다.</a:t>
            </a:r>
          </a:p>
        </p:txBody>
      </p:sp>
      <p:sp>
        <p:nvSpPr>
          <p:cNvPr id="4" name="">
            <a:extLst>
              <a:ext uri="{FF2B5EF4-FFF2-40B4-BE49-F238E27FC236}">
                <ns2:creationId id="{06F80F6C-3BD9-4001-A790-E3E49CFC4EBB}"/>
              </a:ext>
            </a:extLst>
          </p:cNvPr>
          <p:cNvSpPr>
            <a:spLocks noGrp="1"/>
          </p:cNvSpPr>
          <p:nvPr/>
        </p:nvSpPr>
        <p:spPr>
          <a:xfrm>
            <a:off x="685800" y="2432685"/>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이 기록만으로는 반납 기록이 늦어진 원인을 알 수 없습니다.</a:t>
            </a:r>
          </a:p>
        </p:txBody>
      </p:sp>
      <p:sp>
        <p:nvSpPr>
          <p:cNvPr id="5" name="">
            <a:extLst>
              <a:ext uri="{FF2B5EF4-FFF2-40B4-BE49-F238E27FC236}">
                <ns2:creationId id="{4CC80D08-029F-421B-928C-65C382A8CC20}"/>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자료에서 알 수 있는 것</a:t>
            </a:r>
          </a:p>
        </p:txBody>
      </p:sp>
      <p:graphicFrame>
        <p:nvGraphicFramePr>
          <p:cNvPr id="17" name=""/>
          <p:cNvGraphicFramePr/>
          <p:nvPr/>
        </p:nvGraphicFramePr>
        <p:xfrm>
          <a:off x="6267450" y="2628900"/>
          <a:ext cx="5238750" cy="2057400"/>
        </p:xfrm>
        <a:graphic>
          <a:graphicData uri="http://schemas.openxmlformats.org/drawingml/2006/table">
            <a:tbl>
              <a:tblPr firstRow="1" bandRow="0"/>
              <a:tblGrid>
                <a:gridCol w="1253289"/>
                <a:gridCol w="3985461"/>
              </a:tblGrid>
              <a:tr h="514350">
                <a:tc>
                  <a:txBody>
                    <a:bodyPr wrap="square"/>
                    <a:lstStyle/>
                    <a:p>
                      <a:pPr>
                        <a:lnSpc>
                          <a:spcPct val="102000"/>
                        </a:lnSpc>
                        <a:buNone/>
                      </a:pPr>
                      <a:r>
                        <a:rPr sz="1875" b="1">
                          <a:solidFill>
                            <a:srgbClr val="172F39"/>
                          </a:solidFill>
                          <a:latin typeface="Noto Sans KR"/>
                          <a:ea typeface="Noto Sans KR"/>
                          <a:cs typeface="Noto Sans KR"/>
                        </a:rPr>
                        <a:t>구분</a:t>
                      </a:r>
                    </a:p>
                  </a:txBody>
                  <a:tcPr marL="114300" marR="114300" marT="76200" marB="76200" anchor="ctr">
                    <a:solidFill>
                      <a:srgbClr val="DCECE8"/>
                    </a:solidFill>
                  </a:tcPr>
                </a:tc>
                <a:tc>
                  <a:txBody>
                    <a:bodyPr wrap="square"/>
                    <a:lstStyle/>
                    <a:p>
                      <a:pPr>
                        <a:lnSpc>
                          <a:spcPct val="102000"/>
                        </a:lnSpc>
                        <a:buNone/>
                      </a:pPr>
                      <a:r>
                        <a:rPr sz="1875" b="1">
                          <a:solidFill>
                            <a:srgbClr val="172F39"/>
                          </a:solidFill>
                          <a:latin typeface="Noto Sans KR"/>
                          <a:ea typeface="Noto Sans KR"/>
                          <a:cs typeface="Noto Sans KR"/>
                        </a:rPr>
                        <a:t>예</a:t>
                      </a:r>
                    </a:p>
                  </a:txBody>
                  <a:tcPr marL="114300" marR="114300" marT="76200" marB="76200" anchor="ctr">
                    <a:solidFill>
                      <a:srgbClr val="DCECE8"/>
                    </a:solidFill>
                  </a:tcPr>
                </a:tc>
              </a:tr>
              <a:tr h="514350">
                <a:tc>
                  <a:txBody>
                    <a:bodyPr wrap="square"/>
                    <a:lstStyle/>
                    <a:p>
                      <a:pPr>
                        <a:lnSpc>
                          <a:spcPct val="102000"/>
                        </a:lnSpc>
                        <a:buNone/>
                      </a:pPr>
                      <a:r>
                        <a:rPr sz="1875" b="0">
                          <a:solidFill>
                            <a:srgbClr val="172F39"/>
                          </a:solidFill>
                          <a:latin typeface="Noto Sans KR"/>
                          <a:ea typeface="Noto Sans KR"/>
                          <a:cs typeface="Noto Sans KR"/>
                        </a:rPr>
                        <a:t>관찰</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20건 중 기록 지연 4건</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해석</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기록 확인이 어려울 가능성</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가설</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목록으로 찾는 시간이 줄어듦</a:t>
                      </a:r>
                    </a:p>
                  </a:txBody>
                  <a:tcPr marL="114300" marR="114300" marT="76200" marB="76200" anchor="ctr">
                    <a:solidFill>
                      <a:srgbClr val="FFFFFF"/>
                    </a:solidFill>
                  </a:tcPr>
                </a:tc>
              </a:tr>
            </a:tbl>
          </a:graphicData>
        </a:graphic>
      </p:graphicFrame>
      <p:sp>
        <p:nvSpPr>
          <p:cNvPr id="7" name="">
            <a:extLst>
              <a:ext uri="{FF2B5EF4-FFF2-40B4-BE49-F238E27FC236}">
                <ns2:creationId id="{6D1BAD74-9020-4F55-9DC3-795D628F2FE4}"/>
              </a:ext>
            </a:extLst>
          </p:cNvPr>
          <p:cNvSpPr>
            <a:spLocks noGrp="1"/>
          </p:cNvSpPr>
          <p:nvPr/>
        </p:nvSpPr>
        <p:spPr>
          <a:xfrm>
            <a:off x="685800" y="6172200"/>
            <a:ext cx="10820400" cy="9525"/>
          </a:xfrm>
          <a:prstGeom prst="rect">
            <a:avLst/>
          </a:prstGeom>
          <a:solidFill>
            <a:srgbClr val="D5DEDD"/>
          </a:solidFill>
          <a:ln w="0">
            <a:noFill/>
          </a:ln>
        </p:spPr>
      </p:sp>
      <p:sp>
        <p:nvSpPr>
          <p:cNvPr id="8" name="">
            <a:extLst>
              <a:ext uri="{FF2B5EF4-FFF2-40B4-BE49-F238E27FC236}">
                <ns2:creationId id="{F61EFBB5-E6A6-4A07-B75E-A1F185372A3B}"/>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9" name="">
            <a:extLst>
              <a:ext uri="{FF2B5EF4-FFF2-40B4-BE49-F238E27FC236}">
                <ns2:creationId id="{5206A722-A8C8-4410-A022-C6A453D46431}"/>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0" name="">
            <a:extLst>
              <a:ext uri="{FF2B5EF4-FFF2-40B4-BE49-F238E27FC236}">
                <ns2:creationId id="{2D439565-0108-425B-BC7A-0C55DD5E00A8}"/>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1" name="">
            <a:extLst>
              <a:ext uri="{FF2B5EF4-FFF2-40B4-BE49-F238E27FC236}">
                <ns2:creationId id="{024544A4-9A37-4C52-8E07-D34239970F1B}"/>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10/30   009</a:t>
            </a:r>
          </a:p>
        </p:txBody>
      </p:sp>
    </p:spTree>
    <p:extLst>
      <p:ext uri="{BB962C8B-B14F-4D97-AF65-F5344CB8AC3E}">
        <ns4:creationId val="1416472447"/>
      </p:ext>
    </p:extLst>
  </p:cSld>
</p:sld>
</file>

<file path=ppt/slides/slide10.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2" name="">
            <a:extLst>
              <a:ext uri="{FF2B5EF4-FFF2-40B4-BE49-F238E27FC236}">
                <ns2:creationId id="{DB3D914F-02F6-4444-A34D-7E4B97958518}"/>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1교시</a:t>
            </a:r>
          </a:p>
        </p:txBody>
      </p:sp>
      <p:sp>
        <p:nvSpPr>
          <p:cNvPr id="2" name="">
            <a:extLst>
              <a:ext uri="{FF2B5EF4-FFF2-40B4-BE49-F238E27FC236}">
                <ns2:creationId id="{482BE5FA-CAB9-475B-91D1-A0D6D4A54107}"/>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가설과 효과 검증</a:t>
            </a:r>
          </a:p>
        </p:txBody>
      </p:sp>
      <p:sp>
        <p:nvSpPr>
          <p:cNvPr id="3" name="">
            <a:extLst>
              <a:ext uri="{FF2B5EF4-FFF2-40B4-BE49-F238E27FC236}">
                <ns2:creationId id="{EF9AD114-295C-4F68-A5F6-88BC986290BC}"/>
              </a:ext>
            </a:extLst>
          </p:cNvPr>
          <p:cNvSpPr>
            <a:spLocks noGrp="1"/>
          </p:cNvSpPr>
          <p:nvPr/>
        </p:nvSpPr>
        <p:spPr>
          <a:xfrm>
            <a:off x="685800" y="1933575"/>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목록이 있으면 찾는 시간이 줄어들 것이다.</a:t>
            </a:r>
          </a:p>
        </p:txBody>
      </p:sp>
      <p:sp>
        <p:nvSpPr>
          <p:cNvPr id="4" name="">
            <a:extLst>
              <a:ext uri="{FF2B5EF4-FFF2-40B4-BE49-F238E27FC236}">
                <ns2:creationId id="{D5F7A4BD-EE76-428B-A9C1-2DAB4E938FC2}"/>
              </a:ext>
            </a:extLst>
          </p:cNvPr>
          <p:cNvSpPr>
            <a:spLocks noGrp="1"/>
          </p:cNvSpPr>
          <p:nvPr/>
        </p:nvSpPr>
        <p:spPr>
          <a:xfrm>
            <a:off x="685800" y="2769870"/>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효과는 구현 후 현장에서 따로 확인합니다.</a:t>
            </a:r>
          </a:p>
        </p:txBody>
      </p:sp>
      <p:sp>
        <p:nvSpPr>
          <p:cNvPr id="5" name="">
            <a:extLst>
              <a:ext uri="{FF2B5EF4-FFF2-40B4-BE49-F238E27FC236}">
                <ns2:creationId id="{8C1B532F-62DF-455F-9676-4720CBD4CBA7}"/>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자료에서 알 수 있는 것</a:t>
            </a:r>
          </a:p>
        </p:txBody>
      </p:sp>
      <p:graphicFrame>
        <p:nvGraphicFramePr>
          <p:cNvPr id="17" name=""/>
          <p:cNvGraphicFramePr/>
          <p:nvPr/>
        </p:nvGraphicFramePr>
        <p:xfrm>
          <a:off x="6267450" y="2628900"/>
          <a:ext cx="5238750" cy="2057400"/>
        </p:xfrm>
        <a:graphic>
          <a:graphicData uri="http://schemas.openxmlformats.org/drawingml/2006/table">
            <a:tbl>
              <a:tblPr firstRow="1" bandRow="0"/>
              <a:tblGrid>
                <a:gridCol w="1253289"/>
                <a:gridCol w="3985461"/>
              </a:tblGrid>
              <a:tr h="514350">
                <a:tc>
                  <a:txBody>
                    <a:bodyPr wrap="square"/>
                    <a:lstStyle/>
                    <a:p>
                      <a:pPr>
                        <a:lnSpc>
                          <a:spcPct val="102000"/>
                        </a:lnSpc>
                        <a:buNone/>
                      </a:pPr>
                      <a:r>
                        <a:rPr sz="1875" b="1">
                          <a:solidFill>
                            <a:srgbClr val="172F39"/>
                          </a:solidFill>
                          <a:latin typeface="Noto Sans KR"/>
                          <a:ea typeface="Noto Sans KR"/>
                          <a:cs typeface="Noto Sans KR"/>
                        </a:rPr>
                        <a:t>구분</a:t>
                      </a:r>
                    </a:p>
                  </a:txBody>
                  <a:tcPr marL="114300" marR="114300" marT="76200" marB="76200" anchor="ctr">
                    <a:solidFill>
                      <a:srgbClr val="DCECE8"/>
                    </a:solidFill>
                  </a:tcPr>
                </a:tc>
                <a:tc>
                  <a:txBody>
                    <a:bodyPr wrap="square"/>
                    <a:lstStyle/>
                    <a:p>
                      <a:pPr>
                        <a:lnSpc>
                          <a:spcPct val="102000"/>
                        </a:lnSpc>
                        <a:buNone/>
                      </a:pPr>
                      <a:r>
                        <a:rPr sz="1875" b="1">
                          <a:solidFill>
                            <a:srgbClr val="172F39"/>
                          </a:solidFill>
                          <a:latin typeface="Noto Sans KR"/>
                          <a:ea typeface="Noto Sans KR"/>
                          <a:cs typeface="Noto Sans KR"/>
                        </a:rPr>
                        <a:t>예</a:t>
                      </a:r>
                    </a:p>
                  </a:txBody>
                  <a:tcPr marL="114300" marR="114300" marT="76200" marB="76200" anchor="ctr">
                    <a:solidFill>
                      <a:srgbClr val="DCECE8"/>
                    </a:solidFill>
                  </a:tcPr>
                </a:tc>
              </a:tr>
              <a:tr h="514350">
                <a:tc>
                  <a:txBody>
                    <a:bodyPr wrap="square"/>
                    <a:lstStyle/>
                    <a:p>
                      <a:pPr>
                        <a:lnSpc>
                          <a:spcPct val="102000"/>
                        </a:lnSpc>
                        <a:buNone/>
                      </a:pPr>
                      <a:r>
                        <a:rPr sz="1875" b="0">
                          <a:solidFill>
                            <a:srgbClr val="172F39"/>
                          </a:solidFill>
                          <a:latin typeface="Noto Sans KR"/>
                          <a:ea typeface="Noto Sans KR"/>
                          <a:cs typeface="Noto Sans KR"/>
                        </a:rPr>
                        <a:t>관찰</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20건 중 기록 지연 4건</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해석</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기록 확인이 어려울 가능성</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가설</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목록으로 찾는 시간이 줄어듦</a:t>
                      </a:r>
                    </a:p>
                  </a:txBody>
                  <a:tcPr marL="114300" marR="114300" marT="76200" marB="76200" anchor="ctr">
                    <a:solidFill>
                      <a:srgbClr val="FFFFFF"/>
                    </a:solidFill>
                  </a:tcPr>
                </a:tc>
              </a:tr>
            </a:tbl>
          </a:graphicData>
        </a:graphic>
      </p:graphicFrame>
      <p:sp>
        <p:nvSpPr>
          <p:cNvPr id="7" name="">
            <a:extLst>
              <a:ext uri="{FF2B5EF4-FFF2-40B4-BE49-F238E27FC236}">
                <ns2:creationId id="{529F0D14-02FF-4301-B656-46A17A9BF3B2}"/>
              </a:ext>
            </a:extLst>
          </p:cNvPr>
          <p:cNvSpPr>
            <a:spLocks noGrp="1"/>
          </p:cNvSpPr>
          <p:nvPr/>
        </p:nvSpPr>
        <p:spPr>
          <a:xfrm>
            <a:off x="685800" y="6172200"/>
            <a:ext cx="10820400" cy="9525"/>
          </a:xfrm>
          <a:prstGeom prst="rect">
            <a:avLst/>
          </a:prstGeom>
          <a:solidFill>
            <a:srgbClr val="D5DEDD"/>
          </a:solidFill>
          <a:ln w="0">
            <a:noFill/>
          </a:ln>
        </p:spPr>
      </p:sp>
      <p:sp>
        <p:nvSpPr>
          <p:cNvPr id="8" name="">
            <a:extLst>
              <a:ext uri="{FF2B5EF4-FFF2-40B4-BE49-F238E27FC236}">
                <ns2:creationId id="{B4431CD5-6E5F-426E-A5C6-88E18DDE948E}"/>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9" name="">
            <a:extLst>
              <a:ext uri="{FF2B5EF4-FFF2-40B4-BE49-F238E27FC236}">
                <ns2:creationId id="{5E73FE4D-03FC-4F32-BF29-40DAF607C7D6}"/>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0" name="">
            <a:extLst>
              <a:ext uri="{FF2B5EF4-FFF2-40B4-BE49-F238E27FC236}">
                <ns2:creationId id="{9F5E28BD-D474-4C5B-B5C7-425D310017A6}"/>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1" name="">
            <a:extLst>
              <a:ext uri="{FF2B5EF4-FFF2-40B4-BE49-F238E27FC236}">
                <ns2:creationId id="{8D1331F1-0772-4D19-8ED6-ACD7361DFC4A}"/>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10/30   010</a:t>
            </a:r>
          </a:p>
        </p:txBody>
      </p:sp>
    </p:spTree>
    <p:extLst>
      <p:ext uri="{BB962C8B-B14F-4D97-AF65-F5344CB8AC3E}">
        <ns4:creationId val="102000523"/>
      </p:ext>
    </p:extLst>
  </p:cSld>
</p:sld>
</file>

<file path=ppt/slides/slide11.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2" name="">
            <a:extLst>
              <a:ext uri="{FF2B5EF4-FFF2-40B4-BE49-F238E27FC236}">
                <ns2:creationId id="{D091BC51-6960-493A-9280-C1139DC30BF8}"/>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1교시</a:t>
            </a:r>
          </a:p>
        </p:txBody>
      </p:sp>
      <p:sp>
        <p:nvSpPr>
          <p:cNvPr id="2" name="">
            <a:extLst>
              <a:ext uri="{FF2B5EF4-FFF2-40B4-BE49-F238E27FC236}">
                <ns2:creationId id="{57AECDE5-F066-4A60-9157-FCEB73D23B8C}"/>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기획 결과물과 현장 효과</a:t>
            </a:r>
          </a:p>
        </p:txBody>
      </p:sp>
      <p:sp>
        <p:nvSpPr>
          <p:cNvPr id="3" name="">
            <a:extLst>
              <a:ext uri="{FF2B5EF4-FFF2-40B4-BE49-F238E27FC236}">
                <ns2:creationId id="{18E2AA1A-32F5-459E-A19E-078DCE8F6AEF}"/>
              </a:ext>
            </a:extLst>
          </p:cNvPr>
          <p:cNvSpPr>
            <a:spLocks noGrp="1"/>
          </p:cNvSpPr>
          <p:nvPr/>
        </p:nvSpPr>
        <p:spPr>
          <a:xfrm>
            <a:off x="685800" y="1933575"/>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오늘 작성할 문서: 프로젝트 기획서</a:t>
            </a:r>
          </a:p>
        </p:txBody>
      </p:sp>
      <p:sp>
        <p:nvSpPr>
          <p:cNvPr id="4" name="">
            <a:extLst>
              <a:ext uri="{FF2B5EF4-FFF2-40B4-BE49-F238E27FC236}">
                <ns2:creationId id="{9DF0A6A6-1A92-41E0-BC0E-DDC030B9138E}"/>
              </a:ext>
            </a:extLst>
          </p:cNvPr>
          <p:cNvSpPr>
            <a:spLocks noGrp="1"/>
          </p:cNvSpPr>
          <p:nvPr/>
        </p:nvSpPr>
        <p:spPr>
          <a:xfrm>
            <a:off x="685800" y="2432685"/>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확인 시간이 줄었는지는 프로그램을 만든 뒤 측정합니다.</a:t>
            </a:r>
          </a:p>
        </p:txBody>
      </p:sp>
      <p:sp>
        <p:nvSpPr>
          <p:cNvPr id="5" name="">
            <a:extLst>
              <a:ext uri="{FF2B5EF4-FFF2-40B4-BE49-F238E27FC236}">
                <ns2:creationId id="{D422C537-56A5-46D9-A71D-2C5549C5695A}"/>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자료에서 알 수 있는 것</a:t>
            </a:r>
          </a:p>
        </p:txBody>
      </p:sp>
      <p:graphicFrame>
        <p:nvGraphicFramePr>
          <p:cNvPr id="17" name=""/>
          <p:cNvGraphicFramePr/>
          <p:nvPr/>
        </p:nvGraphicFramePr>
        <p:xfrm>
          <a:off x="6267450" y="2628900"/>
          <a:ext cx="5238750" cy="2057400"/>
        </p:xfrm>
        <a:graphic>
          <a:graphicData uri="http://schemas.openxmlformats.org/drawingml/2006/table">
            <a:tbl>
              <a:tblPr firstRow="1" bandRow="0"/>
              <a:tblGrid>
                <a:gridCol w="1253289"/>
                <a:gridCol w="3985461"/>
              </a:tblGrid>
              <a:tr h="514350">
                <a:tc>
                  <a:txBody>
                    <a:bodyPr wrap="square"/>
                    <a:lstStyle/>
                    <a:p>
                      <a:pPr>
                        <a:lnSpc>
                          <a:spcPct val="102000"/>
                        </a:lnSpc>
                        <a:buNone/>
                      </a:pPr>
                      <a:r>
                        <a:rPr sz="1875" b="1">
                          <a:solidFill>
                            <a:srgbClr val="172F39"/>
                          </a:solidFill>
                          <a:latin typeface="Noto Sans KR"/>
                          <a:ea typeface="Noto Sans KR"/>
                          <a:cs typeface="Noto Sans KR"/>
                        </a:rPr>
                        <a:t>구분</a:t>
                      </a:r>
                    </a:p>
                  </a:txBody>
                  <a:tcPr marL="114300" marR="114300" marT="76200" marB="76200" anchor="ctr">
                    <a:solidFill>
                      <a:srgbClr val="DCECE8"/>
                    </a:solidFill>
                  </a:tcPr>
                </a:tc>
                <a:tc>
                  <a:txBody>
                    <a:bodyPr wrap="square"/>
                    <a:lstStyle/>
                    <a:p>
                      <a:pPr>
                        <a:lnSpc>
                          <a:spcPct val="102000"/>
                        </a:lnSpc>
                        <a:buNone/>
                      </a:pPr>
                      <a:r>
                        <a:rPr sz="1875" b="1">
                          <a:solidFill>
                            <a:srgbClr val="172F39"/>
                          </a:solidFill>
                          <a:latin typeface="Noto Sans KR"/>
                          <a:ea typeface="Noto Sans KR"/>
                          <a:cs typeface="Noto Sans KR"/>
                        </a:rPr>
                        <a:t>예</a:t>
                      </a:r>
                    </a:p>
                  </a:txBody>
                  <a:tcPr marL="114300" marR="114300" marT="76200" marB="76200" anchor="ctr">
                    <a:solidFill>
                      <a:srgbClr val="DCECE8"/>
                    </a:solidFill>
                  </a:tcPr>
                </a:tc>
              </a:tr>
              <a:tr h="514350">
                <a:tc>
                  <a:txBody>
                    <a:bodyPr wrap="square"/>
                    <a:lstStyle/>
                    <a:p>
                      <a:pPr>
                        <a:lnSpc>
                          <a:spcPct val="102000"/>
                        </a:lnSpc>
                        <a:buNone/>
                      </a:pPr>
                      <a:r>
                        <a:rPr sz="1875" b="0">
                          <a:solidFill>
                            <a:srgbClr val="172F39"/>
                          </a:solidFill>
                          <a:latin typeface="Noto Sans KR"/>
                          <a:ea typeface="Noto Sans KR"/>
                          <a:cs typeface="Noto Sans KR"/>
                        </a:rPr>
                        <a:t>관찰</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20건 중 기록 지연 4건</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해석</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기록 확인이 어려울 가능성</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가설</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목록으로 찾는 시간이 줄어듦</a:t>
                      </a:r>
                    </a:p>
                  </a:txBody>
                  <a:tcPr marL="114300" marR="114300" marT="76200" marB="76200" anchor="ctr">
                    <a:solidFill>
                      <a:srgbClr val="FFFFFF"/>
                    </a:solidFill>
                  </a:tcPr>
                </a:tc>
              </a:tr>
            </a:tbl>
          </a:graphicData>
        </a:graphic>
      </p:graphicFrame>
      <p:sp>
        <p:nvSpPr>
          <p:cNvPr id="7" name="">
            <a:extLst>
              <a:ext uri="{FF2B5EF4-FFF2-40B4-BE49-F238E27FC236}">
                <ns2:creationId id="{5071A2AB-B6B9-4D28-A581-FB8C1F707142}"/>
              </a:ext>
            </a:extLst>
          </p:cNvPr>
          <p:cNvSpPr>
            <a:spLocks noGrp="1"/>
          </p:cNvSpPr>
          <p:nvPr/>
        </p:nvSpPr>
        <p:spPr>
          <a:xfrm>
            <a:off x="685800" y="6172200"/>
            <a:ext cx="10820400" cy="9525"/>
          </a:xfrm>
          <a:prstGeom prst="rect">
            <a:avLst/>
          </a:prstGeom>
          <a:solidFill>
            <a:srgbClr val="D5DEDD"/>
          </a:solidFill>
          <a:ln w="0">
            <a:noFill/>
          </a:ln>
        </p:spPr>
      </p:sp>
      <p:sp>
        <p:nvSpPr>
          <p:cNvPr id="8" name="">
            <a:extLst>
              <a:ext uri="{FF2B5EF4-FFF2-40B4-BE49-F238E27FC236}">
                <ns2:creationId id="{D1ACC872-2B49-4440-9047-F623A4C20E45}"/>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9" name="">
            <a:extLst>
              <a:ext uri="{FF2B5EF4-FFF2-40B4-BE49-F238E27FC236}">
                <ns2:creationId id="{DD799BBB-48BD-4B98-9DA9-DD9261204CFE}"/>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0" name="">
            <a:extLst>
              <a:ext uri="{FF2B5EF4-FFF2-40B4-BE49-F238E27FC236}">
                <ns2:creationId id="{0F08796A-8EAD-414F-BA33-D45F476D8533}"/>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1" name="">
            <a:extLst>
              <a:ext uri="{FF2B5EF4-FFF2-40B4-BE49-F238E27FC236}">
                <ns2:creationId id="{36F769C0-4356-47AD-86B0-987236AB93DE}"/>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10/30   011</a:t>
            </a:r>
          </a:p>
        </p:txBody>
      </p:sp>
    </p:spTree>
    <p:extLst>
      <p:ext uri="{BB962C8B-B14F-4D97-AF65-F5344CB8AC3E}">
        <ns4:creationId val="1341479482"/>
      </p:ext>
    </p:extLst>
  </p:cSld>
</p:sld>
</file>

<file path=ppt/slides/slide12.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9" name="">
            <a:extLst>
              <a:ext uri="{FF2B5EF4-FFF2-40B4-BE49-F238E27FC236}">
                <ns2:creationId id="{C7CBF47B-23C8-4668-8487-A3571B8C12D9}"/>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1교시</a:t>
            </a:r>
          </a:p>
        </p:txBody>
      </p:sp>
      <p:sp>
        <p:nvSpPr>
          <p:cNvPr id="2" name="">
            <a:extLst>
              <a:ext uri="{FF2B5EF4-FFF2-40B4-BE49-F238E27FC236}">
                <ns2:creationId id="{3867EA20-C095-42CB-A19D-0EB19828FB0F}"/>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사용자·문제·기능·가설</a:t>
            </a:r>
          </a:p>
        </p:txBody>
      </p:sp>
      <p:graphicFrame>
        <p:nvGraphicFramePr>
          <p:cNvPr id="11" name=""/>
          <p:cNvGraphicFramePr/>
          <p:nvPr/>
        </p:nvGraphicFramePr>
        <p:xfrm>
          <a:off x="685800" y="1809750"/>
          <a:ext cx="10820400" cy="2682240"/>
        </p:xfrm>
        <a:graphic>
          <a:graphicData uri="http://schemas.openxmlformats.org/drawingml/2006/table">
            <a:tbl>
              <a:tblPr firstRow="1" bandRow="0"/>
              <a:tblGrid>
                <a:gridCol w="3910343"/>
                <a:gridCol w="6910057"/>
              </a:tblGrid>
              <a:tr h="536448">
                <a:tc>
                  <a:txBody>
                    <a:bodyPr wrap="square"/>
                    <a:lstStyle/>
                    <a:p>
                      <a:pPr>
                        <a:lnSpc>
                          <a:spcPct val="102000"/>
                        </a:lnSpc>
                        <a:buNone/>
                      </a:pPr>
                      <a:r>
                        <a:rPr sz="2025" b="1">
                          <a:solidFill>
                            <a:srgbClr val="172F39"/>
                          </a:solidFill>
                          <a:latin typeface="Noto Sans KR"/>
                          <a:ea typeface="Noto Sans KR"/>
                          <a:cs typeface="Noto Sans KR"/>
                        </a:rPr>
                        <a:t>구분</a:t>
                      </a:r>
                    </a:p>
                  </a:txBody>
                  <a:tcPr marL="114300" marR="114300" marT="76200" marB="76200" anchor="ctr">
                    <a:solidFill>
                      <a:srgbClr val="DCECE8"/>
                    </a:solidFill>
                  </a:tcPr>
                </a:tc>
                <a:tc>
                  <a:txBody>
                    <a:bodyPr wrap="square"/>
                    <a:lstStyle/>
                    <a:p>
                      <a:pPr>
                        <a:lnSpc>
                          <a:spcPct val="102000"/>
                        </a:lnSpc>
                        <a:buNone/>
                      </a:pPr>
                      <a:r>
                        <a:rPr sz="2025" b="1">
                          <a:solidFill>
                            <a:srgbClr val="172F39"/>
                          </a:solidFill>
                          <a:latin typeface="Noto Sans KR"/>
                          <a:ea typeface="Noto Sans KR"/>
                          <a:cs typeface="Noto Sans KR"/>
                        </a:rPr>
                        <a:t>문장</a:t>
                      </a:r>
                    </a:p>
                  </a:txBody>
                  <a:tcPr marL="114300" marR="114300" marT="76200" marB="76200" anchor="ctr">
                    <a:solidFill>
                      <a:srgbClr val="DCECE8"/>
                    </a:solidFill>
                  </a:tcPr>
                </a:tc>
              </a:tr>
              <a:tr h="536448">
                <a:tc>
                  <a:txBody>
                    <a:bodyPr wrap="square"/>
                    <a:lstStyle/>
                    <a:p>
                      <a:pPr>
                        <a:lnSpc>
                          <a:spcPct val="102000"/>
                        </a:lnSpc>
                        <a:buNone/>
                      </a:pPr>
                      <a:r>
                        <a:rPr sz="2025" b="0">
                          <a:solidFill>
                            <a:srgbClr val="172F39"/>
                          </a:solidFill>
                          <a:latin typeface="Noto Sans KR"/>
                          <a:ea typeface="Noto Sans KR"/>
                          <a:cs typeface="Noto Sans KR"/>
                        </a:rPr>
                        <a:t>사용자</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마감 확인 담당자</a:t>
                      </a:r>
                    </a:p>
                  </a:txBody>
                  <a:tcPr marL="114300" marR="114300" marT="76200" marB="76200" anchor="ctr">
                    <a:solidFill>
                      <a:srgbClr val="FFFFFF"/>
                    </a:solidFill>
                  </a:tcPr>
                </a:tc>
              </a:tr>
              <a:tr h="536448">
                <a:tc>
                  <a:txBody>
                    <a:bodyPr wrap="square"/>
                    <a:lstStyle/>
                    <a:p>
                      <a:pPr>
                        <a:lnSpc>
                          <a:spcPct val="102000"/>
                        </a:lnSpc>
                        <a:buNone/>
                      </a:pPr>
                      <a:r>
                        <a:rPr sz="2025" b="0">
                          <a:solidFill>
                            <a:srgbClr val="172F39"/>
                          </a:solidFill>
                          <a:latin typeface="Noto Sans KR"/>
                          <a:ea typeface="Noto Sans KR"/>
                          <a:cs typeface="Noto Sans KR"/>
                        </a:rPr>
                        <a:t>문제</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전체 기록을 다시 찾음</a:t>
                      </a:r>
                    </a:p>
                  </a:txBody>
                  <a:tcPr marL="114300" marR="114300" marT="76200" marB="76200" anchor="ctr">
                    <a:solidFill>
                      <a:srgbClr val="FFFFFF"/>
                    </a:solidFill>
                  </a:tcPr>
                </a:tc>
              </a:tr>
              <a:tr h="536448">
                <a:tc>
                  <a:txBody>
                    <a:bodyPr wrap="square"/>
                    <a:lstStyle/>
                    <a:p>
                      <a:pPr>
                        <a:lnSpc>
                          <a:spcPct val="102000"/>
                        </a:lnSpc>
                        <a:buNone/>
                      </a:pPr>
                      <a:r>
                        <a:rPr sz="2025" b="0">
                          <a:solidFill>
                            <a:srgbClr val="172F39"/>
                          </a:solidFill>
                          <a:latin typeface="Noto Sans KR"/>
                          <a:ea typeface="Noto Sans KR"/>
                          <a:cs typeface="Noto Sans KR"/>
                        </a:rPr>
                        <a:t>기능 후보</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미확인 목록 표시</a:t>
                      </a:r>
                    </a:p>
                  </a:txBody>
                  <a:tcPr marL="114300" marR="114300" marT="76200" marB="76200" anchor="ctr">
                    <a:solidFill>
                      <a:srgbClr val="FFFFFF"/>
                    </a:solidFill>
                  </a:tcPr>
                </a:tc>
              </a:tr>
              <a:tr h="536448">
                <a:tc>
                  <a:txBody>
                    <a:bodyPr wrap="square"/>
                    <a:lstStyle/>
                    <a:p>
                      <a:pPr>
                        <a:lnSpc>
                          <a:spcPct val="102000"/>
                        </a:lnSpc>
                        <a:buNone/>
                      </a:pPr>
                      <a:r>
                        <a:rPr sz="2025" b="0">
                          <a:solidFill>
                            <a:srgbClr val="172F39"/>
                          </a:solidFill>
                          <a:latin typeface="Noto Sans KR"/>
                          <a:ea typeface="Noto Sans KR"/>
                          <a:cs typeface="Noto Sans KR"/>
                        </a:rPr>
                        <a:t>가설</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탐색 시간이 줄어듦</a:t>
                      </a:r>
                    </a:p>
                  </a:txBody>
                  <a:tcPr marL="114300" marR="114300" marT="76200" marB="76200" anchor="ctr">
                    <a:solidFill>
                      <a:srgbClr val="FFFFFF"/>
                    </a:solidFill>
                  </a:tcPr>
                </a:tc>
              </a:tr>
            </a:tbl>
          </a:graphicData>
        </a:graphic>
      </p:graphicFrame>
      <p:sp>
        <p:nvSpPr>
          <p:cNvPr id="4" name="">
            <a:extLst>
              <a:ext uri="{FF2B5EF4-FFF2-40B4-BE49-F238E27FC236}">
                <ns2:creationId id="{AC0E0125-5F8C-405D-B3AC-A031A9534F4A}"/>
              </a:ext>
            </a:extLst>
          </p:cNvPr>
          <p:cNvSpPr>
            <a:spLocks noGrp="1"/>
          </p:cNvSpPr>
          <p:nvPr/>
        </p:nvSpPr>
        <p:spPr>
          <a:xfrm>
            <a:off x="685800" y="6172200"/>
            <a:ext cx="10820400" cy="9525"/>
          </a:xfrm>
          <a:prstGeom prst="rect">
            <a:avLst/>
          </a:prstGeom>
          <a:solidFill>
            <a:srgbClr val="D5DEDD"/>
          </a:solidFill>
          <a:ln w="0">
            <a:noFill/>
          </a:ln>
        </p:spPr>
      </p:sp>
      <p:sp>
        <p:nvSpPr>
          <p:cNvPr id="5" name="">
            <a:extLst>
              <a:ext uri="{FF2B5EF4-FFF2-40B4-BE49-F238E27FC236}">
                <ns2:creationId id="{4DEDCE37-5873-4762-B73D-A2B259977570}"/>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6" name="">
            <a:extLst>
              <a:ext uri="{FF2B5EF4-FFF2-40B4-BE49-F238E27FC236}">
                <ns2:creationId id="{4710E975-19DB-4F0A-BAC8-17A124B6E027}"/>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7" name="">
            <a:extLst>
              <a:ext uri="{FF2B5EF4-FFF2-40B4-BE49-F238E27FC236}">
                <ns2:creationId id="{8DC107E8-1C45-4A49-A1B3-F03884C0348D}"/>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8" name="">
            <a:extLst>
              <a:ext uri="{FF2B5EF4-FFF2-40B4-BE49-F238E27FC236}">
                <ns2:creationId id="{7188E601-6E22-459C-AFBA-BB1A54DDF5FF}"/>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10/30   012</a:t>
            </a:r>
          </a:p>
        </p:txBody>
      </p:sp>
    </p:spTree>
    <p:extLst>
      <p:ext uri="{BB962C8B-B14F-4D97-AF65-F5344CB8AC3E}">
        <ns4:creationId val="649398238"/>
      </p:ext>
    </p:extLst>
  </p:cSld>
</p:sld>
</file>

<file path=ppt/slides/slide13.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1" name="">
            <a:extLst>
              <a:ext uri="{FF2B5EF4-FFF2-40B4-BE49-F238E27FC236}">
                <ns2:creationId id="{3D86BC63-984C-44B3-A202-1D94FB8D177F}"/>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1교시</a:t>
            </a:r>
          </a:p>
        </p:txBody>
      </p:sp>
      <p:sp>
        <p:nvSpPr>
          <p:cNvPr id="2" name="">
            <a:extLst>
              <a:ext uri="{FF2B5EF4-FFF2-40B4-BE49-F238E27FC236}">
                <ns2:creationId id="{617FDD8A-6D1F-4C2E-8806-945F3A15AB19}"/>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예상 출력</a:t>
            </a:r>
          </a:p>
        </p:txBody>
      </p:sp>
      <p:sp>
        <p:nvSpPr>
          <p:cNvPr id="3" name="">
            <a:extLst>
              <a:ext uri="{FF2B5EF4-FFF2-40B4-BE49-F238E27FC236}">
                <ns2:creationId id="{00A7FD62-D401-4DB7-83C0-8C35DF840604}"/>
              </a:ext>
            </a:extLst>
          </p:cNvPr>
          <p:cNvSpPr>
            <a:spLocks noGrp="1"/>
          </p:cNvSpPr>
          <p:nvPr/>
        </p:nvSpPr>
        <p:spPr>
          <a:xfrm>
            <a:off x="685800" y="1990725"/>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관찰 4÷20×100 = 20%</a:t>
            </a:r>
          </a:p>
        </p:txBody>
      </p:sp>
      <p:sp>
        <p:nvSpPr>
          <p:cNvPr id="4" name="">
            <a:extLst>
              <a:ext uri="{FF2B5EF4-FFF2-40B4-BE49-F238E27FC236}">
                <ns2:creationId id="{C21C78CB-D2A2-4FE4-A040-3D7DD49F77C4}"/>
              </a:ext>
            </a:extLst>
          </p:cNvPr>
          <p:cNvSpPr>
            <a:spLocks noGrp="1"/>
          </p:cNvSpPr>
          <p:nvPr/>
        </p:nvSpPr>
        <p:spPr>
          <a:xfrm>
            <a:off x="685800" y="2534793"/>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원인과 개선 효과는 아직 모릅니다.</a:t>
            </a:r>
          </a:p>
        </p:txBody>
      </p:sp>
      <p:sp>
        <p:nvSpPr>
          <p:cNvPr id="5" name="">
            <a:extLst>
              <a:ext uri="{FF2B5EF4-FFF2-40B4-BE49-F238E27FC236}">
                <ns2:creationId id="{30AF15E3-1260-4D07-AE1C-1C228739C607}"/>
              </a:ext>
            </a:extLst>
          </p:cNvPr>
          <p:cNvSpPr>
            <a:spLocks noGrp="1"/>
          </p:cNvSpPr>
          <p:nvPr/>
        </p:nvSpPr>
        <p:spPr>
          <a:xfrm>
            <a:off x="685800" y="3078861"/>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기획서를 완성해도 실제 효과를 알 수는 없습니다.</a:t>
            </a:r>
          </a:p>
        </p:txBody>
      </p:sp>
      <p:sp>
        <p:nvSpPr>
          <p:cNvPr id="6" name="">
            <a:extLst>
              <a:ext uri="{FF2B5EF4-FFF2-40B4-BE49-F238E27FC236}">
                <ns2:creationId id="{A28D6A5F-0793-48C6-B5C5-3A7C2E85E0A8}"/>
              </a:ext>
            </a:extLst>
          </p:cNvPr>
          <p:cNvSpPr>
            <a:spLocks noGrp="1"/>
          </p:cNvSpPr>
          <p:nvPr/>
        </p:nvSpPr>
        <p:spPr>
          <a:xfrm>
            <a:off x="685800" y="6172200"/>
            <a:ext cx="10820400" cy="9525"/>
          </a:xfrm>
          <a:prstGeom prst="rect">
            <a:avLst/>
          </a:prstGeom>
          <a:solidFill>
            <a:srgbClr val="D5DEDD"/>
          </a:solidFill>
          <a:ln w="0">
            <a:noFill/>
          </a:ln>
        </p:spPr>
      </p:sp>
      <p:sp>
        <p:nvSpPr>
          <p:cNvPr id="7" name="">
            <a:extLst>
              <a:ext uri="{FF2B5EF4-FFF2-40B4-BE49-F238E27FC236}">
                <ns2:creationId id="{F456756E-6ECE-458D-AEEE-00CD24095A42}"/>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8" name="">
            <a:extLst>
              <a:ext uri="{FF2B5EF4-FFF2-40B4-BE49-F238E27FC236}">
                <ns2:creationId id="{8FC793EB-18A2-494C-9A39-90792E7EA5B8}"/>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9" name="">
            <a:extLst>
              <a:ext uri="{FF2B5EF4-FFF2-40B4-BE49-F238E27FC236}">
                <ns2:creationId id="{5397DBA6-21D5-4515-ACC1-1CE0E11A0428}"/>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0" name="">
            <a:extLst>
              <a:ext uri="{FF2B5EF4-FFF2-40B4-BE49-F238E27FC236}">
                <ns2:creationId id="{B6AF2CA5-DDF4-4D8F-9851-E99AECC3959D}"/>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10/30   013</a:t>
            </a:r>
          </a:p>
        </p:txBody>
      </p:sp>
    </p:spTree>
    <p:extLst>
      <p:ext uri="{BB962C8B-B14F-4D97-AF65-F5344CB8AC3E}">
        <ns4:creationId val="136214466"/>
      </p:ext>
    </p:extLst>
  </p:cSld>
</p:sld>
</file>

<file path=ppt/slides/slide14.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0" name="">
            <a:extLst>
              <a:ext uri="{FF2B5EF4-FFF2-40B4-BE49-F238E27FC236}">
                <ns2:creationId id="{4C39F9E8-E9F3-4934-B8CF-56A2FFE88D1E}"/>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1교시</a:t>
            </a:r>
          </a:p>
        </p:txBody>
      </p:sp>
      <p:sp>
        <p:nvSpPr>
          <p:cNvPr id="2" name="">
            <a:extLst>
              <a:ext uri="{FF2B5EF4-FFF2-40B4-BE49-F238E27FC236}">
                <ns2:creationId id="{CDCB6178-132C-4417-8537-FB30BD7397CC}"/>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연습 문제</a:t>
            </a:r>
          </a:p>
        </p:txBody>
      </p:sp>
      <p:sp>
        <p:nvSpPr>
          <p:cNvPr id="3" name="">
            <a:extLst>
              <a:ext uri="{FF2B5EF4-FFF2-40B4-BE49-F238E27FC236}">
                <ns2:creationId id="{9D407EFE-713F-40C1-8A3D-4ED1232AF3CB}"/>
              </a:ext>
            </a:extLst>
          </p:cNvPr>
          <p:cNvSpPr>
            <a:spLocks noGrp="1"/>
          </p:cNvSpPr>
          <p:nvPr/>
        </p:nvSpPr>
        <p:spPr>
          <a:xfrm>
            <a:off x="685800" y="1990725"/>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식당 재고 담당자가 품절을 늦게 확인합니다.</a:t>
            </a:r>
          </a:p>
        </p:txBody>
      </p:sp>
      <p:sp>
        <p:nvSpPr>
          <p:cNvPr id="4" name="">
            <a:extLst>
              <a:ext uri="{FF2B5EF4-FFF2-40B4-BE49-F238E27FC236}">
                <ns2:creationId id="{DB8F7EE2-C0AA-41DD-A8D1-BEBC3B7FBE79}"/>
              </a:ext>
            </a:extLst>
          </p:cNvPr>
          <p:cNvSpPr>
            <a:spLocks noGrp="1"/>
          </p:cNvSpPr>
          <p:nvPr/>
        </p:nvSpPr>
        <p:spPr>
          <a:xfrm>
            <a:off x="685800" y="2557272"/>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사용자·문제·기능·가설을 따로 쓰세요.</a:t>
            </a:r>
          </a:p>
        </p:txBody>
      </p:sp>
      <p:sp>
        <p:nvSpPr>
          <p:cNvPr id="5" name="">
            <a:extLst>
              <a:ext uri="{FF2B5EF4-FFF2-40B4-BE49-F238E27FC236}">
                <ns2:creationId id="{A079478E-0612-464A-B6F5-9DAE98C50EA5}"/>
              </a:ext>
            </a:extLst>
          </p:cNvPr>
          <p:cNvSpPr>
            <a:spLocks noGrp="1"/>
          </p:cNvSpPr>
          <p:nvPr/>
        </p:nvSpPr>
        <p:spPr>
          <a:xfrm>
            <a:off x="685800" y="6172200"/>
            <a:ext cx="10820400" cy="9525"/>
          </a:xfrm>
          <a:prstGeom prst="rect">
            <a:avLst/>
          </a:prstGeom>
          <a:solidFill>
            <a:srgbClr val="D5DEDD"/>
          </a:solidFill>
          <a:ln w="0">
            <a:noFill/>
          </a:ln>
        </p:spPr>
      </p:sp>
      <p:sp>
        <p:nvSpPr>
          <p:cNvPr id="6" name="">
            <a:extLst>
              <a:ext uri="{FF2B5EF4-FFF2-40B4-BE49-F238E27FC236}">
                <ns2:creationId id="{188E7079-AFF5-487E-9331-8B4507FAF506}"/>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7" name="">
            <a:extLst>
              <a:ext uri="{FF2B5EF4-FFF2-40B4-BE49-F238E27FC236}">
                <ns2:creationId id="{8B49C0A0-E688-44C7-A478-7B1C0F46E7A0}"/>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8" name="">
            <a:extLst>
              <a:ext uri="{FF2B5EF4-FFF2-40B4-BE49-F238E27FC236}">
                <ns2:creationId id="{43941143-812D-4E2D-A9C3-6055937CD216}"/>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9" name="">
            <a:extLst>
              <a:ext uri="{FF2B5EF4-FFF2-40B4-BE49-F238E27FC236}">
                <ns2:creationId id="{18518F59-6678-421D-BD41-30B8F3B8EECA}"/>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10/30   014</a:t>
            </a:r>
          </a:p>
        </p:txBody>
      </p:sp>
    </p:spTree>
    <p:extLst>
      <p:ext uri="{BB962C8B-B14F-4D97-AF65-F5344CB8AC3E}">
        <ns4:creationId val="43318104"/>
      </p:ext>
    </p:extLst>
  </p:cSld>
</p:sld>
</file>

<file path=ppt/slides/slide15.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1" name="">
            <a:extLst>
              <a:ext uri="{FF2B5EF4-FFF2-40B4-BE49-F238E27FC236}">
                <ns2:creationId id="{A5B2E258-011A-4F53-B2DF-86C151554205}"/>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1교시</a:t>
            </a:r>
          </a:p>
        </p:txBody>
      </p:sp>
      <p:sp>
        <p:nvSpPr>
          <p:cNvPr id="2" name="">
            <a:extLst>
              <a:ext uri="{FF2B5EF4-FFF2-40B4-BE49-F238E27FC236}">
                <ns2:creationId id="{44935CE2-58C3-455A-854C-B05BBC05CF0C}"/>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풀이</a:t>
            </a:r>
          </a:p>
        </p:txBody>
      </p:sp>
      <p:sp>
        <p:nvSpPr>
          <p:cNvPr id="3" name="">
            <a:extLst>
              <a:ext uri="{FF2B5EF4-FFF2-40B4-BE49-F238E27FC236}">
                <ns2:creationId id="{06B37507-3CF5-4F8C-972A-ECE27EE0ADA6}"/>
              </a:ext>
            </a:extLst>
          </p:cNvPr>
          <p:cNvSpPr>
            <a:spLocks noGrp="1"/>
          </p:cNvSpPr>
          <p:nvPr/>
        </p:nvSpPr>
        <p:spPr>
          <a:xfrm>
            <a:off x="685800" y="1990725"/>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사용자: 재고 담당자 · 문제: 확인 지연</a:t>
            </a:r>
          </a:p>
        </p:txBody>
      </p:sp>
      <p:sp>
        <p:nvSpPr>
          <p:cNvPr id="4" name="">
            <a:extLst>
              <a:ext uri="{FF2B5EF4-FFF2-40B4-BE49-F238E27FC236}">
                <ns2:creationId id="{B78004EB-1CF8-4257-83A7-273917FA3DEB}"/>
              </a:ext>
            </a:extLst>
          </p:cNvPr>
          <p:cNvSpPr>
            <a:spLocks noGrp="1"/>
          </p:cNvSpPr>
          <p:nvPr/>
        </p:nvSpPr>
        <p:spPr>
          <a:xfrm>
            <a:off x="685800" y="2534793"/>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기능: 부족 목록 · 가설: 확인 시간 감소</a:t>
            </a:r>
          </a:p>
        </p:txBody>
      </p:sp>
      <p:sp>
        <p:nvSpPr>
          <p:cNvPr id="5" name="">
            <a:extLst>
              <a:ext uri="{FF2B5EF4-FFF2-40B4-BE49-F238E27FC236}">
                <ns2:creationId id="{BFA802B7-D79A-47DF-BBBE-56973C746135}"/>
              </a:ext>
            </a:extLst>
          </p:cNvPr>
          <p:cNvSpPr>
            <a:spLocks noGrp="1"/>
          </p:cNvSpPr>
          <p:nvPr/>
        </p:nvSpPr>
        <p:spPr>
          <a:xfrm>
            <a:off x="685800" y="3078861"/>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측정하지 않은 효과를 사실로 쓰지 않습니다.</a:t>
            </a:r>
          </a:p>
        </p:txBody>
      </p:sp>
      <p:sp>
        <p:nvSpPr>
          <p:cNvPr id="6" name="">
            <a:extLst>
              <a:ext uri="{FF2B5EF4-FFF2-40B4-BE49-F238E27FC236}">
                <ns2:creationId id="{8E5AFF12-83AC-4D8C-B9E1-8E0E4BB08F80}"/>
              </a:ext>
            </a:extLst>
          </p:cNvPr>
          <p:cNvSpPr>
            <a:spLocks noGrp="1"/>
          </p:cNvSpPr>
          <p:nvPr/>
        </p:nvSpPr>
        <p:spPr>
          <a:xfrm>
            <a:off x="685800" y="6172200"/>
            <a:ext cx="10820400" cy="9525"/>
          </a:xfrm>
          <a:prstGeom prst="rect">
            <a:avLst/>
          </a:prstGeom>
          <a:solidFill>
            <a:srgbClr val="D5DEDD"/>
          </a:solidFill>
          <a:ln w="0">
            <a:noFill/>
          </a:ln>
        </p:spPr>
      </p:sp>
      <p:sp>
        <p:nvSpPr>
          <p:cNvPr id="7" name="">
            <a:extLst>
              <a:ext uri="{FF2B5EF4-FFF2-40B4-BE49-F238E27FC236}">
                <ns2:creationId id="{E967892E-D40B-4B1D-9DBF-21EDC9F39333}"/>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8" name="">
            <a:extLst>
              <a:ext uri="{FF2B5EF4-FFF2-40B4-BE49-F238E27FC236}">
                <ns2:creationId id="{9786C38A-E27C-4F0A-A4F0-2980D6B548C5}"/>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9" name="">
            <a:extLst>
              <a:ext uri="{FF2B5EF4-FFF2-40B4-BE49-F238E27FC236}">
                <ns2:creationId id="{8FE2FBA2-AE98-4640-ADE9-07891ABD6DE2}"/>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0" name="">
            <a:extLst>
              <a:ext uri="{FF2B5EF4-FFF2-40B4-BE49-F238E27FC236}">
                <ns2:creationId id="{973D5C3B-0055-40D0-9E9B-5404B3ADCD61}"/>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10/30   015</a:t>
            </a:r>
          </a:p>
        </p:txBody>
      </p:sp>
    </p:spTree>
    <p:extLst>
      <p:ext uri="{BB962C8B-B14F-4D97-AF65-F5344CB8AC3E}">
        <ns4:creationId val="2053325792"/>
      </p:ext>
    </p:extLst>
  </p:cSld>
</p:sld>
</file>

<file path=ppt/slides/slide16.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0" name="">
            <a:extLst>
              <a:ext uri="{FF2B5EF4-FFF2-40B4-BE49-F238E27FC236}">
                <ns2:creationId id="{5AC2C2BA-CC80-4CA4-9817-287F6BC558D9}"/>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1교시</a:t>
            </a:r>
          </a:p>
        </p:txBody>
      </p:sp>
      <p:sp>
        <p:nvSpPr>
          <p:cNvPr id="2" name="">
            <a:extLst>
              <a:ext uri="{FF2B5EF4-FFF2-40B4-BE49-F238E27FC236}">
                <ns2:creationId id="{E93CD3A7-7F2A-445A-BC7A-9B8DE0FFA8C0}"/>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조건을 바꿔 보기</a:t>
            </a:r>
          </a:p>
        </p:txBody>
      </p:sp>
      <p:sp>
        <p:nvSpPr>
          <p:cNvPr id="3" name="">
            <a:extLst>
              <a:ext uri="{FF2B5EF4-FFF2-40B4-BE49-F238E27FC236}">
                <ns2:creationId id="{F3CFD90E-C6F0-419F-943C-4663A97B233D}"/>
              </a:ext>
            </a:extLst>
          </p:cNvPr>
          <p:cNvSpPr>
            <a:spLocks noGrp="1"/>
          </p:cNvSpPr>
          <p:nvPr/>
        </p:nvSpPr>
        <p:spPr>
          <a:xfrm>
            <a:off x="685800" y="1990725"/>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사용자를 학생으로 바꾸면</a:t>
            </a:r>
          </a:p>
        </p:txBody>
      </p:sp>
      <p:sp>
        <p:nvSpPr>
          <p:cNvPr id="4" name="">
            <a:extLst>
              <a:ext uri="{FF2B5EF4-FFF2-40B4-BE49-F238E27FC236}">
                <ns2:creationId id="{2099E312-CC2D-4AB5-A74B-EE33611E39E0}"/>
              </a:ext>
            </a:extLst>
          </p:cNvPr>
          <p:cNvSpPr>
            <a:spLocks noGrp="1"/>
          </p:cNvSpPr>
          <p:nvPr/>
        </p:nvSpPr>
        <p:spPr>
          <a:xfrm>
            <a:off x="685800" y="2557272"/>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먼저 필요한 정보가 어떻게 달라질까요?</a:t>
            </a:r>
          </a:p>
        </p:txBody>
      </p:sp>
      <p:sp>
        <p:nvSpPr>
          <p:cNvPr id="5" name="">
            <a:extLst>
              <a:ext uri="{FF2B5EF4-FFF2-40B4-BE49-F238E27FC236}">
                <ns2:creationId id="{7C6718B7-BD44-474F-A81F-D9464F1683B4}"/>
              </a:ext>
            </a:extLst>
          </p:cNvPr>
          <p:cNvSpPr>
            <a:spLocks noGrp="1"/>
          </p:cNvSpPr>
          <p:nvPr/>
        </p:nvSpPr>
        <p:spPr>
          <a:xfrm>
            <a:off x="685800" y="6172200"/>
            <a:ext cx="10820400" cy="9525"/>
          </a:xfrm>
          <a:prstGeom prst="rect">
            <a:avLst/>
          </a:prstGeom>
          <a:solidFill>
            <a:srgbClr val="D5DEDD"/>
          </a:solidFill>
          <a:ln w="0">
            <a:noFill/>
          </a:ln>
        </p:spPr>
      </p:sp>
      <p:sp>
        <p:nvSpPr>
          <p:cNvPr id="6" name="">
            <a:extLst>
              <a:ext uri="{FF2B5EF4-FFF2-40B4-BE49-F238E27FC236}">
                <ns2:creationId id="{8DF5D85B-7C2F-4B19-A875-E5C3D9921C27}"/>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7" name="">
            <a:extLst>
              <a:ext uri="{FF2B5EF4-FFF2-40B4-BE49-F238E27FC236}">
                <ns2:creationId id="{DABF79E5-7DEF-4A70-8828-25D1EADA9F27}"/>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8" name="">
            <a:extLst>
              <a:ext uri="{FF2B5EF4-FFF2-40B4-BE49-F238E27FC236}">
                <ns2:creationId id="{858343D0-9880-436F-9FE6-A4F45316B68C}"/>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9" name="">
            <a:extLst>
              <a:ext uri="{FF2B5EF4-FFF2-40B4-BE49-F238E27FC236}">
                <ns2:creationId id="{29A76EC8-DF63-4DF7-B275-2A5BFD992A93}"/>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10/30   016</a:t>
            </a:r>
          </a:p>
        </p:txBody>
      </p:sp>
    </p:spTree>
    <p:extLst>
      <p:ext uri="{BB962C8B-B14F-4D97-AF65-F5344CB8AC3E}">
        <ns4:creationId val="1812810100"/>
      </p:ext>
    </p:extLst>
  </p:cSld>
</p:sld>
</file>

<file path=ppt/slides/slide17.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0" name="">
            <a:extLst>
              <a:ext uri="{FF2B5EF4-FFF2-40B4-BE49-F238E27FC236}">
                <ns2:creationId id="{9EB0C139-C2D3-4301-9CEB-51030215881D}"/>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1교시</a:t>
            </a:r>
          </a:p>
        </p:txBody>
      </p:sp>
      <p:sp>
        <p:nvSpPr>
          <p:cNvPr id="2" name="">
            <a:extLst>
              <a:ext uri="{FF2B5EF4-FFF2-40B4-BE49-F238E27FC236}">
                <ns2:creationId id="{5C6DA98C-3925-46CC-8717-2FC5ADEC9FD3}"/>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잘못 쓰기 쉬운 내용</a:t>
            </a:r>
          </a:p>
        </p:txBody>
      </p:sp>
      <p:sp>
        <p:nvSpPr>
          <p:cNvPr id="3" name="">
            <a:extLst>
              <a:ext uri="{FF2B5EF4-FFF2-40B4-BE49-F238E27FC236}">
                <ns2:creationId id="{82E5CE57-15B8-423B-845D-EC7EC56FD9C9}"/>
              </a:ext>
            </a:extLst>
          </p:cNvPr>
          <p:cNvSpPr>
            <a:spLocks noGrp="1"/>
          </p:cNvSpPr>
          <p:nvPr/>
        </p:nvSpPr>
        <p:spPr>
          <a:xfrm>
            <a:off x="685800" y="1990725"/>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“AI를 쓰지 않는다”는 사용자 불편을 설명하지 못합니다.</a:t>
            </a:r>
          </a:p>
        </p:txBody>
      </p:sp>
      <p:sp>
        <p:nvSpPr>
          <p:cNvPr id="4" name="">
            <a:extLst>
              <a:ext uri="{FF2B5EF4-FFF2-40B4-BE49-F238E27FC236}">
                <ns2:creationId id="{3CD03247-D802-4865-8400-C708382E24D9}"/>
              </a:ext>
            </a:extLst>
          </p:cNvPr>
          <p:cNvSpPr>
            <a:spLocks noGrp="1"/>
          </p:cNvSpPr>
          <p:nvPr/>
        </p:nvSpPr>
        <p:spPr>
          <a:xfrm>
            <a:off x="685800" y="2534793"/>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누가, 언제, 어떤 일에 어려움을 겪는지 적으세요.</a:t>
            </a:r>
          </a:p>
        </p:txBody>
      </p:sp>
      <p:sp>
        <p:nvSpPr>
          <p:cNvPr id="5" name="">
            <a:extLst>
              <a:ext uri="{FF2B5EF4-FFF2-40B4-BE49-F238E27FC236}">
                <ns2:creationId id="{194AD63A-02A7-4CAE-8B84-0352E7B133A6}"/>
              </a:ext>
            </a:extLst>
          </p:cNvPr>
          <p:cNvSpPr>
            <a:spLocks noGrp="1"/>
          </p:cNvSpPr>
          <p:nvPr/>
        </p:nvSpPr>
        <p:spPr>
          <a:xfrm>
            <a:off x="685800" y="6172200"/>
            <a:ext cx="10820400" cy="9525"/>
          </a:xfrm>
          <a:prstGeom prst="rect">
            <a:avLst/>
          </a:prstGeom>
          <a:solidFill>
            <a:srgbClr val="D5DEDD"/>
          </a:solidFill>
          <a:ln w="0">
            <a:noFill/>
          </a:ln>
        </p:spPr>
      </p:sp>
      <p:sp>
        <p:nvSpPr>
          <p:cNvPr id="6" name="">
            <a:extLst>
              <a:ext uri="{FF2B5EF4-FFF2-40B4-BE49-F238E27FC236}">
                <ns2:creationId id="{FEF8EB5D-1DAB-46BE-AF2F-D77D0E7FE1A8}"/>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7" name="">
            <a:extLst>
              <a:ext uri="{FF2B5EF4-FFF2-40B4-BE49-F238E27FC236}">
                <ns2:creationId id="{5F73A707-D572-430C-BE8B-C5C790654616}"/>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8" name="">
            <a:extLst>
              <a:ext uri="{FF2B5EF4-FFF2-40B4-BE49-F238E27FC236}">
                <ns2:creationId id="{C143309D-BB38-4BB9-95C5-0768CEB95201}"/>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9" name="">
            <a:extLst>
              <a:ext uri="{FF2B5EF4-FFF2-40B4-BE49-F238E27FC236}">
                <ns2:creationId id="{6F66AE17-0D89-4220-9840-2EFF4641E098}"/>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10/30   017</a:t>
            </a:r>
          </a:p>
        </p:txBody>
      </p:sp>
    </p:spTree>
    <p:extLst>
      <p:ext uri="{BB962C8B-B14F-4D97-AF65-F5344CB8AC3E}">
        <ns4:creationId val="1508395651"/>
      </p:ext>
    </p:extLst>
  </p:cSld>
</p:sld>
</file>

<file path=ppt/slides/slide18.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0" name="">
            <a:extLst>
              <a:ext uri="{FF2B5EF4-FFF2-40B4-BE49-F238E27FC236}">
                <ns2:creationId id="{7F0ADBAC-AF05-4BF0-B9F8-D58500F8CED4}"/>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1교시</a:t>
            </a:r>
          </a:p>
        </p:txBody>
      </p:sp>
      <p:sp>
        <p:nvSpPr>
          <p:cNvPr id="2" name="">
            <a:extLst>
              <a:ext uri="{FF2B5EF4-FFF2-40B4-BE49-F238E27FC236}">
                <ns2:creationId id="{2D7AEC71-6F94-49B4-AF99-65DBD9D37E24}"/>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개념 확인 질문</a:t>
            </a:r>
          </a:p>
        </p:txBody>
      </p:sp>
      <p:sp>
        <p:nvSpPr>
          <p:cNvPr id="3" name="">
            <a:extLst>
              <a:ext uri="{FF2B5EF4-FFF2-40B4-BE49-F238E27FC236}">
                <ns2:creationId id="{89B04AE1-2FE5-4B0E-AF68-700060F3B63C}"/>
              </a:ext>
            </a:extLst>
          </p:cNvPr>
          <p:cNvSpPr>
            <a:spLocks noGrp="1"/>
          </p:cNvSpPr>
          <p:nvPr/>
        </p:nvSpPr>
        <p:spPr>
          <a:xfrm>
            <a:off x="685800" y="1990725"/>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자료에서 확인한 사실과 앞으로 확인할 가설은 어떻게 다른가요?</a:t>
            </a:r>
          </a:p>
        </p:txBody>
      </p:sp>
      <p:sp>
        <p:nvSpPr>
          <p:cNvPr id="4" name="">
            <a:extLst>
              <a:ext uri="{FF2B5EF4-FFF2-40B4-BE49-F238E27FC236}">
                <ns2:creationId id="{1AF5963F-9CF4-4492-9C8F-7AEDC54EBB0D}"/>
              </a:ext>
            </a:extLst>
          </p:cNvPr>
          <p:cNvSpPr>
            <a:spLocks noGrp="1"/>
          </p:cNvSpPr>
          <p:nvPr/>
        </p:nvSpPr>
        <p:spPr>
          <a:xfrm>
            <a:off x="685800" y="2557272"/>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기획서 완성과 확인 시간 감소는 어떻게 다른가요?</a:t>
            </a:r>
          </a:p>
        </p:txBody>
      </p:sp>
      <p:sp>
        <p:nvSpPr>
          <p:cNvPr id="5" name="">
            <a:extLst>
              <a:ext uri="{FF2B5EF4-FFF2-40B4-BE49-F238E27FC236}">
                <ns2:creationId id="{2EEF98E3-1F58-45BD-A6E9-20AD95E5B0CD}"/>
              </a:ext>
            </a:extLst>
          </p:cNvPr>
          <p:cNvSpPr>
            <a:spLocks noGrp="1"/>
          </p:cNvSpPr>
          <p:nvPr/>
        </p:nvSpPr>
        <p:spPr>
          <a:xfrm>
            <a:off x="685800" y="6172200"/>
            <a:ext cx="10820400" cy="9525"/>
          </a:xfrm>
          <a:prstGeom prst="rect">
            <a:avLst/>
          </a:prstGeom>
          <a:solidFill>
            <a:srgbClr val="D5DEDD"/>
          </a:solidFill>
          <a:ln w="0">
            <a:noFill/>
          </a:ln>
        </p:spPr>
      </p:sp>
      <p:sp>
        <p:nvSpPr>
          <p:cNvPr id="6" name="">
            <a:extLst>
              <a:ext uri="{FF2B5EF4-FFF2-40B4-BE49-F238E27FC236}">
                <ns2:creationId id="{EB68052B-BFAA-4C9B-AC2B-D49F9E1D623D}"/>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7" name="">
            <a:extLst>
              <a:ext uri="{FF2B5EF4-FFF2-40B4-BE49-F238E27FC236}">
                <ns2:creationId id="{39310B01-5F07-464E-97CE-B489616EB91F}"/>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8" name="">
            <a:extLst>
              <a:ext uri="{FF2B5EF4-FFF2-40B4-BE49-F238E27FC236}">
                <ns2:creationId id="{BC33DAAA-F0B5-48DE-B3CC-2689A7CF4B8A}"/>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9" name="">
            <a:extLst>
              <a:ext uri="{FF2B5EF4-FFF2-40B4-BE49-F238E27FC236}">
                <ns2:creationId id="{178C9EF0-DF57-4FEF-B479-9548CF9BA755}"/>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10/30   018</a:t>
            </a:r>
          </a:p>
        </p:txBody>
      </p:sp>
    </p:spTree>
    <p:extLst>
      <p:ext uri="{BB962C8B-B14F-4D97-AF65-F5344CB8AC3E}">
        <ns4:creationId val="139076475"/>
      </p:ext>
    </p:extLst>
  </p:cSld>
</p:sld>
</file>

<file path=ppt/slides/slide19.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0" name="">
            <a:extLst>
              <a:ext uri="{FF2B5EF4-FFF2-40B4-BE49-F238E27FC236}">
                <ns2:creationId id="{17DF221A-B277-41C1-855B-1C4700D3C3EB}"/>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1교시</a:t>
            </a:r>
          </a:p>
        </p:txBody>
      </p:sp>
      <p:sp>
        <p:nvSpPr>
          <p:cNvPr id="2" name="">
            <a:extLst>
              <a:ext uri="{FF2B5EF4-FFF2-40B4-BE49-F238E27FC236}">
                <ns2:creationId id="{4364B381-1C6E-42A9-B1DA-BC686FDE3086}"/>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추가·복습 문제</a:t>
            </a:r>
          </a:p>
        </p:txBody>
      </p:sp>
      <p:sp>
        <p:nvSpPr>
          <p:cNvPr id="3" name="">
            <a:extLst>
              <a:ext uri="{FF2B5EF4-FFF2-40B4-BE49-F238E27FC236}">
                <ns2:creationId id="{4A69635B-308E-4DD9-939D-A546D8489574}"/>
              </a:ext>
            </a:extLst>
          </p:cNvPr>
          <p:cNvSpPr>
            <a:spLocks noGrp="1"/>
          </p:cNvSpPr>
          <p:nvPr/>
        </p:nvSpPr>
        <p:spPr>
          <a:xfrm>
            <a:off x="685800" y="1990725"/>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추가·복습: 창고 재고 확인 지연</a:t>
            </a:r>
          </a:p>
        </p:txBody>
      </p:sp>
      <p:sp>
        <p:nvSpPr>
          <p:cNvPr id="4" name="">
            <a:extLst>
              <a:ext uri="{FF2B5EF4-FFF2-40B4-BE49-F238E27FC236}">
                <ns2:creationId id="{74CED082-3459-40BE-9F70-C3B5694CB20F}"/>
              </a:ext>
            </a:extLst>
          </p:cNvPr>
          <p:cNvSpPr>
            <a:spLocks noGrp="1"/>
          </p:cNvSpPr>
          <p:nvPr/>
        </p:nvSpPr>
        <p:spPr>
          <a:xfrm>
            <a:off x="685800" y="2557272"/>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관찰·문제·가설·기능을 네 문장으로 쓰세요.</a:t>
            </a:r>
          </a:p>
        </p:txBody>
      </p:sp>
      <p:sp>
        <p:nvSpPr>
          <p:cNvPr id="5" name="">
            <a:extLst>
              <a:ext uri="{FF2B5EF4-FFF2-40B4-BE49-F238E27FC236}">
                <ns2:creationId id="{2E5D83A7-6DA8-49D5-87AF-077D29315AAE}"/>
              </a:ext>
            </a:extLst>
          </p:cNvPr>
          <p:cNvSpPr>
            <a:spLocks noGrp="1"/>
          </p:cNvSpPr>
          <p:nvPr/>
        </p:nvSpPr>
        <p:spPr>
          <a:xfrm>
            <a:off x="685800" y="6172200"/>
            <a:ext cx="10820400" cy="9525"/>
          </a:xfrm>
          <a:prstGeom prst="rect">
            <a:avLst/>
          </a:prstGeom>
          <a:solidFill>
            <a:srgbClr val="D5DEDD"/>
          </a:solidFill>
          <a:ln w="0">
            <a:noFill/>
          </a:ln>
        </p:spPr>
      </p:sp>
      <p:sp>
        <p:nvSpPr>
          <p:cNvPr id="6" name="">
            <a:extLst>
              <a:ext uri="{FF2B5EF4-FFF2-40B4-BE49-F238E27FC236}">
                <ns2:creationId id="{6EAFADE2-6068-4D8D-8BF0-0433F5655DD8}"/>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7" name="">
            <a:extLst>
              <a:ext uri="{FF2B5EF4-FFF2-40B4-BE49-F238E27FC236}">
                <ns2:creationId id="{D8EA8B91-BEC8-4C9D-A0E7-E3CC82032DE2}"/>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8" name="">
            <a:extLst>
              <a:ext uri="{FF2B5EF4-FFF2-40B4-BE49-F238E27FC236}">
                <ns2:creationId id="{77ABE474-EBD9-41E7-B543-FD8C2C62E1C0}"/>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9" name="">
            <a:extLst>
              <a:ext uri="{FF2B5EF4-FFF2-40B4-BE49-F238E27FC236}">
                <ns2:creationId id="{D4663CFB-3F27-4C47-B81F-E9A84F50B0A0}"/>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10/30   019</a:t>
            </a:r>
          </a:p>
        </p:txBody>
      </p:sp>
    </p:spTree>
    <p:extLst>
      <p:ext uri="{BB962C8B-B14F-4D97-AF65-F5344CB8AC3E}">
        <ns4:creationId val="1453696781"/>
      </p:ext>
    </p:extLst>
  </p:cSld>
</p:sld>
</file>

<file path=ppt/slides/slide20.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1" name="">
            <a:extLst>
              <a:ext uri="{FF2B5EF4-FFF2-40B4-BE49-F238E27FC236}">
                <ns2:creationId id="{3D90DD79-F8C0-46A4-AB25-C1C015AFD55A}"/>
              </a:ext>
            </a:extLst>
          </p:cNvPr>
          <p:cNvSpPr>
            <a:spLocks noGrp="1"/>
          </p:cNvSpPr>
          <p:nvPr/>
        </p:nvSpPr>
        <p:spPr>
          <a:xfrm>
            <a:off x="685800" y="657225"/>
            <a:ext cx="10820400" cy="400050"/>
          </a:xfrm>
          <a:prstGeom prst="rect">
            <a:avLst/>
          </a:prstGeom>
          <a:noFill/>
          <a:ln w="0">
            <a:noFill/>
          </a:ln>
        </p:spPr>
        <p:txBody>
          <a:bodyPr wrap="square" lIns="0" tIns="0" rIns="0" bIns="0">
            <a:noAutofit/>
          </a:bodyPr>
          <a:lstStyle/>
          <a:p>
            <a:pPr>
              <a:defRPr sz="1950" b="1">
                <a:solidFill>
                  <a:srgbClr val="08786F"/>
                </a:solidFill>
                <a:latin typeface="Noto Sans KR"/>
                <a:ea typeface="Noto Sans KR"/>
                <a:cs typeface="Noto Sans KR"/>
              </a:defRPr>
            </a:pPr>
            <a:r>
              <a:t>2교시</a:t>
            </a:r>
          </a:p>
        </p:txBody>
      </p:sp>
      <p:sp>
        <p:nvSpPr>
          <p:cNvPr id="2" name="">
            <a:extLst>
              <a:ext uri="{FF2B5EF4-FFF2-40B4-BE49-F238E27FC236}">
                <ns2:creationId id="{CF80B156-C110-4BC7-81F4-515B6A33F629}"/>
              </a:ext>
            </a:extLst>
          </p:cNvPr>
          <p:cNvSpPr>
            <a:spLocks noGrp="1"/>
          </p:cNvSpPr>
          <p:nvPr/>
        </p:nvSpPr>
        <p:spPr>
          <a:xfrm>
            <a:off x="685800" y="1552575"/>
            <a:ext cx="10668000" cy="1905000"/>
          </a:xfrm>
          <a:prstGeom prst="rect">
            <a:avLst/>
          </a:prstGeom>
          <a:noFill/>
          <a:ln w="0">
            <a:noFill/>
          </a:ln>
        </p:spPr>
        <p:txBody>
          <a:bodyPr wrap="square" lIns="0" tIns="0" rIns="0" bIns="0">
            <a:noAutofit/>
          </a:bodyPr>
          <a:lstStyle/>
          <a:p>
            <a:pPr>
              <a:defRPr sz="4725" b="1">
                <a:solidFill>
                  <a:srgbClr val="172F39"/>
                </a:solidFill>
                <a:latin typeface="Noto Sans KR"/>
                <a:ea typeface="Noto Sans KR"/>
                <a:cs typeface="Noto Sans KR"/>
              </a:defRPr>
            </a:pPr>
            <a:r>
              <a:t>후보 비교와 작은 요구</a:t>
            </a:r>
          </a:p>
        </p:txBody>
      </p:sp>
      <p:sp>
        <p:nvSpPr>
          <p:cNvPr id="3" name="">
            <a:extLst>
              <a:ext uri="{FF2B5EF4-FFF2-40B4-BE49-F238E27FC236}">
                <ns2:creationId id="{EC54CBF0-CB28-409E-9AF1-2F7845E219E4}"/>
              </a:ext>
            </a:extLst>
          </p:cNvPr>
          <p:cNvSpPr>
            <a:spLocks noGrp="1"/>
          </p:cNvSpPr>
          <p:nvPr/>
        </p:nvSpPr>
        <p:spPr>
          <a:xfrm>
            <a:off x="723900" y="3638550"/>
            <a:ext cx="10001250" cy="473964"/>
          </a:xfrm>
          <a:prstGeom prst="rect">
            <a:avLst/>
          </a:prstGeom>
          <a:noFill/>
          <a:ln w="0">
            <a:noFill/>
          </a:ln>
        </p:spPr>
        <p:txBody>
          <a:bodyPr wrap="square" lIns="0" tIns="0" rIns="0" bIns="0">
            <a:noAutofit/>
          </a:bodyPr>
          <a:lstStyle/>
          <a:p>
            <a:pPr>
              <a:defRPr sz="2400" b="0">
                <a:solidFill>
                  <a:srgbClr val="52636B"/>
                </a:solidFill>
                <a:latin typeface="Noto Sans KR"/>
                <a:ea typeface="Noto Sans KR"/>
                <a:cs typeface="Noto Sans KR"/>
              </a:defRPr>
            </a:pPr>
            <a:r>
              <a:t>11:00~11:50 · 50분</a:t>
            </a:r>
          </a:p>
        </p:txBody>
      </p:sp>
      <p:sp>
        <p:nvSpPr>
          <p:cNvPr id="4" name="">
            <a:extLst>
              <a:ext uri="{FF2B5EF4-FFF2-40B4-BE49-F238E27FC236}">
                <ns2:creationId id="{2FCBC0AF-1511-4F59-B35F-5E17479F1FE2}"/>
              </a:ext>
            </a:extLst>
          </p:cNvPr>
          <p:cNvSpPr>
            <a:spLocks noGrp="1"/>
          </p:cNvSpPr>
          <p:nvPr/>
        </p:nvSpPr>
        <p:spPr>
          <a:xfrm>
            <a:off x="723900" y="4160139"/>
            <a:ext cx="10001250" cy="473964"/>
          </a:xfrm>
          <a:prstGeom prst="rect">
            <a:avLst/>
          </a:prstGeom>
          <a:noFill/>
          <a:ln w="0">
            <a:noFill/>
          </a:ln>
        </p:spPr>
        <p:txBody>
          <a:bodyPr wrap="square" lIns="0" tIns="0" rIns="0" bIns="0">
            <a:noAutofit/>
          </a:bodyPr>
          <a:lstStyle/>
          <a:p>
            <a:pPr>
              <a:defRPr sz="2400" b="0">
                <a:solidFill>
                  <a:srgbClr val="52636B"/>
                </a:solidFill>
                <a:latin typeface="Noto Sans KR"/>
                <a:ea typeface="Noto Sans KR"/>
                <a:cs typeface="Noto Sans KR"/>
              </a:defRPr>
            </a:pPr>
            <a:r>
              <a:t>A04 · A05 · A06</a:t>
            </a:r>
          </a:p>
        </p:txBody>
      </p:sp>
      <p:sp>
        <p:nvSpPr>
          <p:cNvPr id="5" name="">
            <a:extLst>
              <a:ext uri="{FF2B5EF4-FFF2-40B4-BE49-F238E27FC236}">
                <ns2:creationId id="{24AB657B-3976-4422-BE4D-96728AB1B1B2}"/>
              </a:ext>
            </a:extLst>
          </p:cNvPr>
          <p:cNvSpPr>
            <a:spLocks noGrp="1"/>
          </p:cNvSpPr>
          <p:nvPr/>
        </p:nvSpPr>
        <p:spPr>
          <a:xfrm>
            <a:off x="723900" y="4681728"/>
            <a:ext cx="10001250" cy="473964"/>
          </a:xfrm>
          <a:prstGeom prst="rect">
            <a:avLst/>
          </a:prstGeom>
          <a:noFill/>
          <a:ln w="0">
            <a:noFill/>
          </a:ln>
        </p:spPr>
        <p:txBody>
          <a:bodyPr wrap="square" lIns="0" tIns="0" rIns="0" bIns="0">
            <a:noAutofit/>
          </a:bodyPr>
          <a:lstStyle/>
          <a:p>
            <a:pPr>
              <a:defRPr sz="2400" b="0">
                <a:solidFill>
                  <a:srgbClr val="52636B"/>
                </a:solidFill>
                <a:latin typeface="Noto Sans KR"/>
                <a:ea typeface="Noto Sans KR"/>
                <a:cs typeface="Noto Sans KR"/>
              </a:defRPr>
            </a:pPr>
            <a:r>
              <a:t>설명 → 예제 따라 하기 → 직접 해 보기 → 풀이</a:t>
            </a:r>
          </a:p>
        </p:txBody>
      </p:sp>
      <p:sp>
        <p:nvSpPr>
          <p:cNvPr id="6" name="">
            <a:extLst>
              <a:ext uri="{FF2B5EF4-FFF2-40B4-BE49-F238E27FC236}">
                <ns2:creationId id="{4E8A3FFE-8049-42C9-8834-302BCDF7426E}"/>
              </a:ext>
            </a:extLst>
          </p:cNvPr>
          <p:cNvSpPr>
            <a:spLocks noGrp="1"/>
          </p:cNvSpPr>
          <p:nvPr/>
        </p:nvSpPr>
        <p:spPr>
          <a:xfrm>
            <a:off x="685800" y="6172200"/>
            <a:ext cx="10820400" cy="9525"/>
          </a:xfrm>
          <a:prstGeom prst="rect">
            <a:avLst/>
          </a:prstGeom>
          <a:solidFill>
            <a:srgbClr val="D5DEDD"/>
          </a:solidFill>
          <a:ln w="0">
            <a:noFill/>
          </a:ln>
        </p:spPr>
      </p:sp>
      <p:sp>
        <p:nvSpPr>
          <p:cNvPr id="7" name="">
            <a:extLst>
              <a:ext uri="{FF2B5EF4-FFF2-40B4-BE49-F238E27FC236}">
                <ns2:creationId id="{82923813-9601-4349-8396-253E8D7AA2B4}"/>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8" name="">
            <a:extLst>
              <a:ext uri="{FF2B5EF4-FFF2-40B4-BE49-F238E27FC236}">
                <ns2:creationId id="{428E99BB-2437-422F-9BAE-1ADD15D92134}"/>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9" name="">
            <a:extLst>
              <a:ext uri="{FF2B5EF4-FFF2-40B4-BE49-F238E27FC236}">
                <ns2:creationId id="{5E804577-82F2-41EA-9FDF-A2EDA79F6809}"/>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0" name="">
            <a:extLst>
              <a:ext uri="{FF2B5EF4-FFF2-40B4-BE49-F238E27FC236}">
                <ns2:creationId id="{49AFCF82-31E2-4C23-827A-165350961C4A}"/>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10/30   020</a:t>
            </a:r>
          </a:p>
        </p:txBody>
      </p:sp>
    </p:spTree>
    <p:extLst>
      <p:ext uri="{BB962C8B-B14F-4D97-AF65-F5344CB8AC3E}">
        <ns4:creationId val="1718404720"/>
      </p:ext>
    </p:extLst>
  </p:cSld>
</p:sld>
</file>

<file path=ppt/slides/slide21.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2" name="">
            <a:extLst>
              <a:ext uri="{FF2B5EF4-FFF2-40B4-BE49-F238E27FC236}">
                <ns2:creationId id="{E47CF852-F865-4708-AADF-DFC3DBADFD67}"/>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2교시</a:t>
            </a:r>
          </a:p>
        </p:txBody>
      </p:sp>
      <p:sp>
        <p:nvSpPr>
          <p:cNvPr id="2" name="">
            <a:extLst>
              <a:ext uri="{FF2B5EF4-FFF2-40B4-BE49-F238E27FC236}">
                <ns2:creationId id="{30968234-2584-42E9-B88C-034C01A5B21D}"/>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후보의 공통 비교 기준</a:t>
            </a:r>
          </a:p>
        </p:txBody>
      </p:sp>
      <p:sp>
        <p:nvSpPr>
          <p:cNvPr id="3" name="">
            <a:extLst>
              <a:ext uri="{FF2B5EF4-FFF2-40B4-BE49-F238E27FC236}">
                <ns2:creationId id="{F5A5B400-7598-403F-8F72-10DA4893AFBD}"/>
              </a:ext>
            </a:extLst>
          </p:cNvPr>
          <p:cNvSpPr>
            <a:spLocks noGrp="1"/>
          </p:cNvSpPr>
          <p:nvPr/>
        </p:nvSpPr>
        <p:spPr>
          <a:xfrm>
            <a:off x="685800" y="1933575"/>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필요성 · 실현 가능성 · 시험 가능성</a:t>
            </a:r>
          </a:p>
        </p:txBody>
      </p:sp>
      <p:sp>
        <p:nvSpPr>
          <p:cNvPr id="4" name="">
            <a:extLst>
              <a:ext uri="{FF2B5EF4-FFF2-40B4-BE49-F238E27FC236}">
                <ns2:creationId id="{CFF368AE-B0DA-4466-9F8A-7AD58F4B8508}"/>
              </a:ext>
            </a:extLst>
          </p:cNvPr>
          <p:cNvSpPr>
            <a:spLocks noGrp="1"/>
          </p:cNvSpPr>
          <p:nvPr/>
        </p:nvSpPr>
        <p:spPr>
          <a:xfrm>
            <a:off x="685800" y="2432685"/>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각 점수를 준 이유를 적으세요.</a:t>
            </a:r>
          </a:p>
        </p:txBody>
      </p:sp>
      <p:sp>
        <p:nvSpPr>
          <p:cNvPr id="5" name="">
            <a:extLst>
              <a:ext uri="{FF2B5EF4-FFF2-40B4-BE49-F238E27FC236}">
                <ns2:creationId id="{46401E46-FC14-4125-B60C-9525273EF0B0}"/>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같은 기준으로 후보 A 비교</a:t>
            </a:r>
          </a:p>
        </p:txBody>
      </p:sp>
      <p:graphicFrame>
        <p:nvGraphicFramePr>
          <p:cNvPr id="17" name=""/>
          <p:cNvGraphicFramePr/>
          <p:nvPr/>
        </p:nvGraphicFramePr>
        <p:xfrm>
          <a:off x="6267450" y="2628900"/>
          <a:ext cx="5238750" cy="2057400"/>
        </p:xfrm>
        <a:graphic>
          <a:graphicData uri="http://schemas.openxmlformats.org/drawingml/2006/table">
            <a:tbl>
              <a:tblPr firstRow="1" bandRow="0"/>
              <a:tblGrid>
                <a:gridCol w="2252934"/>
                <a:gridCol w="1628627"/>
                <a:gridCol w="1357189"/>
              </a:tblGrid>
              <a:tr h="514350">
                <a:tc>
                  <a:txBody>
                    <a:bodyPr wrap="square"/>
                    <a:lstStyle/>
                    <a:p>
                      <a:pPr>
                        <a:lnSpc>
                          <a:spcPct val="102000"/>
                        </a:lnSpc>
                        <a:buNone/>
                      </a:pPr>
                      <a:r>
                        <a:rPr sz="1875" b="1">
                          <a:solidFill>
                            <a:srgbClr val="172F39"/>
                          </a:solidFill>
                          <a:latin typeface="Noto Sans KR"/>
                          <a:ea typeface="Noto Sans KR"/>
                          <a:cs typeface="Noto Sans KR"/>
                        </a:rPr>
                        <a:t>기준</a:t>
                      </a:r>
                    </a:p>
                  </a:txBody>
                  <a:tcPr marL="114300" marR="114300" marT="76200" marB="76200" anchor="ctr">
                    <a:solidFill>
                      <a:srgbClr val="DCECE8"/>
                    </a:solidFill>
                  </a:tcPr>
                </a:tc>
                <a:tc>
                  <a:txBody>
                    <a:bodyPr wrap="square"/>
                    <a:lstStyle/>
                    <a:p>
                      <a:pPr>
                        <a:lnSpc>
                          <a:spcPct val="102000"/>
                        </a:lnSpc>
                        <a:buNone/>
                      </a:pPr>
                      <a:r>
                        <a:rPr sz="1875" b="1">
                          <a:solidFill>
                            <a:srgbClr val="172F39"/>
                          </a:solidFill>
                          <a:latin typeface="Noto Sans KR"/>
                          <a:ea typeface="Noto Sans KR"/>
                          <a:cs typeface="Noto Sans KR"/>
                        </a:rPr>
                        <a:t>중요도</a:t>
                      </a:r>
                    </a:p>
                  </a:txBody>
                  <a:tcPr marL="114300" marR="114300" marT="76200" marB="76200" anchor="ctr">
                    <a:solidFill>
                      <a:srgbClr val="DCECE8"/>
                    </a:solidFill>
                  </a:tcPr>
                </a:tc>
                <a:tc>
                  <a:txBody>
                    <a:bodyPr wrap="square"/>
                    <a:lstStyle/>
                    <a:p>
                      <a:pPr>
                        <a:lnSpc>
                          <a:spcPct val="102000"/>
                        </a:lnSpc>
                        <a:buNone/>
                      </a:pPr>
                      <a:r>
                        <a:rPr sz="1875" b="1">
                          <a:solidFill>
                            <a:srgbClr val="172F39"/>
                          </a:solidFill>
                          <a:latin typeface="Noto Sans KR"/>
                          <a:ea typeface="Noto Sans KR"/>
                          <a:cs typeface="Noto Sans KR"/>
                        </a:rPr>
                        <a:t>점수</a:t>
                      </a:r>
                    </a:p>
                  </a:txBody>
                  <a:tcPr marL="114300" marR="114300" marT="76200" marB="76200" anchor="ctr">
                    <a:solidFill>
                      <a:srgbClr val="DCECE8"/>
                    </a:solidFill>
                  </a:tcPr>
                </a:tc>
              </a:tr>
              <a:tr h="514350">
                <a:tc>
                  <a:txBody>
                    <a:bodyPr wrap="square"/>
                    <a:lstStyle/>
                    <a:p>
                      <a:pPr>
                        <a:lnSpc>
                          <a:spcPct val="102000"/>
                        </a:lnSpc>
                        <a:buNone/>
                      </a:pPr>
                      <a:r>
                        <a:rPr sz="1875" b="0">
                          <a:solidFill>
                            <a:srgbClr val="172F39"/>
                          </a:solidFill>
                          <a:latin typeface="Noto Sans KR"/>
                          <a:ea typeface="Noto Sans KR"/>
                          <a:cs typeface="Noto Sans KR"/>
                        </a:rPr>
                        <a:t>필요성</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0.40</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5</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실현 가능성</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0.35</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4</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시험 가능성</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0.25</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5</a:t>
                      </a:r>
                    </a:p>
                  </a:txBody>
                  <a:tcPr marL="114300" marR="114300" marT="76200" marB="76200" anchor="ctr">
                    <a:solidFill>
                      <a:srgbClr val="FFFFFF"/>
                    </a:solidFill>
                  </a:tcPr>
                </a:tc>
              </a:tr>
            </a:tbl>
          </a:graphicData>
        </a:graphic>
      </p:graphicFrame>
      <p:sp>
        <p:nvSpPr>
          <p:cNvPr id="7" name="">
            <a:extLst>
              <a:ext uri="{FF2B5EF4-FFF2-40B4-BE49-F238E27FC236}">
                <ns2:creationId id="{9F9FB2FF-0E01-483E-BC6C-9BC8CEBE624E}"/>
              </a:ext>
            </a:extLst>
          </p:cNvPr>
          <p:cNvSpPr>
            <a:spLocks noGrp="1"/>
          </p:cNvSpPr>
          <p:nvPr/>
        </p:nvSpPr>
        <p:spPr>
          <a:xfrm>
            <a:off x="685800" y="6172200"/>
            <a:ext cx="10820400" cy="9525"/>
          </a:xfrm>
          <a:prstGeom prst="rect">
            <a:avLst/>
          </a:prstGeom>
          <a:solidFill>
            <a:srgbClr val="D5DEDD"/>
          </a:solidFill>
          <a:ln w="0">
            <a:noFill/>
          </a:ln>
        </p:spPr>
      </p:sp>
      <p:sp>
        <p:nvSpPr>
          <p:cNvPr id="8" name="">
            <a:extLst>
              <a:ext uri="{FF2B5EF4-FFF2-40B4-BE49-F238E27FC236}">
                <ns2:creationId id="{3B0AEDE6-74FE-4122-B08F-6EAAD3AC8AB7}"/>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9" name="">
            <a:extLst>
              <a:ext uri="{FF2B5EF4-FFF2-40B4-BE49-F238E27FC236}">
                <ns2:creationId id="{CBBBEE7B-6C77-4F5E-B151-1D5E4C7AF15E}"/>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0" name="">
            <a:extLst>
              <a:ext uri="{FF2B5EF4-FFF2-40B4-BE49-F238E27FC236}">
                <ns2:creationId id="{17A9E586-A495-4FAC-991A-8BFA51BBA403}"/>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1" name="">
            <a:extLst>
              <a:ext uri="{FF2B5EF4-FFF2-40B4-BE49-F238E27FC236}">
                <ns2:creationId id="{3388CA92-F8D7-4B87-BBE9-49FCD88095CC}"/>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10/30   021</a:t>
            </a:r>
          </a:p>
        </p:txBody>
      </p:sp>
    </p:spTree>
    <p:extLst>
      <p:ext uri="{BB962C8B-B14F-4D97-AF65-F5344CB8AC3E}">
        <ns4:creationId val="824150531"/>
      </p:ext>
    </p:extLst>
  </p:cSld>
</p:sld>
</file>

<file path=ppt/slides/slide22.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5" name="">
            <a:extLst>
              <a:ext uri="{FF2B5EF4-FFF2-40B4-BE49-F238E27FC236}">
                <ns2:creationId id="{AF517200-DE26-4130-8E1F-4C70B344A0AE}"/>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2교시</a:t>
            </a:r>
          </a:p>
        </p:txBody>
      </p:sp>
      <p:sp>
        <p:nvSpPr>
          <p:cNvPr id="2" name="">
            <a:extLst>
              <a:ext uri="{FF2B5EF4-FFF2-40B4-BE49-F238E27FC236}">
                <ns2:creationId id="{6C515EBA-13B7-493A-A2FB-6DDBF8C2AA37}"/>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가중치와 중요도</a:t>
            </a:r>
          </a:p>
        </p:txBody>
      </p:sp>
      <p:sp>
        <p:nvSpPr>
          <p:cNvPr id="3" name="">
            <a:extLst>
              <a:ext uri="{FF2B5EF4-FFF2-40B4-BE49-F238E27FC236}">
                <ns2:creationId id="{B8F1BD9A-20C4-49F6-9808-23000A6596A7}"/>
              </a:ext>
            </a:extLst>
          </p:cNvPr>
          <p:cNvSpPr>
            <a:spLocks noGrp="1"/>
          </p:cNvSpPr>
          <p:nvPr/>
        </p:nvSpPr>
        <p:spPr>
          <a:xfrm>
            <a:off x="685800" y="1933575"/>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0.40 + 0.35 + 0.25 = 1</a:t>
            </a:r>
          </a:p>
        </p:txBody>
      </p:sp>
      <p:sp>
        <p:nvSpPr>
          <p:cNvPr id="4" name="">
            <a:extLst>
              <a:ext uri="{FF2B5EF4-FFF2-40B4-BE49-F238E27FC236}">
                <ns2:creationId id="{C5A67BD1-3B93-4398-B64D-2B832274CFA4}"/>
              </a:ext>
            </a:extLst>
          </p:cNvPr>
          <p:cNvSpPr>
            <a:spLocks noGrp="1"/>
          </p:cNvSpPr>
          <p:nvPr/>
        </p:nvSpPr>
        <p:spPr>
          <a:xfrm>
            <a:off x="685800" y="2432685"/>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점수에 각각 곱한 뒤 더합니다.</a:t>
            </a:r>
          </a:p>
        </p:txBody>
      </p:sp>
      <p:sp>
        <p:nvSpPr>
          <p:cNvPr id="5" name="">
            <a:extLst>
              <a:ext uri="{FF2B5EF4-FFF2-40B4-BE49-F238E27FC236}">
                <ns2:creationId id="{553DCF88-8EE2-48EA-9F90-6946650B8C2D}"/>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후보 A의 계산</a:t>
            </a:r>
          </a:p>
        </p:txBody>
      </p:sp>
      <p:sp>
        <p:nvSpPr>
          <p:cNvPr id="6" name="">
            <a:extLst>
              <a:ext uri="{FF2B5EF4-FFF2-40B4-BE49-F238E27FC236}">
                <ns2:creationId id="{EE1D91FB-C78C-4E98-A2E7-44429E6B70A7}"/>
              </a:ext>
            </a:extLst>
          </p:cNvPr>
          <p:cNvSpPr>
            <a:spLocks noGrp="1"/>
          </p:cNvSpPr>
          <p:nvPr/>
        </p:nvSpPr>
        <p:spPr>
          <a:xfrm>
            <a:off x="6267450" y="2628900"/>
            <a:ext cx="5238750" cy="440246"/>
          </a:xfrm>
          <a:prstGeom prst="rect">
            <a:avLst/>
          </a:prstGeom>
          <a:noFill/>
          <a:ln w="0">
            <a:noFill/>
          </a:ln>
        </p:spPr>
        <p:txBody>
          <a:bodyPr wrap="square" lIns="0" tIns="0" rIns="0" bIns="0">
            <a:noAutofit/>
          </a:bodyPr>
          <a:lstStyle/>
          <a:p>
            <a:pPr>
              <a:defRPr sz="2175" b="0">
                <a:solidFill>
                  <a:srgbClr val="172F39"/>
                </a:solidFill>
                <a:latin typeface="Noto Sans KR"/>
                <a:ea typeface="Noto Sans KR"/>
                <a:cs typeface="Noto Sans KR"/>
              </a:defRPr>
            </a:pPr>
            <a:r>
              <a:t>5 × 0.40 = 2.00</a:t>
            </a:r>
          </a:p>
        </p:txBody>
      </p:sp>
      <p:sp>
        <p:nvSpPr>
          <p:cNvPr id="7" name="">
            <a:extLst>
              <a:ext uri="{FF2B5EF4-FFF2-40B4-BE49-F238E27FC236}">
                <ns2:creationId id="{57A30DAF-C862-4EF1-8CD2-FAEE340FD602}"/>
              </a:ext>
            </a:extLst>
          </p:cNvPr>
          <p:cNvSpPr>
            <a:spLocks noGrp="1"/>
          </p:cNvSpPr>
          <p:nvPr/>
        </p:nvSpPr>
        <p:spPr>
          <a:xfrm>
            <a:off x="6267450" y="3116771"/>
            <a:ext cx="5238750" cy="440246"/>
          </a:xfrm>
          <a:prstGeom prst="rect">
            <a:avLst/>
          </a:prstGeom>
          <a:noFill/>
          <a:ln w="0">
            <a:noFill/>
          </a:ln>
        </p:spPr>
        <p:txBody>
          <a:bodyPr wrap="square" lIns="0" tIns="0" rIns="0" bIns="0">
            <a:noAutofit/>
          </a:bodyPr>
          <a:lstStyle/>
          <a:p>
            <a:pPr>
              <a:defRPr sz="2175" b="0">
                <a:solidFill>
                  <a:srgbClr val="172F39"/>
                </a:solidFill>
                <a:latin typeface="Noto Sans KR"/>
                <a:ea typeface="Noto Sans KR"/>
                <a:cs typeface="Noto Sans KR"/>
              </a:defRPr>
            </a:pPr>
            <a:r>
              <a:t>4 × 0.35 = 1.40</a:t>
            </a:r>
          </a:p>
        </p:txBody>
      </p:sp>
      <p:sp>
        <p:nvSpPr>
          <p:cNvPr id="8" name="">
            <a:extLst>
              <a:ext uri="{FF2B5EF4-FFF2-40B4-BE49-F238E27FC236}">
                <ns2:creationId id="{9F868FA9-A086-4817-AC91-11FF8FD58081}"/>
              </a:ext>
            </a:extLst>
          </p:cNvPr>
          <p:cNvSpPr>
            <a:spLocks noGrp="1"/>
          </p:cNvSpPr>
          <p:nvPr/>
        </p:nvSpPr>
        <p:spPr>
          <a:xfrm>
            <a:off x="6267450" y="3604641"/>
            <a:ext cx="5238750" cy="440246"/>
          </a:xfrm>
          <a:prstGeom prst="rect">
            <a:avLst/>
          </a:prstGeom>
          <a:noFill/>
          <a:ln w="0">
            <a:noFill/>
          </a:ln>
        </p:spPr>
        <p:txBody>
          <a:bodyPr wrap="square" lIns="0" tIns="0" rIns="0" bIns="0">
            <a:noAutofit/>
          </a:bodyPr>
          <a:lstStyle/>
          <a:p>
            <a:pPr>
              <a:defRPr sz="2175" b="0">
                <a:solidFill>
                  <a:srgbClr val="172F39"/>
                </a:solidFill>
                <a:latin typeface="Noto Sans KR"/>
                <a:ea typeface="Noto Sans KR"/>
                <a:cs typeface="Noto Sans KR"/>
              </a:defRPr>
            </a:pPr>
            <a:r>
              <a:t>5 × 0.25 = 1.25</a:t>
            </a:r>
          </a:p>
        </p:txBody>
      </p:sp>
      <p:sp>
        <p:nvSpPr>
          <p:cNvPr id="9" name="">
            <a:extLst>
              <a:ext uri="{FF2B5EF4-FFF2-40B4-BE49-F238E27FC236}">
                <ns2:creationId id="{F88E10F9-0A3D-4076-981B-4E7648DD67BD}"/>
              </a:ext>
            </a:extLst>
          </p:cNvPr>
          <p:cNvSpPr>
            <a:spLocks noGrp="1"/>
          </p:cNvSpPr>
          <p:nvPr/>
        </p:nvSpPr>
        <p:spPr>
          <a:xfrm>
            <a:off x="6267450" y="4092512"/>
            <a:ext cx="5238750" cy="440246"/>
          </a:xfrm>
          <a:prstGeom prst="rect">
            <a:avLst/>
          </a:prstGeom>
          <a:noFill/>
          <a:ln w="0">
            <a:noFill/>
          </a:ln>
        </p:spPr>
        <p:txBody>
          <a:bodyPr wrap="square" lIns="0" tIns="0" rIns="0" bIns="0">
            <a:noAutofit/>
          </a:bodyPr>
          <a:lstStyle/>
          <a:p>
            <a:pPr>
              <a:defRPr sz="2175" b="0">
                <a:solidFill>
                  <a:srgbClr val="172F39"/>
                </a:solidFill>
                <a:latin typeface="Noto Sans KR"/>
                <a:ea typeface="Noto Sans KR"/>
                <a:cs typeface="Noto Sans KR"/>
              </a:defRPr>
            </a:pPr>
            <a:r>
              <a:t>합계 4.65</a:t>
            </a:r>
          </a:p>
        </p:txBody>
      </p:sp>
      <p:sp>
        <p:nvSpPr>
          <p:cNvPr id="10" name="">
            <a:extLst>
              <a:ext uri="{FF2B5EF4-FFF2-40B4-BE49-F238E27FC236}">
                <ns2:creationId id="{5FE28249-A01C-42B1-9BA8-EED388EBB9DE}"/>
              </a:ext>
            </a:extLst>
          </p:cNvPr>
          <p:cNvSpPr>
            <a:spLocks noGrp="1"/>
          </p:cNvSpPr>
          <p:nvPr/>
        </p:nvSpPr>
        <p:spPr>
          <a:xfrm>
            <a:off x="685800" y="6172200"/>
            <a:ext cx="10820400" cy="9525"/>
          </a:xfrm>
          <a:prstGeom prst="rect">
            <a:avLst/>
          </a:prstGeom>
          <a:solidFill>
            <a:srgbClr val="D5DEDD"/>
          </a:solidFill>
          <a:ln w="0">
            <a:noFill/>
          </a:ln>
        </p:spPr>
      </p:sp>
      <p:sp>
        <p:nvSpPr>
          <p:cNvPr id="11" name="">
            <a:extLst>
              <a:ext uri="{FF2B5EF4-FFF2-40B4-BE49-F238E27FC236}">
                <ns2:creationId id="{296109C8-E632-4202-8727-BE87341E1451}"/>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2" name="">
            <a:extLst>
              <a:ext uri="{FF2B5EF4-FFF2-40B4-BE49-F238E27FC236}">
                <ns2:creationId id="{8A17367E-6467-47F9-8391-848AD516B5FB}"/>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3" name="">
            <a:extLst>
              <a:ext uri="{FF2B5EF4-FFF2-40B4-BE49-F238E27FC236}">
                <ns2:creationId id="{89CAB23D-1F2C-4CD5-BE32-3EF5BC408924}"/>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4" name="">
            <a:extLst>
              <a:ext uri="{FF2B5EF4-FFF2-40B4-BE49-F238E27FC236}">
                <ns2:creationId id="{2B7EA204-9167-4B88-9F34-C572F37AD5BF}"/>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10/30   022</a:t>
            </a:r>
          </a:p>
        </p:txBody>
      </p:sp>
    </p:spTree>
    <p:extLst>
      <p:ext uri="{BB962C8B-B14F-4D97-AF65-F5344CB8AC3E}">
        <ns4:creationId val="1289091382"/>
      </p:ext>
    </p:extLst>
  </p:cSld>
</p:sld>
</file>

<file path=ppt/slides/slide23.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5" name="">
            <a:extLst>
              <a:ext uri="{FF2B5EF4-FFF2-40B4-BE49-F238E27FC236}">
                <ns2:creationId id="{01E5CBA8-7B53-4238-B509-91EE12FC51A3}"/>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2교시</a:t>
            </a:r>
          </a:p>
        </p:txBody>
      </p:sp>
      <p:sp>
        <p:nvSpPr>
          <p:cNvPr id="2" name="">
            <a:extLst>
              <a:ext uri="{FF2B5EF4-FFF2-40B4-BE49-F238E27FC236}">
                <ns2:creationId id="{6FE42E1F-9298-4515-975E-DC9C783D4237}"/>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점수의 의미와 한계</a:t>
            </a:r>
          </a:p>
        </p:txBody>
      </p:sp>
      <p:sp>
        <p:nvSpPr>
          <p:cNvPr id="3" name="">
            <a:extLst>
              <a:ext uri="{FF2B5EF4-FFF2-40B4-BE49-F238E27FC236}">
                <ns2:creationId id="{0A35B48E-68C8-47D9-8AC9-91B68285A9ED}"/>
              </a:ext>
            </a:extLst>
          </p:cNvPr>
          <p:cNvSpPr>
            <a:spLocks noGrp="1"/>
          </p:cNvSpPr>
          <p:nvPr/>
        </p:nvSpPr>
        <p:spPr>
          <a:xfrm>
            <a:off x="685800" y="1933575"/>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후보 A: 5·4·5 → 4.65점</a:t>
            </a:r>
          </a:p>
        </p:txBody>
      </p:sp>
      <p:sp>
        <p:nvSpPr>
          <p:cNvPr id="4" name="">
            <a:extLst>
              <a:ext uri="{FF2B5EF4-FFF2-40B4-BE49-F238E27FC236}">
                <ns2:creationId id="{872302EA-0F21-4CFD-B862-E8A592ABBDA0}"/>
              </a:ext>
            </a:extLst>
          </p:cNvPr>
          <p:cNvSpPr>
            <a:spLocks noGrp="1"/>
          </p:cNvSpPr>
          <p:nvPr/>
        </p:nvSpPr>
        <p:spPr>
          <a:xfrm>
            <a:off x="685800" y="2432685"/>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예제에 매긴 점수입니다. 조건이 달라지면 다시 계산합니다.</a:t>
            </a:r>
          </a:p>
        </p:txBody>
      </p:sp>
      <p:sp>
        <p:nvSpPr>
          <p:cNvPr id="5" name="">
            <a:extLst>
              <a:ext uri="{FF2B5EF4-FFF2-40B4-BE49-F238E27FC236}">
                <ns2:creationId id="{4CD86129-A9A4-4BD5-9FC8-0D0D35A20D58}"/>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후보 A의 계산</a:t>
            </a:r>
          </a:p>
        </p:txBody>
      </p:sp>
      <p:sp>
        <p:nvSpPr>
          <p:cNvPr id="6" name="">
            <a:extLst>
              <a:ext uri="{FF2B5EF4-FFF2-40B4-BE49-F238E27FC236}">
                <ns2:creationId id="{26878EF3-F763-4ABA-95C7-70A01EC67336}"/>
              </a:ext>
            </a:extLst>
          </p:cNvPr>
          <p:cNvSpPr>
            <a:spLocks noGrp="1"/>
          </p:cNvSpPr>
          <p:nvPr/>
        </p:nvSpPr>
        <p:spPr>
          <a:xfrm>
            <a:off x="6267450" y="2628900"/>
            <a:ext cx="5238750" cy="440246"/>
          </a:xfrm>
          <a:prstGeom prst="rect">
            <a:avLst/>
          </a:prstGeom>
          <a:noFill/>
          <a:ln w="0">
            <a:noFill/>
          </a:ln>
        </p:spPr>
        <p:txBody>
          <a:bodyPr wrap="square" lIns="0" tIns="0" rIns="0" bIns="0">
            <a:noAutofit/>
          </a:bodyPr>
          <a:lstStyle/>
          <a:p>
            <a:pPr>
              <a:defRPr sz="2175" b="0">
                <a:solidFill>
                  <a:srgbClr val="172F39"/>
                </a:solidFill>
                <a:latin typeface="Noto Sans KR"/>
                <a:ea typeface="Noto Sans KR"/>
                <a:cs typeface="Noto Sans KR"/>
              </a:defRPr>
            </a:pPr>
            <a:r>
              <a:t>5 × 0.40 = 2.00</a:t>
            </a:r>
          </a:p>
        </p:txBody>
      </p:sp>
      <p:sp>
        <p:nvSpPr>
          <p:cNvPr id="7" name="">
            <a:extLst>
              <a:ext uri="{FF2B5EF4-FFF2-40B4-BE49-F238E27FC236}">
                <ns2:creationId id="{4E6FA0E6-0558-4523-B984-0AF807D5A28A}"/>
              </a:ext>
            </a:extLst>
          </p:cNvPr>
          <p:cNvSpPr>
            <a:spLocks noGrp="1"/>
          </p:cNvSpPr>
          <p:nvPr/>
        </p:nvSpPr>
        <p:spPr>
          <a:xfrm>
            <a:off x="6267450" y="3116771"/>
            <a:ext cx="5238750" cy="440246"/>
          </a:xfrm>
          <a:prstGeom prst="rect">
            <a:avLst/>
          </a:prstGeom>
          <a:noFill/>
          <a:ln w="0">
            <a:noFill/>
          </a:ln>
        </p:spPr>
        <p:txBody>
          <a:bodyPr wrap="square" lIns="0" tIns="0" rIns="0" bIns="0">
            <a:noAutofit/>
          </a:bodyPr>
          <a:lstStyle/>
          <a:p>
            <a:pPr>
              <a:defRPr sz="2175" b="0">
                <a:solidFill>
                  <a:srgbClr val="172F39"/>
                </a:solidFill>
                <a:latin typeface="Noto Sans KR"/>
                <a:ea typeface="Noto Sans KR"/>
                <a:cs typeface="Noto Sans KR"/>
              </a:defRPr>
            </a:pPr>
            <a:r>
              <a:t>4 × 0.35 = 1.40</a:t>
            </a:r>
          </a:p>
        </p:txBody>
      </p:sp>
      <p:sp>
        <p:nvSpPr>
          <p:cNvPr id="8" name="">
            <a:extLst>
              <a:ext uri="{FF2B5EF4-FFF2-40B4-BE49-F238E27FC236}">
                <ns2:creationId id="{1CFC600B-AF7F-4963-BF25-A2C499010F11}"/>
              </a:ext>
            </a:extLst>
          </p:cNvPr>
          <p:cNvSpPr>
            <a:spLocks noGrp="1"/>
          </p:cNvSpPr>
          <p:nvPr/>
        </p:nvSpPr>
        <p:spPr>
          <a:xfrm>
            <a:off x="6267450" y="3604641"/>
            <a:ext cx="5238750" cy="440246"/>
          </a:xfrm>
          <a:prstGeom prst="rect">
            <a:avLst/>
          </a:prstGeom>
          <a:noFill/>
          <a:ln w="0">
            <a:noFill/>
          </a:ln>
        </p:spPr>
        <p:txBody>
          <a:bodyPr wrap="square" lIns="0" tIns="0" rIns="0" bIns="0">
            <a:noAutofit/>
          </a:bodyPr>
          <a:lstStyle/>
          <a:p>
            <a:pPr>
              <a:defRPr sz="2175" b="0">
                <a:solidFill>
                  <a:srgbClr val="172F39"/>
                </a:solidFill>
                <a:latin typeface="Noto Sans KR"/>
                <a:ea typeface="Noto Sans KR"/>
                <a:cs typeface="Noto Sans KR"/>
              </a:defRPr>
            </a:pPr>
            <a:r>
              <a:t>5 × 0.25 = 1.25</a:t>
            </a:r>
          </a:p>
        </p:txBody>
      </p:sp>
      <p:sp>
        <p:nvSpPr>
          <p:cNvPr id="9" name="">
            <a:extLst>
              <a:ext uri="{FF2B5EF4-FFF2-40B4-BE49-F238E27FC236}">
                <ns2:creationId id="{12536C5E-F668-43F0-B979-87D6C5C77F7E}"/>
              </a:ext>
            </a:extLst>
          </p:cNvPr>
          <p:cNvSpPr>
            <a:spLocks noGrp="1"/>
          </p:cNvSpPr>
          <p:nvPr/>
        </p:nvSpPr>
        <p:spPr>
          <a:xfrm>
            <a:off x="6267450" y="4092512"/>
            <a:ext cx="5238750" cy="440246"/>
          </a:xfrm>
          <a:prstGeom prst="rect">
            <a:avLst/>
          </a:prstGeom>
          <a:noFill/>
          <a:ln w="0">
            <a:noFill/>
          </a:ln>
        </p:spPr>
        <p:txBody>
          <a:bodyPr wrap="square" lIns="0" tIns="0" rIns="0" bIns="0">
            <a:noAutofit/>
          </a:bodyPr>
          <a:lstStyle/>
          <a:p>
            <a:pPr>
              <a:defRPr sz="2175" b="0">
                <a:solidFill>
                  <a:srgbClr val="172F39"/>
                </a:solidFill>
                <a:latin typeface="Noto Sans KR"/>
                <a:ea typeface="Noto Sans KR"/>
                <a:cs typeface="Noto Sans KR"/>
              </a:defRPr>
            </a:pPr>
            <a:r>
              <a:t>합계 4.65</a:t>
            </a:r>
          </a:p>
        </p:txBody>
      </p:sp>
      <p:sp>
        <p:nvSpPr>
          <p:cNvPr id="10" name="">
            <a:extLst>
              <a:ext uri="{FF2B5EF4-FFF2-40B4-BE49-F238E27FC236}">
                <ns2:creationId id="{D3756758-6095-4B68-9987-11DEB758FFEB}"/>
              </a:ext>
            </a:extLst>
          </p:cNvPr>
          <p:cNvSpPr>
            <a:spLocks noGrp="1"/>
          </p:cNvSpPr>
          <p:nvPr/>
        </p:nvSpPr>
        <p:spPr>
          <a:xfrm>
            <a:off x="685800" y="6172200"/>
            <a:ext cx="10820400" cy="9525"/>
          </a:xfrm>
          <a:prstGeom prst="rect">
            <a:avLst/>
          </a:prstGeom>
          <a:solidFill>
            <a:srgbClr val="D5DEDD"/>
          </a:solidFill>
          <a:ln w="0">
            <a:noFill/>
          </a:ln>
        </p:spPr>
      </p:sp>
      <p:sp>
        <p:nvSpPr>
          <p:cNvPr id="11" name="">
            <a:extLst>
              <a:ext uri="{FF2B5EF4-FFF2-40B4-BE49-F238E27FC236}">
                <ns2:creationId id="{93E1D730-5B68-40C5-AC2A-47F4C5202090}"/>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2" name="">
            <a:extLst>
              <a:ext uri="{FF2B5EF4-FFF2-40B4-BE49-F238E27FC236}">
                <ns2:creationId id="{0A2768BB-7ADD-4B23-8458-A200BD0E4F82}"/>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3" name="">
            <a:extLst>
              <a:ext uri="{FF2B5EF4-FFF2-40B4-BE49-F238E27FC236}">
                <ns2:creationId id="{8440FFA8-CD97-4A2F-AE09-F692B05F6136}"/>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4" name="">
            <a:extLst>
              <a:ext uri="{FF2B5EF4-FFF2-40B4-BE49-F238E27FC236}">
                <ns2:creationId id="{585F6828-1843-43B2-99D6-0C1060F91AB1}"/>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10/30   023</a:t>
            </a:r>
          </a:p>
        </p:txBody>
      </p:sp>
    </p:spTree>
    <p:extLst>
      <p:ext uri="{BB962C8B-B14F-4D97-AF65-F5344CB8AC3E}">
        <ns4:creationId val="694620073"/>
      </p:ext>
    </p:extLst>
  </p:cSld>
</p:sld>
</file>

<file path=ppt/slides/slide24.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2" name="">
            <a:extLst>
              <a:ext uri="{FF2B5EF4-FFF2-40B4-BE49-F238E27FC236}">
                <ns2:creationId id="{03ECCEFE-FB4C-43AB-8B2E-E8475B2826A4}"/>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2교시</a:t>
            </a:r>
          </a:p>
        </p:txBody>
      </p:sp>
      <p:sp>
        <p:nvSpPr>
          <p:cNvPr id="2" name="">
            <a:extLst>
              <a:ext uri="{FF2B5EF4-FFF2-40B4-BE49-F238E27FC236}">
                <ns2:creationId id="{02672252-AA9F-49D7-AEE3-530EB781D85D}"/>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포함 범위와 제외 범위</a:t>
            </a:r>
          </a:p>
        </p:txBody>
      </p:sp>
      <p:sp>
        <p:nvSpPr>
          <p:cNvPr id="3" name="">
            <a:extLst>
              <a:ext uri="{FF2B5EF4-FFF2-40B4-BE49-F238E27FC236}">
                <ns2:creationId id="{8B4185EA-3D71-41D3-9999-87BB5FE70CC5}"/>
              </a:ext>
            </a:extLst>
          </p:cNvPr>
          <p:cNvSpPr>
            <a:spLocks noGrp="1"/>
          </p:cNvSpPr>
          <p:nvPr/>
        </p:nvSpPr>
        <p:spPr>
          <a:xfrm>
            <a:off x="685800" y="1933575"/>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만들 기능: CSV 읽기·값 검사·미확인 목록</a:t>
            </a:r>
          </a:p>
        </p:txBody>
      </p:sp>
      <p:sp>
        <p:nvSpPr>
          <p:cNvPr id="4" name="">
            <a:extLst>
              <a:ext uri="{FF2B5EF4-FFF2-40B4-BE49-F238E27FC236}">
                <ns2:creationId id="{91C67B0E-DD59-4E7D-88D4-9EBDF4C89BEE}"/>
              </a:ext>
            </a:extLst>
          </p:cNvPr>
          <p:cNvSpPr>
            <a:spLocks noGrp="1"/>
          </p:cNvSpPr>
          <p:nvPr/>
        </p:nvSpPr>
        <p:spPr>
          <a:xfrm>
            <a:off x="685800" y="2769870"/>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이번에 만들지 않을 기능: 카메라·자동 잠금·외부 메시지</a:t>
            </a:r>
          </a:p>
        </p:txBody>
      </p:sp>
      <p:sp>
        <p:nvSpPr>
          <p:cNvPr id="5" name="">
            <a:extLst>
              <a:ext uri="{FF2B5EF4-FFF2-40B4-BE49-F238E27FC236}">
                <ns2:creationId id="{F8962B8B-A5BC-4854-993C-009599E89F74}"/>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이번에 만들 범위</a:t>
            </a:r>
          </a:p>
        </p:txBody>
      </p:sp>
      <p:graphicFrame>
        <p:nvGraphicFramePr>
          <p:cNvPr id="17" name=""/>
          <p:cNvGraphicFramePr/>
          <p:nvPr/>
        </p:nvGraphicFramePr>
        <p:xfrm>
          <a:off x="6267450" y="2628900"/>
          <a:ext cx="5238750" cy="2057400"/>
        </p:xfrm>
        <a:graphic>
          <a:graphicData uri="http://schemas.openxmlformats.org/drawingml/2006/table">
            <a:tbl>
              <a:tblPr firstRow="1" bandRow="0"/>
              <a:tblGrid>
                <a:gridCol w="2619375"/>
                <a:gridCol w="2619375"/>
              </a:tblGrid>
              <a:tr h="514350">
                <a:tc>
                  <a:txBody>
                    <a:bodyPr wrap="square"/>
                    <a:lstStyle/>
                    <a:p>
                      <a:pPr>
                        <a:lnSpc>
                          <a:spcPct val="102000"/>
                        </a:lnSpc>
                        <a:buNone/>
                      </a:pPr>
                      <a:r>
                        <a:rPr sz="1875" b="1">
                          <a:solidFill>
                            <a:srgbClr val="172F39"/>
                          </a:solidFill>
                          <a:latin typeface="Noto Sans KR"/>
                          <a:ea typeface="Noto Sans KR"/>
                          <a:cs typeface="Noto Sans KR"/>
                        </a:rPr>
                        <a:t>포함</a:t>
                      </a:r>
                    </a:p>
                  </a:txBody>
                  <a:tcPr marL="114300" marR="114300" marT="76200" marB="76200" anchor="ctr">
                    <a:solidFill>
                      <a:srgbClr val="DCECE8"/>
                    </a:solidFill>
                  </a:tcPr>
                </a:tc>
                <a:tc>
                  <a:txBody>
                    <a:bodyPr wrap="square"/>
                    <a:lstStyle/>
                    <a:p>
                      <a:pPr>
                        <a:lnSpc>
                          <a:spcPct val="102000"/>
                        </a:lnSpc>
                        <a:buNone/>
                      </a:pPr>
                      <a:r>
                        <a:rPr sz="1875" b="1">
                          <a:solidFill>
                            <a:srgbClr val="172F39"/>
                          </a:solidFill>
                          <a:latin typeface="Noto Sans KR"/>
                          <a:ea typeface="Noto Sans KR"/>
                          <a:cs typeface="Noto Sans KR"/>
                        </a:rPr>
                        <a:t>제외</a:t>
                      </a:r>
                    </a:p>
                  </a:txBody>
                  <a:tcPr marL="114300" marR="114300" marT="76200" marB="76200" anchor="ctr">
                    <a:solidFill>
                      <a:srgbClr val="DCECE8"/>
                    </a:solidFill>
                  </a:tcPr>
                </a:tc>
              </a:tr>
              <a:tr h="514350">
                <a:tc>
                  <a:txBody>
                    <a:bodyPr wrap="square"/>
                    <a:lstStyle/>
                    <a:p>
                      <a:pPr>
                        <a:lnSpc>
                          <a:spcPct val="102000"/>
                        </a:lnSpc>
                        <a:buNone/>
                      </a:pPr>
                      <a:r>
                        <a:rPr sz="1875" b="0">
                          <a:solidFill>
                            <a:srgbClr val="172F39"/>
                          </a:solidFill>
                          <a:latin typeface="Noto Sans KR"/>
                          <a:ea typeface="Noto Sans KR"/>
                          <a:cs typeface="Noto Sans KR"/>
                        </a:rPr>
                        <a:t>CSV 읽기</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카메라 인식</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값 검사</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자동 잠금</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미확인 목록</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외부 메시지</a:t>
                      </a:r>
                    </a:p>
                  </a:txBody>
                  <a:tcPr marL="114300" marR="114300" marT="76200" marB="76200" anchor="ctr">
                    <a:solidFill>
                      <a:srgbClr val="FFFFFF"/>
                    </a:solidFill>
                  </a:tcPr>
                </a:tc>
              </a:tr>
            </a:tbl>
          </a:graphicData>
        </a:graphic>
      </p:graphicFrame>
      <p:sp>
        <p:nvSpPr>
          <p:cNvPr id="7" name="">
            <a:extLst>
              <a:ext uri="{FF2B5EF4-FFF2-40B4-BE49-F238E27FC236}">
                <ns2:creationId id="{675A7757-F49A-4202-BECB-44FFA35E658E}"/>
              </a:ext>
            </a:extLst>
          </p:cNvPr>
          <p:cNvSpPr>
            <a:spLocks noGrp="1"/>
          </p:cNvSpPr>
          <p:nvPr/>
        </p:nvSpPr>
        <p:spPr>
          <a:xfrm>
            <a:off x="685800" y="6172200"/>
            <a:ext cx="10820400" cy="9525"/>
          </a:xfrm>
          <a:prstGeom prst="rect">
            <a:avLst/>
          </a:prstGeom>
          <a:solidFill>
            <a:srgbClr val="D5DEDD"/>
          </a:solidFill>
          <a:ln w="0">
            <a:noFill/>
          </a:ln>
        </p:spPr>
      </p:sp>
      <p:sp>
        <p:nvSpPr>
          <p:cNvPr id="8" name="">
            <a:extLst>
              <a:ext uri="{FF2B5EF4-FFF2-40B4-BE49-F238E27FC236}">
                <ns2:creationId id="{CB210BDA-29C5-48E4-83C3-A0C8AE31584E}"/>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9" name="">
            <a:extLst>
              <a:ext uri="{FF2B5EF4-FFF2-40B4-BE49-F238E27FC236}">
                <ns2:creationId id="{E2C04D0D-1264-4AAF-841B-FCBDB6A31EC3}"/>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0" name="">
            <a:extLst>
              <a:ext uri="{FF2B5EF4-FFF2-40B4-BE49-F238E27FC236}">
                <ns2:creationId id="{F69A9C07-9102-4C83-A165-71B4E3DAAB41}"/>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1" name="">
            <a:extLst>
              <a:ext uri="{FF2B5EF4-FFF2-40B4-BE49-F238E27FC236}">
                <ns2:creationId id="{19EA7A68-C52C-48E2-80EF-31B76D0B7182}"/>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10/30   024</a:t>
            </a:r>
          </a:p>
        </p:txBody>
      </p:sp>
    </p:spTree>
    <p:extLst>
      <p:ext uri="{BB962C8B-B14F-4D97-AF65-F5344CB8AC3E}">
        <ns4:creationId val="1374104168"/>
      </p:ext>
    </p:extLst>
  </p:cSld>
</p:sld>
</file>

<file path=ppt/slides/slide25.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2" name="">
            <a:extLst>
              <a:ext uri="{FF2B5EF4-FFF2-40B4-BE49-F238E27FC236}">
                <ns2:creationId id="{F82AC30B-921B-4C1A-A13E-AC042F77E86F}"/>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2교시</a:t>
            </a:r>
          </a:p>
        </p:txBody>
      </p:sp>
      <p:sp>
        <p:nvSpPr>
          <p:cNvPr id="2" name="">
            <a:extLst>
              <a:ext uri="{FF2B5EF4-FFF2-40B4-BE49-F238E27FC236}">
                <ns2:creationId id="{6FEFA84C-3312-49D8-807D-8B007F69F475}"/>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대여 요구와 기대 상태</a:t>
            </a:r>
          </a:p>
        </p:txBody>
      </p:sp>
      <p:sp>
        <p:nvSpPr>
          <p:cNvPr id="3" name="">
            <a:extLst>
              <a:ext uri="{FF2B5EF4-FFF2-40B4-BE49-F238E27FC236}">
                <ns2:creationId id="{75865A31-AF7C-4852-9484-EEBDC416C21B}"/>
              </a:ext>
            </a:extLst>
          </p:cNvPr>
          <p:cNvSpPr>
            <a:spLocks noGrp="1"/>
          </p:cNvSpPr>
          <p:nvPr/>
        </p:nvSpPr>
        <p:spPr>
          <a:xfrm>
            <a:off x="685800" y="1933575"/>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R01: 정상 3건 → ID가 보이는 3행</a:t>
            </a:r>
          </a:p>
        </p:txBody>
      </p:sp>
      <p:sp>
        <p:nvSpPr>
          <p:cNvPr id="4" name="">
            <a:extLst>
              <a:ext uri="{FF2B5EF4-FFF2-40B4-BE49-F238E27FC236}">
                <ns2:creationId id="{A34571EB-ABD8-4867-AFEA-315C6E041E2A}"/>
              </a:ext>
            </a:extLst>
          </p:cNvPr>
          <p:cNvSpPr>
            <a:spLocks noGrp="1"/>
          </p:cNvSpPr>
          <p:nvPr/>
        </p:nvSpPr>
        <p:spPr>
          <a:xfrm>
            <a:off x="685800" y="2432685"/>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R02: updated_at 빈칸 → review와 이유</a:t>
            </a:r>
          </a:p>
        </p:txBody>
      </p:sp>
      <p:sp>
        <p:nvSpPr>
          <p:cNvPr id="5" name="">
            <a:extLst>
              <a:ext uri="{FF2B5EF4-FFF2-40B4-BE49-F238E27FC236}">
                <ns2:creationId id="{F1485183-B1AF-4E6F-9D2C-3694D7B0AF81}"/>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요구와 기대 결과</a:t>
            </a:r>
          </a:p>
        </p:txBody>
      </p:sp>
      <p:graphicFrame>
        <p:nvGraphicFramePr>
          <p:cNvPr id="17" name=""/>
          <p:cNvGraphicFramePr/>
          <p:nvPr/>
        </p:nvGraphicFramePr>
        <p:xfrm>
          <a:off x="6267450" y="2628900"/>
          <a:ext cx="5238750" cy="2057400"/>
        </p:xfrm>
        <a:graphic>
          <a:graphicData uri="http://schemas.openxmlformats.org/drawingml/2006/table">
            <a:tbl>
              <a:tblPr firstRow="1" bandRow="0"/>
              <a:tblGrid>
                <a:gridCol w="1029224"/>
                <a:gridCol w="2264293"/>
                <a:gridCol w="1945233"/>
              </a:tblGrid>
              <a:tr h="514350">
                <a:tc>
                  <a:txBody>
                    <a:bodyPr wrap="square"/>
                    <a:lstStyle/>
                    <a:p>
                      <a:pPr>
                        <a:lnSpc>
                          <a:spcPct val="102000"/>
                        </a:lnSpc>
                        <a:buNone/>
                      </a:pPr>
                      <a:r>
                        <a:rPr sz="1875" b="1">
                          <a:solidFill>
                            <a:srgbClr val="172F39"/>
                          </a:solidFill>
                          <a:latin typeface="Noto Sans KR"/>
                          <a:ea typeface="Noto Sans KR"/>
                          <a:cs typeface="Noto Sans KR"/>
                        </a:rPr>
                        <a:t>요구</a:t>
                      </a:r>
                    </a:p>
                  </a:txBody>
                  <a:tcPr marL="114300" marR="114300" marT="76200" marB="76200" anchor="ctr">
                    <a:solidFill>
                      <a:srgbClr val="DCECE8"/>
                    </a:solidFill>
                  </a:tcPr>
                </a:tc>
                <a:tc>
                  <a:txBody>
                    <a:bodyPr wrap="square"/>
                    <a:lstStyle/>
                    <a:p>
                      <a:pPr>
                        <a:lnSpc>
                          <a:spcPct val="102000"/>
                        </a:lnSpc>
                        <a:buNone/>
                      </a:pPr>
                      <a:r>
                        <a:rPr sz="1875" b="1">
                          <a:solidFill>
                            <a:srgbClr val="172F39"/>
                          </a:solidFill>
                          <a:latin typeface="Noto Sans KR"/>
                          <a:ea typeface="Noto Sans KR"/>
                          <a:cs typeface="Noto Sans KR"/>
                        </a:rPr>
                        <a:t>입력</a:t>
                      </a:r>
                    </a:p>
                  </a:txBody>
                  <a:tcPr marL="114300" marR="114300" marT="76200" marB="76200" anchor="ctr">
                    <a:solidFill>
                      <a:srgbClr val="DCECE8"/>
                    </a:solidFill>
                  </a:tcPr>
                </a:tc>
                <a:tc>
                  <a:txBody>
                    <a:bodyPr wrap="square"/>
                    <a:lstStyle/>
                    <a:p>
                      <a:pPr>
                        <a:lnSpc>
                          <a:spcPct val="102000"/>
                        </a:lnSpc>
                        <a:buNone/>
                      </a:pPr>
                      <a:r>
                        <a:rPr sz="1875" b="1">
                          <a:solidFill>
                            <a:srgbClr val="172F39"/>
                          </a:solidFill>
                          <a:latin typeface="Noto Sans KR"/>
                          <a:ea typeface="Noto Sans KR"/>
                          <a:cs typeface="Noto Sans KR"/>
                        </a:rPr>
                        <a:t>기대 결과</a:t>
                      </a:r>
                    </a:p>
                  </a:txBody>
                  <a:tcPr marL="114300" marR="114300" marT="76200" marB="76200" anchor="ctr">
                    <a:solidFill>
                      <a:srgbClr val="DCECE8"/>
                    </a:solidFill>
                  </a:tcPr>
                </a:tc>
              </a:tr>
              <a:tr h="514350">
                <a:tc>
                  <a:txBody>
                    <a:bodyPr wrap="square"/>
                    <a:lstStyle/>
                    <a:p>
                      <a:pPr>
                        <a:lnSpc>
                          <a:spcPct val="102000"/>
                        </a:lnSpc>
                        <a:buNone/>
                      </a:pPr>
                      <a:r>
                        <a:rPr sz="1875" b="0">
                          <a:solidFill>
                            <a:srgbClr val="172F39"/>
                          </a:solidFill>
                          <a:latin typeface="Noto Sans KR"/>
                          <a:ea typeface="Noto Sans KR"/>
                          <a:cs typeface="Noto Sans KR"/>
                        </a:rPr>
                        <a:t>R01</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정상 3건</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ID 3행 표시</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R02</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updated_at 빈칸</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review와 이유</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R03</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loan_id 중복</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reject</a:t>
                      </a:r>
                    </a:p>
                  </a:txBody>
                  <a:tcPr marL="114300" marR="114300" marT="76200" marB="76200" anchor="ctr">
                    <a:solidFill>
                      <a:srgbClr val="FFFFFF"/>
                    </a:solidFill>
                  </a:tcPr>
                </a:tc>
              </a:tr>
            </a:tbl>
          </a:graphicData>
        </a:graphic>
      </p:graphicFrame>
      <p:sp>
        <p:nvSpPr>
          <p:cNvPr id="7" name="">
            <a:extLst>
              <a:ext uri="{FF2B5EF4-FFF2-40B4-BE49-F238E27FC236}">
                <ns2:creationId id="{67A9A057-D4A1-4BFC-AD1D-D0D12FBA3338}"/>
              </a:ext>
            </a:extLst>
          </p:cNvPr>
          <p:cNvSpPr>
            <a:spLocks noGrp="1"/>
          </p:cNvSpPr>
          <p:nvPr/>
        </p:nvSpPr>
        <p:spPr>
          <a:xfrm>
            <a:off x="685800" y="6172200"/>
            <a:ext cx="10820400" cy="9525"/>
          </a:xfrm>
          <a:prstGeom prst="rect">
            <a:avLst/>
          </a:prstGeom>
          <a:solidFill>
            <a:srgbClr val="D5DEDD"/>
          </a:solidFill>
          <a:ln w="0">
            <a:noFill/>
          </a:ln>
        </p:spPr>
      </p:sp>
      <p:sp>
        <p:nvSpPr>
          <p:cNvPr id="8" name="">
            <a:extLst>
              <a:ext uri="{FF2B5EF4-FFF2-40B4-BE49-F238E27FC236}">
                <ns2:creationId id="{1CD5907D-B194-4D7A-89F5-D0F0F341482A}"/>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9" name="">
            <a:extLst>
              <a:ext uri="{FF2B5EF4-FFF2-40B4-BE49-F238E27FC236}">
                <ns2:creationId id="{E1C608B7-24FB-483D-854A-F8DAD3DD599F}"/>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0" name="">
            <a:extLst>
              <a:ext uri="{FF2B5EF4-FFF2-40B4-BE49-F238E27FC236}">
                <ns2:creationId id="{A253F92D-930F-4F38-8769-E77E58B36451}"/>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1" name="">
            <a:extLst>
              <a:ext uri="{FF2B5EF4-FFF2-40B4-BE49-F238E27FC236}">
                <ns2:creationId id="{FE41B06E-FBAA-427A-8C71-60358DAB693F}"/>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10/30   025</a:t>
            </a:r>
          </a:p>
        </p:txBody>
      </p:sp>
    </p:spTree>
    <p:extLst>
      <p:ext uri="{BB962C8B-B14F-4D97-AF65-F5344CB8AC3E}">
        <ns4:creationId val="55883255"/>
      </p:ext>
    </p:extLst>
  </p:cSld>
</p:sld>
</file>

<file path=ppt/slides/slide26.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0" name="">
            <a:extLst>
              <a:ext uri="{FF2B5EF4-FFF2-40B4-BE49-F238E27FC236}">
                <ns2:creationId id="{554FCFC5-9EF9-48FC-B0E7-B584E2405A4C}"/>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2교시</a:t>
            </a:r>
          </a:p>
        </p:txBody>
      </p:sp>
      <p:sp>
        <p:nvSpPr>
          <p:cNvPr id="2" name="">
            <a:extLst>
              <a:ext uri="{FF2B5EF4-FFF2-40B4-BE49-F238E27FC236}">
                <ns2:creationId id="{B646663F-9BA9-4EC1-ADB7-8113B0C8760A}"/>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중복 거절과 원문 보존</a:t>
            </a:r>
          </a:p>
        </p:txBody>
      </p:sp>
      <p:sp>
        <p:nvSpPr>
          <p:cNvPr id="3" name="">
            <a:extLst>
              <a:ext uri="{FF2B5EF4-FFF2-40B4-BE49-F238E27FC236}">
                <ns2:creationId id="{4E0D6AF9-FDAE-419F-88DB-AD89268DACB7}"/>
              </a:ext>
            </a:extLst>
          </p:cNvPr>
          <p:cNvSpPr>
            <a:spLocks noGrp="1"/>
          </p:cNvSpPr>
          <p:nvPr/>
        </p:nvSpPr>
        <p:spPr>
          <a:xfrm>
            <a:off x="685800" y="1990725"/>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R03: 중복 loan_id → reject</a:t>
            </a:r>
          </a:p>
        </p:txBody>
      </p:sp>
      <p:sp>
        <p:nvSpPr>
          <p:cNvPr id="4" name="">
            <a:extLst>
              <a:ext uri="{FF2B5EF4-FFF2-40B4-BE49-F238E27FC236}">
                <ns2:creationId id="{0F0EADF6-B113-474E-8E80-D77FC033832C}"/>
              </a:ext>
            </a:extLst>
          </p:cNvPr>
          <p:cNvSpPr>
            <a:spLocks noGrp="1"/>
          </p:cNvSpPr>
          <p:nvPr/>
        </p:nvSpPr>
        <p:spPr>
          <a:xfrm>
            <a:off x="685800" y="2534793"/>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R04: 읽기 전후 원문 바이트 불변</a:t>
            </a:r>
          </a:p>
        </p:txBody>
      </p:sp>
      <p:sp>
        <p:nvSpPr>
          <p:cNvPr id="5" name="">
            <a:extLst>
              <a:ext uri="{FF2B5EF4-FFF2-40B4-BE49-F238E27FC236}">
                <ns2:creationId id="{64EA8BD4-64F9-456A-AFDC-8DB33E6A4C9E}"/>
              </a:ext>
            </a:extLst>
          </p:cNvPr>
          <p:cNvSpPr>
            <a:spLocks noGrp="1"/>
          </p:cNvSpPr>
          <p:nvPr/>
        </p:nvSpPr>
        <p:spPr>
          <a:xfrm>
            <a:off x="685800" y="6172200"/>
            <a:ext cx="10820400" cy="9525"/>
          </a:xfrm>
          <a:prstGeom prst="rect">
            <a:avLst/>
          </a:prstGeom>
          <a:solidFill>
            <a:srgbClr val="D5DEDD"/>
          </a:solidFill>
          <a:ln w="0">
            <a:noFill/>
          </a:ln>
        </p:spPr>
      </p:sp>
      <p:sp>
        <p:nvSpPr>
          <p:cNvPr id="6" name="">
            <a:extLst>
              <a:ext uri="{FF2B5EF4-FFF2-40B4-BE49-F238E27FC236}">
                <ns2:creationId id="{DD51FF5A-714C-42BC-9550-2E9193887603}"/>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7" name="">
            <a:extLst>
              <a:ext uri="{FF2B5EF4-FFF2-40B4-BE49-F238E27FC236}">
                <ns2:creationId id="{5A430D9F-69EC-49F5-B17E-EEDC97575B28}"/>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8" name="">
            <a:extLst>
              <a:ext uri="{FF2B5EF4-FFF2-40B4-BE49-F238E27FC236}">
                <ns2:creationId id="{24992C88-0E7C-44A9-A4FD-000CE3699478}"/>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9" name="">
            <a:extLst>
              <a:ext uri="{FF2B5EF4-FFF2-40B4-BE49-F238E27FC236}">
                <ns2:creationId id="{25F473A3-9750-4CF2-82DA-11CC3E06EA4E}"/>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10/30   026</a:t>
            </a:r>
          </a:p>
        </p:txBody>
      </p:sp>
    </p:spTree>
    <p:extLst>
      <p:ext uri="{BB962C8B-B14F-4D97-AF65-F5344CB8AC3E}">
        <ns4:creationId val="209933244"/>
      </p:ext>
    </p:extLst>
  </p:cSld>
</p:sld>
</file>

<file path=ppt/slides/slide27.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21" name="">
            <a:extLst>
              <a:ext uri="{FF2B5EF4-FFF2-40B4-BE49-F238E27FC236}">
                <ns2:creationId id="{E90807BA-01F9-4087-A680-FFE5C2D22B60}"/>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2교시</a:t>
            </a:r>
          </a:p>
        </p:txBody>
      </p:sp>
      <p:sp>
        <p:nvSpPr>
          <p:cNvPr id="2" name="">
            <a:extLst>
              <a:ext uri="{FF2B5EF4-FFF2-40B4-BE49-F238E27FC236}">
                <ns2:creationId id="{5729D521-6862-4A7D-8BF8-1F16F0F76281}"/>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가중 점수 계산 예제</a:t>
            </a:r>
          </a:p>
        </p:txBody>
      </p:sp>
      <p:sp>
        <p:nvSpPr>
          <p:cNvPr id="3" name="">
            <a:extLst>
              <a:ext uri="{FF2B5EF4-FFF2-40B4-BE49-F238E27FC236}">
                <ns2:creationId id="{9BAF56C5-D369-400C-A944-A8E1A6DF0F11}"/>
              </a:ext>
            </a:extLst>
          </p:cNvPr>
          <p:cNvSpPr>
            <a:spLocks noGrp="1"/>
          </p:cNvSpPr>
          <p:nvPr/>
        </p:nvSpPr>
        <p:spPr>
          <a:xfrm>
            <a:off x="685800" y="1809750"/>
            <a:ext cx="10820400" cy="2225802"/>
          </a:xfrm>
          <a:prstGeom prst="rect">
            <a:avLst/>
          </a:prstGeom>
          <a:solidFill>
            <a:srgbClr val="F1F6F5"/>
          </a:solidFill>
          <a:ln w="0">
            <a:noFill/>
          </a:ln>
        </p:spPr>
      </p:sp>
      <p:sp>
        <p:nvSpPr>
          <p:cNvPr id="4" name="">
            <a:extLst>
              <a:ext uri="{FF2B5EF4-FFF2-40B4-BE49-F238E27FC236}">
                <ns2:creationId id="{3AC97C8D-AB5F-4AF3-AC36-86396EFD56F2}"/>
              </a:ext>
            </a:extLst>
          </p:cNvPr>
          <p:cNvSpPr>
            <a:spLocks noGrp="1"/>
          </p:cNvSpPr>
          <p:nvPr/>
        </p:nvSpPr>
        <p:spPr>
          <a:xfrm>
            <a:off x="828675" y="1971675"/>
            <a:ext cx="361950" cy="316992"/>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01</a:t>
            </a:r>
          </a:p>
        </p:txBody>
      </p:sp>
      <p:sp>
        <p:nvSpPr>
          <p:cNvPr id="5" name="">
            <a:extLst>
              <a:ext uri="{FF2B5EF4-FFF2-40B4-BE49-F238E27FC236}">
                <ns2:creationId id="{06E10F0F-8D9E-493E-A012-ABFBC9191A06}"/>
              </a:ext>
            </a:extLst>
          </p:cNvPr>
          <p:cNvSpPr>
            <a:spLocks noGrp="1"/>
          </p:cNvSpPr>
          <p:nvPr/>
        </p:nvSpPr>
        <p:spPr>
          <a:xfrm>
            <a:off x="1276350" y="1933575"/>
            <a:ext cx="10096500" cy="374142"/>
          </a:xfrm>
          <a:prstGeom prst="rect">
            <a:avLst/>
          </a:prstGeom>
          <a:noFill/>
          <a:ln w="0">
            <a:noFill/>
          </a:ln>
        </p:spPr>
        <p:txBody>
          <a:bodyPr wrap="none" lIns="0" tIns="0" rIns="0" bIns="0">
            <a:noAutofit/>
          </a:bodyPr>
          <a:lstStyle/>
          <a:p>
            <a:pPr>
              <a:defRPr sz="1950" b="0">
                <a:solidFill>
                  <a:srgbClr val="172F39"/>
                </a:solidFill>
                <a:latin typeface="Consolas"/>
                <a:ea typeface="Consolas"/>
                <a:cs typeface="Consolas"/>
              </a:defRPr>
            </a:pPr>
            <a:r>
              <a:t>weights = [0.40, 0.35, 0.25]</a:t>
            </a:r>
          </a:p>
        </p:txBody>
      </p:sp>
      <p:sp>
        <p:nvSpPr>
          <p:cNvPr id="6" name="">
            <a:extLst>
              <a:ext uri="{FF2B5EF4-FFF2-40B4-BE49-F238E27FC236}">
                <ns2:creationId id="{C011B39C-25EC-480B-9AAD-C9AC0073A37D}"/>
              </a:ext>
            </a:extLst>
          </p:cNvPr>
          <p:cNvSpPr>
            <a:spLocks noGrp="1"/>
          </p:cNvSpPr>
          <p:nvPr/>
        </p:nvSpPr>
        <p:spPr>
          <a:xfrm>
            <a:off x="828675" y="2288667"/>
            <a:ext cx="361950" cy="316992"/>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02</a:t>
            </a:r>
          </a:p>
        </p:txBody>
      </p:sp>
      <p:sp>
        <p:nvSpPr>
          <p:cNvPr id="7" name="">
            <a:extLst>
              <a:ext uri="{FF2B5EF4-FFF2-40B4-BE49-F238E27FC236}">
                <ns2:creationId id="{5E1DB9C8-0E12-424C-8CCF-04EF64050A75}"/>
              </a:ext>
            </a:extLst>
          </p:cNvPr>
          <p:cNvSpPr>
            <a:spLocks noGrp="1"/>
          </p:cNvSpPr>
          <p:nvPr/>
        </p:nvSpPr>
        <p:spPr>
          <a:xfrm>
            <a:off x="1276350" y="2250567"/>
            <a:ext cx="10096500" cy="374142"/>
          </a:xfrm>
          <a:prstGeom prst="rect">
            <a:avLst/>
          </a:prstGeom>
          <a:noFill/>
          <a:ln w="0">
            <a:noFill/>
          </a:ln>
        </p:spPr>
        <p:txBody>
          <a:bodyPr wrap="none" lIns="0" tIns="0" rIns="0" bIns="0">
            <a:noAutofit/>
          </a:bodyPr>
          <a:lstStyle/>
          <a:p>
            <a:pPr>
              <a:defRPr sz="1950" b="0">
                <a:solidFill>
                  <a:srgbClr val="172F39"/>
                </a:solidFill>
                <a:latin typeface="Consolas"/>
                <a:ea typeface="Consolas"/>
                <a:cs typeface="Consolas"/>
              </a:defRPr>
            </a:pPr>
            <a:r>
              <a:t>scores = [5, 4, 5]</a:t>
            </a:r>
          </a:p>
        </p:txBody>
      </p:sp>
      <p:sp>
        <p:nvSpPr>
          <p:cNvPr id="8" name="">
            <a:extLst>
              <a:ext uri="{FF2B5EF4-FFF2-40B4-BE49-F238E27FC236}">
                <ns2:creationId id="{8B39CE93-D2B8-4816-9542-EEC0C5003C95}"/>
              </a:ext>
            </a:extLst>
          </p:cNvPr>
          <p:cNvSpPr>
            <a:spLocks noGrp="1"/>
          </p:cNvSpPr>
          <p:nvPr/>
        </p:nvSpPr>
        <p:spPr>
          <a:xfrm>
            <a:off x="828675" y="2605659"/>
            <a:ext cx="361950" cy="316992"/>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03</a:t>
            </a:r>
          </a:p>
        </p:txBody>
      </p:sp>
      <p:sp>
        <p:nvSpPr>
          <p:cNvPr id="9" name="">
            <a:extLst>
              <a:ext uri="{FF2B5EF4-FFF2-40B4-BE49-F238E27FC236}">
                <ns2:creationId id="{5A614A3D-8EFE-4566-8D8C-920314D530B3}"/>
              </a:ext>
            </a:extLst>
          </p:cNvPr>
          <p:cNvSpPr>
            <a:spLocks noGrp="1"/>
          </p:cNvSpPr>
          <p:nvPr/>
        </p:nvSpPr>
        <p:spPr>
          <a:xfrm>
            <a:off x="1276350" y="2567559"/>
            <a:ext cx="10096500" cy="374142"/>
          </a:xfrm>
          <a:prstGeom prst="rect">
            <a:avLst/>
          </a:prstGeom>
          <a:noFill/>
          <a:ln w="0">
            <a:noFill/>
          </a:ln>
        </p:spPr>
        <p:txBody>
          <a:bodyPr wrap="none" lIns="0" tIns="0" rIns="0" bIns="0">
            <a:noAutofit/>
          </a:bodyPr>
          <a:lstStyle/>
          <a:p>
            <a:pPr>
              <a:defRPr sz="1950" b="0">
                <a:solidFill>
                  <a:srgbClr val="172F39"/>
                </a:solidFill>
                <a:latin typeface="Consolas"/>
                <a:ea typeface="Consolas"/>
                <a:cs typeface="Consolas"/>
              </a:defRPr>
            </a:pPr>
            <a:r>
              <a:t>total = 0</a:t>
            </a:r>
          </a:p>
        </p:txBody>
      </p:sp>
      <p:sp>
        <p:nvSpPr>
          <p:cNvPr id="10" name="">
            <a:extLst>
              <a:ext uri="{FF2B5EF4-FFF2-40B4-BE49-F238E27FC236}">
                <ns2:creationId id="{5F5B5786-06AE-48E9-9E3B-217BEA6335EC}"/>
              </a:ext>
            </a:extLst>
          </p:cNvPr>
          <p:cNvSpPr>
            <a:spLocks noGrp="1"/>
          </p:cNvSpPr>
          <p:nvPr/>
        </p:nvSpPr>
        <p:spPr>
          <a:xfrm>
            <a:off x="828675" y="2922651"/>
            <a:ext cx="361950" cy="316992"/>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04</a:t>
            </a:r>
          </a:p>
        </p:txBody>
      </p:sp>
      <p:sp>
        <p:nvSpPr>
          <p:cNvPr id="11" name="">
            <a:extLst>
              <a:ext uri="{FF2B5EF4-FFF2-40B4-BE49-F238E27FC236}">
                <ns2:creationId id="{68E66B5D-0BC7-423C-8E76-0168676221C3}"/>
              </a:ext>
            </a:extLst>
          </p:cNvPr>
          <p:cNvSpPr>
            <a:spLocks noGrp="1"/>
          </p:cNvSpPr>
          <p:nvPr/>
        </p:nvSpPr>
        <p:spPr>
          <a:xfrm>
            <a:off x="1276350" y="2884551"/>
            <a:ext cx="10096500" cy="374142"/>
          </a:xfrm>
          <a:prstGeom prst="rect">
            <a:avLst/>
          </a:prstGeom>
          <a:noFill/>
          <a:ln w="0">
            <a:noFill/>
          </a:ln>
        </p:spPr>
        <p:txBody>
          <a:bodyPr wrap="none" lIns="0" tIns="0" rIns="0" bIns="0">
            <a:noAutofit/>
          </a:bodyPr>
          <a:lstStyle/>
          <a:p>
            <a:pPr>
              <a:defRPr sz="1950" b="0">
                <a:solidFill>
                  <a:srgbClr val="172F39"/>
                </a:solidFill>
                <a:latin typeface="Consolas"/>
                <a:ea typeface="Consolas"/>
                <a:cs typeface="Consolas"/>
              </a:defRPr>
            </a:pPr>
            <a:r>
              <a:t>for index in range(3):</a:t>
            </a:r>
          </a:p>
        </p:txBody>
      </p:sp>
      <p:sp>
        <p:nvSpPr>
          <p:cNvPr id="12" name="">
            <a:extLst>
              <a:ext uri="{FF2B5EF4-FFF2-40B4-BE49-F238E27FC236}">
                <ns2:creationId id="{02D00BBB-8013-4EB8-B656-BB4030B4BD4F}"/>
              </a:ext>
            </a:extLst>
          </p:cNvPr>
          <p:cNvSpPr>
            <a:spLocks noGrp="1"/>
          </p:cNvSpPr>
          <p:nvPr/>
        </p:nvSpPr>
        <p:spPr>
          <a:xfrm>
            <a:off x="828675" y="3239643"/>
            <a:ext cx="361950" cy="316992"/>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05</a:t>
            </a:r>
          </a:p>
        </p:txBody>
      </p:sp>
      <p:sp>
        <p:nvSpPr>
          <p:cNvPr id="13" name="">
            <a:extLst>
              <a:ext uri="{FF2B5EF4-FFF2-40B4-BE49-F238E27FC236}">
                <ns2:creationId id="{F24780F2-638F-49E5-9B06-E07EC61A98FB}"/>
              </a:ext>
            </a:extLst>
          </p:cNvPr>
          <p:cNvSpPr>
            <a:spLocks noGrp="1"/>
          </p:cNvSpPr>
          <p:nvPr/>
        </p:nvSpPr>
        <p:spPr>
          <a:xfrm>
            <a:off x="1276350" y="3201543"/>
            <a:ext cx="10096500" cy="374142"/>
          </a:xfrm>
          <a:prstGeom prst="rect">
            <a:avLst/>
          </a:prstGeom>
          <a:noFill/>
          <a:ln w="0">
            <a:noFill/>
          </a:ln>
        </p:spPr>
        <p:txBody>
          <a:bodyPr wrap="none" lIns="0" tIns="0" rIns="0" bIns="0">
            <a:noAutofit/>
          </a:bodyPr>
          <a:lstStyle/>
          <a:p>
            <a:pPr>
              <a:defRPr sz="1950" b="0">
                <a:solidFill>
                  <a:srgbClr val="172F39"/>
                </a:solidFill>
                <a:latin typeface="Consolas"/>
                <a:ea typeface="Consolas"/>
                <a:cs typeface="Consolas"/>
              </a:defRPr>
            </a:pPr>
            <a:r>
              <a:t>    total = total + weights[index] * scores[index]</a:t>
            </a:r>
          </a:p>
        </p:txBody>
      </p:sp>
      <p:sp>
        <p:nvSpPr>
          <p:cNvPr id="14" name="">
            <a:extLst>
              <a:ext uri="{FF2B5EF4-FFF2-40B4-BE49-F238E27FC236}">
                <ns2:creationId id="{E1405C6C-8EEC-4C28-85C2-5CBB3C37BF34}"/>
              </a:ext>
            </a:extLst>
          </p:cNvPr>
          <p:cNvSpPr>
            <a:spLocks noGrp="1"/>
          </p:cNvSpPr>
          <p:nvPr/>
        </p:nvSpPr>
        <p:spPr>
          <a:xfrm>
            <a:off x="828675" y="3556635"/>
            <a:ext cx="361950" cy="316992"/>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06</a:t>
            </a:r>
          </a:p>
        </p:txBody>
      </p:sp>
      <p:sp>
        <p:nvSpPr>
          <p:cNvPr id="15" name="">
            <a:extLst>
              <a:ext uri="{FF2B5EF4-FFF2-40B4-BE49-F238E27FC236}">
                <ns2:creationId id="{434D2C9D-F008-423B-B2D7-821612070A83}"/>
              </a:ext>
            </a:extLst>
          </p:cNvPr>
          <p:cNvSpPr>
            <a:spLocks noGrp="1"/>
          </p:cNvSpPr>
          <p:nvPr/>
        </p:nvSpPr>
        <p:spPr>
          <a:xfrm>
            <a:off x="1276350" y="3518535"/>
            <a:ext cx="10096500" cy="374142"/>
          </a:xfrm>
          <a:prstGeom prst="rect">
            <a:avLst/>
          </a:prstGeom>
          <a:noFill/>
          <a:ln w="0">
            <a:noFill/>
          </a:ln>
        </p:spPr>
        <p:txBody>
          <a:bodyPr wrap="none" lIns="0" tIns="0" rIns="0" bIns="0">
            <a:noAutofit/>
          </a:bodyPr>
          <a:lstStyle/>
          <a:p>
            <a:pPr>
              <a:defRPr sz="1950" b="0">
                <a:solidFill>
                  <a:srgbClr val="172F39"/>
                </a:solidFill>
                <a:latin typeface="Consolas"/>
                <a:ea typeface="Consolas"/>
                <a:cs typeface="Consolas"/>
              </a:defRPr>
            </a:pPr>
            <a:r>
              <a:t>print(round(total, 2))</a:t>
            </a:r>
          </a:p>
        </p:txBody>
      </p:sp>
      <p:sp>
        <p:nvSpPr>
          <p:cNvPr id="16" name="">
            <a:extLst>
              <a:ext uri="{FF2B5EF4-FFF2-40B4-BE49-F238E27FC236}">
                <ns2:creationId id="{09B4A79F-F300-4BEB-9122-D4D15A39C6F1}"/>
              </a:ext>
            </a:extLst>
          </p:cNvPr>
          <p:cNvSpPr>
            <a:spLocks noGrp="1"/>
          </p:cNvSpPr>
          <p:nvPr/>
        </p:nvSpPr>
        <p:spPr>
          <a:xfrm>
            <a:off x="685800" y="6172200"/>
            <a:ext cx="10820400" cy="9525"/>
          </a:xfrm>
          <a:prstGeom prst="rect">
            <a:avLst/>
          </a:prstGeom>
          <a:solidFill>
            <a:srgbClr val="D5DEDD"/>
          </a:solidFill>
          <a:ln w="0">
            <a:noFill/>
          </a:ln>
        </p:spPr>
      </p:sp>
      <p:sp>
        <p:nvSpPr>
          <p:cNvPr id="17" name="">
            <a:extLst>
              <a:ext uri="{FF2B5EF4-FFF2-40B4-BE49-F238E27FC236}">
                <ns2:creationId id="{7B54EC3A-0214-4AC6-BF69-61C0D1D36EBD}"/>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8" name="">
            <a:extLst>
              <a:ext uri="{FF2B5EF4-FFF2-40B4-BE49-F238E27FC236}">
                <ns2:creationId id="{102C6CD9-D1ED-48BB-8CCF-9E3B09817F01}"/>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9" name="">
            <a:extLst>
              <a:ext uri="{FF2B5EF4-FFF2-40B4-BE49-F238E27FC236}">
                <ns2:creationId id="{2BDFBE86-6362-4C5F-A761-15434EB982E0}"/>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20" name="">
            <a:extLst>
              <a:ext uri="{FF2B5EF4-FFF2-40B4-BE49-F238E27FC236}">
                <ns2:creationId id="{07AFC62F-92DF-41FD-B5FD-CE1CBAE47559}"/>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10/30   027</a:t>
            </a:r>
          </a:p>
        </p:txBody>
      </p:sp>
    </p:spTree>
    <p:extLst>
      <p:ext uri="{BB962C8B-B14F-4D97-AF65-F5344CB8AC3E}">
        <ns4:creationId val="179259914"/>
      </p:ext>
    </p:extLst>
  </p:cSld>
</p:sld>
</file>

<file path=ppt/slides/slide28.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22" name="">
            <a:extLst>
              <a:ext uri="{FF2B5EF4-FFF2-40B4-BE49-F238E27FC236}">
                <ns2:creationId id="{0D4290EF-C868-4146-B863-80D3D0F5051E}"/>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2교시</a:t>
            </a:r>
          </a:p>
        </p:txBody>
      </p:sp>
      <p:sp>
        <p:nvSpPr>
          <p:cNvPr id="2" name="">
            <a:extLst>
              <a:ext uri="{FF2B5EF4-FFF2-40B4-BE49-F238E27FC236}">
                <ns2:creationId id="{78A27B3D-2D24-4D94-93B4-1A6CA9E729FC}"/>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코드의 줄별 역할</a:t>
            </a:r>
          </a:p>
        </p:txBody>
      </p:sp>
      <p:sp>
        <p:nvSpPr>
          <p:cNvPr id="3" name="">
            <a:extLst>
              <a:ext uri="{FF2B5EF4-FFF2-40B4-BE49-F238E27FC236}">
                <ns2:creationId id="{97AF8D7B-2E9A-4A5B-8570-1FDC2B9D0610}"/>
              </a:ext>
            </a:extLst>
          </p:cNvPr>
          <p:cNvSpPr>
            <a:spLocks noGrp="1"/>
          </p:cNvSpPr>
          <p:nvPr/>
        </p:nvSpPr>
        <p:spPr>
          <a:xfrm>
            <a:off x="685800" y="1933575"/>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1~3행: 가중치·점수·합계를 준비합니다.</a:t>
            </a:r>
          </a:p>
        </p:txBody>
      </p:sp>
      <p:sp>
        <p:nvSpPr>
          <p:cNvPr id="4" name="">
            <a:extLst>
              <a:ext uri="{FF2B5EF4-FFF2-40B4-BE49-F238E27FC236}">
                <ns2:creationId id="{2530FFF5-33A8-4FDF-B49E-344708AAE3C3}"/>
              </a:ext>
            </a:extLst>
          </p:cNvPr>
          <p:cNvSpPr>
            <a:spLocks noGrp="1"/>
          </p:cNvSpPr>
          <p:nvPr/>
        </p:nvSpPr>
        <p:spPr>
          <a:xfrm>
            <a:off x="685800" y="2769870"/>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4행: 번호 0·1·2를 반복합니다.</a:t>
            </a:r>
          </a:p>
        </p:txBody>
      </p:sp>
      <p:sp>
        <p:nvSpPr>
          <p:cNvPr id="5" name="">
            <a:extLst>
              <a:ext uri="{FF2B5EF4-FFF2-40B4-BE49-F238E27FC236}">
                <ns2:creationId id="{CFCD3A3D-313E-4174-B6A3-6620D89DE96A}"/>
              </a:ext>
            </a:extLst>
          </p:cNvPr>
          <p:cNvSpPr>
            <a:spLocks noGrp="1"/>
          </p:cNvSpPr>
          <p:nvPr/>
        </p:nvSpPr>
        <p:spPr>
          <a:xfrm>
            <a:off x="685800" y="3268980"/>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5행: 같은 기준의 값을 곱해 더합니다.</a:t>
            </a:r>
          </a:p>
        </p:txBody>
      </p:sp>
      <p:sp>
        <p:nvSpPr>
          <p:cNvPr id="6" name="">
            <a:extLst>
              <a:ext uri="{FF2B5EF4-FFF2-40B4-BE49-F238E27FC236}">
                <ns2:creationId id="{873E7C52-797B-440A-8DA5-9CF39D2202F9}"/>
              </a:ext>
            </a:extLst>
          </p:cNvPr>
          <p:cNvSpPr>
            <a:spLocks noGrp="1"/>
          </p:cNvSpPr>
          <p:nvPr/>
        </p:nvSpPr>
        <p:spPr>
          <a:xfrm>
            <a:off x="685800" y="3768090"/>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6행: 점수를 반올림해 출력합니다.</a:t>
            </a:r>
          </a:p>
        </p:txBody>
      </p:sp>
      <p:sp>
        <p:nvSpPr>
          <p:cNvPr id="7" name="">
            <a:extLst>
              <a:ext uri="{FF2B5EF4-FFF2-40B4-BE49-F238E27FC236}">
                <ns2:creationId id="{A66BCA0D-928A-4367-A3E0-78079E9BEF9C}"/>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전체 코드 중 1~4행</a:t>
            </a:r>
          </a:p>
        </p:txBody>
      </p:sp>
      <p:sp>
        <p:nvSpPr>
          <p:cNvPr id="8" name="">
            <a:extLst>
              <a:ext uri="{FF2B5EF4-FFF2-40B4-BE49-F238E27FC236}">
                <ns2:creationId id="{608C8C9E-9DD1-4081-AED0-76C2383FE363}"/>
              </a:ext>
            </a:extLst>
          </p:cNvPr>
          <p:cNvSpPr>
            <a:spLocks noGrp="1"/>
          </p:cNvSpPr>
          <p:nvPr/>
        </p:nvSpPr>
        <p:spPr>
          <a:xfrm>
            <a:off x="6267450" y="2628900"/>
            <a:ext cx="5238750" cy="1494282"/>
          </a:xfrm>
          <a:prstGeom prst="rect">
            <a:avLst/>
          </a:prstGeom>
          <a:solidFill>
            <a:srgbClr val="F1F6F5"/>
          </a:solidFill>
          <a:ln w="0">
            <a:noFill/>
          </a:ln>
        </p:spPr>
      </p:sp>
      <p:sp>
        <p:nvSpPr>
          <p:cNvPr id="9" name="">
            <a:extLst>
              <a:ext uri="{FF2B5EF4-FFF2-40B4-BE49-F238E27FC236}">
                <ns2:creationId id="{7CCFD5B6-E83C-40BE-960F-68B510D466F2}"/>
              </a:ext>
            </a:extLst>
          </p:cNvPr>
          <p:cNvSpPr>
            <a:spLocks noGrp="1"/>
          </p:cNvSpPr>
          <p:nvPr/>
        </p:nvSpPr>
        <p:spPr>
          <a:xfrm>
            <a:off x="6410325" y="2790825"/>
            <a:ext cx="361950" cy="292608"/>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01</a:t>
            </a:r>
          </a:p>
        </p:txBody>
      </p:sp>
      <p:sp>
        <p:nvSpPr>
          <p:cNvPr id="10" name="">
            <a:extLst>
              <a:ext uri="{FF2B5EF4-FFF2-40B4-BE49-F238E27FC236}">
                <ns2:creationId id="{4CC8F0E6-0255-4325-A4DB-7939325BE613}"/>
              </a:ext>
            </a:extLst>
          </p:cNvPr>
          <p:cNvSpPr>
            <a:spLocks noGrp="1"/>
          </p:cNvSpPr>
          <p:nvPr/>
        </p:nvSpPr>
        <p:spPr>
          <a:xfrm>
            <a:off x="6858000" y="2752725"/>
            <a:ext cx="4514850" cy="349758"/>
          </a:xfrm>
          <a:prstGeom prst="rect">
            <a:avLst/>
          </a:prstGeom>
          <a:noFill/>
          <a:ln w="0">
            <a:noFill/>
          </a:ln>
        </p:spPr>
        <p:txBody>
          <a:bodyPr wrap="none" lIns="0" tIns="0" rIns="0" bIns="0">
            <a:noAutofit/>
          </a:bodyPr>
          <a:lstStyle/>
          <a:p>
            <a:pPr>
              <a:defRPr sz="1800" b="0">
                <a:solidFill>
                  <a:srgbClr val="172F39"/>
                </a:solidFill>
                <a:latin typeface="Consolas"/>
                <a:ea typeface="Consolas"/>
                <a:cs typeface="Consolas"/>
              </a:defRPr>
            </a:pPr>
            <a:r>
              <a:t>weights = [0.40, 0.35, 0.25]</a:t>
            </a:r>
          </a:p>
        </p:txBody>
      </p:sp>
      <p:sp>
        <p:nvSpPr>
          <p:cNvPr id="11" name="">
            <a:extLst>
              <a:ext uri="{FF2B5EF4-FFF2-40B4-BE49-F238E27FC236}">
                <ns2:creationId id="{370E7543-586B-4A5B-B95E-D34CF6F95BAF}"/>
              </a:ext>
            </a:extLst>
          </p:cNvPr>
          <p:cNvSpPr>
            <a:spLocks noGrp="1"/>
          </p:cNvSpPr>
          <p:nvPr/>
        </p:nvSpPr>
        <p:spPr>
          <a:xfrm>
            <a:off x="6410325" y="3083433"/>
            <a:ext cx="361950" cy="292608"/>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02</a:t>
            </a:r>
          </a:p>
        </p:txBody>
      </p:sp>
      <p:sp>
        <p:nvSpPr>
          <p:cNvPr id="12" name="">
            <a:extLst>
              <a:ext uri="{FF2B5EF4-FFF2-40B4-BE49-F238E27FC236}">
                <ns2:creationId id="{9B23FA1D-B594-4913-A54C-E30C6A3974F6}"/>
              </a:ext>
            </a:extLst>
          </p:cNvPr>
          <p:cNvSpPr>
            <a:spLocks noGrp="1"/>
          </p:cNvSpPr>
          <p:nvPr/>
        </p:nvSpPr>
        <p:spPr>
          <a:xfrm>
            <a:off x="6858000" y="3045333"/>
            <a:ext cx="4514850" cy="349758"/>
          </a:xfrm>
          <a:prstGeom prst="rect">
            <a:avLst/>
          </a:prstGeom>
          <a:noFill/>
          <a:ln w="0">
            <a:noFill/>
          </a:ln>
        </p:spPr>
        <p:txBody>
          <a:bodyPr wrap="none" lIns="0" tIns="0" rIns="0" bIns="0">
            <a:noAutofit/>
          </a:bodyPr>
          <a:lstStyle/>
          <a:p>
            <a:pPr>
              <a:defRPr sz="1800" b="0">
                <a:solidFill>
                  <a:srgbClr val="172F39"/>
                </a:solidFill>
                <a:latin typeface="Consolas"/>
                <a:ea typeface="Consolas"/>
                <a:cs typeface="Consolas"/>
              </a:defRPr>
            </a:pPr>
            <a:r>
              <a:t>scores = [5, 4, 5]</a:t>
            </a:r>
          </a:p>
        </p:txBody>
      </p:sp>
      <p:sp>
        <p:nvSpPr>
          <p:cNvPr id="13" name="">
            <a:extLst>
              <a:ext uri="{FF2B5EF4-FFF2-40B4-BE49-F238E27FC236}">
                <ns2:creationId id="{A9DA8DE9-8316-4DC4-9EA1-70924E3DAE31}"/>
              </a:ext>
            </a:extLst>
          </p:cNvPr>
          <p:cNvSpPr>
            <a:spLocks noGrp="1"/>
          </p:cNvSpPr>
          <p:nvPr/>
        </p:nvSpPr>
        <p:spPr>
          <a:xfrm>
            <a:off x="6410325" y="3376041"/>
            <a:ext cx="361950" cy="292608"/>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03</a:t>
            </a:r>
          </a:p>
        </p:txBody>
      </p:sp>
      <p:sp>
        <p:nvSpPr>
          <p:cNvPr id="14" name="">
            <a:extLst>
              <a:ext uri="{FF2B5EF4-FFF2-40B4-BE49-F238E27FC236}">
                <ns2:creationId id="{67DA823C-1AD8-4877-94AE-D039DB1E81BF}"/>
              </a:ext>
            </a:extLst>
          </p:cNvPr>
          <p:cNvSpPr>
            <a:spLocks noGrp="1"/>
          </p:cNvSpPr>
          <p:nvPr/>
        </p:nvSpPr>
        <p:spPr>
          <a:xfrm>
            <a:off x="6858000" y="3337941"/>
            <a:ext cx="4514850" cy="349758"/>
          </a:xfrm>
          <a:prstGeom prst="rect">
            <a:avLst/>
          </a:prstGeom>
          <a:noFill/>
          <a:ln w="0">
            <a:noFill/>
          </a:ln>
        </p:spPr>
        <p:txBody>
          <a:bodyPr wrap="none" lIns="0" tIns="0" rIns="0" bIns="0">
            <a:noAutofit/>
          </a:bodyPr>
          <a:lstStyle/>
          <a:p>
            <a:pPr>
              <a:defRPr sz="1800" b="0">
                <a:solidFill>
                  <a:srgbClr val="172F39"/>
                </a:solidFill>
                <a:latin typeface="Consolas"/>
                <a:ea typeface="Consolas"/>
                <a:cs typeface="Consolas"/>
              </a:defRPr>
            </a:pPr>
            <a:r>
              <a:t>total = 0</a:t>
            </a:r>
          </a:p>
        </p:txBody>
      </p:sp>
      <p:sp>
        <p:nvSpPr>
          <p:cNvPr id="15" name="">
            <a:extLst>
              <a:ext uri="{FF2B5EF4-FFF2-40B4-BE49-F238E27FC236}">
                <ns2:creationId id="{D70ED7B6-330F-456D-93F8-4C770F8C0888}"/>
              </a:ext>
            </a:extLst>
          </p:cNvPr>
          <p:cNvSpPr>
            <a:spLocks noGrp="1"/>
          </p:cNvSpPr>
          <p:nvPr/>
        </p:nvSpPr>
        <p:spPr>
          <a:xfrm>
            <a:off x="6410325" y="3668649"/>
            <a:ext cx="361950" cy="292608"/>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04</a:t>
            </a:r>
          </a:p>
        </p:txBody>
      </p:sp>
      <p:sp>
        <p:nvSpPr>
          <p:cNvPr id="16" name="">
            <a:extLst>
              <a:ext uri="{FF2B5EF4-FFF2-40B4-BE49-F238E27FC236}">
                <ns2:creationId id="{55377597-C078-426F-8224-6B38763A935E}"/>
              </a:ext>
            </a:extLst>
          </p:cNvPr>
          <p:cNvSpPr>
            <a:spLocks noGrp="1"/>
          </p:cNvSpPr>
          <p:nvPr/>
        </p:nvSpPr>
        <p:spPr>
          <a:xfrm>
            <a:off x="6858000" y="3630549"/>
            <a:ext cx="4514850" cy="349758"/>
          </a:xfrm>
          <a:prstGeom prst="rect">
            <a:avLst/>
          </a:prstGeom>
          <a:noFill/>
          <a:ln w="0">
            <a:noFill/>
          </a:ln>
        </p:spPr>
        <p:txBody>
          <a:bodyPr wrap="none" lIns="0" tIns="0" rIns="0" bIns="0">
            <a:noAutofit/>
          </a:bodyPr>
          <a:lstStyle/>
          <a:p>
            <a:pPr>
              <a:defRPr sz="1800" b="0">
                <a:solidFill>
                  <a:srgbClr val="172F39"/>
                </a:solidFill>
                <a:latin typeface="Consolas"/>
                <a:ea typeface="Consolas"/>
                <a:cs typeface="Consolas"/>
              </a:defRPr>
            </a:pPr>
            <a:r>
              <a:t>for index in range(3):</a:t>
            </a:r>
          </a:p>
        </p:txBody>
      </p:sp>
      <p:sp>
        <p:nvSpPr>
          <p:cNvPr id="17" name="">
            <a:extLst>
              <a:ext uri="{FF2B5EF4-FFF2-40B4-BE49-F238E27FC236}">
                <ns2:creationId id="{7168EB02-E215-48C8-AEC2-2FA26F27078B}"/>
              </a:ext>
            </a:extLst>
          </p:cNvPr>
          <p:cNvSpPr>
            <a:spLocks noGrp="1"/>
          </p:cNvSpPr>
          <p:nvPr/>
        </p:nvSpPr>
        <p:spPr>
          <a:xfrm>
            <a:off x="685800" y="6172200"/>
            <a:ext cx="10820400" cy="9525"/>
          </a:xfrm>
          <a:prstGeom prst="rect">
            <a:avLst/>
          </a:prstGeom>
          <a:solidFill>
            <a:srgbClr val="D5DEDD"/>
          </a:solidFill>
          <a:ln w="0">
            <a:noFill/>
          </a:ln>
        </p:spPr>
      </p:sp>
      <p:sp>
        <p:nvSpPr>
          <p:cNvPr id="18" name="">
            <a:extLst>
              <a:ext uri="{FF2B5EF4-FFF2-40B4-BE49-F238E27FC236}">
                <ns2:creationId id="{322F79DF-A7A5-4DE8-B4A0-728F599EC8AC}"/>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9" name="">
            <a:extLst>
              <a:ext uri="{FF2B5EF4-FFF2-40B4-BE49-F238E27FC236}">
                <ns2:creationId id="{FF91B137-3950-4A9C-A803-25CC3E9CBD94}"/>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20" name="">
            <a:extLst>
              <a:ext uri="{FF2B5EF4-FFF2-40B4-BE49-F238E27FC236}">
                <ns2:creationId id="{C6DD36F9-A796-410E-98D4-E8D49D4BC9BB}"/>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21" name="">
            <a:extLst>
              <a:ext uri="{FF2B5EF4-FFF2-40B4-BE49-F238E27FC236}">
                <ns2:creationId id="{B3646F60-9B90-4F20-A8BF-41E410636EBB}"/>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10/30   028</a:t>
            </a:r>
          </a:p>
        </p:txBody>
      </p:sp>
    </p:spTree>
    <p:extLst>
      <p:ext uri="{BB962C8B-B14F-4D97-AF65-F5344CB8AC3E}">
        <ns4:creationId val="1486468540"/>
      </p:ext>
    </p:extLst>
  </p:cSld>
</p:sld>
</file>

<file path=ppt/slides/slide29.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1" name="">
            <a:extLst>
              <a:ext uri="{FF2B5EF4-FFF2-40B4-BE49-F238E27FC236}">
                <ns2:creationId id="{D1878D47-F480-4D82-B27B-49C5D3E2B805}"/>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2교시</a:t>
            </a:r>
          </a:p>
        </p:txBody>
      </p:sp>
      <p:sp>
        <p:nvSpPr>
          <p:cNvPr id="2" name="">
            <a:extLst>
              <a:ext uri="{FF2B5EF4-FFF2-40B4-BE49-F238E27FC236}">
                <ns2:creationId id="{8041F7FD-5CF8-4B4B-8B6B-F8FA90F292B6}"/>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학생 파일과 실행 명령</a:t>
            </a:r>
          </a:p>
        </p:txBody>
      </p:sp>
      <p:sp>
        <p:nvSpPr>
          <p:cNvPr id="3" name="">
            <a:extLst>
              <a:ext uri="{FF2B5EF4-FFF2-40B4-BE49-F238E27FC236}">
                <ns2:creationId id="{79E65BD0-684F-4C3E-BBBA-752319A6C53F}"/>
              </a:ext>
            </a:extLst>
          </p:cNvPr>
          <p:cNvSpPr>
            <a:spLocks noGrp="1"/>
          </p:cNvSpPr>
          <p:nvPr/>
        </p:nvSpPr>
        <p:spPr>
          <a:xfrm>
            <a:off x="685800" y="1990725"/>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현재 폴더: 압축을 푼 course</a:t>
            </a:r>
          </a:p>
        </p:txBody>
      </p:sp>
      <p:sp>
        <p:nvSpPr>
          <p:cNvPr id="4" name="">
            <a:extLst>
              <a:ext uri="{FF2B5EF4-FFF2-40B4-BE49-F238E27FC236}">
                <ns2:creationId id="{9D016297-3B62-4576-881C-BDAB8659C934}"/>
              </a:ext>
            </a:extLst>
          </p:cNvPr>
          <p:cNvSpPr>
            <a:spLocks noGrp="1"/>
          </p:cNvSpPr>
          <p:nvPr/>
        </p:nvSpPr>
        <p:spPr>
          <a:xfrm>
            <a:off x="685800" y="2534793"/>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학생 파일: work/option_trace.py</a:t>
            </a:r>
          </a:p>
        </p:txBody>
      </p:sp>
      <p:sp>
        <p:nvSpPr>
          <p:cNvPr id="5" name="">
            <a:extLst>
              <a:ext uri="{FF2B5EF4-FFF2-40B4-BE49-F238E27FC236}">
                <ns2:creationId id="{A7437ECA-9F49-49C0-BE8F-919AA76616BE}"/>
              </a:ext>
            </a:extLst>
          </p:cNvPr>
          <p:cNvSpPr>
            <a:spLocks noGrp="1"/>
          </p:cNvSpPr>
          <p:nvPr/>
        </p:nvSpPr>
        <p:spPr>
          <a:xfrm>
            <a:off x="685800" y="3078861"/>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python -X utf8 work/option_trace.py</a:t>
            </a:r>
          </a:p>
        </p:txBody>
      </p:sp>
      <p:sp>
        <p:nvSpPr>
          <p:cNvPr id="6" name="">
            <a:extLst>
              <a:ext uri="{FF2B5EF4-FFF2-40B4-BE49-F238E27FC236}">
                <ns2:creationId id="{DD9AC944-33E7-4D6B-9D24-07CE90E62F7E}"/>
              </a:ext>
            </a:extLst>
          </p:cNvPr>
          <p:cNvSpPr>
            <a:spLocks noGrp="1"/>
          </p:cNvSpPr>
          <p:nvPr/>
        </p:nvSpPr>
        <p:spPr>
          <a:xfrm>
            <a:off x="685800" y="6172200"/>
            <a:ext cx="10820400" cy="9525"/>
          </a:xfrm>
          <a:prstGeom prst="rect">
            <a:avLst/>
          </a:prstGeom>
          <a:solidFill>
            <a:srgbClr val="D5DEDD"/>
          </a:solidFill>
          <a:ln w="0">
            <a:noFill/>
          </a:ln>
        </p:spPr>
      </p:sp>
      <p:sp>
        <p:nvSpPr>
          <p:cNvPr id="7" name="">
            <a:extLst>
              <a:ext uri="{FF2B5EF4-FFF2-40B4-BE49-F238E27FC236}">
                <ns2:creationId id="{1E2F59B5-41D3-4B9F-BD05-BFA8A60688D2}"/>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8" name="">
            <a:extLst>
              <a:ext uri="{FF2B5EF4-FFF2-40B4-BE49-F238E27FC236}">
                <ns2:creationId id="{F94BF140-1C5A-4F20-B839-A942D40FE66D}"/>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9" name="">
            <a:extLst>
              <a:ext uri="{FF2B5EF4-FFF2-40B4-BE49-F238E27FC236}">
                <ns2:creationId id="{7B9ED763-4F8C-4064-BBA5-E7082EC9109E}"/>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0" name="">
            <a:extLst>
              <a:ext uri="{FF2B5EF4-FFF2-40B4-BE49-F238E27FC236}">
                <ns2:creationId id="{CB371AE6-729C-45B4-BB83-CA520DF35CAA}"/>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10/30   029</a:t>
            </a:r>
          </a:p>
        </p:txBody>
      </p:sp>
    </p:spTree>
    <p:extLst>
      <p:ext uri="{BB962C8B-B14F-4D97-AF65-F5344CB8AC3E}">
        <ns4:creationId val="1429637645"/>
      </p:ext>
    </p:extLst>
  </p:cSld>
</p:sld>
</file>

<file path=ppt/slides/slide30.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0" name="">
            <a:extLst>
              <a:ext uri="{FF2B5EF4-FFF2-40B4-BE49-F238E27FC236}">
                <ns2:creationId id="{F6B8F3DD-24CB-4BF0-BA1F-968623EF347F}"/>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2교시</a:t>
            </a:r>
          </a:p>
        </p:txBody>
      </p:sp>
      <p:sp>
        <p:nvSpPr>
          <p:cNvPr id="2" name="">
            <a:extLst>
              <a:ext uri="{FF2B5EF4-FFF2-40B4-BE49-F238E27FC236}">
                <ns2:creationId id="{FAA4C6F4-4B1E-4217-9CEB-9C94CE923D05}"/>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예상 출력</a:t>
            </a:r>
          </a:p>
        </p:txBody>
      </p:sp>
      <p:sp>
        <p:nvSpPr>
          <p:cNvPr id="3" name="">
            <a:extLst>
              <a:ext uri="{FF2B5EF4-FFF2-40B4-BE49-F238E27FC236}">
                <ns2:creationId id="{FBFF43A9-21FE-492B-B72B-FCE966D062E3}"/>
              </a:ext>
            </a:extLst>
          </p:cNvPr>
          <p:cNvSpPr>
            <a:spLocks noGrp="1"/>
          </p:cNvSpPr>
          <p:nvPr/>
        </p:nvSpPr>
        <p:spPr>
          <a:xfrm>
            <a:off x="685800" y="1990725"/>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2.00 + 1.40 + 1.25 = 4.65</a:t>
            </a:r>
          </a:p>
        </p:txBody>
      </p:sp>
      <p:sp>
        <p:nvSpPr>
          <p:cNvPr id="4" name="">
            <a:extLst>
              <a:ext uri="{FF2B5EF4-FFF2-40B4-BE49-F238E27FC236}">
                <ns2:creationId id="{DFD9524A-0730-44C5-BF07-573DDC7B79B0}"/>
              </a:ext>
            </a:extLst>
          </p:cNvPr>
          <p:cNvSpPr>
            <a:spLocks noGrp="1"/>
          </p:cNvSpPr>
          <p:nvPr/>
        </p:nvSpPr>
        <p:spPr>
          <a:xfrm>
            <a:off x="685800" y="2534793"/>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가중치를 정한 이유와 각 점수를 준 이유를 적으세요.</a:t>
            </a:r>
          </a:p>
        </p:txBody>
      </p:sp>
      <p:sp>
        <p:nvSpPr>
          <p:cNvPr id="5" name="">
            <a:extLst>
              <a:ext uri="{FF2B5EF4-FFF2-40B4-BE49-F238E27FC236}">
                <ns2:creationId id="{114FCFDB-BA33-4AEA-8619-56D667233D19}"/>
              </a:ext>
            </a:extLst>
          </p:cNvPr>
          <p:cNvSpPr>
            <a:spLocks noGrp="1"/>
          </p:cNvSpPr>
          <p:nvPr/>
        </p:nvSpPr>
        <p:spPr>
          <a:xfrm>
            <a:off x="685800" y="6172200"/>
            <a:ext cx="10820400" cy="9525"/>
          </a:xfrm>
          <a:prstGeom prst="rect">
            <a:avLst/>
          </a:prstGeom>
          <a:solidFill>
            <a:srgbClr val="D5DEDD"/>
          </a:solidFill>
          <a:ln w="0">
            <a:noFill/>
          </a:ln>
        </p:spPr>
      </p:sp>
      <p:sp>
        <p:nvSpPr>
          <p:cNvPr id="6" name="">
            <a:extLst>
              <a:ext uri="{FF2B5EF4-FFF2-40B4-BE49-F238E27FC236}">
                <ns2:creationId id="{80B2D1C1-F39B-474F-9DCA-F20FA0AB6FBB}"/>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7" name="">
            <a:extLst>
              <a:ext uri="{FF2B5EF4-FFF2-40B4-BE49-F238E27FC236}">
                <ns2:creationId id="{DA924BC0-BFC4-424E-AD1B-137B817426A2}"/>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8" name="">
            <a:extLst>
              <a:ext uri="{FF2B5EF4-FFF2-40B4-BE49-F238E27FC236}">
                <ns2:creationId id="{78570F06-2812-4C2F-9B44-AC7D235259AD}"/>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9" name="">
            <a:extLst>
              <a:ext uri="{FF2B5EF4-FFF2-40B4-BE49-F238E27FC236}">
                <ns2:creationId id="{035B9B9A-9F32-41C4-B3C2-C44ADCD8BFA7}"/>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10/30   030</a:t>
            </a:r>
          </a:p>
        </p:txBody>
      </p:sp>
    </p:spTree>
    <p:extLst>
      <p:ext uri="{BB962C8B-B14F-4D97-AF65-F5344CB8AC3E}">
        <ns4:creationId val="1997047796"/>
      </p:ext>
    </p:extLst>
  </p:cSld>
</p:sld>
</file>

<file path=ppt/slides/slide31.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0" name="">
            <a:extLst>
              <a:ext uri="{FF2B5EF4-FFF2-40B4-BE49-F238E27FC236}">
                <ns2:creationId id="{13973EE7-ACB8-4A77-85EC-5153CF3BC23A}"/>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2교시</a:t>
            </a:r>
          </a:p>
        </p:txBody>
      </p:sp>
      <p:sp>
        <p:nvSpPr>
          <p:cNvPr id="2" name="">
            <a:extLst>
              <a:ext uri="{FF2B5EF4-FFF2-40B4-BE49-F238E27FC236}">
                <ns2:creationId id="{F0D5FC4E-713C-451F-9FF7-A36FC30708D4}"/>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연습 문제</a:t>
            </a:r>
          </a:p>
        </p:txBody>
      </p:sp>
      <p:sp>
        <p:nvSpPr>
          <p:cNvPr id="3" name="">
            <a:extLst>
              <a:ext uri="{FF2B5EF4-FFF2-40B4-BE49-F238E27FC236}">
                <ns2:creationId id="{0BCCD0A0-A8FA-4F48-A692-AFB3E3EE273F}"/>
              </a:ext>
            </a:extLst>
          </p:cNvPr>
          <p:cNvSpPr>
            <a:spLocks noGrp="1"/>
          </p:cNvSpPr>
          <p:nvPr/>
        </p:nvSpPr>
        <p:spPr>
          <a:xfrm>
            <a:off x="685800" y="1990725"/>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새 후보 D: 점수 4·5·3</a:t>
            </a:r>
          </a:p>
        </p:txBody>
      </p:sp>
      <p:sp>
        <p:nvSpPr>
          <p:cNvPr id="4" name="">
            <a:extLst>
              <a:ext uri="{FF2B5EF4-FFF2-40B4-BE49-F238E27FC236}">
                <ns2:creationId id="{D99E7BFF-4F68-4CAB-94E5-1E9EAF02DDE9}"/>
              </a:ext>
            </a:extLst>
          </p:cNvPr>
          <p:cNvSpPr>
            <a:spLocks noGrp="1"/>
          </p:cNvSpPr>
          <p:nvPr/>
        </p:nvSpPr>
        <p:spPr>
          <a:xfrm>
            <a:off x="685800" y="2557272"/>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같은 가중치의 점수를 계산하세요.</a:t>
            </a:r>
          </a:p>
        </p:txBody>
      </p:sp>
      <p:sp>
        <p:nvSpPr>
          <p:cNvPr id="5" name="">
            <a:extLst>
              <a:ext uri="{FF2B5EF4-FFF2-40B4-BE49-F238E27FC236}">
                <ns2:creationId id="{F4CFCB98-4E5D-4B64-B195-210234B4DB3E}"/>
              </a:ext>
            </a:extLst>
          </p:cNvPr>
          <p:cNvSpPr>
            <a:spLocks noGrp="1"/>
          </p:cNvSpPr>
          <p:nvPr/>
        </p:nvSpPr>
        <p:spPr>
          <a:xfrm>
            <a:off x="685800" y="6172200"/>
            <a:ext cx="10820400" cy="9525"/>
          </a:xfrm>
          <a:prstGeom prst="rect">
            <a:avLst/>
          </a:prstGeom>
          <a:solidFill>
            <a:srgbClr val="D5DEDD"/>
          </a:solidFill>
          <a:ln w="0">
            <a:noFill/>
          </a:ln>
        </p:spPr>
      </p:sp>
      <p:sp>
        <p:nvSpPr>
          <p:cNvPr id="6" name="">
            <a:extLst>
              <a:ext uri="{FF2B5EF4-FFF2-40B4-BE49-F238E27FC236}">
                <ns2:creationId id="{C58EAAA2-269E-40B7-A2D5-C6F78936872C}"/>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7" name="">
            <a:extLst>
              <a:ext uri="{FF2B5EF4-FFF2-40B4-BE49-F238E27FC236}">
                <ns2:creationId id="{E947ADAA-D068-4474-BC13-D78DCB7A5DCC}"/>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8" name="">
            <a:extLst>
              <a:ext uri="{FF2B5EF4-FFF2-40B4-BE49-F238E27FC236}">
                <ns2:creationId id="{CE14D0BD-4A1E-42FA-80CE-B998E5BCBFB3}"/>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9" name="">
            <a:extLst>
              <a:ext uri="{FF2B5EF4-FFF2-40B4-BE49-F238E27FC236}">
                <ns2:creationId id="{AC63332C-5691-40E3-863C-2EC2F99EC1EF}"/>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10/30   031</a:t>
            </a:r>
          </a:p>
        </p:txBody>
      </p:sp>
    </p:spTree>
    <p:extLst>
      <p:ext uri="{BB962C8B-B14F-4D97-AF65-F5344CB8AC3E}">
        <ns4:creationId val="164171863"/>
      </p:ext>
    </p:extLst>
  </p:cSld>
</p:sld>
</file>

<file path=ppt/slides/slide32.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0" name="">
            <a:extLst>
              <a:ext uri="{FF2B5EF4-FFF2-40B4-BE49-F238E27FC236}">
                <ns2:creationId id="{1439C4F5-AFC5-45EF-8AA5-E5E2EC933FFA}"/>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2교시</a:t>
            </a:r>
          </a:p>
        </p:txBody>
      </p:sp>
      <p:sp>
        <p:nvSpPr>
          <p:cNvPr id="2" name="">
            <a:extLst>
              <a:ext uri="{FF2B5EF4-FFF2-40B4-BE49-F238E27FC236}">
                <ns2:creationId id="{B82C4488-7B7F-4004-8995-678273407927}"/>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풀이</a:t>
            </a:r>
          </a:p>
        </p:txBody>
      </p:sp>
      <p:sp>
        <p:nvSpPr>
          <p:cNvPr id="3" name="">
            <a:extLst>
              <a:ext uri="{FF2B5EF4-FFF2-40B4-BE49-F238E27FC236}">
                <ns2:creationId id="{E6B97DF5-7879-44E9-8F32-C00F8D79D96C}"/>
              </a:ext>
            </a:extLst>
          </p:cNvPr>
          <p:cNvSpPr>
            <a:spLocks noGrp="1"/>
          </p:cNvSpPr>
          <p:nvPr/>
        </p:nvSpPr>
        <p:spPr>
          <a:xfrm>
            <a:off x="685800" y="1990725"/>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1.60 + 1.75 + 0.75 = 4.10</a:t>
            </a:r>
          </a:p>
        </p:txBody>
      </p:sp>
      <p:sp>
        <p:nvSpPr>
          <p:cNvPr id="4" name="">
            <a:extLst>
              <a:ext uri="{FF2B5EF4-FFF2-40B4-BE49-F238E27FC236}">
                <ns2:creationId id="{CE1097E1-71DB-4E9B-89F3-9D08E93B2BFB}"/>
              </a:ext>
            </a:extLst>
          </p:cNvPr>
          <p:cNvSpPr>
            <a:spLocks noGrp="1"/>
          </p:cNvSpPr>
          <p:nvPr/>
        </p:nvSpPr>
        <p:spPr>
          <a:xfrm>
            <a:off x="685800" y="2534793"/>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4.10을 성공 확률 41%로 쓰지 않습니다.</a:t>
            </a:r>
          </a:p>
        </p:txBody>
      </p:sp>
      <p:sp>
        <p:nvSpPr>
          <p:cNvPr id="5" name="">
            <a:extLst>
              <a:ext uri="{FF2B5EF4-FFF2-40B4-BE49-F238E27FC236}">
                <ns2:creationId id="{11CA20F3-30BB-4A15-A80D-5902B4A84AEA}"/>
              </a:ext>
            </a:extLst>
          </p:cNvPr>
          <p:cNvSpPr>
            <a:spLocks noGrp="1"/>
          </p:cNvSpPr>
          <p:nvPr/>
        </p:nvSpPr>
        <p:spPr>
          <a:xfrm>
            <a:off x="685800" y="6172200"/>
            <a:ext cx="10820400" cy="9525"/>
          </a:xfrm>
          <a:prstGeom prst="rect">
            <a:avLst/>
          </a:prstGeom>
          <a:solidFill>
            <a:srgbClr val="D5DEDD"/>
          </a:solidFill>
          <a:ln w="0">
            <a:noFill/>
          </a:ln>
        </p:spPr>
      </p:sp>
      <p:sp>
        <p:nvSpPr>
          <p:cNvPr id="6" name="">
            <a:extLst>
              <a:ext uri="{FF2B5EF4-FFF2-40B4-BE49-F238E27FC236}">
                <ns2:creationId id="{9EEEFFE1-78A3-4D82-BB62-7F7F46E944E6}"/>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7" name="">
            <a:extLst>
              <a:ext uri="{FF2B5EF4-FFF2-40B4-BE49-F238E27FC236}">
                <ns2:creationId id="{F84DDF1A-207A-461F-A897-2B65C9A97367}"/>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8" name="">
            <a:extLst>
              <a:ext uri="{FF2B5EF4-FFF2-40B4-BE49-F238E27FC236}">
                <ns2:creationId id="{211DCD3E-B995-4611-91F7-B12E46284E98}"/>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9" name="">
            <a:extLst>
              <a:ext uri="{FF2B5EF4-FFF2-40B4-BE49-F238E27FC236}">
                <ns2:creationId id="{B2C0175D-37C8-4FDF-98CD-FA8CB34D7673}"/>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10/30   032</a:t>
            </a:r>
          </a:p>
        </p:txBody>
      </p:sp>
    </p:spTree>
    <p:extLst>
      <p:ext uri="{BB962C8B-B14F-4D97-AF65-F5344CB8AC3E}">
        <ns4:creationId val="236513505"/>
      </p:ext>
    </p:extLst>
  </p:cSld>
</p:sld>
</file>

<file path=ppt/slides/slide33.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0" name="">
            <a:extLst>
              <a:ext uri="{FF2B5EF4-FFF2-40B4-BE49-F238E27FC236}">
                <ns2:creationId id="{2E0937B3-2F1B-4C97-AB97-587E286336DD}"/>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2교시</a:t>
            </a:r>
          </a:p>
        </p:txBody>
      </p:sp>
      <p:sp>
        <p:nvSpPr>
          <p:cNvPr id="2" name="">
            <a:extLst>
              <a:ext uri="{FF2B5EF4-FFF2-40B4-BE49-F238E27FC236}">
                <ns2:creationId id="{D4E880E1-0636-486C-B3E1-B3062B53F5AE}"/>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조건을 바꿔 보기</a:t>
            </a:r>
          </a:p>
        </p:txBody>
      </p:sp>
      <p:sp>
        <p:nvSpPr>
          <p:cNvPr id="3" name="">
            <a:extLst>
              <a:ext uri="{FF2B5EF4-FFF2-40B4-BE49-F238E27FC236}">
                <ns2:creationId id="{6E38A77E-7C9C-4141-906A-ED7D8462B42F}"/>
              </a:ext>
            </a:extLst>
          </p:cNvPr>
          <p:cNvSpPr>
            <a:spLocks noGrp="1"/>
          </p:cNvSpPr>
          <p:nvPr/>
        </p:nvSpPr>
        <p:spPr>
          <a:xfrm>
            <a:off x="685800" y="1990725"/>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scores를 [3,4,4]로 바꿉니다.</a:t>
            </a:r>
          </a:p>
        </p:txBody>
      </p:sp>
      <p:sp>
        <p:nvSpPr>
          <p:cNvPr id="4" name="">
            <a:extLst>
              <a:ext uri="{FF2B5EF4-FFF2-40B4-BE49-F238E27FC236}">
                <ns2:creationId id="{BB18098D-6300-4530-95E2-A483BC7FA520}"/>
              </a:ext>
            </a:extLst>
          </p:cNvPr>
          <p:cNvSpPr>
            <a:spLocks noGrp="1"/>
          </p:cNvSpPr>
          <p:nvPr/>
        </p:nvSpPr>
        <p:spPr>
          <a:xfrm>
            <a:off x="685800" y="2557272"/>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새 점수는 3.60입니다.</a:t>
            </a:r>
          </a:p>
        </p:txBody>
      </p:sp>
      <p:sp>
        <p:nvSpPr>
          <p:cNvPr id="5" name="">
            <a:extLst>
              <a:ext uri="{FF2B5EF4-FFF2-40B4-BE49-F238E27FC236}">
                <ns2:creationId id="{C88BC329-4A94-41E0-9211-94BCC7DBB086}"/>
              </a:ext>
            </a:extLst>
          </p:cNvPr>
          <p:cNvSpPr>
            <a:spLocks noGrp="1"/>
          </p:cNvSpPr>
          <p:nvPr/>
        </p:nvSpPr>
        <p:spPr>
          <a:xfrm>
            <a:off x="685800" y="6172200"/>
            <a:ext cx="10820400" cy="9525"/>
          </a:xfrm>
          <a:prstGeom prst="rect">
            <a:avLst/>
          </a:prstGeom>
          <a:solidFill>
            <a:srgbClr val="D5DEDD"/>
          </a:solidFill>
          <a:ln w="0">
            <a:noFill/>
          </a:ln>
        </p:spPr>
      </p:sp>
      <p:sp>
        <p:nvSpPr>
          <p:cNvPr id="6" name="">
            <a:extLst>
              <a:ext uri="{FF2B5EF4-FFF2-40B4-BE49-F238E27FC236}">
                <ns2:creationId id="{1EF849F1-FCE8-4FA2-9298-A522A9173135}"/>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7" name="">
            <a:extLst>
              <a:ext uri="{FF2B5EF4-FFF2-40B4-BE49-F238E27FC236}">
                <ns2:creationId id="{5B6F0979-B7DE-4646-B9E9-6DF9003C6C40}"/>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8" name="">
            <a:extLst>
              <a:ext uri="{FF2B5EF4-FFF2-40B4-BE49-F238E27FC236}">
                <ns2:creationId id="{76430448-DB97-4063-9F10-85931CB222C9}"/>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9" name="">
            <a:extLst>
              <a:ext uri="{FF2B5EF4-FFF2-40B4-BE49-F238E27FC236}">
                <ns2:creationId id="{2DD157E7-79D9-4E46-8167-94D97FF0B246}"/>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10/30   033</a:t>
            </a:r>
          </a:p>
        </p:txBody>
      </p:sp>
    </p:spTree>
    <p:extLst>
      <p:ext uri="{BB962C8B-B14F-4D97-AF65-F5344CB8AC3E}">
        <ns4:creationId val="1146412422"/>
      </p:ext>
    </p:extLst>
  </p:cSld>
</p:sld>
</file>

<file path=ppt/slides/slide34.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0" name="">
            <a:extLst>
              <a:ext uri="{FF2B5EF4-FFF2-40B4-BE49-F238E27FC236}">
                <ns2:creationId id="{81852B8B-4D58-42B8-9971-E48A5F3A56BC}"/>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2교시</a:t>
            </a:r>
          </a:p>
        </p:txBody>
      </p:sp>
      <p:sp>
        <p:nvSpPr>
          <p:cNvPr id="2" name="">
            <a:extLst>
              <a:ext uri="{FF2B5EF4-FFF2-40B4-BE49-F238E27FC236}">
                <ns2:creationId id="{CD81B48E-F6B9-4B57-B0E7-1433B7AAEC3B}"/>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잘못 쓰기 쉬운 내용</a:t>
            </a:r>
          </a:p>
        </p:txBody>
      </p:sp>
      <p:sp>
        <p:nvSpPr>
          <p:cNvPr id="3" name="">
            <a:extLst>
              <a:ext uri="{FF2B5EF4-FFF2-40B4-BE49-F238E27FC236}">
                <ns2:creationId id="{BC34137B-4394-40BA-9AD0-227A3E99FF99}"/>
              </a:ext>
            </a:extLst>
          </p:cNvPr>
          <p:cNvSpPr>
            <a:spLocks noGrp="1"/>
          </p:cNvSpPr>
          <p:nvPr/>
        </p:nvSpPr>
        <p:spPr>
          <a:xfrm>
            <a:off x="685800" y="1990725"/>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“편하고 빠르게”만으로는 무엇을 확인할지 알 수 없습니다.</a:t>
            </a:r>
          </a:p>
        </p:txBody>
      </p:sp>
      <p:sp>
        <p:nvSpPr>
          <p:cNvPr id="4" name="">
            <a:extLst>
              <a:ext uri="{FF2B5EF4-FFF2-40B4-BE49-F238E27FC236}">
                <ns2:creationId id="{1327EC23-B8D7-4003-8B0F-EA1E7B6F806C}"/>
              </a:ext>
            </a:extLst>
          </p:cNvPr>
          <p:cNvSpPr>
            <a:spLocks noGrp="1"/>
          </p:cNvSpPr>
          <p:nvPr/>
        </p:nvSpPr>
        <p:spPr>
          <a:xfrm>
            <a:off x="685800" y="2534793"/>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시험에 쓸 입력, 나와야 할 결과, 측정 방법을 적으세요.</a:t>
            </a:r>
          </a:p>
        </p:txBody>
      </p:sp>
      <p:sp>
        <p:nvSpPr>
          <p:cNvPr id="5" name="">
            <a:extLst>
              <a:ext uri="{FF2B5EF4-FFF2-40B4-BE49-F238E27FC236}">
                <ns2:creationId id="{67E16990-8EEF-41E3-9EE0-0561EE22DF97}"/>
              </a:ext>
            </a:extLst>
          </p:cNvPr>
          <p:cNvSpPr>
            <a:spLocks noGrp="1"/>
          </p:cNvSpPr>
          <p:nvPr/>
        </p:nvSpPr>
        <p:spPr>
          <a:xfrm>
            <a:off x="685800" y="6172200"/>
            <a:ext cx="10820400" cy="9525"/>
          </a:xfrm>
          <a:prstGeom prst="rect">
            <a:avLst/>
          </a:prstGeom>
          <a:solidFill>
            <a:srgbClr val="D5DEDD"/>
          </a:solidFill>
          <a:ln w="0">
            <a:noFill/>
          </a:ln>
        </p:spPr>
      </p:sp>
      <p:sp>
        <p:nvSpPr>
          <p:cNvPr id="6" name="">
            <a:extLst>
              <a:ext uri="{FF2B5EF4-FFF2-40B4-BE49-F238E27FC236}">
                <ns2:creationId id="{3094F5D9-21B3-4FF0-B64F-4DD4E4155A6F}"/>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7" name="">
            <a:extLst>
              <a:ext uri="{FF2B5EF4-FFF2-40B4-BE49-F238E27FC236}">
                <ns2:creationId id="{691FD315-0155-41FD-9757-6C61400FC15E}"/>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8" name="">
            <a:extLst>
              <a:ext uri="{FF2B5EF4-FFF2-40B4-BE49-F238E27FC236}">
                <ns2:creationId id="{B205FD6F-140E-414C-BE78-81A71F2E702D}"/>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9" name="">
            <a:extLst>
              <a:ext uri="{FF2B5EF4-FFF2-40B4-BE49-F238E27FC236}">
                <ns2:creationId id="{60B2F7DE-7FCB-4090-B930-E8F3B565CC1A}"/>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10/30   034</a:t>
            </a:r>
          </a:p>
        </p:txBody>
      </p:sp>
    </p:spTree>
    <p:extLst>
      <p:ext uri="{BB962C8B-B14F-4D97-AF65-F5344CB8AC3E}">
        <ns4:creationId val="1939364210"/>
      </p:ext>
    </p:extLst>
  </p:cSld>
</p:sld>
</file>

<file path=ppt/slides/slide35.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0" name="">
            <a:extLst>
              <a:ext uri="{FF2B5EF4-FFF2-40B4-BE49-F238E27FC236}">
                <ns2:creationId id="{7DE569B1-0530-4BC9-98E5-38CD3A4D53F2}"/>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2교시</a:t>
            </a:r>
          </a:p>
        </p:txBody>
      </p:sp>
      <p:sp>
        <p:nvSpPr>
          <p:cNvPr id="2" name="">
            <a:extLst>
              <a:ext uri="{FF2B5EF4-FFF2-40B4-BE49-F238E27FC236}">
                <ns2:creationId id="{71C3E74C-3044-4FC2-A9FE-6E438CA67324}"/>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개념 확인 질문</a:t>
            </a:r>
          </a:p>
        </p:txBody>
      </p:sp>
      <p:sp>
        <p:nvSpPr>
          <p:cNvPr id="3" name="">
            <a:extLst>
              <a:ext uri="{FF2B5EF4-FFF2-40B4-BE49-F238E27FC236}">
                <ns2:creationId id="{94E6E54E-6762-4FBA-B6FE-670EEF874B57}"/>
              </a:ext>
            </a:extLst>
          </p:cNvPr>
          <p:cNvSpPr>
            <a:spLocks noGrp="1"/>
          </p:cNvSpPr>
          <p:nvPr/>
        </p:nvSpPr>
        <p:spPr>
          <a:xfrm>
            <a:off x="685800" y="1990725"/>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이번에 만들 기능과 만들지 않을 기능을 말해 보세요.</a:t>
            </a:r>
          </a:p>
        </p:txBody>
      </p:sp>
      <p:sp>
        <p:nvSpPr>
          <p:cNvPr id="4" name="">
            <a:extLst>
              <a:ext uri="{FF2B5EF4-FFF2-40B4-BE49-F238E27FC236}">
                <ns2:creationId id="{FEE65998-5F10-4994-8387-BAE4081E7CCA}"/>
              </a:ext>
            </a:extLst>
          </p:cNvPr>
          <p:cNvSpPr>
            <a:spLocks noGrp="1"/>
          </p:cNvSpPr>
          <p:nvPr/>
        </p:nvSpPr>
        <p:spPr>
          <a:xfrm>
            <a:off x="685800" y="2557272"/>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입력이 잘못됐을 때의 처리도 정해야 하는 이유는?</a:t>
            </a:r>
          </a:p>
        </p:txBody>
      </p:sp>
      <p:sp>
        <p:nvSpPr>
          <p:cNvPr id="5" name="">
            <a:extLst>
              <a:ext uri="{FF2B5EF4-FFF2-40B4-BE49-F238E27FC236}">
                <ns2:creationId id="{23CA346A-BEF8-4C88-AAB0-6187561A8C3E}"/>
              </a:ext>
            </a:extLst>
          </p:cNvPr>
          <p:cNvSpPr>
            <a:spLocks noGrp="1"/>
          </p:cNvSpPr>
          <p:nvPr/>
        </p:nvSpPr>
        <p:spPr>
          <a:xfrm>
            <a:off x="685800" y="6172200"/>
            <a:ext cx="10820400" cy="9525"/>
          </a:xfrm>
          <a:prstGeom prst="rect">
            <a:avLst/>
          </a:prstGeom>
          <a:solidFill>
            <a:srgbClr val="D5DEDD"/>
          </a:solidFill>
          <a:ln w="0">
            <a:noFill/>
          </a:ln>
        </p:spPr>
      </p:sp>
      <p:sp>
        <p:nvSpPr>
          <p:cNvPr id="6" name="">
            <a:extLst>
              <a:ext uri="{FF2B5EF4-FFF2-40B4-BE49-F238E27FC236}">
                <ns2:creationId id="{75E4E413-69A7-43F5-A8C5-761678CE264C}"/>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7" name="">
            <a:extLst>
              <a:ext uri="{FF2B5EF4-FFF2-40B4-BE49-F238E27FC236}">
                <ns2:creationId id="{402031B7-DB2E-45A6-AF62-9DAB1E67CFD7}"/>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8" name="">
            <a:extLst>
              <a:ext uri="{FF2B5EF4-FFF2-40B4-BE49-F238E27FC236}">
                <ns2:creationId id="{DFF212F3-4FC5-4D3C-9F6D-C932B358AD87}"/>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9" name="">
            <a:extLst>
              <a:ext uri="{FF2B5EF4-FFF2-40B4-BE49-F238E27FC236}">
                <ns2:creationId id="{DE214874-A12F-41EF-BF63-815A6D231A2E}"/>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10/30   035</a:t>
            </a:r>
          </a:p>
        </p:txBody>
      </p:sp>
    </p:spTree>
    <p:extLst>
      <p:ext uri="{BB962C8B-B14F-4D97-AF65-F5344CB8AC3E}">
        <ns4:creationId val="445282394"/>
      </p:ext>
    </p:extLst>
  </p:cSld>
</p:sld>
</file>

<file path=ppt/slides/slide36.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0" name="">
            <a:extLst>
              <a:ext uri="{FF2B5EF4-FFF2-40B4-BE49-F238E27FC236}">
                <ns2:creationId id="{20004CDB-BC0F-4F2D-A5FF-8BBFA2074CD0}"/>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2교시</a:t>
            </a:r>
          </a:p>
        </p:txBody>
      </p:sp>
      <p:sp>
        <p:nvSpPr>
          <p:cNvPr id="2" name="">
            <a:extLst>
              <a:ext uri="{FF2B5EF4-FFF2-40B4-BE49-F238E27FC236}">
                <ns2:creationId id="{F5A0F7E3-5777-4885-B97B-CBA396233BBE}"/>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추가·복습 문제</a:t>
            </a:r>
          </a:p>
        </p:txBody>
      </p:sp>
      <p:sp>
        <p:nvSpPr>
          <p:cNvPr id="3" name="">
            <a:extLst>
              <a:ext uri="{FF2B5EF4-FFF2-40B4-BE49-F238E27FC236}">
                <ns2:creationId id="{BC0513A8-6C96-4B11-8258-85DC23D7B217}"/>
              </a:ext>
            </a:extLst>
          </p:cNvPr>
          <p:cNvSpPr>
            <a:spLocks noGrp="1"/>
          </p:cNvSpPr>
          <p:nvPr/>
        </p:nvSpPr>
        <p:spPr>
          <a:xfrm>
            <a:off x="685800" y="1990725"/>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추가·도전: 카메라 기능 추가 요청</a:t>
            </a:r>
          </a:p>
        </p:txBody>
      </p:sp>
      <p:sp>
        <p:nvSpPr>
          <p:cNvPr id="4" name="">
            <a:extLst>
              <a:ext uri="{FF2B5EF4-FFF2-40B4-BE49-F238E27FC236}">
                <ns2:creationId id="{1945807A-259A-4285-BFFF-49216E77294D}"/>
              </a:ext>
            </a:extLst>
          </p:cNvPr>
          <p:cNvSpPr>
            <a:spLocks noGrp="1"/>
          </p:cNvSpPr>
          <p:nvPr/>
        </p:nvSpPr>
        <p:spPr>
          <a:xfrm>
            <a:off x="685800" y="2557272"/>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데이터·시험·일정에 주는 영향을 쓰세요.</a:t>
            </a:r>
          </a:p>
        </p:txBody>
      </p:sp>
      <p:sp>
        <p:nvSpPr>
          <p:cNvPr id="5" name="">
            <a:extLst>
              <a:ext uri="{FF2B5EF4-FFF2-40B4-BE49-F238E27FC236}">
                <ns2:creationId id="{87F8EC70-D2E8-456B-A544-6D75DF06E0D7}"/>
              </a:ext>
            </a:extLst>
          </p:cNvPr>
          <p:cNvSpPr>
            <a:spLocks noGrp="1"/>
          </p:cNvSpPr>
          <p:nvPr/>
        </p:nvSpPr>
        <p:spPr>
          <a:xfrm>
            <a:off x="685800" y="6172200"/>
            <a:ext cx="10820400" cy="9525"/>
          </a:xfrm>
          <a:prstGeom prst="rect">
            <a:avLst/>
          </a:prstGeom>
          <a:solidFill>
            <a:srgbClr val="D5DEDD"/>
          </a:solidFill>
          <a:ln w="0">
            <a:noFill/>
          </a:ln>
        </p:spPr>
      </p:sp>
      <p:sp>
        <p:nvSpPr>
          <p:cNvPr id="6" name="">
            <a:extLst>
              <a:ext uri="{FF2B5EF4-FFF2-40B4-BE49-F238E27FC236}">
                <ns2:creationId id="{D25CEA93-8116-47C2-83CF-14C5B0E90ABE}"/>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7" name="">
            <a:extLst>
              <a:ext uri="{FF2B5EF4-FFF2-40B4-BE49-F238E27FC236}">
                <ns2:creationId id="{B73D2CF3-01CB-46A4-8220-EF59BB1F5999}"/>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8" name="">
            <a:extLst>
              <a:ext uri="{FF2B5EF4-FFF2-40B4-BE49-F238E27FC236}">
                <ns2:creationId id="{E203688B-13F2-4C50-9B8D-68B9490C98D2}"/>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9" name="">
            <a:extLst>
              <a:ext uri="{FF2B5EF4-FFF2-40B4-BE49-F238E27FC236}">
                <ns2:creationId id="{81A484AE-15EF-4547-89CC-2087B62FB593}"/>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10/30   036</a:t>
            </a:r>
          </a:p>
        </p:txBody>
      </p:sp>
    </p:spTree>
    <p:extLst>
      <p:ext uri="{BB962C8B-B14F-4D97-AF65-F5344CB8AC3E}">
        <ns4:creationId val="1427873143"/>
      </p:ext>
    </p:extLst>
  </p:cSld>
</p:sld>
</file>

<file path=ppt/slides/slide37.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1" name="">
            <a:extLst>
              <a:ext uri="{FF2B5EF4-FFF2-40B4-BE49-F238E27FC236}">
                <ns2:creationId id="{C132527E-50F7-4CB2-900F-F2F29A406AD5}"/>
              </a:ext>
            </a:extLst>
          </p:cNvPr>
          <p:cNvSpPr>
            <a:spLocks noGrp="1"/>
          </p:cNvSpPr>
          <p:nvPr/>
        </p:nvSpPr>
        <p:spPr>
          <a:xfrm>
            <a:off x="685800" y="657225"/>
            <a:ext cx="10820400" cy="400050"/>
          </a:xfrm>
          <a:prstGeom prst="rect">
            <a:avLst/>
          </a:prstGeom>
          <a:noFill/>
          <a:ln w="0">
            <a:noFill/>
          </a:ln>
        </p:spPr>
        <p:txBody>
          <a:bodyPr wrap="square" lIns="0" tIns="0" rIns="0" bIns="0">
            <a:noAutofit/>
          </a:bodyPr>
          <a:lstStyle/>
          <a:p>
            <a:pPr>
              <a:defRPr sz="1950" b="1">
                <a:solidFill>
                  <a:srgbClr val="08786F"/>
                </a:solidFill>
                <a:latin typeface="Noto Sans KR"/>
                <a:ea typeface="Noto Sans KR"/>
                <a:cs typeface="Noto Sans KR"/>
              </a:defRPr>
            </a:pPr>
            <a:r>
              <a:t>3교시</a:t>
            </a:r>
          </a:p>
        </p:txBody>
      </p:sp>
      <p:sp>
        <p:nvSpPr>
          <p:cNvPr id="2" name="">
            <a:extLst>
              <a:ext uri="{FF2B5EF4-FFF2-40B4-BE49-F238E27FC236}">
                <ns2:creationId id="{CF101B1D-E156-4BEB-B4C2-DEA05BF7350E}"/>
              </a:ext>
            </a:extLst>
          </p:cNvPr>
          <p:cNvSpPr>
            <a:spLocks noGrp="1"/>
          </p:cNvSpPr>
          <p:nvPr/>
        </p:nvSpPr>
        <p:spPr>
          <a:xfrm>
            <a:off x="685800" y="1552575"/>
            <a:ext cx="10668000" cy="1905000"/>
          </a:xfrm>
          <a:prstGeom prst="rect">
            <a:avLst/>
          </a:prstGeom>
          <a:noFill/>
          <a:ln w="0">
            <a:noFill/>
          </a:ln>
        </p:spPr>
        <p:txBody>
          <a:bodyPr wrap="square" lIns="0" tIns="0" rIns="0" bIns="0">
            <a:noAutofit/>
          </a:bodyPr>
          <a:lstStyle/>
          <a:p>
            <a:pPr>
              <a:defRPr sz="4725" b="1">
                <a:solidFill>
                  <a:srgbClr val="172F39"/>
                </a:solidFill>
                <a:latin typeface="Noto Sans KR"/>
                <a:ea typeface="Noto Sans KR"/>
                <a:cs typeface="Noto Sans KR"/>
              </a:defRPr>
            </a:pPr>
            <a:r>
              <a:t>데이터·흐름·오류 화면</a:t>
            </a:r>
          </a:p>
        </p:txBody>
      </p:sp>
      <p:sp>
        <p:nvSpPr>
          <p:cNvPr id="3" name="">
            <a:extLst>
              <a:ext uri="{FF2B5EF4-FFF2-40B4-BE49-F238E27FC236}">
                <ns2:creationId id="{AA345973-4D81-4013-9017-2CE8FF22B25D}"/>
              </a:ext>
            </a:extLst>
          </p:cNvPr>
          <p:cNvSpPr>
            <a:spLocks noGrp="1"/>
          </p:cNvSpPr>
          <p:nvPr/>
        </p:nvSpPr>
        <p:spPr>
          <a:xfrm>
            <a:off x="723900" y="3638550"/>
            <a:ext cx="10001250" cy="473964"/>
          </a:xfrm>
          <a:prstGeom prst="rect">
            <a:avLst/>
          </a:prstGeom>
          <a:noFill/>
          <a:ln w="0">
            <a:noFill/>
          </a:ln>
        </p:spPr>
        <p:txBody>
          <a:bodyPr wrap="square" lIns="0" tIns="0" rIns="0" bIns="0">
            <a:noAutofit/>
          </a:bodyPr>
          <a:lstStyle/>
          <a:p>
            <a:pPr>
              <a:defRPr sz="2400" b="0">
                <a:solidFill>
                  <a:srgbClr val="52636B"/>
                </a:solidFill>
                <a:latin typeface="Noto Sans KR"/>
                <a:ea typeface="Noto Sans KR"/>
                <a:cs typeface="Noto Sans KR"/>
              </a:defRPr>
            </a:pPr>
            <a:r>
              <a:t>13:00~13:50 · 50분</a:t>
            </a:r>
          </a:p>
        </p:txBody>
      </p:sp>
      <p:sp>
        <p:nvSpPr>
          <p:cNvPr id="4" name="">
            <a:extLst>
              <a:ext uri="{FF2B5EF4-FFF2-40B4-BE49-F238E27FC236}">
                <ns2:creationId id="{3578F3B0-6507-4404-AD11-C92F35388D41}"/>
              </a:ext>
            </a:extLst>
          </p:cNvPr>
          <p:cNvSpPr>
            <a:spLocks noGrp="1"/>
          </p:cNvSpPr>
          <p:nvPr/>
        </p:nvSpPr>
        <p:spPr>
          <a:xfrm>
            <a:off x="723900" y="4160139"/>
            <a:ext cx="10001250" cy="473964"/>
          </a:xfrm>
          <a:prstGeom prst="rect">
            <a:avLst/>
          </a:prstGeom>
          <a:noFill/>
          <a:ln w="0">
            <a:noFill/>
          </a:ln>
        </p:spPr>
        <p:txBody>
          <a:bodyPr wrap="square" lIns="0" tIns="0" rIns="0" bIns="0">
            <a:noAutofit/>
          </a:bodyPr>
          <a:lstStyle/>
          <a:p>
            <a:pPr>
              <a:defRPr sz="2400" b="0">
                <a:solidFill>
                  <a:srgbClr val="52636B"/>
                </a:solidFill>
                <a:latin typeface="Noto Sans KR"/>
                <a:ea typeface="Noto Sans KR"/>
                <a:cs typeface="Noto Sans KR"/>
              </a:defRPr>
            </a:pPr>
            <a:r>
              <a:t>A07 · A08 · A09</a:t>
            </a:r>
          </a:p>
        </p:txBody>
      </p:sp>
      <p:sp>
        <p:nvSpPr>
          <p:cNvPr id="5" name="">
            <a:extLst>
              <a:ext uri="{FF2B5EF4-FFF2-40B4-BE49-F238E27FC236}">
                <ns2:creationId id="{9693249D-1B18-4318-A085-4C91A5AA5681}"/>
              </a:ext>
            </a:extLst>
          </p:cNvPr>
          <p:cNvSpPr>
            <a:spLocks noGrp="1"/>
          </p:cNvSpPr>
          <p:nvPr/>
        </p:nvSpPr>
        <p:spPr>
          <a:xfrm>
            <a:off x="723900" y="4681728"/>
            <a:ext cx="10001250" cy="473964"/>
          </a:xfrm>
          <a:prstGeom prst="rect">
            <a:avLst/>
          </a:prstGeom>
          <a:noFill/>
          <a:ln w="0">
            <a:noFill/>
          </a:ln>
        </p:spPr>
        <p:txBody>
          <a:bodyPr wrap="square" lIns="0" tIns="0" rIns="0" bIns="0">
            <a:noAutofit/>
          </a:bodyPr>
          <a:lstStyle/>
          <a:p>
            <a:pPr>
              <a:defRPr sz="2400" b="0">
                <a:solidFill>
                  <a:srgbClr val="52636B"/>
                </a:solidFill>
                <a:latin typeface="Noto Sans KR"/>
                <a:ea typeface="Noto Sans KR"/>
                <a:cs typeface="Noto Sans KR"/>
              </a:defRPr>
            </a:pPr>
            <a:r>
              <a:t>설명 → 예제 따라 하기 → 직접 해 보기 → 풀이</a:t>
            </a:r>
          </a:p>
        </p:txBody>
      </p:sp>
      <p:sp>
        <p:nvSpPr>
          <p:cNvPr id="6" name="">
            <a:extLst>
              <a:ext uri="{FF2B5EF4-FFF2-40B4-BE49-F238E27FC236}">
                <ns2:creationId id="{596D9582-5FF7-43E9-AFD3-FF603F48D33B}"/>
              </a:ext>
            </a:extLst>
          </p:cNvPr>
          <p:cNvSpPr>
            <a:spLocks noGrp="1"/>
          </p:cNvSpPr>
          <p:nvPr/>
        </p:nvSpPr>
        <p:spPr>
          <a:xfrm>
            <a:off x="685800" y="6172200"/>
            <a:ext cx="10820400" cy="9525"/>
          </a:xfrm>
          <a:prstGeom prst="rect">
            <a:avLst/>
          </a:prstGeom>
          <a:solidFill>
            <a:srgbClr val="D5DEDD"/>
          </a:solidFill>
          <a:ln w="0">
            <a:noFill/>
          </a:ln>
        </p:spPr>
      </p:sp>
      <p:sp>
        <p:nvSpPr>
          <p:cNvPr id="7" name="">
            <a:extLst>
              <a:ext uri="{FF2B5EF4-FFF2-40B4-BE49-F238E27FC236}">
                <ns2:creationId id="{73A4E1ED-0243-4D16-887B-DB1FD7A450F6}"/>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8" name="">
            <a:extLst>
              <a:ext uri="{FF2B5EF4-FFF2-40B4-BE49-F238E27FC236}">
                <ns2:creationId id="{63B260D0-4C7A-4B33-93EE-A117F80B1725}"/>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9" name="">
            <a:extLst>
              <a:ext uri="{FF2B5EF4-FFF2-40B4-BE49-F238E27FC236}">
                <ns2:creationId id="{8A4F602F-F153-436A-B5E0-E90FF9B4D93C}"/>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0" name="">
            <a:extLst>
              <a:ext uri="{FF2B5EF4-FFF2-40B4-BE49-F238E27FC236}">
                <ns2:creationId id="{A6A163D8-91B2-42C7-A87B-CEFB19493295}"/>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10/30   037</a:t>
            </a:r>
          </a:p>
        </p:txBody>
      </p:sp>
    </p:spTree>
    <p:extLst>
      <p:ext uri="{BB962C8B-B14F-4D97-AF65-F5344CB8AC3E}">
        <ns4:creationId val="1168695571"/>
      </p:ext>
    </p:extLst>
  </p:cSld>
</p:sld>
</file>

<file path=ppt/slides/slide38.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2" name="">
            <a:extLst>
              <a:ext uri="{FF2B5EF4-FFF2-40B4-BE49-F238E27FC236}">
                <ns2:creationId id="{63D4C9BE-96B1-4873-B6E9-45063DD21807}"/>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3교시</a:t>
            </a:r>
          </a:p>
        </p:txBody>
      </p:sp>
      <p:sp>
        <p:nvSpPr>
          <p:cNvPr id="2" name="">
            <a:extLst>
              <a:ext uri="{FF2B5EF4-FFF2-40B4-BE49-F238E27FC236}">
                <ns2:creationId id="{5FBB1850-1AA8-4DDD-B8EB-4CAB9D35F791}"/>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대여 키와 물품 식별자</a:t>
            </a:r>
          </a:p>
        </p:txBody>
      </p:sp>
      <p:sp>
        <p:nvSpPr>
          <p:cNvPr id="3" name="">
            <a:extLst>
              <a:ext uri="{FF2B5EF4-FFF2-40B4-BE49-F238E27FC236}">
                <ns2:creationId id="{D600DCC8-BBA0-4680-A967-75BA5DBB0DD1}"/>
              </a:ext>
            </a:extLst>
          </p:cNvPr>
          <p:cNvSpPr>
            <a:spLocks noGrp="1"/>
          </p:cNvSpPr>
          <p:nvPr/>
        </p:nvSpPr>
        <p:spPr>
          <a:xfrm>
            <a:off x="685800" y="1933575"/>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loan_id: 대여 한 건의 키</a:t>
            </a:r>
          </a:p>
        </p:txBody>
      </p:sp>
      <p:sp>
        <p:nvSpPr>
          <p:cNvPr id="4" name="">
            <a:extLst>
              <a:ext uri="{FF2B5EF4-FFF2-40B4-BE49-F238E27FC236}">
                <ns2:creationId id="{5097D99A-ACE3-4544-B669-74DEBA64906A}"/>
              </a:ext>
            </a:extLst>
          </p:cNvPr>
          <p:cNvSpPr>
            <a:spLocks noGrp="1"/>
          </p:cNvSpPr>
          <p:nvPr/>
        </p:nvSpPr>
        <p:spPr>
          <a:xfrm>
            <a:off x="685800" y="2432685"/>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item_id: 물품의 식별자</a:t>
            </a:r>
          </a:p>
        </p:txBody>
      </p:sp>
      <p:sp>
        <p:nvSpPr>
          <p:cNvPr id="5" name="">
            <a:extLst>
              <a:ext uri="{FF2B5EF4-FFF2-40B4-BE49-F238E27FC236}">
                <ns2:creationId id="{B9F1857C-B05F-47AF-8852-BF499434DECF}"/>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대여 키와 물품 식별자</a:t>
            </a:r>
          </a:p>
        </p:txBody>
      </p:sp>
      <p:graphicFrame>
        <p:nvGraphicFramePr>
          <p:cNvPr id="17" name=""/>
          <p:cNvGraphicFramePr/>
          <p:nvPr/>
        </p:nvGraphicFramePr>
        <p:xfrm>
          <a:off x="6267450" y="2628900"/>
          <a:ext cx="5238750" cy="2057400"/>
        </p:xfrm>
        <a:graphic>
          <a:graphicData uri="http://schemas.openxmlformats.org/drawingml/2006/table">
            <a:tbl>
              <a:tblPr firstRow="1" bandRow="0"/>
              <a:tblGrid>
                <a:gridCol w="2619375"/>
                <a:gridCol w="2619375"/>
              </a:tblGrid>
              <a:tr h="514350">
                <a:tc>
                  <a:txBody>
                    <a:bodyPr wrap="square"/>
                    <a:lstStyle/>
                    <a:p>
                      <a:pPr>
                        <a:lnSpc>
                          <a:spcPct val="102000"/>
                        </a:lnSpc>
                        <a:buNone/>
                      </a:pPr>
                      <a:r>
                        <a:rPr sz="1875" b="1">
                          <a:solidFill>
                            <a:srgbClr val="172F39"/>
                          </a:solidFill>
                          <a:latin typeface="Noto Sans KR"/>
                          <a:ea typeface="Noto Sans KR"/>
                          <a:cs typeface="Noto Sans KR"/>
                        </a:rPr>
                        <a:t>loan_id</a:t>
                      </a:r>
                    </a:p>
                  </a:txBody>
                  <a:tcPr marL="114300" marR="114300" marT="76200" marB="76200" anchor="ctr">
                    <a:solidFill>
                      <a:srgbClr val="DCECE8"/>
                    </a:solidFill>
                  </a:tcPr>
                </a:tc>
                <a:tc>
                  <a:txBody>
                    <a:bodyPr wrap="square"/>
                    <a:lstStyle/>
                    <a:p>
                      <a:pPr>
                        <a:lnSpc>
                          <a:spcPct val="102000"/>
                        </a:lnSpc>
                        <a:buNone/>
                      </a:pPr>
                      <a:r>
                        <a:rPr sz="1875" b="1">
                          <a:solidFill>
                            <a:srgbClr val="172F39"/>
                          </a:solidFill>
                          <a:latin typeface="Noto Sans KR"/>
                          <a:ea typeface="Noto Sans KR"/>
                          <a:cs typeface="Noto Sans KR"/>
                        </a:rPr>
                        <a:t>item_id</a:t>
                      </a:r>
                    </a:p>
                  </a:txBody>
                  <a:tcPr marL="114300" marR="114300" marT="76200" marB="76200" anchor="ctr">
                    <a:solidFill>
                      <a:srgbClr val="DCECE8"/>
                    </a:solidFill>
                  </a:tcPr>
                </a:tc>
              </a:tr>
              <a:tr h="514350">
                <a:tc>
                  <a:txBody>
                    <a:bodyPr wrap="square"/>
                    <a:lstStyle/>
                    <a:p>
                      <a:pPr>
                        <a:lnSpc>
                          <a:spcPct val="102000"/>
                        </a:lnSpc>
                        <a:buNone/>
                      </a:pPr>
                      <a:r>
                        <a:rPr sz="1875" b="0">
                          <a:solidFill>
                            <a:srgbClr val="172F39"/>
                          </a:solidFill>
                          <a:latin typeface="Noto Sans KR"/>
                          <a:ea typeface="Noto Sans KR"/>
                          <a:cs typeface="Noto Sans KR"/>
                        </a:rPr>
                        <a:t>L10</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I02</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L11</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I02</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L10</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I03</a:t>
                      </a:r>
                    </a:p>
                  </a:txBody>
                  <a:tcPr marL="114300" marR="114300" marT="76200" marB="76200" anchor="ctr">
                    <a:solidFill>
                      <a:srgbClr val="FFFFFF"/>
                    </a:solidFill>
                  </a:tcPr>
                </a:tc>
              </a:tr>
            </a:tbl>
          </a:graphicData>
        </a:graphic>
      </p:graphicFrame>
      <p:sp>
        <p:nvSpPr>
          <p:cNvPr id="7" name="">
            <a:extLst>
              <a:ext uri="{FF2B5EF4-FFF2-40B4-BE49-F238E27FC236}">
                <ns2:creationId id="{4EE3EB9F-F904-447F-A764-DF841DCE9FF9}"/>
              </a:ext>
            </a:extLst>
          </p:cNvPr>
          <p:cNvSpPr>
            <a:spLocks noGrp="1"/>
          </p:cNvSpPr>
          <p:nvPr/>
        </p:nvSpPr>
        <p:spPr>
          <a:xfrm>
            <a:off x="685800" y="6172200"/>
            <a:ext cx="10820400" cy="9525"/>
          </a:xfrm>
          <a:prstGeom prst="rect">
            <a:avLst/>
          </a:prstGeom>
          <a:solidFill>
            <a:srgbClr val="D5DEDD"/>
          </a:solidFill>
          <a:ln w="0">
            <a:noFill/>
          </a:ln>
        </p:spPr>
      </p:sp>
      <p:sp>
        <p:nvSpPr>
          <p:cNvPr id="8" name="">
            <a:extLst>
              <a:ext uri="{FF2B5EF4-FFF2-40B4-BE49-F238E27FC236}">
                <ns2:creationId id="{548643A5-9311-4FB7-A767-76978AD7B3E7}"/>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9" name="">
            <a:extLst>
              <a:ext uri="{FF2B5EF4-FFF2-40B4-BE49-F238E27FC236}">
                <ns2:creationId id="{B6ED1209-3C8D-479C-BBFA-5F5EF297F71F}"/>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0" name="">
            <a:extLst>
              <a:ext uri="{FF2B5EF4-FFF2-40B4-BE49-F238E27FC236}">
                <ns2:creationId id="{AC6B1950-8637-4E77-AFF1-4EC912F4804F}"/>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1" name="">
            <a:extLst>
              <a:ext uri="{FF2B5EF4-FFF2-40B4-BE49-F238E27FC236}">
                <ns2:creationId id="{167FB9A9-5CE3-470B-8DAB-1A2C62CBA4FB}"/>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10/30   038</a:t>
            </a:r>
          </a:p>
        </p:txBody>
      </p:sp>
    </p:spTree>
    <p:extLst>
      <p:ext uri="{BB962C8B-B14F-4D97-AF65-F5344CB8AC3E}">
        <ns4:creationId val="527034911"/>
      </p:ext>
    </p:extLst>
  </p:cSld>
</p:sld>
</file>

<file path=ppt/slides/slide39.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2" name="">
            <a:extLst>
              <a:ext uri="{FF2B5EF4-FFF2-40B4-BE49-F238E27FC236}">
                <ns2:creationId id="{8A1F604C-F444-4165-82CE-7F5E5DEA41DB}"/>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3교시</a:t>
            </a:r>
          </a:p>
        </p:txBody>
      </p:sp>
      <p:sp>
        <p:nvSpPr>
          <p:cNvPr id="2" name="">
            <a:extLst>
              <a:ext uri="{FF2B5EF4-FFF2-40B4-BE49-F238E27FC236}">
                <ns2:creationId id="{E9D1328E-9FE8-4AD7-9F47-4039A0E70773}"/>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물품 중복과 기록 중복</a:t>
            </a:r>
          </a:p>
        </p:txBody>
      </p:sp>
      <p:sp>
        <p:nvSpPr>
          <p:cNvPr id="3" name="">
            <a:extLst>
              <a:ext uri="{FF2B5EF4-FFF2-40B4-BE49-F238E27FC236}">
                <ns2:creationId id="{396B3973-FD89-4DFA-BDB3-5A6931EA9A6A}"/>
              </a:ext>
            </a:extLst>
          </p:cNvPr>
          <p:cNvSpPr>
            <a:spLocks noGrp="1"/>
          </p:cNvSpPr>
          <p:nvPr/>
        </p:nvSpPr>
        <p:spPr>
          <a:xfrm>
            <a:off x="685800" y="1933575"/>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다른 loan_id의 같은 item_id는 가능</a:t>
            </a:r>
          </a:p>
        </p:txBody>
      </p:sp>
      <p:sp>
        <p:nvSpPr>
          <p:cNvPr id="4" name="">
            <a:extLst>
              <a:ext uri="{FF2B5EF4-FFF2-40B4-BE49-F238E27FC236}">
                <ns2:creationId id="{7DCE9E83-3961-4377-9C8B-B5DA7BC31C98}"/>
              </a:ext>
            </a:extLst>
          </p:cNvPr>
          <p:cNvSpPr>
            <a:spLocks noGrp="1"/>
          </p:cNvSpPr>
          <p:nvPr/>
        </p:nvSpPr>
        <p:spPr>
          <a:xfrm>
            <a:off x="685800" y="2432685"/>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같은 loan_id가 두 행에 있으면 중복 오류로 처리</a:t>
            </a:r>
          </a:p>
        </p:txBody>
      </p:sp>
      <p:sp>
        <p:nvSpPr>
          <p:cNvPr id="5" name="">
            <a:extLst>
              <a:ext uri="{FF2B5EF4-FFF2-40B4-BE49-F238E27FC236}">
                <ns2:creationId id="{6BA68270-2C5B-47F4-B834-9C1F33009687}"/>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같은 물품, 다른 대여</a:t>
            </a:r>
          </a:p>
        </p:txBody>
      </p:sp>
      <p:graphicFrame>
        <p:nvGraphicFramePr>
          <p:cNvPr id="17" name=""/>
          <p:cNvGraphicFramePr/>
          <p:nvPr/>
        </p:nvGraphicFramePr>
        <p:xfrm>
          <a:off x="6267450" y="2628900"/>
          <a:ext cx="5238750" cy="2057400"/>
        </p:xfrm>
        <a:graphic>
          <a:graphicData uri="http://schemas.openxmlformats.org/drawingml/2006/table">
            <a:tbl>
              <a:tblPr firstRow="1" bandRow="0"/>
              <a:tblGrid>
                <a:gridCol w="2619375"/>
                <a:gridCol w="2619375"/>
              </a:tblGrid>
              <a:tr h="514350">
                <a:tc>
                  <a:txBody>
                    <a:bodyPr wrap="square"/>
                    <a:lstStyle/>
                    <a:p>
                      <a:pPr>
                        <a:lnSpc>
                          <a:spcPct val="102000"/>
                        </a:lnSpc>
                        <a:buNone/>
                      </a:pPr>
                      <a:r>
                        <a:rPr sz="1875" b="1">
                          <a:solidFill>
                            <a:srgbClr val="172F39"/>
                          </a:solidFill>
                          <a:latin typeface="Noto Sans KR"/>
                          <a:ea typeface="Noto Sans KR"/>
                          <a:cs typeface="Noto Sans KR"/>
                        </a:rPr>
                        <a:t>loan_id</a:t>
                      </a:r>
                    </a:p>
                  </a:txBody>
                  <a:tcPr marL="114300" marR="114300" marT="76200" marB="76200" anchor="ctr">
                    <a:solidFill>
                      <a:srgbClr val="DCECE8"/>
                    </a:solidFill>
                  </a:tcPr>
                </a:tc>
                <a:tc>
                  <a:txBody>
                    <a:bodyPr wrap="square"/>
                    <a:lstStyle/>
                    <a:p>
                      <a:pPr>
                        <a:lnSpc>
                          <a:spcPct val="102000"/>
                        </a:lnSpc>
                        <a:buNone/>
                      </a:pPr>
                      <a:r>
                        <a:rPr sz="1875" b="1">
                          <a:solidFill>
                            <a:srgbClr val="172F39"/>
                          </a:solidFill>
                          <a:latin typeface="Noto Sans KR"/>
                          <a:ea typeface="Noto Sans KR"/>
                          <a:cs typeface="Noto Sans KR"/>
                        </a:rPr>
                        <a:t>item_id</a:t>
                      </a:r>
                    </a:p>
                  </a:txBody>
                  <a:tcPr marL="114300" marR="114300" marT="76200" marB="76200" anchor="ctr">
                    <a:solidFill>
                      <a:srgbClr val="DCECE8"/>
                    </a:solidFill>
                  </a:tcPr>
                </a:tc>
              </a:tr>
              <a:tr h="514350">
                <a:tc>
                  <a:txBody>
                    <a:bodyPr wrap="square"/>
                    <a:lstStyle/>
                    <a:p>
                      <a:pPr>
                        <a:lnSpc>
                          <a:spcPct val="102000"/>
                        </a:lnSpc>
                        <a:buNone/>
                      </a:pPr>
                      <a:r>
                        <a:rPr sz="1875" b="0">
                          <a:solidFill>
                            <a:srgbClr val="172F39"/>
                          </a:solidFill>
                          <a:latin typeface="Noto Sans KR"/>
                          <a:ea typeface="Noto Sans KR"/>
                          <a:cs typeface="Noto Sans KR"/>
                        </a:rPr>
                        <a:t>L10</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I02</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L11</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I02</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L10</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I03</a:t>
                      </a:r>
                    </a:p>
                  </a:txBody>
                  <a:tcPr marL="114300" marR="114300" marT="76200" marB="76200" anchor="ctr">
                    <a:solidFill>
                      <a:srgbClr val="FFFFFF"/>
                    </a:solidFill>
                  </a:tcPr>
                </a:tc>
              </a:tr>
            </a:tbl>
          </a:graphicData>
        </a:graphic>
      </p:graphicFrame>
      <p:sp>
        <p:nvSpPr>
          <p:cNvPr id="7" name="">
            <a:extLst>
              <a:ext uri="{FF2B5EF4-FFF2-40B4-BE49-F238E27FC236}">
                <ns2:creationId id="{EEB3F95C-3E0A-4624-8E3B-E9F5175A72A4}"/>
              </a:ext>
            </a:extLst>
          </p:cNvPr>
          <p:cNvSpPr>
            <a:spLocks noGrp="1"/>
          </p:cNvSpPr>
          <p:nvPr/>
        </p:nvSpPr>
        <p:spPr>
          <a:xfrm>
            <a:off x="685800" y="6172200"/>
            <a:ext cx="10820400" cy="9525"/>
          </a:xfrm>
          <a:prstGeom prst="rect">
            <a:avLst/>
          </a:prstGeom>
          <a:solidFill>
            <a:srgbClr val="D5DEDD"/>
          </a:solidFill>
          <a:ln w="0">
            <a:noFill/>
          </a:ln>
        </p:spPr>
      </p:sp>
      <p:sp>
        <p:nvSpPr>
          <p:cNvPr id="8" name="">
            <a:extLst>
              <a:ext uri="{FF2B5EF4-FFF2-40B4-BE49-F238E27FC236}">
                <ns2:creationId id="{CE092C36-93AB-4BAE-A029-096C4699398B}"/>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9" name="">
            <a:extLst>
              <a:ext uri="{FF2B5EF4-FFF2-40B4-BE49-F238E27FC236}">
                <ns2:creationId id="{2470917F-A71D-44AC-9939-BE1B95BA219B}"/>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0" name="">
            <a:extLst>
              <a:ext uri="{FF2B5EF4-FFF2-40B4-BE49-F238E27FC236}">
                <ns2:creationId id="{B717105F-EABE-445B-BB1A-774C10E8B1D9}"/>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1" name="">
            <a:extLst>
              <a:ext uri="{FF2B5EF4-FFF2-40B4-BE49-F238E27FC236}">
                <ns2:creationId id="{3E2D6B8F-5DA9-4E97-B967-6C72CEF1C943}"/>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10/30   039</a:t>
            </a:r>
          </a:p>
        </p:txBody>
      </p:sp>
    </p:spTree>
    <p:extLst>
      <p:ext uri="{BB962C8B-B14F-4D97-AF65-F5344CB8AC3E}">
        <ns4:creationId val="882654684"/>
      </p:ext>
    </p:extLst>
  </p:cSld>
</p:sld>
</file>

<file path=ppt/slides/slide40.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4" name="">
            <a:extLst>
              <a:ext uri="{FF2B5EF4-FFF2-40B4-BE49-F238E27FC236}">
                <ns2:creationId id="{B9C0CEF3-3AAA-4A38-AF91-EC5777578CA3}"/>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3교시</a:t>
            </a:r>
          </a:p>
        </p:txBody>
      </p:sp>
      <p:sp>
        <p:nvSpPr>
          <p:cNvPr id="2" name="">
            <a:extLst>
              <a:ext uri="{FF2B5EF4-FFF2-40B4-BE49-F238E27FC236}">
                <ns2:creationId id="{4496C9BC-7357-4D4D-ABAD-7BA29E0BFECB}"/>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updated_at과 기록 갱신</a:t>
            </a:r>
          </a:p>
        </p:txBody>
      </p:sp>
      <p:sp>
        <p:nvSpPr>
          <p:cNvPr id="3" name="">
            <a:extLst>
              <a:ext uri="{FF2B5EF4-FFF2-40B4-BE49-F238E27FC236}">
                <ns2:creationId id="{D2B4A974-8BE7-4111-AB1B-823EBAD6058A}"/>
              </a:ext>
            </a:extLst>
          </p:cNvPr>
          <p:cNvSpPr>
            <a:spLocks noGrp="1"/>
          </p:cNvSpPr>
          <p:nvPr/>
        </p:nvSpPr>
        <p:spPr>
          <a:xfrm>
            <a:off x="685800" y="1933575"/>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updated_at만으로 반납 시각이나 반납 여부를 알 수 없습니다.</a:t>
            </a:r>
          </a:p>
        </p:txBody>
      </p:sp>
      <p:sp>
        <p:nvSpPr>
          <p:cNvPr id="4" name="">
            <a:extLst>
              <a:ext uri="{FF2B5EF4-FFF2-40B4-BE49-F238E27FC236}">
                <ns2:creationId id="{66D80C43-A21F-4F86-8F09-81ABAA0EA3D7}"/>
              </a:ext>
            </a:extLst>
          </p:cNvPr>
          <p:cNvSpPr>
            <a:spLocks noGrp="1"/>
          </p:cNvSpPr>
          <p:nvPr/>
        </p:nvSpPr>
        <p:spPr>
          <a:xfrm>
            <a:off x="685800" y="2769870"/>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status와 함께 원문 그대로 읽습니다.</a:t>
            </a:r>
          </a:p>
        </p:txBody>
      </p:sp>
      <p:sp>
        <p:nvSpPr>
          <p:cNvPr id="5" name="">
            <a:extLst>
              <a:ext uri="{FF2B5EF4-FFF2-40B4-BE49-F238E27FC236}">
                <ns2:creationId id="{611A9AB3-7D5C-40B7-9415-2E8A7CFB0CE6}"/>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시각이 없는 기록</a:t>
            </a:r>
          </a:p>
        </p:txBody>
      </p:sp>
      <p:sp>
        <p:nvSpPr>
          <p:cNvPr id="6" name="">
            <a:extLst>
              <a:ext uri="{FF2B5EF4-FFF2-40B4-BE49-F238E27FC236}">
                <ns2:creationId id="{7B9BF03F-0E7D-4EA4-B21E-56F9C1709F66}"/>
              </a:ext>
            </a:extLst>
          </p:cNvPr>
          <p:cNvSpPr>
            <a:spLocks noGrp="1"/>
          </p:cNvSpPr>
          <p:nvPr/>
        </p:nvSpPr>
        <p:spPr>
          <a:xfrm>
            <a:off x="6267450" y="2628900"/>
            <a:ext cx="5238750" cy="440246"/>
          </a:xfrm>
          <a:prstGeom prst="rect">
            <a:avLst/>
          </a:prstGeom>
          <a:noFill/>
          <a:ln w="0">
            <a:noFill/>
          </a:ln>
        </p:spPr>
        <p:txBody>
          <a:bodyPr wrap="square" lIns="0" tIns="0" rIns="0" bIns="0">
            <a:noAutofit/>
          </a:bodyPr>
          <a:lstStyle/>
          <a:p>
            <a:pPr>
              <a:defRPr sz="2175" b="0">
                <a:solidFill>
                  <a:srgbClr val="172F39"/>
                </a:solidFill>
                <a:latin typeface="Noto Sans KR"/>
                <a:ea typeface="Noto Sans KR"/>
                <a:cs typeface="Noto Sans KR"/>
              </a:defRPr>
            </a:pPr>
            <a:r>
              <a:t>updated_at = 빈칸</a:t>
            </a:r>
          </a:p>
        </p:txBody>
      </p:sp>
      <p:sp>
        <p:nvSpPr>
          <p:cNvPr id="7" name="">
            <a:extLst>
              <a:ext uri="{FF2B5EF4-FFF2-40B4-BE49-F238E27FC236}">
                <ns2:creationId id="{4324CFFB-2771-4BD4-8F0D-1178131055CC}"/>
              </a:ext>
            </a:extLst>
          </p:cNvPr>
          <p:cNvSpPr>
            <a:spLocks noGrp="1"/>
          </p:cNvSpPr>
          <p:nvPr/>
        </p:nvSpPr>
        <p:spPr>
          <a:xfrm>
            <a:off x="6267450" y="3116771"/>
            <a:ext cx="5238750" cy="440246"/>
          </a:xfrm>
          <a:prstGeom prst="rect">
            <a:avLst/>
          </a:prstGeom>
          <a:noFill/>
          <a:ln w="0">
            <a:noFill/>
          </a:ln>
        </p:spPr>
        <p:txBody>
          <a:bodyPr wrap="square" lIns="0" tIns="0" rIns="0" bIns="0">
            <a:noAutofit/>
          </a:bodyPr>
          <a:lstStyle/>
          <a:p>
            <a:pPr>
              <a:defRPr sz="2175" b="0">
                <a:solidFill>
                  <a:srgbClr val="172F39"/>
                </a:solidFill>
                <a:latin typeface="Noto Sans KR"/>
                <a:ea typeface="Noto Sans KR"/>
                <a:cs typeface="Noto Sans KR"/>
              </a:defRPr>
            </a:pPr>
            <a:r>
              <a:t>현재 시각을 임의로 넣지 않기</a:t>
            </a:r>
          </a:p>
        </p:txBody>
      </p:sp>
      <p:sp>
        <p:nvSpPr>
          <p:cNvPr id="8" name="">
            <a:extLst>
              <a:ext uri="{FF2B5EF4-FFF2-40B4-BE49-F238E27FC236}">
                <ns2:creationId id="{FFD2B394-2348-4C37-A55E-0037B7F689C4}"/>
              </a:ext>
            </a:extLst>
          </p:cNvPr>
          <p:cNvSpPr>
            <a:spLocks noGrp="1"/>
          </p:cNvSpPr>
          <p:nvPr/>
        </p:nvSpPr>
        <p:spPr>
          <a:xfrm>
            <a:off x="6267450" y="3604641"/>
            <a:ext cx="5238750" cy="440246"/>
          </a:xfrm>
          <a:prstGeom prst="rect">
            <a:avLst/>
          </a:prstGeom>
          <a:noFill/>
          <a:ln w="0">
            <a:noFill/>
          </a:ln>
        </p:spPr>
        <p:txBody>
          <a:bodyPr wrap="square" lIns="0" tIns="0" rIns="0" bIns="0">
            <a:noAutofit/>
          </a:bodyPr>
          <a:lstStyle/>
          <a:p>
            <a:pPr>
              <a:defRPr sz="2175" b="0">
                <a:solidFill>
                  <a:srgbClr val="172F39"/>
                </a:solidFill>
                <a:latin typeface="Noto Sans KR"/>
                <a:ea typeface="Noto Sans KR"/>
                <a:cs typeface="Noto Sans KR"/>
              </a:defRPr>
            </a:pPr>
            <a:r>
              <a:t>review와 이유 표시</a:t>
            </a:r>
          </a:p>
        </p:txBody>
      </p:sp>
      <p:sp>
        <p:nvSpPr>
          <p:cNvPr id="9" name="">
            <a:extLst>
              <a:ext uri="{FF2B5EF4-FFF2-40B4-BE49-F238E27FC236}">
                <ns2:creationId id="{FB43576B-9CD7-4090-977B-3E94AAE24EF5}"/>
              </a:ext>
            </a:extLst>
          </p:cNvPr>
          <p:cNvSpPr>
            <a:spLocks noGrp="1"/>
          </p:cNvSpPr>
          <p:nvPr/>
        </p:nvSpPr>
        <p:spPr>
          <a:xfrm>
            <a:off x="685800" y="6172200"/>
            <a:ext cx="10820400" cy="9525"/>
          </a:xfrm>
          <a:prstGeom prst="rect">
            <a:avLst/>
          </a:prstGeom>
          <a:solidFill>
            <a:srgbClr val="D5DEDD"/>
          </a:solidFill>
          <a:ln w="0">
            <a:noFill/>
          </a:ln>
        </p:spPr>
      </p:sp>
      <p:sp>
        <p:nvSpPr>
          <p:cNvPr id="10" name="">
            <a:extLst>
              <a:ext uri="{FF2B5EF4-FFF2-40B4-BE49-F238E27FC236}">
                <ns2:creationId id="{E4C1C3DE-7F3B-42F5-B668-C1859C9C54F0}"/>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1" name="">
            <a:extLst>
              <a:ext uri="{FF2B5EF4-FFF2-40B4-BE49-F238E27FC236}">
                <ns2:creationId id="{9AE12A21-E4CD-4E88-A5A1-6F0AABBA6590}"/>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2" name="">
            <a:extLst>
              <a:ext uri="{FF2B5EF4-FFF2-40B4-BE49-F238E27FC236}">
                <ns2:creationId id="{F81A7536-3483-4F0A-B4EE-7123631AC3C2}"/>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3" name="">
            <a:extLst>
              <a:ext uri="{FF2B5EF4-FFF2-40B4-BE49-F238E27FC236}">
                <ns2:creationId id="{3A1DA960-FDE7-4631-B72A-E241599CA0E9}"/>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10/30   040</a:t>
            </a:r>
          </a:p>
        </p:txBody>
      </p:sp>
    </p:spTree>
    <p:extLst>
      <p:ext uri="{BB962C8B-B14F-4D97-AF65-F5344CB8AC3E}">
        <ns4:creationId val="820055349"/>
      </p:ext>
    </p:extLst>
  </p:cSld>
</p:sld>
</file>

<file path=ppt/slides/slide41.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2" name="">
            <a:extLst>
              <a:ext uri="{FF2B5EF4-FFF2-40B4-BE49-F238E27FC236}">
                <ns2:creationId id="{AD30EE43-E763-4D8C-8F8F-74A19E039DC3}"/>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3교시</a:t>
            </a:r>
          </a:p>
        </p:txBody>
      </p:sp>
      <p:sp>
        <p:nvSpPr>
          <p:cNvPr id="2" name="">
            <a:extLst>
              <a:ext uri="{FF2B5EF4-FFF2-40B4-BE49-F238E27FC236}">
                <ns2:creationId id="{CFAD2DDC-3F79-4422-915C-E61BD2143266}"/>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status와 review·reject</a:t>
            </a:r>
          </a:p>
        </p:txBody>
      </p:sp>
      <p:sp>
        <p:nvSpPr>
          <p:cNvPr id="3" name="">
            <a:extLst>
              <a:ext uri="{FF2B5EF4-FFF2-40B4-BE49-F238E27FC236}">
                <ns2:creationId id="{6567974B-4AA6-41A3-9435-BA2BDBB00C32}"/>
              </a:ext>
            </a:extLst>
          </p:cNvPr>
          <p:cNvSpPr>
            <a:spLocks noGrp="1"/>
          </p:cNvSpPr>
          <p:nvPr/>
        </p:nvSpPr>
        <p:spPr>
          <a:xfrm>
            <a:off x="685800" y="1933575"/>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status: checked_out · returned · unknown</a:t>
            </a:r>
          </a:p>
        </p:txBody>
      </p:sp>
      <p:sp>
        <p:nvSpPr>
          <p:cNvPr id="4" name="">
            <a:extLst>
              <a:ext uri="{FF2B5EF4-FFF2-40B4-BE49-F238E27FC236}">
                <ns2:creationId id="{568C70C6-2555-4BB1-94ED-2BE848122EF8}"/>
              </a:ext>
            </a:extLst>
          </p:cNvPr>
          <p:cNvSpPr>
            <a:spLocks noGrp="1"/>
          </p:cNvSpPr>
          <p:nvPr/>
        </p:nvSpPr>
        <p:spPr>
          <a:xfrm>
            <a:off x="685800" y="2769870"/>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처리 결과: review · reject</a:t>
            </a:r>
          </a:p>
        </p:txBody>
      </p:sp>
      <p:sp>
        <p:nvSpPr>
          <p:cNvPr id="5" name="">
            <a:extLst>
              <a:ext uri="{FF2B5EF4-FFF2-40B4-BE49-F238E27FC236}">
                <ns2:creationId id="{3BB93EA3-93AF-4AD4-854C-0EFBE9FE4696}"/>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원래 상태와 처리 결과</a:t>
            </a:r>
          </a:p>
        </p:txBody>
      </p:sp>
      <p:graphicFrame>
        <p:nvGraphicFramePr>
          <p:cNvPr id="17" name=""/>
          <p:cNvGraphicFramePr/>
          <p:nvPr/>
        </p:nvGraphicFramePr>
        <p:xfrm>
          <a:off x="6267450" y="2628900"/>
          <a:ext cx="5238750" cy="1819275"/>
        </p:xfrm>
        <a:graphic>
          <a:graphicData uri="http://schemas.openxmlformats.org/drawingml/2006/table">
            <a:tbl>
              <a:tblPr firstRow="1" bandRow="0"/>
              <a:tblGrid>
                <a:gridCol w="1392676"/>
                <a:gridCol w="3846074"/>
              </a:tblGrid>
              <a:tr h="514350">
                <a:tc>
                  <a:txBody>
                    <a:bodyPr wrap="square"/>
                    <a:lstStyle/>
                    <a:p>
                      <a:pPr>
                        <a:lnSpc>
                          <a:spcPct val="102000"/>
                        </a:lnSpc>
                        <a:buNone/>
                      </a:pPr>
                      <a:r>
                        <a:rPr sz="1875" b="1">
                          <a:solidFill>
                            <a:srgbClr val="172F39"/>
                          </a:solidFill>
                          <a:latin typeface="Noto Sans KR"/>
                          <a:ea typeface="Noto Sans KR"/>
                          <a:cs typeface="Noto Sans KR"/>
                        </a:rPr>
                        <a:t>종류</a:t>
                      </a:r>
                    </a:p>
                  </a:txBody>
                  <a:tcPr marL="114300" marR="114300" marT="76200" marB="76200" anchor="ctr">
                    <a:solidFill>
                      <a:srgbClr val="DCECE8"/>
                    </a:solidFill>
                  </a:tcPr>
                </a:tc>
                <a:tc>
                  <a:txBody>
                    <a:bodyPr wrap="square"/>
                    <a:lstStyle/>
                    <a:p>
                      <a:pPr>
                        <a:lnSpc>
                          <a:spcPct val="102000"/>
                        </a:lnSpc>
                        <a:buNone/>
                      </a:pPr>
                      <a:r>
                        <a:rPr sz="1875" b="1">
                          <a:solidFill>
                            <a:srgbClr val="172F39"/>
                          </a:solidFill>
                          <a:latin typeface="Noto Sans KR"/>
                          <a:ea typeface="Noto Sans KR"/>
                          <a:cs typeface="Noto Sans KR"/>
                        </a:rPr>
                        <a:t>값</a:t>
                      </a:r>
                    </a:p>
                  </a:txBody>
                  <a:tcPr marL="114300" marR="114300" marT="76200" marB="76200" anchor="ctr">
                    <a:solidFill>
                      <a:srgbClr val="DCECE8"/>
                    </a:solidFill>
                  </a:tcPr>
                </a:tc>
              </a:tr>
              <a:tr h="790575">
                <a:tc>
                  <a:txBody>
                    <a:bodyPr wrap="square"/>
                    <a:lstStyle/>
                    <a:p>
                      <a:pPr>
                        <a:lnSpc>
                          <a:spcPct val="102000"/>
                        </a:lnSpc>
                        <a:buNone/>
                      </a:pPr>
                      <a:r>
                        <a:rPr sz="1875" b="0">
                          <a:solidFill>
                            <a:srgbClr val="172F39"/>
                          </a:solidFill>
                          <a:latin typeface="Noto Sans KR"/>
                          <a:ea typeface="Noto Sans KR"/>
                          <a:cs typeface="Noto Sans KR"/>
                        </a:rPr>
                        <a:t>status</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checked_out / returned / unknown</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처리 결과</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review / reject</a:t>
                      </a:r>
                    </a:p>
                  </a:txBody>
                  <a:tcPr marL="114300" marR="114300" marT="76200" marB="76200" anchor="ctr">
                    <a:solidFill>
                      <a:srgbClr val="FFFFFF"/>
                    </a:solidFill>
                  </a:tcPr>
                </a:tc>
              </a:tr>
            </a:tbl>
          </a:graphicData>
        </a:graphic>
      </p:graphicFrame>
      <p:sp>
        <p:nvSpPr>
          <p:cNvPr id="7" name="">
            <a:extLst>
              <a:ext uri="{FF2B5EF4-FFF2-40B4-BE49-F238E27FC236}">
                <ns2:creationId id="{FB4AE03A-F5BC-4E01-BF8D-A91DC699719C}"/>
              </a:ext>
            </a:extLst>
          </p:cNvPr>
          <p:cNvSpPr>
            <a:spLocks noGrp="1"/>
          </p:cNvSpPr>
          <p:nvPr/>
        </p:nvSpPr>
        <p:spPr>
          <a:xfrm>
            <a:off x="685800" y="6172200"/>
            <a:ext cx="10820400" cy="9525"/>
          </a:xfrm>
          <a:prstGeom prst="rect">
            <a:avLst/>
          </a:prstGeom>
          <a:solidFill>
            <a:srgbClr val="D5DEDD"/>
          </a:solidFill>
          <a:ln w="0">
            <a:noFill/>
          </a:ln>
        </p:spPr>
      </p:sp>
      <p:sp>
        <p:nvSpPr>
          <p:cNvPr id="8" name="">
            <a:extLst>
              <a:ext uri="{FF2B5EF4-FFF2-40B4-BE49-F238E27FC236}">
                <ns2:creationId id="{54625576-727A-492C-A30C-0E161393C7D4}"/>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9" name="">
            <a:extLst>
              <a:ext uri="{FF2B5EF4-FFF2-40B4-BE49-F238E27FC236}">
                <ns2:creationId id="{CE041A35-699B-460A-99D3-BCE1F692478B}"/>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0" name="">
            <a:extLst>
              <a:ext uri="{FF2B5EF4-FFF2-40B4-BE49-F238E27FC236}">
                <ns2:creationId id="{C4871E35-739F-4091-BE0E-5EDD69448F21}"/>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1" name="">
            <a:extLst>
              <a:ext uri="{FF2B5EF4-FFF2-40B4-BE49-F238E27FC236}">
                <ns2:creationId id="{90ABF181-C9C4-485E-A433-532D13CF14A0}"/>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10/30   041</a:t>
            </a:r>
          </a:p>
        </p:txBody>
      </p:sp>
    </p:spTree>
    <p:extLst>
      <p:ext uri="{BB962C8B-B14F-4D97-AF65-F5344CB8AC3E}">
        <ns4:creationId val="1681682879"/>
      </p:ext>
    </p:extLst>
  </p:cSld>
</p:sld>
</file>

<file path=ppt/slides/slide42.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0" name="">
            <a:extLst>
              <a:ext uri="{FF2B5EF4-FFF2-40B4-BE49-F238E27FC236}">
                <ns2:creationId id="{CCD3132D-8183-47C3-988B-578C21C2DA03}"/>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3교시</a:t>
            </a:r>
          </a:p>
        </p:txBody>
      </p:sp>
      <p:sp>
        <p:nvSpPr>
          <p:cNvPr id="2" name="">
            <a:extLst>
              <a:ext uri="{FF2B5EF4-FFF2-40B4-BE49-F238E27FC236}">
                <ns2:creationId id="{9EF6A79C-70C5-463F-A183-1073C3B615BA}"/>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CSV 읽기와 값 검사</a:t>
            </a:r>
          </a:p>
        </p:txBody>
      </p:sp>
      <p:sp>
        <p:nvSpPr>
          <p:cNvPr id="3" name="">
            <a:extLst>
              <a:ext uri="{FF2B5EF4-FFF2-40B4-BE49-F238E27FC236}">
                <ns2:creationId id="{BE83A4DF-C96B-44D8-A723-6A6B12A1E4F0}"/>
              </a:ext>
            </a:extLst>
          </p:cNvPr>
          <p:cNvSpPr>
            <a:spLocks noGrp="1"/>
          </p:cNvSpPr>
          <p:nvPr/>
        </p:nvSpPr>
        <p:spPr>
          <a:xfrm>
            <a:off x="685800" y="1990725"/>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CSV 파싱 → 키·값 검사 → 화면 표시</a:t>
            </a:r>
          </a:p>
        </p:txBody>
      </p:sp>
      <p:sp>
        <p:nvSpPr>
          <p:cNvPr id="4" name="">
            <a:extLst>
              <a:ext uri="{FF2B5EF4-FFF2-40B4-BE49-F238E27FC236}">
                <ns2:creationId id="{9D73256F-8AEA-40E2-84C6-B8135A6AD212}"/>
              </a:ext>
            </a:extLst>
          </p:cNvPr>
          <p:cNvSpPr>
            <a:spLocks noGrp="1"/>
          </p:cNvSpPr>
          <p:nvPr/>
        </p:nvSpPr>
        <p:spPr>
          <a:xfrm>
            <a:off x="685800" y="2534793"/>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CSV 형식 오류와 값이 규칙에 맞지 않는 오류를 구분합니다.</a:t>
            </a:r>
          </a:p>
        </p:txBody>
      </p:sp>
      <p:sp>
        <p:nvSpPr>
          <p:cNvPr id="5" name="">
            <a:extLst>
              <a:ext uri="{FF2B5EF4-FFF2-40B4-BE49-F238E27FC236}">
                <ns2:creationId id="{4794A31C-452D-4281-80CD-45F24FAC4B29}"/>
              </a:ext>
            </a:extLst>
          </p:cNvPr>
          <p:cNvSpPr>
            <a:spLocks noGrp="1"/>
          </p:cNvSpPr>
          <p:nvPr/>
        </p:nvSpPr>
        <p:spPr>
          <a:xfrm>
            <a:off x="685800" y="6172200"/>
            <a:ext cx="10820400" cy="9525"/>
          </a:xfrm>
          <a:prstGeom prst="rect">
            <a:avLst/>
          </a:prstGeom>
          <a:solidFill>
            <a:srgbClr val="D5DEDD"/>
          </a:solidFill>
          <a:ln w="0">
            <a:noFill/>
          </a:ln>
        </p:spPr>
      </p:sp>
      <p:sp>
        <p:nvSpPr>
          <p:cNvPr id="6" name="">
            <a:extLst>
              <a:ext uri="{FF2B5EF4-FFF2-40B4-BE49-F238E27FC236}">
                <ns2:creationId id="{F792C980-3CD0-4618-BCFE-129A39A52171}"/>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7" name="">
            <a:extLst>
              <a:ext uri="{FF2B5EF4-FFF2-40B4-BE49-F238E27FC236}">
                <ns2:creationId id="{882E089B-E794-4B61-A333-1E314FA6ADC5}"/>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8" name="">
            <a:extLst>
              <a:ext uri="{FF2B5EF4-FFF2-40B4-BE49-F238E27FC236}">
                <ns2:creationId id="{D890F8B8-6E32-47B8-B219-9409998D2AB4}"/>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9" name="">
            <a:extLst>
              <a:ext uri="{FF2B5EF4-FFF2-40B4-BE49-F238E27FC236}">
                <ns2:creationId id="{3DCBFFDC-6D80-4CDF-9195-2AB2254F44A7}"/>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10/30   042</a:t>
            </a:r>
          </a:p>
        </p:txBody>
      </p:sp>
    </p:spTree>
    <p:extLst>
      <p:ext uri="{BB962C8B-B14F-4D97-AF65-F5344CB8AC3E}">
        <ns4:creationId val="613553376"/>
      </p:ext>
    </p:extLst>
  </p:cSld>
</p:sld>
</file>

<file path=ppt/slides/slide43.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4" name="">
            <a:extLst>
              <a:ext uri="{FF2B5EF4-FFF2-40B4-BE49-F238E27FC236}">
                <ns2:creationId id="{8C71FBA7-A837-43EF-9E6A-86D47878DE98}"/>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3교시</a:t>
            </a:r>
          </a:p>
        </p:txBody>
      </p:sp>
      <p:sp>
        <p:nvSpPr>
          <p:cNvPr id="2" name="">
            <a:extLst>
              <a:ext uri="{FF2B5EF4-FFF2-40B4-BE49-F238E27FC236}">
                <ns2:creationId id="{D96F24D2-6665-4C30-A6B6-8CA4B0571879}"/>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갱신 시각 누락 처리</a:t>
            </a:r>
          </a:p>
        </p:txBody>
      </p:sp>
      <p:sp>
        <p:nvSpPr>
          <p:cNvPr id="3" name="">
            <a:extLst>
              <a:ext uri="{FF2B5EF4-FFF2-40B4-BE49-F238E27FC236}">
                <ns2:creationId id="{5531F8D8-DFC7-4E60-B234-2F578820E155}"/>
              </a:ext>
            </a:extLst>
          </p:cNvPr>
          <p:cNvSpPr>
            <a:spLocks noGrp="1"/>
          </p:cNvSpPr>
          <p:nvPr/>
        </p:nvSpPr>
        <p:spPr>
          <a:xfrm>
            <a:off x="685800" y="1933575"/>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updated_at 빈칸 → review와 이유</a:t>
            </a:r>
          </a:p>
        </p:txBody>
      </p:sp>
      <p:sp>
        <p:nvSpPr>
          <p:cNvPr id="4" name="">
            <a:extLst>
              <a:ext uri="{FF2B5EF4-FFF2-40B4-BE49-F238E27FC236}">
                <ns2:creationId id="{702ED15E-5539-406F-BA02-5AAB4037C499}"/>
              </a:ext>
            </a:extLst>
          </p:cNvPr>
          <p:cNvSpPr>
            <a:spLocks noGrp="1"/>
          </p:cNvSpPr>
          <p:nvPr/>
        </p:nvSpPr>
        <p:spPr>
          <a:xfrm>
            <a:off x="685800" y="2432685"/>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현재 시각을 만들거나 반납 완료로 바꾸지 않습니다.</a:t>
            </a:r>
          </a:p>
        </p:txBody>
      </p:sp>
      <p:sp>
        <p:nvSpPr>
          <p:cNvPr id="5" name="">
            <a:extLst>
              <a:ext uri="{FF2B5EF4-FFF2-40B4-BE49-F238E27FC236}">
                <ns2:creationId id="{BC78D0E9-E115-4D2F-B9EA-9BBE9AB3BC0C}"/>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시각이 없는 기록</a:t>
            </a:r>
          </a:p>
        </p:txBody>
      </p:sp>
      <p:sp>
        <p:nvSpPr>
          <p:cNvPr id="6" name="">
            <a:extLst>
              <a:ext uri="{FF2B5EF4-FFF2-40B4-BE49-F238E27FC236}">
                <ns2:creationId id="{39A5D4FE-3CE5-4253-B017-CA04856F807D}"/>
              </a:ext>
            </a:extLst>
          </p:cNvPr>
          <p:cNvSpPr>
            <a:spLocks noGrp="1"/>
          </p:cNvSpPr>
          <p:nvPr/>
        </p:nvSpPr>
        <p:spPr>
          <a:xfrm>
            <a:off x="6267450" y="2628900"/>
            <a:ext cx="5238750" cy="440246"/>
          </a:xfrm>
          <a:prstGeom prst="rect">
            <a:avLst/>
          </a:prstGeom>
          <a:noFill/>
          <a:ln w="0">
            <a:noFill/>
          </a:ln>
        </p:spPr>
        <p:txBody>
          <a:bodyPr wrap="square" lIns="0" tIns="0" rIns="0" bIns="0">
            <a:noAutofit/>
          </a:bodyPr>
          <a:lstStyle/>
          <a:p>
            <a:pPr>
              <a:defRPr sz="2175" b="0">
                <a:solidFill>
                  <a:srgbClr val="172F39"/>
                </a:solidFill>
                <a:latin typeface="Noto Sans KR"/>
                <a:ea typeface="Noto Sans KR"/>
                <a:cs typeface="Noto Sans KR"/>
              </a:defRPr>
            </a:pPr>
            <a:r>
              <a:t>updated_at = 빈칸</a:t>
            </a:r>
          </a:p>
        </p:txBody>
      </p:sp>
      <p:sp>
        <p:nvSpPr>
          <p:cNvPr id="7" name="">
            <a:extLst>
              <a:ext uri="{FF2B5EF4-FFF2-40B4-BE49-F238E27FC236}">
                <ns2:creationId id="{287DBA4D-3370-4858-B9E4-C2B3790A988A}"/>
              </a:ext>
            </a:extLst>
          </p:cNvPr>
          <p:cNvSpPr>
            <a:spLocks noGrp="1"/>
          </p:cNvSpPr>
          <p:nvPr/>
        </p:nvSpPr>
        <p:spPr>
          <a:xfrm>
            <a:off x="6267450" y="3116771"/>
            <a:ext cx="5238750" cy="440246"/>
          </a:xfrm>
          <a:prstGeom prst="rect">
            <a:avLst/>
          </a:prstGeom>
          <a:noFill/>
          <a:ln w="0">
            <a:noFill/>
          </a:ln>
        </p:spPr>
        <p:txBody>
          <a:bodyPr wrap="square" lIns="0" tIns="0" rIns="0" bIns="0">
            <a:noAutofit/>
          </a:bodyPr>
          <a:lstStyle/>
          <a:p>
            <a:pPr>
              <a:defRPr sz="2175" b="0">
                <a:solidFill>
                  <a:srgbClr val="172F39"/>
                </a:solidFill>
                <a:latin typeface="Noto Sans KR"/>
                <a:ea typeface="Noto Sans KR"/>
                <a:cs typeface="Noto Sans KR"/>
              </a:defRPr>
            </a:pPr>
            <a:r>
              <a:t>현재 시각을 임의로 넣지 않기</a:t>
            </a:r>
          </a:p>
        </p:txBody>
      </p:sp>
      <p:sp>
        <p:nvSpPr>
          <p:cNvPr id="8" name="">
            <a:extLst>
              <a:ext uri="{FF2B5EF4-FFF2-40B4-BE49-F238E27FC236}">
                <ns2:creationId id="{9118C94D-7661-4AEA-88C3-B6C9D1182350}"/>
              </a:ext>
            </a:extLst>
          </p:cNvPr>
          <p:cNvSpPr>
            <a:spLocks noGrp="1"/>
          </p:cNvSpPr>
          <p:nvPr/>
        </p:nvSpPr>
        <p:spPr>
          <a:xfrm>
            <a:off x="6267450" y="3604641"/>
            <a:ext cx="5238750" cy="440246"/>
          </a:xfrm>
          <a:prstGeom prst="rect">
            <a:avLst/>
          </a:prstGeom>
          <a:noFill/>
          <a:ln w="0">
            <a:noFill/>
          </a:ln>
        </p:spPr>
        <p:txBody>
          <a:bodyPr wrap="square" lIns="0" tIns="0" rIns="0" bIns="0">
            <a:noAutofit/>
          </a:bodyPr>
          <a:lstStyle/>
          <a:p>
            <a:pPr>
              <a:defRPr sz="2175" b="0">
                <a:solidFill>
                  <a:srgbClr val="172F39"/>
                </a:solidFill>
                <a:latin typeface="Noto Sans KR"/>
                <a:ea typeface="Noto Sans KR"/>
                <a:cs typeface="Noto Sans KR"/>
              </a:defRPr>
            </a:pPr>
            <a:r>
              <a:t>review와 이유 표시</a:t>
            </a:r>
          </a:p>
        </p:txBody>
      </p:sp>
      <p:sp>
        <p:nvSpPr>
          <p:cNvPr id="9" name="">
            <a:extLst>
              <a:ext uri="{FF2B5EF4-FFF2-40B4-BE49-F238E27FC236}">
                <ns2:creationId id="{652A4235-7D64-4482-8E5D-CB46B0994AA5}"/>
              </a:ext>
            </a:extLst>
          </p:cNvPr>
          <p:cNvSpPr>
            <a:spLocks noGrp="1"/>
          </p:cNvSpPr>
          <p:nvPr/>
        </p:nvSpPr>
        <p:spPr>
          <a:xfrm>
            <a:off x="685800" y="6172200"/>
            <a:ext cx="10820400" cy="9525"/>
          </a:xfrm>
          <a:prstGeom prst="rect">
            <a:avLst/>
          </a:prstGeom>
          <a:solidFill>
            <a:srgbClr val="D5DEDD"/>
          </a:solidFill>
          <a:ln w="0">
            <a:noFill/>
          </a:ln>
        </p:spPr>
      </p:sp>
      <p:sp>
        <p:nvSpPr>
          <p:cNvPr id="10" name="">
            <a:extLst>
              <a:ext uri="{FF2B5EF4-FFF2-40B4-BE49-F238E27FC236}">
                <ns2:creationId id="{B7FB91EF-CD36-48F8-B0FD-AB329860C71C}"/>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1" name="">
            <a:extLst>
              <a:ext uri="{FF2B5EF4-FFF2-40B4-BE49-F238E27FC236}">
                <ns2:creationId id="{89F19DF2-CE48-471D-83F7-D3A8F6145BD4}"/>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2" name="">
            <a:extLst>
              <a:ext uri="{FF2B5EF4-FFF2-40B4-BE49-F238E27FC236}">
                <ns2:creationId id="{D80EDEC1-2AC4-48C3-AEF4-6C9B5D22B6EB}"/>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3" name="">
            <a:extLst>
              <a:ext uri="{FF2B5EF4-FFF2-40B4-BE49-F238E27FC236}">
                <ns2:creationId id="{56089696-C45E-4E10-BE3A-739BBAB60145}"/>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10/30   043</a:t>
            </a:r>
          </a:p>
        </p:txBody>
      </p:sp>
    </p:spTree>
    <p:extLst>
      <p:ext uri="{BB962C8B-B14F-4D97-AF65-F5344CB8AC3E}">
        <ns4:creationId val="1316837661"/>
      </p:ext>
    </p:extLst>
  </p:cSld>
</p:sld>
</file>

<file path=ppt/slides/slide44.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9" name="">
            <a:extLst>
              <a:ext uri="{FF2B5EF4-FFF2-40B4-BE49-F238E27FC236}">
                <ns2:creationId id="{8A28F7B0-67B0-4CE4-BEDB-047C01844952}"/>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3교시</a:t>
            </a:r>
          </a:p>
        </p:txBody>
      </p:sp>
      <p:sp>
        <p:nvSpPr>
          <p:cNvPr id="2" name="">
            <a:extLst>
              <a:ext uri="{FF2B5EF4-FFF2-40B4-BE49-F238E27FC236}">
                <ns2:creationId id="{4E834AD5-36FA-460C-A0C5-217DC0DC1220}"/>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정상·검토 필요·오류 화면</a:t>
            </a:r>
          </a:p>
        </p:txBody>
      </p:sp>
      <p:graphicFrame>
        <p:nvGraphicFramePr>
          <p:cNvPr id="11" name=""/>
          <p:cNvGraphicFramePr/>
          <p:nvPr/>
        </p:nvGraphicFramePr>
        <p:xfrm>
          <a:off x="685800" y="1809750"/>
          <a:ext cx="10820400" cy="2682240"/>
        </p:xfrm>
        <a:graphic>
          <a:graphicData uri="http://schemas.openxmlformats.org/drawingml/2006/table">
            <a:tbl>
              <a:tblPr firstRow="1" bandRow="0"/>
              <a:tblGrid>
                <a:gridCol w="4743189"/>
                <a:gridCol w="3606800"/>
                <a:gridCol w="2470411"/>
              </a:tblGrid>
              <a:tr h="536448">
                <a:tc>
                  <a:txBody>
                    <a:bodyPr wrap="square"/>
                    <a:lstStyle/>
                    <a:p>
                      <a:pPr>
                        <a:lnSpc>
                          <a:spcPct val="102000"/>
                        </a:lnSpc>
                        <a:buNone/>
                      </a:pPr>
                      <a:r>
                        <a:rPr sz="2025" b="1">
                          <a:solidFill>
                            <a:srgbClr val="172F39"/>
                          </a:solidFill>
                          <a:latin typeface="Noto Sans KR"/>
                          <a:ea typeface="Noto Sans KR"/>
                          <a:cs typeface="Noto Sans KR"/>
                        </a:rPr>
                        <a:t>입력 조건</a:t>
                      </a:r>
                    </a:p>
                  </a:txBody>
                  <a:tcPr marL="114300" marR="114300" marT="76200" marB="76200" anchor="ctr">
                    <a:solidFill>
                      <a:srgbClr val="DCECE8"/>
                    </a:solidFill>
                  </a:tcPr>
                </a:tc>
                <a:tc>
                  <a:txBody>
                    <a:bodyPr wrap="square"/>
                    <a:lstStyle/>
                    <a:p>
                      <a:pPr>
                        <a:lnSpc>
                          <a:spcPct val="102000"/>
                        </a:lnSpc>
                        <a:buNone/>
                      </a:pPr>
                      <a:r>
                        <a:rPr sz="2025" b="1">
                          <a:solidFill>
                            <a:srgbClr val="172F39"/>
                          </a:solidFill>
                          <a:latin typeface="Noto Sans KR"/>
                          <a:ea typeface="Noto Sans KR"/>
                          <a:cs typeface="Noto Sans KR"/>
                        </a:rPr>
                        <a:t>처리 결과</a:t>
                      </a:r>
                    </a:p>
                  </a:txBody>
                  <a:tcPr marL="114300" marR="114300" marT="76200" marB="76200" anchor="ctr">
                    <a:solidFill>
                      <a:srgbClr val="DCECE8"/>
                    </a:solidFill>
                  </a:tcPr>
                </a:tc>
                <a:tc>
                  <a:txBody>
                    <a:bodyPr wrap="square"/>
                    <a:lstStyle/>
                    <a:p>
                      <a:pPr>
                        <a:lnSpc>
                          <a:spcPct val="102000"/>
                        </a:lnSpc>
                        <a:buNone/>
                      </a:pPr>
                      <a:r>
                        <a:rPr sz="2025" b="1">
                          <a:solidFill>
                            <a:srgbClr val="172F39"/>
                          </a:solidFill>
                          <a:latin typeface="Noto Sans KR"/>
                          <a:ea typeface="Noto Sans KR"/>
                          <a:cs typeface="Noto Sans KR"/>
                        </a:rPr>
                        <a:t>원문</a:t>
                      </a:r>
                    </a:p>
                  </a:txBody>
                  <a:tcPr marL="114300" marR="114300" marT="76200" marB="76200" anchor="ctr">
                    <a:solidFill>
                      <a:srgbClr val="DCECE8"/>
                    </a:solidFill>
                  </a:tcPr>
                </a:tc>
              </a:tr>
              <a:tr h="536448">
                <a:tc>
                  <a:txBody>
                    <a:bodyPr wrap="square"/>
                    <a:lstStyle/>
                    <a:p>
                      <a:pPr>
                        <a:lnSpc>
                          <a:spcPct val="102000"/>
                        </a:lnSpc>
                        <a:buNone/>
                      </a:pPr>
                      <a:r>
                        <a:rPr sz="2025" b="0">
                          <a:solidFill>
                            <a:srgbClr val="172F39"/>
                          </a:solidFill>
                          <a:latin typeface="Noto Sans KR"/>
                          <a:ea typeface="Noto Sans KR"/>
                          <a:cs typeface="Noto Sans KR"/>
                        </a:rPr>
                        <a:t>정상 3건</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3행 표시</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보존</a:t>
                      </a:r>
                    </a:p>
                  </a:txBody>
                  <a:tcPr marL="114300" marR="114300" marT="76200" marB="76200" anchor="ctr">
                    <a:solidFill>
                      <a:srgbClr val="FFFFFF"/>
                    </a:solidFill>
                  </a:tcPr>
                </a:tc>
              </a:tr>
              <a:tr h="536448">
                <a:tc>
                  <a:txBody>
                    <a:bodyPr wrap="square"/>
                    <a:lstStyle/>
                    <a:p>
                      <a:pPr>
                        <a:lnSpc>
                          <a:spcPct val="102000"/>
                        </a:lnSpc>
                        <a:buNone/>
                      </a:pPr>
                      <a:r>
                        <a:rPr sz="2025" b="0">
                          <a:solidFill>
                            <a:srgbClr val="172F39"/>
                          </a:solidFill>
                          <a:latin typeface="Noto Sans KR"/>
                          <a:ea typeface="Noto Sans KR"/>
                          <a:cs typeface="Noto Sans KR"/>
                        </a:rPr>
                        <a:t>갱신 시각 없음</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review</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보존</a:t>
                      </a:r>
                    </a:p>
                  </a:txBody>
                  <a:tcPr marL="114300" marR="114300" marT="76200" marB="76200" anchor="ctr">
                    <a:solidFill>
                      <a:srgbClr val="FFFFFF"/>
                    </a:solidFill>
                  </a:tcPr>
                </a:tc>
              </a:tr>
              <a:tr h="536448">
                <a:tc>
                  <a:txBody>
                    <a:bodyPr wrap="square"/>
                    <a:lstStyle/>
                    <a:p>
                      <a:pPr>
                        <a:lnSpc>
                          <a:spcPct val="102000"/>
                        </a:lnSpc>
                        <a:buNone/>
                      </a:pPr>
                      <a:r>
                        <a:rPr sz="2025" b="0">
                          <a:solidFill>
                            <a:srgbClr val="172F39"/>
                          </a:solidFill>
                          <a:latin typeface="Noto Sans KR"/>
                          <a:ea typeface="Noto Sans KR"/>
                          <a:cs typeface="Noto Sans KR"/>
                        </a:rPr>
                        <a:t>대여 키 중복</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reject</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보존</a:t>
                      </a:r>
                    </a:p>
                  </a:txBody>
                  <a:tcPr marL="114300" marR="114300" marT="76200" marB="76200" anchor="ctr">
                    <a:solidFill>
                      <a:srgbClr val="FFFFFF"/>
                    </a:solidFill>
                  </a:tcPr>
                </a:tc>
              </a:tr>
              <a:tr h="536448">
                <a:tc>
                  <a:txBody>
                    <a:bodyPr wrap="square"/>
                    <a:lstStyle/>
                    <a:p>
                      <a:pPr>
                        <a:lnSpc>
                          <a:spcPct val="102000"/>
                        </a:lnSpc>
                        <a:buNone/>
                      </a:pPr>
                      <a:r>
                        <a:rPr sz="2025" b="0">
                          <a:solidFill>
                            <a:srgbClr val="172F39"/>
                          </a:solidFill>
                          <a:latin typeface="Noto Sans KR"/>
                          <a:ea typeface="Noto Sans KR"/>
                          <a:cs typeface="Noto Sans KR"/>
                        </a:rPr>
                        <a:t>CSV 문법 오류</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읽기 실패</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보존</a:t>
                      </a:r>
                    </a:p>
                  </a:txBody>
                  <a:tcPr marL="114300" marR="114300" marT="76200" marB="76200" anchor="ctr">
                    <a:solidFill>
                      <a:srgbClr val="FFFFFF"/>
                    </a:solidFill>
                  </a:tcPr>
                </a:tc>
              </a:tr>
            </a:tbl>
          </a:graphicData>
        </a:graphic>
      </p:graphicFrame>
      <p:sp>
        <p:nvSpPr>
          <p:cNvPr id="4" name="">
            <a:extLst>
              <a:ext uri="{FF2B5EF4-FFF2-40B4-BE49-F238E27FC236}">
                <ns2:creationId id="{BCEA00D4-972A-4C5E-A78C-6D978A4FAD9A}"/>
              </a:ext>
            </a:extLst>
          </p:cNvPr>
          <p:cNvSpPr>
            <a:spLocks noGrp="1"/>
          </p:cNvSpPr>
          <p:nvPr/>
        </p:nvSpPr>
        <p:spPr>
          <a:xfrm>
            <a:off x="685800" y="6172200"/>
            <a:ext cx="10820400" cy="9525"/>
          </a:xfrm>
          <a:prstGeom prst="rect">
            <a:avLst/>
          </a:prstGeom>
          <a:solidFill>
            <a:srgbClr val="D5DEDD"/>
          </a:solidFill>
          <a:ln w="0">
            <a:noFill/>
          </a:ln>
        </p:spPr>
      </p:sp>
      <p:sp>
        <p:nvSpPr>
          <p:cNvPr id="5" name="">
            <a:extLst>
              <a:ext uri="{FF2B5EF4-FFF2-40B4-BE49-F238E27FC236}">
                <ns2:creationId id="{490511D4-76B7-448F-8486-170B75C22B5D}"/>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6" name="">
            <a:extLst>
              <a:ext uri="{FF2B5EF4-FFF2-40B4-BE49-F238E27FC236}">
                <ns2:creationId id="{D2D80600-7DF8-4797-92D9-A7E0EADB6543}"/>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7" name="">
            <a:extLst>
              <a:ext uri="{FF2B5EF4-FFF2-40B4-BE49-F238E27FC236}">
                <ns2:creationId id="{F121E5C4-E7C7-4187-80F7-6C356D1BB3B7}"/>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8" name="">
            <a:extLst>
              <a:ext uri="{FF2B5EF4-FFF2-40B4-BE49-F238E27FC236}">
                <ns2:creationId id="{5EA21C27-598C-4728-A95F-CB64EEA30EFE}"/>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10/30   044</a:t>
            </a:r>
          </a:p>
        </p:txBody>
      </p:sp>
    </p:spTree>
    <p:extLst>
      <p:ext uri="{BB962C8B-B14F-4D97-AF65-F5344CB8AC3E}">
        <ns4:creationId val="366668798"/>
      </p:ext>
    </p:extLst>
  </p:cSld>
</p:sld>
</file>

<file path=ppt/slides/slide45.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0" name="">
            <a:extLst>
              <a:ext uri="{FF2B5EF4-FFF2-40B4-BE49-F238E27FC236}">
                <ns2:creationId id="{36C013DF-F54B-44BA-B636-FB0F3177EB30}"/>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3교시</a:t>
            </a:r>
          </a:p>
        </p:txBody>
      </p:sp>
      <p:sp>
        <p:nvSpPr>
          <p:cNvPr id="2" name="">
            <a:extLst>
              <a:ext uri="{FF2B5EF4-FFF2-40B4-BE49-F238E27FC236}">
                <ns2:creationId id="{6CC989A4-0F17-47CF-9790-141ED4307881}"/>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예상 출력</a:t>
            </a:r>
          </a:p>
        </p:txBody>
      </p:sp>
      <p:sp>
        <p:nvSpPr>
          <p:cNvPr id="3" name="">
            <a:extLst>
              <a:ext uri="{FF2B5EF4-FFF2-40B4-BE49-F238E27FC236}">
                <ns2:creationId id="{A8463747-2FEA-4FBA-9390-849E970AC05A}"/>
              </a:ext>
            </a:extLst>
          </p:cNvPr>
          <p:cNvSpPr>
            <a:spLocks noGrp="1"/>
          </p:cNvSpPr>
          <p:nvPr/>
        </p:nvSpPr>
        <p:spPr>
          <a:xfrm>
            <a:off x="685800" y="1990725"/>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대여 ID가 중복되거나 갱신 시각이 없을 때의 처리를 정하세요.</a:t>
            </a:r>
          </a:p>
        </p:txBody>
      </p:sp>
      <p:sp>
        <p:nvSpPr>
          <p:cNvPr id="4" name="">
            <a:extLst>
              <a:ext uri="{FF2B5EF4-FFF2-40B4-BE49-F238E27FC236}">
                <ns2:creationId id="{30740E79-222D-40B4-AA0C-6BC202A3786C}"/>
              </a:ext>
            </a:extLst>
          </p:cNvPr>
          <p:cNvSpPr>
            <a:spLocks noGrp="1"/>
          </p:cNvSpPr>
          <p:nvPr/>
        </p:nvSpPr>
        <p:spPr>
          <a:xfrm>
            <a:off x="685800" y="2534793"/>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검토가 필요한 이유와 원래 기록을 화면에 표시합니다.</a:t>
            </a:r>
          </a:p>
        </p:txBody>
      </p:sp>
      <p:sp>
        <p:nvSpPr>
          <p:cNvPr id="5" name="">
            <a:extLst>
              <a:ext uri="{FF2B5EF4-FFF2-40B4-BE49-F238E27FC236}">
                <ns2:creationId id="{E33E959C-CDE8-45A1-9DDE-FF0400FEF4D9}"/>
              </a:ext>
            </a:extLst>
          </p:cNvPr>
          <p:cNvSpPr>
            <a:spLocks noGrp="1"/>
          </p:cNvSpPr>
          <p:nvPr/>
        </p:nvSpPr>
        <p:spPr>
          <a:xfrm>
            <a:off x="685800" y="6172200"/>
            <a:ext cx="10820400" cy="9525"/>
          </a:xfrm>
          <a:prstGeom prst="rect">
            <a:avLst/>
          </a:prstGeom>
          <a:solidFill>
            <a:srgbClr val="D5DEDD"/>
          </a:solidFill>
          <a:ln w="0">
            <a:noFill/>
          </a:ln>
        </p:spPr>
      </p:sp>
      <p:sp>
        <p:nvSpPr>
          <p:cNvPr id="6" name="">
            <a:extLst>
              <a:ext uri="{FF2B5EF4-FFF2-40B4-BE49-F238E27FC236}">
                <ns2:creationId id="{508B9BD0-386A-422A-8D15-5F16E868275E}"/>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7" name="">
            <a:extLst>
              <a:ext uri="{FF2B5EF4-FFF2-40B4-BE49-F238E27FC236}">
                <ns2:creationId id="{003DE975-7524-47E5-AAA9-0F4DDA96F57C}"/>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8" name="">
            <a:extLst>
              <a:ext uri="{FF2B5EF4-FFF2-40B4-BE49-F238E27FC236}">
                <ns2:creationId id="{682886F3-CC8A-41EB-80AC-44DBA65639C6}"/>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9" name="">
            <a:extLst>
              <a:ext uri="{FF2B5EF4-FFF2-40B4-BE49-F238E27FC236}">
                <ns2:creationId id="{A4387D3C-B6F0-4745-A6CE-CA5AD43F5CC9}"/>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10/30   045</a:t>
            </a:r>
          </a:p>
        </p:txBody>
      </p:sp>
    </p:spTree>
    <p:extLst>
      <p:ext uri="{BB962C8B-B14F-4D97-AF65-F5344CB8AC3E}">
        <ns4:creationId val="1377476626"/>
      </p:ext>
    </p:extLst>
  </p:cSld>
</p:sld>
</file>

<file path=ppt/slides/slide46.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0" name="">
            <a:extLst>
              <a:ext uri="{FF2B5EF4-FFF2-40B4-BE49-F238E27FC236}">
                <ns2:creationId id="{EBF49F72-368F-4174-9107-1D0CAE3C84F4}"/>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3교시</a:t>
            </a:r>
          </a:p>
        </p:txBody>
      </p:sp>
      <p:sp>
        <p:nvSpPr>
          <p:cNvPr id="2" name="">
            <a:extLst>
              <a:ext uri="{FF2B5EF4-FFF2-40B4-BE49-F238E27FC236}">
                <ns2:creationId id="{2B647327-AA64-4C38-9F05-4AEC3C19B4D0}"/>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연습 문제</a:t>
            </a:r>
          </a:p>
        </p:txBody>
      </p:sp>
      <p:sp>
        <p:nvSpPr>
          <p:cNvPr id="3" name="">
            <a:extLst>
              <a:ext uri="{FF2B5EF4-FFF2-40B4-BE49-F238E27FC236}">
                <ns2:creationId id="{31998795-C345-4182-B24D-48AD67DE37A3}"/>
              </a:ext>
            </a:extLst>
          </p:cNvPr>
          <p:cNvSpPr>
            <a:spLocks noGrp="1"/>
          </p:cNvSpPr>
          <p:nvPr/>
        </p:nvSpPr>
        <p:spPr>
          <a:xfrm>
            <a:off x="685800" y="1990725"/>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L10/I02 · L11/I02 · L10/I03</a:t>
            </a:r>
          </a:p>
        </p:txBody>
      </p:sp>
      <p:sp>
        <p:nvSpPr>
          <p:cNvPr id="4" name="">
            <a:extLst>
              <a:ext uri="{FF2B5EF4-FFF2-40B4-BE49-F238E27FC236}">
                <ns2:creationId id="{6BC03F6F-E11A-4E7C-96BD-A35BD7ECE688}"/>
              </a:ext>
            </a:extLst>
          </p:cNvPr>
          <p:cNvSpPr>
            <a:spLocks noGrp="1"/>
          </p:cNvSpPr>
          <p:nvPr/>
        </p:nvSpPr>
        <p:spPr>
          <a:xfrm>
            <a:off x="685800" y="2557272"/>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loan_id가 중복된 두 행은 어느 것인가요?</a:t>
            </a:r>
          </a:p>
        </p:txBody>
      </p:sp>
      <p:sp>
        <p:nvSpPr>
          <p:cNvPr id="5" name="">
            <a:extLst>
              <a:ext uri="{FF2B5EF4-FFF2-40B4-BE49-F238E27FC236}">
                <ns2:creationId id="{03A1B956-862D-4EF2-91A1-892EC642AFFB}"/>
              </a:ext>
            </a:extLst>
          </p:cNvPr>
          <p:cNvSpPr>
            <a:spLocks noGrp="1"/>
          </p:cNvSpPr>
          <p:nvPr/>
        </p:nvSpPr>
        <p:spPr>
          <a:xfrm>
            <a:off x="685800" y="6172200"/>
            <a:ext cx="10820400" cy="9525"/>
          </a:xfrm>
          <a:prstGeom prst="rect">
            <a:avLst/>
          </a:prstGeom>
          <a:solidFill>
            <a:srgbClr val="D5DEDD"/>
          </a:solidFill>
          <a:ln w="0">
            <a:noFill/>
          </a:ln>
        </p:spPr>
      </p:sp>
      <p:sp>
        <p:nvSpPr>
          <p:cNvPr id="6" name="">
            <a:extLst>
              <a:ext uri="{FF2B5EF4-FFF2-40B4-BE49-F238E27FC236}">
                <ns2:creationId id="{3D2A939E-CE1C-46E0-827F-8C7E0E17AAEC}"/>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7" name="">
            <a:extLst>
              <a:ext uri="{FF2B5EF4-FFF2-40B4-BE49-F238E27FC236}">
                <ns2:creationId id="{067ABEE8-5E37-412D-ABCD-CB0CBC2BB100}"/>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8" name="">
            <a:extLst>
              <a:ext uri="{FF2B5EF4-FFF2-40B4-BE49-F238E27FC236}">
                <ns2:creationId id="{636FDD35-E555-4548-96EB-4C3B8A771D4B}"/>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9" name="">
            <a:extLst>
              <a:ext uri="{FF2B5EF4-FFF2-40B4-BE49-F238E27FC236}">
                <ns2:creationId id="{3155BEBC-92F0-4020-BE68-8A991BAA4283}"/>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10/30   046</a:t>
            </a:r>
          </a:p>
        </p:txBody>
      </p:sp>
    </p:spTree>
    <p:extLst>
      <p:ext uri="{BB962C8B-B14F-4D97-AF65-F5344CB8AC3E}">
        <ns4:creationId val="1592186417"/>
      </p:ext>
    </p:extLst>
  </p:cSld>
</p:sld>
</file>

<file path=ppt/slides/slide47.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0" name="">
            <a:extLst>
              <a:ext uri="{FF2B5EF4-FFF2-40B4-BE49-F238E27FC236}">
                <ns2:creationId id="{EBD28539-0506-4071-9857-1DA7A0A59B5C}"/>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3교시</a:t>
            </a:r>
          </a:p>
        </p:txBody>
      </p:sp>
      <p:sp>
        <p:nvSpPr>
          <p:cNvPr id="2" name="">
            <a:extLst>
              <a:ext uri="{FF2B5EF4-FFF2-40B4-BE49-F238E27FC236}">
                <ns2:creationId id="{2E152415-4A5E-4FAE-B792-1DBD7559C513}"/>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풀이</a:t>
            </a:r>
          </a:p>
        </p:txBody>
      </p:sp>
      <p:sp>
        <p:nvSpPr>
          <p:cNvPr id="3" name="">
            <a:extLst>
              <a:ext uri="{FF2B5EF4-FFF2-40B4-BE49-F238E27FC236}">
                <ns2:creationId id="{710DB7E5-26BC-4DF8-ADA7-0FA32C7B501E}"/>
              </a:ext>
            </a:extLst>
          </p:cNvPr>
          <p:cNvSpPr>
            <a:spLocks noGrp="1"/>
          </p:cNvSpPr>
          <p:nvPr/>
        </p:nvSpPr>
        <p:spPr>
          <a:xfrm>
            <a:off x="685800" y="1990725"/>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첫째와 셋째의 loan_id=L10이 충돌합니다.</a:t>
            </a:r>
          </a:p>
        </p:txBody>
      </p:sp>
      <p:sp>
        <p:nvSpPr>
          <p:cNvPr id="4" name="">
            <a:extLst>
              <a:ext uri="{FF2B5EF4-FFF2-40B4-BE49-F238E27FC236}">
                <ns2:creationId id="{F52EDB21-790E-45EA-87C1-CDCD5AFAEF25}"/>
              </a:ext>
            </a:extLst>
          </p:cNvPr>
          <p:cNvSpPr>
            <a:spLocks noGrp="1"/>
          </p:cNvSpPr>
          <p:nvPr/>
        </p:nvSpPr>
        <p:spPr>
          <a:xfrm>
            <a:off x="685800" y="2534793"/>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같은 item_id=I02는 별도 대여일 수 있습니다.</a:t>
            </a:r>
          </a:p>
        </p:txBody>
      </p:sp>
      <p:sp>
        <p:nvSpPr>
          <p:cNvPr id="5" name="">
            <a:extLst>
              <a:ext uri="{FF2B5EF4-FFF2-40B4-BE49-F238E27FC236}">
                <ns2:creationId id="{9BE753D8-0056-44B3-AE7B-9CAD68C051CC}"/>
              </a:ext>
            </a:extLst>
          </p:cNvPr>
          <p:cNvSpPr>
            <a:spLocks noGrp="1"/>
          </p:cNvSpPr>
          <p:nvPr/>
        </p:nvSpPr>
        <p:spPr>
          <a:xfrm>
            <a:off x="685800" y="6172200"/>
            <a:ext cx="10820400" cy="9525"/>
          </a:xfrm>
          <a:prstGeom prst="rect">
            <a:avLst/>
          </a:prstGeom>
          <a:solidFill>
            <a:srgbClr val="D5DEDD"/>
          </a:solidFill>
          <a:ln w="0">
            <a:noFill/>
          </a:ln>
        </p:spPr>
      </p:sp>
      <p:sp>
        <p:nvSpPr>
          <p:cNvPr id="6" name="">
            <a:extLst>
              <a:ext uri="{FF2B5EF4-FFF2-40B4-BE49-F238E27FC236}">
                <ns2:creationId id="{ADBA151D-A5D7-4447-9632-387DC0F8783D}"/>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7" name="">
            <a:extLst>
              <a:ext uri="{FF2B5EF4-FFF2-40B4-BE49-F238E27FC236}">
                <ns2:creationId id="{0B4741D8-DE76-4601-89B6-23DDFFFB454F}"/>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8" name="">
            <a:extLst>
              <a:ext uri="{FF2B5EF4-FFF2-40B4-BE49-F238E27FC236}">
                <ns2:creationId id="{38C26902-87E2-410A-B808-12F084D0C214}"/>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9" name="">
            <a:extLst>
              <a:ext uri="{FF2B5EF4-FFF2-40B4-BE49-F238E27FC236}">
                <ns2:creationId id="{8F2DB0BE-A781-445A-A997-530FA2D64FBB}"/>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10/30   047</a:t>
            </a:r>
          </a:p>
        </p:txBody>
      </p:sp>
    </p:spTree>
    <p:extLst>
      <p:ext uri="{BB962C8B-B14F-4D97-AF65-F5344CB8AC3E}">
        <ns4:creationId val="1537341870"/>
      </p:ext>
    </p:extLst>
  </p:cSld>
</p:sld>
</file>

<file path=ppt/slides/slide48.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0" name="">
            <a:extLst>
              <a:ext uri="{FF2B5EF4-FFF2-40B4-BE49-F238E27FC236}">
                <ns2:creationId id="{6BB03501-7FA4-4922-891E-8060A4F6E35E}"/>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3교시</a:t>
            </a:r>
          </a:p>
        </p:txBody>
      </p:sp>
      <p:sp>
        <p:nvSpPr>
          <p:cNvPr id="2" name="">
            <a:extLst>
              <a:ext uri="{FF2B5EF4-FFF2-40B4-BE49-F238E27FC236}">
                <ns2:creationId id="{0AF4344B-9A30-4ED3-A1C2-9D7B17B982C3}"/>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조건을 바꿔 보기</a:t>
            </a:r>
          </a:p>
        </p:txBody>
      </p:sp>
      <p:sp>
        <p:nvSpPr>
          <p:cNvPr id="3" name="">
            <a:extLst>
              <a:ext uri="{FF2B5EF4-FFF2-40B4-BE49-F238E27FC236}">
                <ns2:creationId id="{EC4F1B75-43FD-4245-97AD-6C7289155030}"/>
              </a:ext>
            </a:extLst>
          </p:cNvPr>
          <p:cNvSpPr>
            <a:spLocks noGrp="1"/>
          </p:cNvSpPr>
          <p:nvPr/>
        </p:nvSpPr>
        <p:spPr>
          <a:xfrm>
            <a:off x="685800" y="1990725"/>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예제에서 updated_at을 빈칸으로 바꿉니다.</a:t>
            </a:r>
          </a:p>
        </p:txBody>
      </p:sp>
      <p:sp>
        <p:nvSpPr>
          <p:cNvPr id="4" name="">
            <a:extLst>
              <a:ext uri="{FF2B5EF4-FFF2-40B4-BE49-F238E27FC236}">
                <ns2:creationId id="{D8A5FC64-B759-429A-BBE2-2F3E638F3BEA}"/>
              </a:ext>
            </a:extLst>
          </p:cNvPr>
          <p:cNvSpPr>
            <a:spLocks noGrp="1"/>
          </p:cNvSpPr>
          <p:nvPr/>
        </p:nvSpPr>
        <p:spPr>
          <a:xfrm>
            <a:off x="685800" y="2557272"/>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status는 유지하고 review를 추가합니다.</a:t>
            </a:r>
          </a:p>
        </p:txBody>
      </p:sp>
      <p:sp>
        <p:nvSpPr>
          <p:cNvPr id="5" name="">
            <a:extLst>
              <a:ext uri="{FF2B5EF4-FFF2-40B4-BE49-F238E27FC236}">
                <ns2:creationId id="{1BA90205-DF1B-4E4F-8A79-A70C43D4DD33}"/>
              </a:ext>
            </a:extLst>
          </p:cNvPr>
          <p:cNvSpPr>
            <a:spLocks noGrp="1"/>
          </p:cNvSpPr>
          <p:nvPr/>
        </p:nvSpPr>
        <p:spPr>
          <a:xfrm>
            <a:off x="685800" y="6172200"/>
            <a:ext cx="10820400" cy="9525"/>
          </a:xfrm>
          <a:prstGeom prst="rect">
            <a:avLst/>
          </a:prstGeom>
          <a:solidFill>
            <a:srgbClr val="D5DEDD"/>
          </a:solidFill>
          <a:ln w="0">
            <a:noFill/>
          </a:ln>
        </p:spPr>
      </p:sp>
      <p:sp>
        <p:nvSpPr>
          <p:cNvPr id="6" name="">
            <a:extLst>
              <a:ext uri="{FF2B5EF4-FFF2-40B4-BE49-F238E27FC236}">
                <ns2:creationId id="{BB11EFC7-8488-4E65-8B04-5B4ECA354A4D}"/>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7" name="">
            <a:extLst>
              <a:ext uri="{FF2B5EF4-FFF2-40B4-BE49-F238E27FC236}">
                <ns2:creationId id="{283C3386-878B-45B8-9E37-B6B0F8C73D4C}"/>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8" name="">
            <a:extLst>
              <a:ext uri="{FF2B5EF4-FFF2-40B4-BE49-F238E27FC236}">
                <ns2:creationId id="{98608BD3-5220-4548-BDF4-44DD0F4D912F}"/>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9" name="">
            <a:extLst>
              <a:ext uri="{FF2B5EF4-FFF2-40B4-BE49-F238E27FC236}">
                <ns2:creationId id="{482B65A3-7835-4F55-81D4-1C8152B97911}"/>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10/30   048</a:t>
            </a:r>
          </a:p>
        </p:txBody>
      </p:sp>
    </p:spTree>
    <p:extLst>
      <p:ext uri="{BB962C8B-B14F-4D97-AF65-F5344CB8AC3E}">
        <ns4:creationId val="1552543666"/>
      </p:ext>
    </p:extLst>
  </p:cSld>
</p:sld>
</file>

<file path=ppt/slides/slide49.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0" name="">
            <a:extLst>
              <a:ext uri="{FF2B5EF4-FFF2-40B4-BE49-F238E27FC236}">
                <ns2:creationId id="{5E507105-51DC-443A-8662-05D8877C6124}"/>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3교시</a:t>
            </a:r>
          </a:p>
        </p:txBody>
      </p:sp>
      <p:sp>
        <p:nvSpPr>
          <p:cNvPr id="2" name="">
            <a:extLst>
              <a:ext uri="{FF2B5EF4-FFF2-40B4-BE49-F238E27FC236}">
                <ns2:creationId id="{2F6287D4-8145-4472-9687-783AC0895396}"/>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잘못 쓰기 쉬운 내용</a:t>
            </a:r>
          </a:p>
        </p:txBody>
      </p:sp>
      <p:sp>
        <p:nvSpPr>
          <p:cNvPr id="3" name="">
            <a:extLst>
              <a:ext uri="{FF2B5EF4-FFF2-40B4-BE49-F238E27FC236}">
                <ns2:creationId id="{4F13E46E-DBC1-4210-A55A-EF8E04817DBF}"/>
              </a:ext>
            </a:extLst>
          </p:cNvPr>
          <p:cNvSpPr>
            <a:spLocks noGrp="1"/>
          </p:cNvSpPr>
          <p:nvPr/>
        </p:nvSpPr>
        <p:spPr>
          <a:xfrm>
            <a:off x="685800" y="1990725"/>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빈 updated_at에 현재 시각을 자동으로 넣지 마세요.</a:t>
            </a:r>
          </a:p>
        </p:txBody>
      </p:sp>
      <p:sp>
        <p:nvSpPr>
          <p:cNvPr id="4" name="">
            <a:extLst>
              <a:ext uri="{FF2B5EF4-FFF2-40B4-BE49-F238E27FC236}">
                <ns2:creationId id="{57722455-BB90-4A10-8A1E-0921BF339A60}"/>
              </a:ext>
            </a:extLst>
          </p:cNvPr>
          <p:cNvSpPr>
            <a:spLocks noGrp="1"/>
          </p:cNvSpPr>
          <p:nvPr/>
        </p:nvSpPr>
        <p:spPr>
          <a:xfrm>
            <a:off x="685800" y="2534793"/>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기록이 갱신되지 않았는데도 갱신된 것처럼 보일 수 있습니다.</a:t>
            </a:r>
          </a:p>
        </p:txBody>
      </p:sp>
      <p:sp>
        <p:nvSpPr>
          <p:cNvPr id="5" name="">
            <a:extLst>
              <a:ext uri="{FF2B5EF4-FFF2-40B4-BE49-F238E27FC236}">
                <ns2:creationId id="{E29D1876-6713-4CD0-834B-02E444A27CCE}"/>
              </a:ext>
            </a:extLst>
          </p:cNvPr>
          <p:cNvSpPr>
            <a:spLocks noGrp="1"/>
          </p:cNvSpPr>
          <p:nvPr/>
        </p:nvSpPr>
        <p:spPr>
          <a:xfrm>
            <a:off x="685800" y="6172200"/>
            <a:ext cx="10820400" cy="9525"/>
          </a:xfrm>
          <a:prstGeom prst="rect">
            <a:avLst/>
          </a:prstGeom>
          <a:solidFill>
            <a:srgbClr val="D5DEDD"/>
          </a:solidFill>
          <a:ln w="0">
            <a:noFill/>
          </a:ln>
        </p:spPr>
      </p:sp>
      <p:sp>
        <p:nvSpPr>
          <p:cNvPr id="6" name="">
            <a:extLst>
              <a:ext uri="{FF2B5EF4-FFF2-40B4-BE49-F238E27FC236}">
                <ns2:creationId id="{3F2A136A-29AD-4D10-8B78-9934AB93AC5B}"/>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7" name="">
            <a:extLst>
              <a:ext uri="{FF2B5EF4-FFF2-40B4-BE49-F238E27FC236}">
                <ns2:creationId id="{588787A4-613A-4301-ABC7-53149DD1BEC2}"/>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8" name="">
            <a:extLst>
              <a:ext uri="{FF2B5EF4-FFF2-40B4-BE49-F238E27FC236}">
                <ns2:creationId id="{601E1E42-586D-4259-B7D2-0304D81CF207}"/>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9" name="">
            <a:extLst>
              <a:ext uri="{FF2B5EF4-FFF2-40B4-BE49-F238E27FC236}">
                <ns2:creationId id="{FB5F8EA5-EC19-4C5A-9F5D-702D7436959E}"/>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10/30   049</a:t>
            </a:r>
          </a:p>
        </p:txBody>
      </p:sp>
    </p:spTree>
    <p:extLst>
      <p:ext uri="{BB962C8B-B14F-4D97-AF65-F5344CB8AC3E}">
        <ns4:creationId val="1289667735"/>
      </p:ext>
    </p:extLst>
  </p:cSld>
</p:sld>
</file>

<file path=ppt/slides/slide50.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0" name="">
            <a:extLst>
              <a:ext uri="{FF2B5EF4-FFF2-40B4-BE49-F238E27FC236}">
                <ns2:creationId id="{47584606-9FB0-451A-8F45-28403E4A29A6}"/>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3교시</a:t>
            </a:r>
          </a:p>
        </p:txBody>
      </p:sp>
      <p:sp>
        <p:nvSpPr>
          <p:cNvPr id="2" name="">
            <a:extLst>
              <a:ext uri="{FF2B5EF4-FFF2-40B4-BE49-F238E27FC236}">
                <ns2:creationId id="{988EE627-004A-4ED2-8E30-C29CB9B7C745}"/>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개념 확인 질문</a:t>
            </a:r>
          </a:p>
        </p:txBody>
      </p:sp>
      <p:sp>
        <p:nvSpPr>
          <p:cNvPr id="3" name="">
            <a:extLst>
              <a:ext uri="{FF2B5EF4-FFF2-40B4-BE49-F238E27FC236}">
                <ns2:creationId id="{8D45A132-73A0-43E3-B36F-722A2E198A25}"/>
              </a:ext>
            </a:extLst>
          </p:cNvPr>
          <p:cNvSpPr>
            <a:spLocks noGrp="1"/>
          </p:cNvSpPr>
          <p:nvPr/>
        </p:nvSpPr>
        <p:spPr>
          <a:xfrm>
            <a:off x="685800" y="1990725"/>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updated_at과 status는 각각 무엇을 나타내나요?</a:t>
            </a:r>
          </a:p>
        </p:txBody>
      </p:sp>
      <p:sp>
        <p:nvSpPr>
          <p:cNvPr id="4" name="">
            <a:extLst>
              <a:ext uri="{FF2B5EF4-FFF2-40B4-BE49-F238E27FC236}">
                <ns2:creationId id="{04EFF41D-AA24-41E6-9FAA-A921AEF2FE8D}"/>
              </a:ext>
            </a:extLst>
          </p:cNvPr>
          <p:cNvSpPr>
            <a:spLocks noGrp="1"/>
          </p:cNvSpPr>
          <p:nvPr/>
        </p:nvSpPr>
        <p:spPr>
          <a:xfrm>
            <a:off x="685800" y="2557272"/>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review가 returned를 뜻하지 않는 이유는?</a:t>
            </a:r>
          </a:p>
        </p:txBody>
      </p:sp>
      <p:sp>
        <p:nvSpPr>
          <p:cNvPr id="5" name="">
            <a:extLst>
              <a:ext uri="{FF2B5EF4-FFF2-40B4-BE49-F238E27FC236}">
                <ns2:creationId id="{685D3D56-C228-4525-A94F-AEBF45050B5B}"/>
              </a:ext>
            </a:extLst>
          </p:cNvPr>
          <p:cNvSpPr>
            <a:spLocks noGrp="1"/>
          </p:cNvSpPr>
          <p:nvPr/>
        </p:nvSpPr>
        <p:spPr>
          <a:xfrm>
            <a:off x="685800" y="6172200"/>
            <a:ext cx="10820400" cy="9525"/>
          </a:xfrm>
          <a:prstGeom prst="rect">
            <a:avLst/>
          </a:prstGeom>
          <a:solidFill>
            <a:srgbClr val="D5DEDD"/>
          </a:solidFill>
          <a:ln w="0">
            <a:noFill/>
          </a:ln>
        </p:spPr>
      </p:sp>
      <p:sp>
        <p:nvSpPr>
          <p:cNvPr id="6" name="">
            <a:extLst>
              <a:ext uri="{FF2B5EF4-FFF2-40B4-BE49-F238E27FC236}">
                <ns2:creationId id="{B6DE4743-733D-4344-9DA8-32BEEE41EFCC}"/>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7" name="">
            <a:extLst>
              <a:ext uri="{FF2B5EF4-FFF2-40B4-BE49-F238E27FC236}">
                <ns2:creationId id="{0DCDDECF-11D8-477C-B27E-D75F8CDD94D0}"/>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8" name="">
            <a:extLst>
              <a:ext uri="{FF2B5EF4-FFF2-40B4-BE49-F238E27FC236}">
                <ns2:creationId id="{A1AD4665-6E8D-477A-B589-3C3F092FB20E}"/>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9" name="">
            <a:extLst>
              <a:ext uri="{FF2B5EF4-FFF2-40B4-BE49-F238E27FC236}">
                <ns2:creationId id="{4C8A4774-81DA-4604-A25E-2CCFBE78953A}"/>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10/30   050</a:t>
            </a:r>
          </a:p>
        </p:txBody>
      </p:sp>
    </p:spTree>
    <p:extLst>
      <p:ext uri="{BB962C8B-B14F-4D97-AF65-F5344CB8AC3E}">
        <ns4:creationId val="75149096"/>
      </p:ext>
    </p:extLst>
  </p:cSld>
</p:sld>
</file>

<file path=ppt/slides/slide51.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0" name="">
            <a:extLst>
              <a:ext uri="{FF2B5EF4-FFF2-40B4-BE49-F238E27FC236}">
                <ns2:creationId id="{5AF370F5-2E9C-4499-B7BD-4A6F52D2C467}"/>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3교시</a:t>
            </a:r>
          </a:p>
        </p:txBody>
      </p:sp>
      <p:sp>
        <p:nvSpPr>
          <p:cNvPr id="2" name="">
            <a:extLst>
              <a:ext uri="{FF2B5EF4-FFF2-40B4-BE49-F238E27FC236}">
                <ns2:creationId id="{36F75C52-5C3C-4847-BC0A-DA397DC19626}"/>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추가·복습 문제</a:t>
            </a:r>
          </a:p>
        </p:txBody>
      </p:sp>
      <p:sp>
        <p:nvSpPr>
          <p:cNvPr id="3" name="">
            <a:extLst>
              <a:ext uri="{FF2B5EF4-FFF2-40B4-BE49-F238E27FC236}">
                <ns2:creationId id="{8D3D2D65-2650-472E-A117-0BD1BEFDFFB6}"/>
              </a:ext>
            </a:extLst>
          </p:cNvPr>
          <p:cNvSpPr>
            <a:spLocks noGrp="1"/>
          </p:cNvSpPr>
          <p:nvPr/>
        </p:nvSpPr>
        <p:spPr>
          <a:xfrm>
            <a:off x="685800" y="1990725"/>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추가·복습: 키 A·B·A, 물품 X·X·Y</a:t>
            </a:r>
          </a:p>
        </p:txBody>
      </p:sp>
      <p:sp>
        <p:nvSpPr>
          <p:cNvPr id="4" name="">
            <a:extLst>
              <a:ext uri="{FF2B5EF4-FFF2-40B4-BE49-F238E27FC236}">
                <ns2:creationId id="{8BF20D7F-BE37-4D46-A79A-FB64EAD89722}"/>
              </a:ext>
            </a:extLst>
          </p:cNvPr>
          <p:cNvSpPr>
            <a:spLocks noGrp="1"/>
          </p:cNvSpPr>
          <p:nvPr/>
        </p:nvSpPr>
        <p:spPr>
          <a:xfrm>
            <a:off x="685800" y="2557272"/>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충돌과 실패 화면의 이유를 직접 쓰세요.</a:t>
            </a:r>
          </a:p>
        </p:txBody>
      </p:sp>
      <p:sp>
        <p:nvSpPr>
          <p:cNvPr id="5" name="">
            <a:extLst>
              <a:ext uri="{FF2B5EF4-FFF2-40B4-BE49-F238E27FC236}">
                <ns2:creationId id="{FB734837-9B59-4B35-808A-C9F8C8C06487}"/>
              </a:ext>
            </a:extLst>
          </p:cNvPr>
          <p:cNvSpPr>
            <a:spLocks noGrp="1"/>
          </p:cNvSpPr>
          <p:nvPr/>
        </p:nvSpPr>
        <p:spPr>
          <a:xfrm>
            <a:off x="685800" y="6172200"/>
            <a:ext cx="10820400" cy="9525"/>
          </a:xfrm>
          <a:prstGeom prst="rect">
            <a:avLst/>
          </a:prstGeom>
          <a:solidFill>
            <a:srgbClr val="D5DEDD"/>
          </a:solidFill>
          <a:ln w="0">
            <a:noFill/>
          </a:ln>
        </p:spPr>
      </p:sp>
      <p:sp>
        <p:nvSpPr>
          <p:cNvPr id="6" name="">
            <a:extLst>
              <a:ext uri="{FF2B5EF4-FFF2-40B4-BE49-F238E27FC236}">
                <ns2:creationId id="{625B4F31-F4BF-497C-9F9D-4ACB65515C8A}"/>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7" name="">
            <a:extLst>
              <a:ext uri="{FF2B5EF4-FFF2-40B4-BE49-F238E27FC236}">
                <ns2:creationId id="{54E0AFFB-127E-4CD8-9132-9E650ED68358}"/>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8" name="">
            <a:extLst>
              <a:ext uri="{FF2B5EF4-FFF2-40B4-BE49-F238E27FC236}">
                <ns2:creationId id="{F3FCAD67-C982-477C-9E07-A59EDD3AD3F6}"/>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9" name="">
            <a:extLst>
              <a:ext uri="{FF2B5EF4-FFF2-40B4-BE49-F238E27FC236}">
                <ns2:creationId id="{59DC9A25-3F99-4FD7-A4F7-FA63D64E7E54}"/>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10/30   051</a:t>
            </a:r>
          </a:p>
        </p:txBody>
      </p:sp>
    </p:spTree>
    <p:extLst>
      <p:ext uri="{BB962C8B-B14F-4D97-AF65-F5344CB8AC3E}">
        <ns4:creationId val="1127070742"/>
      </p:ext>
    </p:extLst>
  </p:cSld>
</p:sld>
</file>

<file path=ppt/slides/slide52.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1" name="">
            <a:extLst>
              <a:ext uri="{FF2B5EF4-FFF2-40B4-BE49-F238E27FC236}">
                <ns2:creationId id="{29601F97-53D6-479C-9752-7A50C103A5C5}"/>
              </a:ext>
            </a:extLst>
          </p:cNvPr>
          <p:cNvSpPr>
            <a:spLocks noGrp="1"/>
          </p:cNvSpPr>
          <p:nvPr/>
        </p:nvSpPr>
        <p:spPr>
          <a:xfrm>
            <a:off x="685800" y="657225"/>
            <a:ext cx="10820400" cy="400050"/>
          </a:xfrm>
          <a:prstGeom prst="rect">
            <a:avLst/>
          </a:prstGeom>
          <a:noFill/>
          <a:ln w="0">
            <a:noFill/>
          </a:ln>
        </p:spPr>
        <p:txBody>
          <a:bodyPr wrap="square" lIns="0" tIns="0" rIns="0" bIns="0">
            <a:noAutofit/>
          </a:bodyPr>
          <a:lstStyle/>
          <a:p>
            <a:pPr>
              <a:defRPr sz="1950" b="1">
                <a:solidFill>
                  <a:srgbClr val="08786F"/>
                </a:solidFill>
                <a:latin typeface="Noto Sans KR"/>
                <a:ea typeface="Noto Sans KR"/>
                <a:cs typeface="Noto Sans KR"/>
              </a:defRPr>
            </a:pPr>
            <a:r>
              <a:t>4교시</a:t>
            </a:r>
          </a:p>
        </p:txBody>
      </p:sp>
      <p:sp>
        <p:nvSpPr>
          <p:cNvPr id="2" name="">
            <a:extLst>
              <a:ext uri="{FF2B5EF4-FFF2-40B4-BE49-F238E27FC236}">
                <ns2:creationId id="{FDBDB01E-4121-418E-BA91-B644E6C50066}"/>
              </a:ext>
            </a:extLst>
          </p:cNvPr>
          <p:cNvSpPr>
            <a:spLocks noGrp="1"/>
          </p:cNvSpPr>
          <p:nvPr/>
        </p:nvSpPr>
        <p:spPr>
          <a:xfrm>
            <a:off x="685800" y="1552575"/>
            <a:ext cx="10668000" cy="1905000"/>
          </a:xfrm>
          <a:prstGeom prst="rect">
            <a:avLst/>
          </a:prstGeom>
          <a:noFill/>
          <a:ln w="0">
            <a:noFill/>
          </a:ln>
        </p:spPr>
        <p:txBody>
          <a:bodyPr wrap="square" lIns="0" tIns="0" rIns="0" bIns="0">
            <a:noAutofit/>
          </a:bodyPr>
          <a:lstStyle/>
          <a:p>
            <a:pPr>
              <a:defRPr sz="4725" b="1">
                <a:solidFill>
                  <a:srgbClr val="172F39"/>
                </a:solidFill>
                <a:latin typeface="Noto Sans KR"/>
                <a:ea typeface="Noto Sans KR"/>
                <a:cs typeface="Noto Sans KR"/>
              </a:defRPr>
            </a:pPr>
            <a:r>
              <a:t>요구·시험·관찰 연결</a:t>
            </a:r>
          </a:p>
        </p:txBody>
      </p:sp>
      <p:sp>
        <p:nvSpPr>
          <p:cNvPr id="3" name="">
            <a:extLst>
              <a:ext uri="{FF2B5EF4-FFF2-40B4-BE49-F238E27FC236}">
                <ns2:creationId id="{45E92D29-DA19-4E13-956F-B7C312DBE972}"/>
              </a:ext>
            </a:extLst>
          </p:cNvPr>
          <p:cNvSpPr>
            <a:spLocks noGrp="1"/>
          </p:cNvSpPr>
          <p:nvPr/>
        </p:nvSpPr>
        <p:spPr>
          <a:xfrm>
            <a:off x="723900" y="3638550"/>
            <a:ext cx="10001250" cy="473964"/>
          </a:xfrm>
          <a:prstGeom prst="rect">
            <a:avLst/>
          </a:prstGeom>
          <a:noFill/>
          <a:ln w="0">
            <a:noFill/>
          </a:ln>
        </p:spPr>
        <p:txBody>
          <a:bodyPr wrap="square" lIns="0" tIns="0" rIns="0" bIns="0">
            <a:noAutofit/>
          </a:bodyPr>
          <a:lstStyle/>
          <a:p>
            <a:pPr>
              <a:defRPr sz="2400" b="0">
                <a:solidFill>
                  <a:srgbClr val="52636B"/>
                </a:solidFill>
                <a:latin typeface="Noto Sans KR"/>
                <a:ea typeface="Noto Sans KR"/>
                <a:cs typeface="Noto Sans KR"/>
              </a:defRPr>
            </a:pPr>
            <a:r>
              <a:t>14:00~14:50 · 50분</a:t>
            </a:r>
          </a:p>
        </p:txBody>
      </p:sp>
      <p:sp>
        <p:nvSpPr>
          <p:cNvPr id="4" name="">
            <a:extLst>
              <a:ext uri="{FF2B5EF4-FFF2-40B4-BE49-F238E27FC236}">
                <ns2:creationId id="{579EFD41-75E2-445E-8CB3-CA9D40062F3D}"/>
              </a:ext>
            </a:extLst>
          </p:cNvPr>
          <p:cNvSpPr>
            <a:spLocks noGrp="1"/>
          </p:cNvSpPr>
          <p:nvPr/>
        </p:nvSpPr>
        <p:spPr>
          <a:xfrm>
            <a:off x="723900" y="4160139"/>
            <a:ext cx="10001250" cy="473964"/>
          </a:xfrm>
          <a:prstGeom prst="rect">
            <a:avLst/>
          </a:prstGeom>
          <a:noFill/>
          <a:ln w="0">
            <a:noFill/>
          </a:ln>
        </p:spPr>
        <p:txBody>
          <a:bodyPr wrap="square" lIns="0" tIns="0" rIns="0" bIns="0">
            <a:noAutofit/>
          </a:bodyPr>
          <a:lstStyle/>
          <a:p>
            <a:pPr>
              <a:defRPr sz="2400" b="0">
                <a:solidFill>
                  <a:srgbClr val="52636B"/>
                </a:solidFill>
                <a:latin typeface="Noto Sans KR"/>
                <a:ea typeface="Noto Sans KR"/>
                <a:cs typeface="Noto Sans KR"/>
              </a:defRPr>
            </a:pPr>
            <a:r>
              <a:t>A10 · A11 · A12</a:t>
            </a:r>
          </a:p>
        </p:txBody>
      </p:sp>
      <p:sp>
        <p:nvSpPr>
          <p:cNvPr id="5" name="">
            <a:extLst>
              <a:ext uri="{FF2B5EF4-FFF2-40B4-BE49-F238E27FC236}">
                <ns2:creationId id="{381927D9-8594-4A8E-9539-A95FDF7EAFC9}"/>
              </a:ext>
            </a:extLst>
          </p:cNvPr>
          <p:cNvSpPr>
            <a:spLocks noGrp="1"/>
          </p:cNvSpPr>
          <p:nvPr/>
        </p:nvSpPr>
        <p:spPr>
          <a:xfrm>
            <a:off x="723900" y="4681728"/>
            <a:ext cx="10001250" cy="473964"/>
          </a:xfrm>
          <a:prstGeom prst="rect">
            <a:avLst/>
          </a:prstGeom>
          <a:noFill/>
          <a:ln w="0">
            <a:noFill/>
          </a:ln>
        </p:spPr>
        <p:txBody>
          <a:bodyPr wrap="square" lIns="0" tIns="0" rIns="0" bIns="0">
            <a:noAutofit/>
          </a:bodyPr>
          <a:lstStyle/>
          <a:p>
            <a:pPr>
              <a:defRPr sz="2400" b="0">
                <a:solidFill>
                  <a:srgbClr val="52636B"/>
                </a:solidFill>
                <a:latin typeface="Noto Sans KR"/>
                <a:ea typeface="Noto Sans KR"/>
                <a:cs typeface="Noto Sans KR"/>
              </a:defRPr>
            </a:pPr>
            <a:r>
              <a:t>설명 → 예제 따라 하기 → 직접 해 보기 → 풀이</a:t>
            </a:r>
          </a:p>
        </p:txBody>
      </p:sp>
      <p:sp>
        <p:nvSpPr>
          <p:cNvPr id="6" name="">
            <a:extLst>
              <a:ext uri="{FF2B5EF4-FFF2-40B4-BE49-F238E27FC236}">
                <ns2:creationId id="{07B0C031-A1E0-4266-9705-F8665C048515}"/>
              </a:ext>
            </a:extLst>
          </p:cNvPr>
          <p:cNvSpPr>
            <a:spLocks noGrp="1"/>
          </p:cNvSpPr>
          <p:nvPr/>
        </p:nvSpPr>
        <p:spPr>
          <a:xfrm>
            <a:off x="685800" y="6172200"/>
            <a:ext cx="10820400" cy="9525"/>
          </a:xfrm>
          <a:prstGeom prst="rect">
            <a:avLst/>
          </a:prstGeom>
          <a:solidFill>
            <a:srgbClr val="D5DEDD"/>
          </a:solidFill>
          <a:ln w="0">
            <a:noFill/>
          </a:ln>
        </p:spPr>
      </p:sp>
      <p:sp>
        <p:nvSpPr>
          <p:cNvPr id="7" name="">
            <a:extLst>
              <a:ext uri="{FF2B5EF4-FFF2-40B4-BE49-F238E27FC236}">
                <ns2:creationId id="{0CA0901C-0892-462B-90BE-AA2C0B0D77CA}"/>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8" name="">
            <a:extLst>
              <a:ext uri="{FF2B5EF4-FFF2-40B4-BE49-F238E27FC236}">
                <ns2:creationId id="{AAE63BDE-F0F2-4E26-BFDF-20FB9EFE0358}"/>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9" name="">
            <a:extLst>
              <a:ext uri="{FF2B5EF4-FFF2-40B4-BE49-F238E27FC236}">
                <ns2:creationId id="{BF250A42-855F-4DF4-9569-D7050CDC0AC2}"/>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0" name="">
            <a:extLst>
              <a:ext uri="{FF2B5EF4-FFF2-40B4-BE49-F238E27FC236}">
                <ns2:creationId id="{0E2708A6-F4FF-45F8-895B-CD2FFFB50BB5}"/>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10/30   052</a:t>
            </a:r>
          </a:p>
        </p:txBody>
      </p:sp>
    </p:spTree>
    <p:extLst>
      <p:ext uri="{BB962C8B-B14F-4D97-AF65-F5344CB8AC3E}">
        <ns4:creationId val="551107022"/>
      </p:ext>
    </p:extLst>
  </p:cSld>
</p:sld>
</file>

<file path=ppt/slides/slide53.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2" name="">
            <a:extLst>
              <a:ext uri="{FF2B5EF4-FFF2-40B4-BE49-F238E27FC236}">
                <ns2:creationId id="{B0526286-E33B-4CFE-8061-69F6FACC0D49}"/>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4교시</a:t>
            </a:r>
          </a:p>
        </p:txBody>
      </p:sp>
      <p:sp>
        <p:nvSpPr>
          <p:cNvPr id="2" name="">
            <a:extLst>
              <a:ext uri="{FF2B5EF4-FFF2-40B4-BE49-F238E27FC236}">
                <ns2:creationId id="{EE797EB4-0A39-40A1-BD89-6B1C8AB08524}"/>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요구 ID와 시험 ID</a:t>
            </a:r>
          </a:p>
        </p:txBody>
      </p:sp>
      <p:sp>
        <p:nvSpPr>
          <p:cNvPr id="3" name="">
            <a:extLst>
              <a:ext uri="{FF2B5EF4-FFF2-40B4-BE49-F238E27FC236}">
                <ns2:creationId id="{47DB0E1D-9FFB-4856-8C18-1DED7E2D00C5}"/>
              </a:ext>
            </a:extLst>
          </p:cNvPr>
          <p:cNvSpPr>
            <a:spLocks noGrp="1"/>
          </p:cNvSpPr>
          <p:nvPr/>
        </p:nvSpPr>
        <p:spPr>
          <a:xfrm>
            <a:off x="685800" y="1933575"/>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R02 ↔ T02: 갱신 시각 누락</a:t>
            </a:r>
          </a:p>
        </p:txBody>
      </p:sp>
      <p:sp>
        <p:nvSpPr>
          <p:cNvPr id="4" name="">
            <a:extLst>
              <a:ext uri="{FF2B5EF4-FFF2-40B4-BE49-F238E27FC236}">
                <ns2:creationId id="{8CCCEEDF-D546-42E9-8185-11F9A307090E}"/>
              </a:ext>
            </a:extLst>
          </p:cNvPr>
          <p:cNvSpPr>
            <a:spLocks noGrp="1"/>
          </p:cNvSpPr>
          <p:nvPr/>
        </p:nvSpPr>
        <p:spPr>
          <a:xfrm>
            <a:off x="685800" y="2432685"/>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입력과 review 기대값이 같아야 합니다.</a:t>
            </a:r>
          </a:p>
        </p:txBody>
      </p:sp>
      <p:sp>
        <p:nvSpPr>
          <p:cNvPr id="5" name="">
            <a:extLst>
              <a:ext uri="{FF2B5EF4-FFF2-40B4-BE49-F238E27FC236}">
                <ns2:creationId id="{E3814666-1930-459A-BF17-29C5E8A4781C}"/>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R02와 T02 비교</a:t>
            </a:r>
          </a:p>
        </p:txBody>
      </p:sp>
      <p:graphicFrame>
        <p:nvGraphicFramePr>
          <p:cNvPr id="17" name=""/>
          <p:cNvGraphicFramePr/>
          <p:nvPr/>
        </p:nvGraphicFramePr>
        <p:xfrm>
          <a:off x="6267450" y="2628900"/>
          <a:ext cx="5238750" cy="2057400"/>
        </p:xfrm>
        <a:graphic>
          <a:graphicData uri="http://schemas.openxmlformats.org/drawingml/2006/table">
            <a:tbl>
              <a:tblPr firstRow="1" bandRow="0"/>
              <a:tblGrid>
                <a:gridCol w="1791235"/>
                <a:gridCol w="3447515"/>
              </a:tblGrid>
              <a:tr h="514350">
                <a:tc>
                  <a:txBody>
                    <a:bodyPr wrap="square"/>
                    <a:lstStyle/>
                    <a:p>
                      <a:pPr>
                        <a:lnSpc>
                          <a:spcPct val="102000"/>
                        </a:lnSpc>
                        <a:buNone/>
                      </a:pPr>
                      <a:r>
                        <a:rPr sz="1875" b="1">
                          <a:solidFill>
                            <a:srgbClr val="172F39"/>
                          </a:solidFill>
                          <a:latin typeface="Noto Sans KR"/>
                          <a:ea typeface="Noto Sans KR"/>
                          <a:cs typeface="Noto Sans KR"/>
                        </a:rPr>
                        <a:t>항목</a:t>
                      </a:r>
                    </a:p>
                  </a:txBody>
                  <a:tcPr marL="114300" marR="114300" marT="76200" marB="76200" anchor="ctr">
                    <a:solidFill>
                      <a:srgbClr val="DCECE8"/>
                    </a:solidFill>
                  </a:tcPr>
                </a:tc>
                <a:tc>
                  <a:txBody>
                    <a:bodyPr wrap="square"/>
                    <a:lstStyle/>
                    <a:p>
                      <a:pPr>
                        <a:lnSpc>
                          <a:spcPct val="102000"/>
                        </a:lnSpc>
                        <a:buNone/>
                      </a:pPr>
                      <a:r>
                        <a:rPr sz="1875" b="1">
                          <a:solidFill>
                            <a:srgbClr val="172F39"/>
                          </a:solidFill>
                          <a:latin typeface="Noto Sans KR"/>
                          <a:ea typeface="Noto Sans KR"/>
                          <a:cs typeface="Noto Sans KR"/>
                        </a:rPr>
                        <a:t>조건</a:t>
                      </a:r>
                    </a:p>
                  </a:txBody>
                  <a:tcPr marL="114300" marR="114300" marT="76200" marB="76200" anchor="ctr">
                    <a:solidFill>
                      <a:srgbClr val="DCECE8"/>
                    </a:solidFill>
                  </a:tcPr>
                </a:tc>
              </a:tr>
              <a:tr h="514350">
                <a:tc>
                  <a:txBody>
                    <a:bodyPr wrap="square"/>
                    <a:lstStyle/>
                    <a:p>
                      <a:pPr>
                        <a:lnSpc>
                          <a:spcPct val="102000"/>
                        </a:lnSpc>
                        <a:buNone/>
                      </a:pPr>
                      <a:r>
                        <a:rPr sz="1875" b="0">
                          <a:solidFill>
                            <a:srgbClr val="172F39"/>
                          </a:solidFill>
                          <a:latin typeface="Noto Sans KR"/>
                          <a:ea typeface="Noto Sans KR"/>
                          <a:cs typeface="Noto Sans KR"/>
                        </a:rPr>
                        <a:t>요구 R02</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갱신 시각 없음은 review</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입력 T02</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updated_at이 빈칸</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기대 결과</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review와 원문 보존</a:t>
                      </a:r>
                    </a:p>
                  </a:txBody>
                  <a:tcPr marL="114300" marR="114300" marT="76200" marB="76200" anchor="ctr">
                    <a:solidFill>
                      <a:srgbClr val="FFFFFF"/>
                    </a:solidFill>
                  </a:tcPr>
                </a:tc>
              </a:tr>
            </a:tbl>
          </a:graphicData>
        </a:graphic>
      </p:graphicFrame>
      <p:sp>
        <p:nvSpPr>
          <p:cNvPr id="7" name="">
            <a:extLst>
              <a:ext uri="{FF2B5EF4-FFF2-40B4-BE49-F238E27FC236}">
                <ns2:creationId id="{86C0A024-14B1-45BF-B799-AF5023F7E49E}"/>
              </a:ext>
            </a:extLst>
          </p:cNvPr>
          <p:cNvSpPr>
            <a:spLocks noGrp="1"/>
          </p:cNvSpPr>
          <p:nvPr/>
        </p:nvSpPr>
        <p:spPr>
          <a:xfrm>
            <a:off x="685800" y="6172200"/>
            <a:ext cx="10820400" cy="9525"/>
          </a:xfrm>
          <a:prstGeom prst="rect">
            <a:avLst/>
          </a:prstGeom>
          <a:solidFill>
            <a:srgbClr val="D5DEDD"/>
          </a:solidFill>
          <a:ln w="0">
            <a:noFill/>
          </a:ln>
        </p:spPr>
      </p:sp>
      <p:sp>
        <p:nvSpPr>
          <p:cNvPr id="8" name="">
            <a:extLst>
              <a:ext uri="{FF2B5EF4-FFF2-40B4-BE49-F238E27FC236}">
                <ns2:creationId id="{969D8D54-FC48-420A-8C39-D08365AE9D67}"/>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9" name="">
            <a:extLst>
              <a:ext uri="{FF2B5EF4-FFF2-40B4-BE49-F238E27FC236}">
                <ns2:creationId id="{0112191A-7CA1-4B18-8E25-8CF853E68E1C}"/>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0" name="">
            <a:extLst>
              <a:ext uri="{FF2B5EF4-FFF2-40B4-BE49-F238E27FC236}">
                <ns2:creationId id="{0D1800CB-9FDB-4AFB-88B8-B7AEF2B69E4A}"/>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1" name="">
            <a:extLst>
              <a:ext uri="{FF2B5EF4-FFF2-40B4-BE49-F238E27FC236}">
                <ns2:creationId id="{C6A96CDF-9D21-4AC0-A3BB-880CFDB0A4A7}"/>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10/30   053</a:t>
            </a:r>
          </a:p>
        </p:txBody>
      </p:sp>
    </p:spTree>
    <p:extLst>
      <p:ext uri="{BB962C8B-B14F-4D97-AF65-F5344CB8AC3E}">
        <ns4:creationId val="2114749242"/>
      </p:ext>
    </p:extLst>
  </p:cSld>
</p:sld>
</file>

<file path=ppt/slides/slide54.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2" name="">
            <a:extLst>
              <a:ext uri="{FF2B5EF4-FFF2-40B4-BE49-F238E27FC236}">
                <ns2:creationId id="{E33BB890-A90B-46E4-8EAE-4B51FF1119CD}"/>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4교시</a:t>
            </a:r>
          </a:p>
        </p:txBody>
      </p:sp>
      <p:sp>
        <p:nvSpPr>
          <p:cNvPr id="2" name="">
            <a:extLst>
              <a:ext uri="{FF2B5EF4-FFF2-40B4-BE49-F238E27FC236}">
                <ns2:creationId id="{3CECD184-A674-4C87-BCB1-54B106920539}"/>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시험 입력과 기대값</a:t>
            </a:r>
          </a:p>
        </p:txBody>
      </p:sp>
      <p:sp>
        <p:nvSpPr>
          <p:cNvPr id="3" name="">
            <a:extLst>
              <a:ext uri="{FF2B5EF4-FFF2-40B4-BE49-F238E27FC236}">
                <ns2:creationId id="{C5988657-8F27-4159-AB39-0D28A07BF6EC}"/>
              </a:ext>
            </a:extLst>
          </p:cNvPr>
          <p:cNvSpPr>
            <a:spLocks noGrp="1"/>
          </p:cNvSpPr>
          <p:nvPr/>
        </p:nvSpPr>
        <p:spPr>
          <a:xfrm>
            <a:off x="685800" y="1933575"/>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어떤 입력을 넣고 무엇을 볼지 정합니다.</a:t>
            </a:r>
          </a:p>
        </p:txBody>
      </p:sp>
      <p:sp>
        <p:nvSpPr>
          <p:cNvPr id="4" name="">
            <a:extLst>
              <a:ext uri="{FF2B5EF4-FFF2-40B4-BE49-F238E27FC236}">
                <ns2:creationId id="{0C28F79A-FE82-452E-BC06-F2EE1BEF2C67}"/>
              </a:ext>
            </a:extLst>
          </p:cNvPr>
          <p:cNvSpPr>
            <a:spLocks noGrp="1"/>
          </p:cNvSpPr>
          <p:nvPr/>
        </p:nvSpPr>
        <p:spPr>
          <a:xfrm>
            <a:off x="685800" y="2769870"/>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실패 뒤 기대값을 실제 오류에 맞추지 않습니다.</a:t>
            </a:r>
          </a:p>
        </p:txBody>
      </p:sp>
      <p:sp>
        <p:nvSpPr>
          <p:cNvPr id="5" name="">
            <a:extLst>
              <a:ext uri="{FF2B5EF4-FFF2-40B4-BE49-F238E27FC236}">
                <ns2:creationId id="{41E4765B-7BCD-400B-A264-F915E9DED7E9}"/>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관찰과 기대 비교</a:t>
            </a:r>
          </a:p>
        </p:txBody>
      </p:sp>
      <p:graphicFrame>
        <p:nvGraphicFramePr>
          <p:cNvPr id="17" name=""/>
          <p:cNvGraphicFramePr/>
          <p:nvPr/>
        </p:nvGraphicFramePr>
        <p:xfrm>
          <a:off x="6267450" y="2628900"/>
          <a:ext cx="5238750" cy="1543050"/>
        </p:xfrm>
        <a:graphic>
          <a:graphicData uri="http://schemas.openxmlformats.org/drawingml/2006/table">
            <a:tbl>
              <a:tblPr firstRow="1" bandRow="0"/>
              <a:tblGrid>
                <a:gridCol w="1623987"/>
                <a:gridCol w="1846590"/>
                <a:gridCol w="1768173"/>
              </a:tblGrid>
              <a:tr h="514350">
                <a:tc>
                  <a:txBody>
                    <a:bodyPr wrap="square"/>
                    <a:lstStyle/>
                    <a:p>
                      <a:pPr>
                        <a:lnSpc>
                          <a:spcPct val="102000"/>
                        </a:lnSpc>
                        <a:buNone/>
                      </a:pPr>
                      <a:r>
                        <a:rPr sz="1875" b="1">
                          <a:solidFill>
                            <a:srgbClr val="172F39"/>
                          </a:solidFill>
                          <a:latin typeface="Noto Sans KR"/>
                          <a:ea typeface="Noto Sans KR"/>
                          <a:cs typeface="Noto Sans KR"/>
                        </a:rPr>
                        <a:t>기대</a:t>
                      </a:r>
                    </a:p>
                  </a:txBody>
                  <a:tcPr marL="114300" marR="114300" marT="76200" marB="76200" anchor="ctr">
                    <a:solidFill>
                      <a:srgbClr val="DCECE8"/>
                    </a:solidFill>
                  </a:tcPr>
                </a:tc>
                <a:tc>
                  <a:txBody>
                    <a:bodyPr wrap="square"/>
                    <a:lstStyle/>
                    <a:p>
                      <a:pPr>
                        <a:lnSpc>
                          <a:spcPct val="102000"/>
                        </a:lnSpc>
                        <a:buNone/>
                      </a:pPr>
                      <a:r>
                        <a:rPr sz="1875" b="1">
                          <a:solidFill>
                            <a:srgbClr val="172F39"/>
                          </a:solidFill>
                          <a:latin typeface="Noto Sans KR"/>
                          <a:ea typeface="Noto Sans KR"/>
                          <a:cs typeface="Noto Sans KR"/>
                        </a:rPr>
                        <a:t>관찰</a:t>
                      </a:r>
                    </a:p>
                  </a:txBody>
                  <a:tcPr marL="114300" marR="114300" marT="76200" marB="76200" anchor="ctr">
                    <a:solidFill>
                      <a:srgbClr val="DCECE8"/>
                    </a:solidFill>
                  </a:tcPr>
                </a:tc>
                <a:tc>
                  <a:txBody>
                    <a:bodyPr wrap="square"/>
                    <a:lstStyle/>
                    <a:p>
                      <a:pPr>
                        <a:lnSpc>
                          <a:spcPct val="102000"/>
                        </a:lnSpc>
                        <a:buNone/>
                      </a:pPr>
                      <a:r>
                        <a:rPr sz="1875" b="1">
                          <a:solidFill>
                            <a:srgbClr val="172F39"/>
                          </a:solidFill>
                          <a:latin typeface="Noto Sans KR"/>
                          <a:ea typeface="Noto Sans KR"/>
                          <a:cs typeface="Noto Sans KR"/>
                        </a:rPr>
                        <a:t>판정</a:t>
                      </a:r>
                    </a:p>
                  </a:txBody>
                  <a:tcPr marL="114300" marR="114300" marT="76200" marB="76200" anchor="ctr">
                    <a:solidFill>
                      <a:srgbClr val="DCECE8"/>
                    </a:solidFill>
                  </a:tcPr>
                </a:tc>
              </a:tr>
              <a:tr h="514350">
                <a:tc>
                  <a:txBody>
                    <a:bodyPr wrap="square"/>
                    <a:lstStyle/>
                    <a:p>
                      <a:pPr>
                        <a:lnSpc>
                          <a:spcPct val="102000"/>
                        </a:lnSpc>
                        <a:buNone/>
                      </a:pPr>
                      <a:r>
                        <a:rPr sz="1875" b="0">
                          <a:solidFill>
                            <a:srgbClr val="172F39"/>
                          </a:solidFill>
                          <a:latin typeface="Noto Sans KR"/>
                          <a:ea typeface="Noto Sans KR"/>
                          <a:cs typeface="Noto Sans KR"/>
                        </a:rPr>
                        <a:t>review</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normal</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FAIL</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reject</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관찰 없음</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NOT_RUN</a:t>
                      </a:r>
                    </a:p>
                  </a:txBody>
                  <a:tcPr marL="114300" marR="114300" marT="76200" marB="76200" anchor="ctr">
                    <a:solidFill>
                      <a:srgbClr val="FFFFFF"/>
                    </a:solidFill>
                  </a:tcPr>
                </a:tc>
              </a:tr>
            </a:tbl>
          </a:graphicData>
        </a:graphic>
      </p:graphicFrame>
      <p:sp>
        <p:nvSpPr>
          <p:cNvPr id="7" name="">
            <a:extLst>
              <a:ext uri="{FF2B5EF4-FFF2-40B4-BE49-F238E27FC236}">
                <ns2:creationId id="{D9B81F60-76A2-4152-B88C-1306365AADD3}"/>
              </a:ext>
            </a:extLst>
          </p:cNvPr>
          <p:cNvSpPr>
            <a:spLocks noGrp="1"/>
          </p:cNvSpPr>
          <p:nvPr/>
        </p:nvSpPr>
        <p:spPr>
          <a:xfrm>
            <a:off x="685800" y="6172200"/>
            <a:ext cx="10820400" cy="9525"/>
          </a:xfrm>
          <a:prstGeom prst="rect">
            <a:avLst/>
          </a:prstGeom>
          <a:solidFill>
            <a:srgbClr val="D5DEDD"/>
          </a:solidFill>
          <a:ln w="0">
            <a:noFill/>
          </a:ln>
        </p:spPr>
      </p:sp>
      <p:sp>
        <p:nvSpPr>
          <p:cNvPr id="8" name="">
            <a:extLst>
              <a:ext uri="{FF2B5EF4-FFF2-40B4-BE49-F238E27FC236}">
                <ns2:creationId id="{7419F585-B21E-4AB7-8833-30A78F4C9472}"/>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9" name="">
            <a:extLst>
              <a:ext uri="{FF2B5EF4-FFF2-40B4-BE49-F238E27FC236}">
                <ns2:creationId id="{A99288B8-5F81-4BE6-BE31-244B938587B0}"/>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0" name="">
            <a:extLst>
              <a:ext uri="{FF2B5EF4-FFF2-40B4-BE49-F238E27FC236}">
                <ns2:creationId id="{D54FFF8F-65E9-4C8D-A958-5FC3CDFE46B2}"/>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1" name="">
            <a:extLst>
              <a:ext uri="{FF2B5EF4-FFF2-40B4-BE49-F238E27FC236}">
                <ns2:creationId id="{74979EB6-2E89-4E76-AED9-48FC0B75EAD6}"/>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10/30   054</a:t>
            </a:r>
          </a:p>
        </p:txBody>
      </p:sp>
    </p:spTree>
    <p:extLst>
      <p:ext uri="{BB962C8B-B14F-4D97-AF65-F5344CB8AC3E}">
        <ns4:creationId val="876731348"/>
      </p:ext>
    </p:extLst>
  </p:cSld>
</p:sld>
</file>

<file path=ppt/slides/slide55.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2" name="">
            <a:extLst>
              <a:ext uri="{FF2B5EF4-FFF2-40B4-BE49-F238E27FC236}">
                <ns2:creationId id="{1EF18D21-0A90-45A5-AD5F-E73E1A7CD45F}"/>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4교시</a:t>
            </a:r>
          </a:p>
        </p:txBody>
      </p:sp>
      <p:sp>
        <p:nvSpPr>
          <p:cNvPr id="2" name="">
            <a:extLst>
              <a:ext uri="{FF2B5EF4-FFF2-40B4-BE49-F238E27FC236}">
                <ns2:creationId id="{A76F4366-F3FF-40D2-B810-BA6CC482A8E7}"/>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시험 통과와 실패</a:t>
            </a:r>
          </a:p>
        </p:txBody>
      </p:sp>
      <p:sp>
        <p:nvSpPr>
          <p:cNvPr id="3" name="">
            <a:extLst>
              <a:ext uri="{FF2B5EF4-FFF2-40B4-BE49-F238E27FC236}">
                <ns2:creationId id="{E03D1DFA-9C16-4856-823B-3CA3483A1962}"/>
              </a:ext>
            </a:extLst>
          </p:cNvPr>
          <p:cNvSpPr>
            <a:spLocks noGrp="1"/>
          </p:cNvSpPr>
          <p:nvPr/>
        </p:nvSpPr>
        <p:spPr>
          <a:xfrm>
            <a:off x="685800" y="1933575"/>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PASS: 실제 관찰 = 기대</a:t>
            </a:r>
          </a:p>
        </p:txBody>
      </p:sp>
      <p:sp>
        <p:nvSpPr>
          <p:cNvPr id="4" name="">
            <a:extLst>
              <a:ext uri="{FF2B5EF4-FFF2-40B4-BE49-F238E27FC236}">
                <ns2:creationId id="{A58E7FC0-F361-435A-A079-D57E8EAADE0F}"/>
              </a:ext>
            </a:extLst>
          </p:cNvPr>
          <p:cNvSpPr>
            <a:spLocks noGrp="1"/>
          </p:cNvSpPr>
          <p:nvPr/>
        </p:nvSpPr>
        <p:spPr>
          <a:xfrm>
            <a:off x="685800" y="2432685"/>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FAIL: 실제 관찰 ≠ 기대</a:t>
            </a:r>
          </a:p>
        </p:txBody>
      </p:sp>
      <p:sp>
        <p:nvSpPr>
          <p:cNvPr id="5" name="">
            <a:extLst>
              <a:ext uri="{FF2B5EF4-FFF2-40B4-BE49-F238E27FC236}">
                <ns2:creationId id="{4344E82A-5532-47BB-ADCB-878250BC7A4E}"/>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관찰과 기대 비교</a:t>
            </a:r>
          </a:p>
        </p:txBody>
      </p:sp>
      <p:graphicFrame>
        <p:nvGraphicFramePr>
          <p:cNvPr id="17" name=""/>
          <p:cNvGraphicFramePr/>
          <p:nvPr/>
        </p:nvGraphicFramePr>
        <p:xfrm>
          <a:off x="6267450" y="2628900"/>
          <a:ext cx="5238750" cy="1543050"/>
        </p:xfrm>
        <a:graphic>
          <a:graphicData uri="http://schemas.openxmlformats.org/drawingml/2006/table">
            <a:tbl>
              <a:tblPr firstRow="1" bandRow="0"/>
              <a:tblGrid>
                <a:gridCol w="1623987"/>
                <a:gridCol w="1846590"/>
                <a:gridCol w="1768173"/>
              </a:tblGrid>
              <a:tr h="514350">
                <a:tc>
                  <a:txBody>
                    <a:bodyPr wrap="square"/>
                    <a:lstStyle/>
                    <a:p>
                      <a:pPr>
                        <a:lnSpc>
                          <a:spcPct val="102000"/>
                        </a:lnSpc>
                        <a:buNone/>
                      </a:pPr>
                      <a:r>
                        <a:rPr sz="1875" b="1">
                          <a:solidFill>
                            <a:srgbClr val="172F39"/>
                          </a:solidFill>
                          <a:latin typeface="Noto Sans KR"/>
                          <a:ea typeface="Noto Sans KR"/>
                          <a:cs typeface="Noto Sans KR"/>
                        </a:rPr>
                        <a:t>기대</a:t>
                      </a:r>
                    </a:p>
                  </a:txBody>
                  <a:tcPr marL="114300" marR="114300" marT="76200" marB="76200" anchor="ctr">
                    <a:solidFill>
                      <a:srgbClr val="DCECE8"/>
                    </a:solidFill>
                  </a:tcPr>
                </a:tc>
                <a:tc>
                  <a:txBody>
                    <a:bodyPr wrap="square"/>
                    <a:lstStyle/>
                    <a:p>
                      <a:pPr>
                        <a:lnSpc>
                          <a:spcPct val="102000"/>
                        </a:lnSpc>
                        <a:buNone/>
                      </a:pPr>
                      <a:r>
                        <a:rPr sz="1875" b="1">
                          <a:solidFill>
                            <a:srgbClr val="172F39"/>
                          </a:solidFill>
                          <a:latin typeface="Noto Sans KR"/>
                          <a:ea typeface="Noto Sans KR"/>
                          <a:cs typeface="Noto Sans KR"/>
                        </a:rPr>
                        <a:t>관찰</a:t>
                      </a:r>
                    </a:p>
                  </a:txBody>
                  <a:tcPr marL="114300" marR="114300" marT="76200" marB="76200" anchor="ctr">
                    <a:solidFill>
                      <a:srgbClr val="DCECE8"/>
                    </a:solidFill>
                  </a:tcPr>
                </a:tc>
                <a:tc>
                  <a:txBody>
                    <a:bodyPr wrap="square"/>
                    <a:lstStyle/>
                    <a:p>
                      <a:pPr>
                        <a:lnSpc>
                          <a:spcPct val="102000"/>
                        </a:lnSpc>
                        <a:buNone/>
                      </a:pPr>
                      <a:r>
                        <a:rPr sz="1875" b="1">
                          <a:solidFill>
                            <a:srgbClr val="172F39"/>
                          </a:solidFill>
                          <a:latin typeface="Noto Sans KR"/>
                          <a:ea typeface="Noto Sans KR"/>
                          <a:cs typeface="Noto Sans KR"/>
                        </a:rPr>
                        <a:t>판정</a:t>
                      </a:r>
                    </a:p>
                  </a:txBody>
                  <a:tcPr marL="114300" marR="114300" marT="76200" marB="76200" anchor="ctr">
                    <a:solidFill>
                      <a:srgbClr val="DCECE8"/>
                    </a:solidFill>
                  </a:tcPr>
                </a:tc>
              </a:tr>
              <a:tr h="514350">
                <a:tc>
                  <a:txBody>
                    <a:bodyPr wrap="square"/>
                    <a:lstStyle/>
                    <a:p>
                      <a:pPr>
                        <a:lnSpc>
                          <a:spcPct val="102000"/>
                        </a:lnSpc>
                        <a:buNone/>
                      </a:pPr>
                      <a:r>
                        <a:rPr sz="1875" b="0">
                          <a:solidFill>
                            <a:srgbClr val="172F39"/>
                          </a:solidFill>
                          <a:latin typeface="Noto Sans KR"/>
                          <a:ea typeface="Noto Sans KR"/>
                          <a:cs typeface="Noto Sans KR"/>
                        </a:rPr>
                        <a:t>review</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normal</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FAIL</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reject</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관찰 없음</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NOT_RUN</a:t>
                      </a:r>
                    </a:p>
                  </a:txBody>
                  <a:tcPr marL="114300" marR="114300" marT="76200" marB="76200" anchor="ctr">
                    <a:solidFill>
                      <a:srgbClr val="FFFFFF"/>
                    </a:solidFill>
                  </a:tcPr>
                </a:tc>
              </a:tr>
            </a:tbl>
          </a:graphicData>
        </a:graphic>
      </p:graphicFrame>
      <p:sp>
        <p:nvSpPr>
          <p:cNvPr id="7" name="">
            <a:extLst>
              <a:ext uri="{FF2B5EF4-FFF2-40B4-BE49-F238E27FC236}">
                <ns2:creationId id="{92566289-589B-4285-A750-5D407E4176FA}"/>
              </a:ext>
            </a:extLst>
          </p:cNvPr>
          <p:cNvSpPr>
            <a:spLocks noGrp="1"/>
          </p:cNvSpPr>
          <p:nvPr/>
        </p:nvSpPr>
        <p:spPr>
          <a:xfrm>
            <a:off x="685800" y="6172200"/>
            <a:ext cx="10820400" cy="9525"/>
          </a:xfrm>
          <a:prstGeom prst="rect">
            <a:avLst/>
          </a:prstGeom>
          <a:solidFill>
            <a:srgbClr val="D5DEDD"/>
          </a:solidFill>
          <a:ln w="0">
            <a:noFill/>
          </a:ln>
        </p:spPr>
      </p:sp>
      <p:sp>
        <p:nvSpPr>
          <p:cNvPr id="8" name="">
            <a:extLst>
              <a:ext uri="{FF2B5EF4-FFF2-40B4-BE49-F238E27FC236}">
                <ns2:creationId id="{733A9BD1-F98E-4C00-BE25-BC2BB02C7A58}"/>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9" name="">
            <a:extLst>
              <a:ext uri="{FF2B5EF4-FFF2-40B4-BE49-F238E27FC236}">
                <ns2:creationId id="{1BC08F5B-123A-49DF-A270-2FBC82A4F9B4}"/>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0" name="">
            <a:extLst>
              <a:ext uri="{FF2B5EF4-FFF2-40B4-BE49-F238E27FC236}">
                <ns2:creationId id="{CB05281C-1199-4980-B361-D708AFB64489}"/>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1" name="">
            <a:extLst>
              <a:ext uri="{FF2B5EF4-FFF2-40B4-BE49-F238E27FC236}">
                <ns2:creationId id="{4F72D358-A756-4697-B69B-0B21E3CF60E3}"/>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10/30   055</a:t>
            </a:r>
          </a:p>
        </p:txBody>
      </p:sp>
    </p:spTree>
    <p:extLst>
      <p:ext uri="{BB962C8B-B14F-4D97-AF65-F5344CB8AC3E}">
        <ns4:creationId val="434597543"/>
      </p:ext>
    </p:extLst>
  </p:cSld>
</p:sld>
</file>

<file path=ppt/slides/slide56.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2" name="">
            <a:extLst>
              <a:ext uri="{FF2B5EF4-FFF2-40B4-BE49-F238E27FC236}">
                <ns2:creationId id="{A4297D55-B63A-4078-9DCC-999708CF1469}"/>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4교시</a:t>
            </a:r>
          </a:p>
        </p:txBody>
      </p:sp>
      <p:sp>
        <p:nvSpPr>
          <p:cNvPr id="2" name="">
            <a:extLst>
              <a:ext uri="{FF2B5EF4-FFF2-40B4-BE49-F238E27FC236}">
                <ns2:creationId id="{84BE1F3A-A9E8-4B4A-B1EB-A69C30FDD500}"/>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NOT_RUN과 관찰 없음</a:t>
            </a:r>
          </a:p>
        </p:txBody>
      </p:sp>
      <p:sp>
        <p:nvSpPr>
          <p:cNvPr id="3" name="">
            <a:extLst>
              <a:ext uri="{FF2B5EF4-FFF2-40B4-BE49-F238E27FC236}">
                <ns2:creationId id="{E1105AD4-2630-4535-ACCA-766798319144}"/>
              </a:ext>
            </a:extLst>
          </p:cNvPr>
          <p:cNvSpPr>
            <a:spLocks noGrp="1"/>
          </p:cNvSpPr>
          <p:nvPr/>
        </p:nvSpPr>
        <p:spPr>
          <a:xfrm>
            <a:off x="685800" y="1933575"/>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NOT_RUN: 아직 실행 결과가 없습니다.</a:t>
            </a:r>
          </a:p>
        </p:txBody>
      </p:sp>
      <p:sp>
        <p:nvSpPr>
          <p:cNvPr id="4" name="">
            <a:extLst>
              <a:ext uri="{FF2B5EF4-FFF2-40B4-BE49-F238E27FC236}">
                <ns2:creationId id="{FD4E7A25-92C7-4D4B-84EF-C761DD784B49}"/>
              </a:ext>
            </a:extLst>
          </p:cNvPr>
          <p:cNvSpPr>
            <a:spLocks noGrp="1"/>
          </p:cNvSpPr>
          <p:nvPr/>
        </p:nvSpPr>
        <p:spPr>
          <a:xfrm>
            <a:off x="685800" y="2432685"/>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실행하지 않은 시험을 PASS로 기록하지 마세요.</a:t>
            </a:r>
          </a:p>
        </p:txBody>
      </p:sp>
      <p:sp>
        <p:nvSpPr>
          <p:cNvPr id="5" name="">
            <a:extLst>
              <a:ext uri="{FF2B5EF4-FFF2-40B4-BE49-F238E27FC236}">
                <ns2:creationId id="{AB3D8C19-B690-41A8-8453-91509AE02E28}"/>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관찰과 기대 비교</a:t>
            </a:r>
          </a:p>
        </p:txBody>
      </p:sp>
      <p:graphicFrame>
        <p:nvGraphicFramePr>
          <p:cNvPr id="17" name=""/>
          <p:cNvGraphicFramePr/>
          <p:nvPr/>
        </p:nvGraphicFramePr>
        <p:xfrm>
          <a:off x="6267450" y="2628900"/>
          <a:ext cx="5238750" cy="1543050"/>
        </p:xfrm>
        <a:graphic>
          <a:graphicData uri="http://schemas.openxmlformats.org/drawingml/2006/table">
            <a:tbl>
              <a:tblPr firstRow="1" bandRow="0"/>
              <a:tblGrid>
                <a:gridCol w="1623987"/>
                <a:gridCol w="1846590"/>
                <a:gridCol w="1768173"/>
              </a:tblGrid>
              <a:tr h="514350">
                <a:tc>
                  <a:txBody>
                    <a:bodyPr wrap="square"/>
                    <a:lstStyle/>
                    <a:p>
                      <a:pPr>
                        <a:lnSpc>
                          <a:spcPct val="102000"/>
                        </a:lnSpc>
                        <a:buNone/>
                      </a:pPr>
                      <a:r>
                        <a:rPr sz="1875" b="1">
                          <a:solidFill>
                            <a:srgbClr val="172F39"/>
                          </a:solidFill>
                          <a:latin typeface="Noto Sans KR"/>
                          <a:ea typeface="Noto Sans KR"/>
                          <a:cs typeface="Noto Sans KR"/>
                        </a:rPr>
                        <a:t>기대</a:t>
                      </a:r>
                    </a:p>
                  </a:txBody>
                  <a:tcPr marL="114300" marR="114300" marT="76200" marB="76200" anchor="ctr">
                    <a:solidFill>
                      <a:srgbClr val="DCECE8"/>
                    </a:solidFill>
                  </a:tcPr>
                </a:tc>
                <a:tc>
                  <a:txBody>
                    <a:bodyPr wrap="square"/>
                    <a:lstStyle/>
                    <a:p>
                      <a:pPr>
                        <a:lnSpc>
                          <a:spcPct val="102000"/>
                        </a:lnSpc>
                        <a:buNone/>
                      </a:pPr>
                      <a:r>
                        <a:rPr sz="1875" b="1">
                          <a:solidFill>
                            <a:srgbClr val="172F39"/>
                          </a:solidFill>
                          <a:latin typeface="Noto Sans KR"/>
                          <a:ea typeface="Noto Sans KR"/>
                          <a:cs typeface="Noto Sans KR"/>
                        </a:rPr>
                        <a:t>관찰</a:t>
                      </a:r>
                    </a:p>
                  </a:txBody>
                  <a:tcPr marL="114300" marR="114300" marT="76200" marB="76200" anchor="ctr">
                    <a:solidFill>
                      <a:srgbClr val="DCECE8"/>
                    </a:solidFill>
                  </a:tcPr>
                </a:tc>
                <a:tc>
                  <a:txBody>
                    <a:bodyPr wrap="square"/>
                    <a:lstStyle/>
                    <a:p>
                      <a:pPr>
                        <a:lnSpc>
                          <a:spcPct val="102000"/>
                        </a:lnSpc>
                        <a:buNone/>
                      </a:pPr>
                      <a:r>
                        <a:rPr sz="1875" b="1">
                          <a:solidFill>
                            <a:srgbClr val="172F39"/>
                          </a:solidFill>
                          <a:latin typeface="Noto Sans KR"/>
                          <a:ea typeface="Noto Sans KR"/>
                          <a:cs typeface="Noto Sans KR"/>
                        </a:rPr>
                        <a:t>판정</a:t>
                      </a:r>
                    </a:p>
                  </a:txBody>
                  <a:tcPr marL="114300" marR="114300" marT="76200" marB="76200" anchor="ctr">
                    <a:solidFill>
                      <a:srgbClr val="DCECE8"/>
                    </a:solidFill>
                  </a:tcPr>
                </a:tc>
              </a:tr>
              <a:tr h="514350">
                <a:tc>
                  <a:txBody>
                    <a:bodyPr wrap="square"/>
                    <a:lstStyle/>
                    <a:p>
                      <a:pPr>
                        <a:lnSpc>
                          <a:spcPct val="102000"/>
                        </a:lnSpc>
                        <a:buNone/>
                      </a:pPr>
                      <a:r>
                        <a:rPr sz="1875" b="0">
                          <a:solidFill>
                            <a:srgbClr val="172F39"/>
                          </a:solidFill>
                          <a:latin typeface="Noto Sans KR"/>
                          <a:ea typeface="Noto Sans KR"/>
                          <a:cs typeface="Noto Sans KR"/>
                        </a:rPr>
                        <a:t>review</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normal</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FAIL</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reject</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관찰 없음</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NOT_RUN</a:t>
                      </a:r>
                    </a:p>
                  </a:txBody>
                  <a:tcPr marL="114300" marR="114300" marT="76200" marB="76200" anchor="ctr">
                    <a:solidFill>
                      <a:srgbClr val="FFFFFF"/>
                    </a:solidFill>
                  </a:tcPr>
                </a:tc>
              </a:tr>
            </a:tbl>
          </a:graphicData>
        </a:graphic>
      </p:graphicFrame>
      <p:sp>
        <p:nvSpPr>
          <p:cNvPr id="7" name="">
            <a:extLst>
              <a:ext uri="{FF2B5EF4-FFF2-40B4-BE49-F238E27FC236}">
                <ns2:creationId id="{F19EC067-12C8-43E4-B49D-D3893DD4668C}"/>
              </a:ext>
            </a:extLst>
          </p:cNvPr>
          <p:cNvSpPr>
            <a:spLocks noGrp="1"/>
          </p:cNvSpPr>
          <p:nvPr/>
        </p:nvSpPr>
        <p:spPr>
          <a:xfrm>
            <a:off x="685800" y="6172200"/>
            <a:ext cx="10820400" cy="9525"/>
          </a:xfrm>
          <a:prstGeom prst="rect">
            <a:avLst/>
          </a:prstGeom>
          <a:solidFill>
            <a:srgbClr val="D5DEDD"/>
          </a:solidFill>
          <a:ln w="0">
            <a:noFill/>
          </a:ln>
        </p:spPr>
      </p:sp>
      <p:sp>
        <p:nvSpPr>
          <p:cNvPr id="8" name="">
            <a:extLst>
              <a:ext uri="{FF2B5EF4-FFF2-40B4-BE49-F238E27FC236}">
                <ns2:creationId id="{DD542EC6-4459-4C6C-B09E-9008C9084875}"/>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9" name="">
            <a:extLst>
              <a:ext uri="{FF2B5EF4-FFF2-40B4-BE49-F238E27FC236}">
                <ns2:creationId id="{AC5A7406-BEFD-4B5B-B6CB-FED7796A19A2}"/>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0" name="">
            <a:extLst>
              <a:ext uri="{FF2B5EF4-FFF2-40B4-BE49-F238E27FC236}">
                <ns2:creationId id="{B7D22E64-2A59-4056-A15F-B733AE445BDB}"/>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1" name="">
            <a:extLst>
              <a:ext uri="{FF2B5EF4-FFF2-40B4-BE49-F238E27FC236}">
                <ns2:creationId id="{6B2CB8FC-728E-4AF6-8DAD-2CBB111C2C20}"/>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10/30   056</a:t>
            </a:r>
          </a:p>
        </p:txBody>
      </p:sp>
    </p:spTree>
    <p:extLst>
      <p:ext uri="{BB962C8B-B14F-4D97-AF65-F5344CB8AC3E}">
        <ns4:creationId val="1706580623"/>
      </p:ext>
    </p:extLst>
  </p:cSld>
</p:sld>
</file>

<file path=ppt/slides/slide57.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4" name="">
            <a:extLst>
              <a:ext uri="{FF2B5EF4-FFF2-40B4-BE49-F238E27FC236}">
                <ns2:creationId id="{021C456E-82FB-4990-A310-2F1901019E40}"/>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4교시</a:t>
            </a:r>
          </a:p>
        </p:txBody>
      </p:sp>
      <p:sp>
        <p:nvSpPr>
          <p:cNvPr id="2" name="">
            <a:extLst>
              <a:ext uri="{FF2B5EF4-FFF2-40B4-BE49-F238E27FC236}">
                <ns2:creationId id="{A8899F6F-76FB-48A2-8B67-9C78F1397EB6}"/>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계획 대비와 실행 대비</a:t>
            </a:r>
          </a:p>
        </p:txBody>
      </p:sp>
      <p:sp>
        <p:nvSpPr>
          <p:cNvPr id="3" name="">
            <a:extLst>
              <a:ext uri="{FF2B5EF4-FFF2-40B4-BE49-F238E27FC236}">
                <ns2:creationId id="{FB757683-39F5-454A-88BD-72617002E6F2}"/>
              </a:ext>
            </a:extLst>
          </p:cNvPr>
          <p:cNvSpPr>
            <a:spLocks noGrp="1"/>
          </p:cNvSpPr>
          <p:nvPr/>
        </p:nvSpPr>
        <p:spPr>
          <a:xfrm>
            <a:off x="685800" y="1933575"/>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통과2 · 실패1 · 미실행1 → 계획 대비2/4</a:t>
            </a:r>
          </a:p>
        </p:txBody>
      </p:sp>
      <p:sp>
        <p:nvSpPr>
          <p:cNvPr id="4" name="">
            <a:extLst>
              <a:ext uri="{FF2B5EF4-FFF2-40B4-BE49-F238E27FC236}">
                <ns2:creationId id="{25811C15-768E-488D-9DEA-0E4BDE55A156}"/>
              </a:ext>
            </a:extLst>
          </p:cNvPr>
          <p:cNvSpPr>
            <a:spLocks noGrp="1"/>
          </p:cNvSpPr>
          <p:nvPr/>
        </p:nvSpPr>
        <p:spPr>
          <a:xfrm>
            <a:off x="685800" y="2769870"/>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실행한 시험 기준으로는 2/3입니다. 제품 완성도를 뜻하지는 않습니다.</a:t>
            </a:r>
          </a:p>
        </p:txBody>
      </p:sp>
      <p:sp>
        <p:nvSpPr>
          <p:cNvPr id="5" name="">
            <a:extLst>
              <a:ext uri="{FF2B5EF4-FFF2-40B4-BE49-F238E27FC236}">
                <ns2:creationId id="{0D7AA16C-76FF-4D6C-B816-B7F1D4DB7E3F}"/>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분모 구별하기</a:t>
            </a:r>
          </a:p>
        </p:txBody>
      </p:sp>
      <p:sp>
        <p:nvSpPr>
          <p:cNvPr id="6" name="">
            <a:extLst>
              <a:ext uri="{FF2B5EF4-FFF2-40B4-BE49-F238E27FC236}">
                <ns2:creationId id="{F3EDF359-86DE-44F1-BEAC-E7B82197218A}"/>
              </a:ext>
            </a:extLst>
          </p:cNvPr>
          <p:cNvSpPr>
            <a:spLocks noGrp="1"/>
          </p:cNvSpPr>
          <p:nvPr/>
        </p:nvSpPr>
        <p:spPr>
          <a:xfrm>
            <a:off x="6267450" y="2628900"/>
            <a:ext cx="5238750" cy="440246"/>
          </a:xfrm>
          <a:prstGeom prst="rect">
            <a:avLst/>
          </a:prstGeom>
          <a:noFill/>
          <a:ln w="0">
            <a:noFill/>
          </a:ln>
        </p:spPr>
        <p:txBody>
          <a:bodyPr wrap="square" lIns="0" tIns="0" rIns="0" bIns="0">
            <a:noAutofit/>
          </a:bodyPr>
          <a:lstStyle/>
          <a:p>
            <a:pPr>
              <a:defRPr sz="2175" b="0">
                <a:solidFill>
                  <a:srgbClr val="172F39"/>
                </a:solidFill>
                <a:latin typeface="Noto Sans KR"/>
                <a:ea typeface="Noto Sans KR"/>
                <a:cs typeface="Noto Sans KR"/>
              </a:defRPr>
            </a:pPr>
            <a:r>
              <a:t>계획 4건, 실행 3건, 통과 2건</a:t>
            </a:r>
          </a:p>
        </p:txBody>
      </p:sp>
      <p:sp>
        <p:nvSpPr>
          <p:cNvPr id="7" name="">
            <a:extLst>
              <a:ext uri="{FF2B5EF4-FFF2-40B4-BE49-F238E27FC236}">
                <ns2:creationId id="{5B077118-18D5-45CD-9B2F-AEAC886AA194}"/>
              </a:ext>
            </a:extLst>
          </p:cNvPr>
          <p:cNvSpPr>
            <a:spLocks noGrp="1"/>
          </p:cNvSpPr>
          <p:nvPr/>
        </p:nvSpPr>
        <p:spPr>
          <a:xfrm>
            <a:off x="6267450" y="3116771"/>
            <a:ext cx="5238750" cy="440246"/>
          </a:xfrm>
          <a:prstGeom prst="rect">
            <a:avLst/>
          </a:prstGeom>
          <a:noFill/>
          <a:ln w="0">
            <a:noFill/>
          </a:ln>
        </p:spPr>
        <p:txBody>
          <a:bodyPr wrap="square" lIns="0" tIns="0" rIns="0" bIns="0">
            <a:noAutofit/>
          </a:bodyPr>
          <a:lstStyle/>
          <a:p>
            <a:pPr>
              <a:defRPr sz="2175" b="0">
                <a:solidFill>
                  <a:srgbClr val="172F39"/>
                </a:solidFill>
                <a:latin typeface="Noto Sans KR"/>
                <a:ea typeface="Noto Sans KR"/>
                <a:cs typeface="Noto Sans KR"/>
              </a:defRPr>
            </a:pPr>
            <a:r>
              <a:t>계획 대비 2/4</a:t>
            </a:r>
          </a:p>
        </p:txBody>
      </p:sp>
      <p:sp>
        <p:nvSpPr>
          <p:cNvPr id="8" name="">
            <a:extLst>
              <a:ext uri="{FF2B5EF4-FFF2-40B4-BE49-F238E27FC236}">
                <ns2:creationId id="{491E5643-F1F4-4D7F-B8CE-459BD5D99D15}"/>
              </a:ext>
            </a:extLst>
          </p:cNvPr>
          <p:cNvSpPr>
            <a:spLocks noGrp="1"/>
          </p:cNvSpPr>
          <p:nvPr/>
        </p:nvSpPr>
        <p:spPr>
          <a:xfrm>
            <a:off x="6267450" y="3604641"/>
            <a:ext cx="5238750" cy="440246"/>
          </a:xfrm>
          <a:prstGeom prst="rect">
            <a:avLst/>
          </a:prstGeom>
          <a:noFill/>
          <a:ln w="0">
            <a:noFill/>
          </a:ln>
        </p:spPr>
        <p:txBody>
          <a:bodyPr wrap="square" lIns="0" tIns="0" rIns="0" bIns="0">
            <a:noAutofit/>
          </a:bodyPr>
          <a:lstStyle/>
          <a:p>
            <a:pPr>
              <a:defRPr sz="2175" b="0">
                <a:solidFill>
                  <a:srgbClr val="172F39"/>
                </a:solidFill>
                <a:latin typeface="Noto Sans KR"/>
                <a:ea typeface="Noto Sans KR"/>
                <a:cs typeface="Noto Sans KR"/>
              </a:defRPr>
            </a:pPr>
            <a:r>
              <a:t>실행한 시험 대비 2/3</a:t>
            </a:r>
          </a:p>
        </p:txBody>
      </p:sp>
      <p:sp>
        <p:nvSpPr>
          <p:cNvPr id="9" name="">
            <a:extLst>
              <a:ext uri="{FF2B5EF4-FFF2-40B4-BE49-F238E27FC236}">
                <ns2:creationId id="{90CDBA83-A86B-4482-9543-09909A6E2A61}"/>
              </a:ext>
            </a:extLst>
          </p:cNvPr>
          <p:cNvSpPr>
            <a:spLocks noGrp="1"/>
          </p:cNvSpPr>
          <p:nvPr/>
        </p:nvSpPr>
        <p:spPr>
          <a:xfrm>
            <a:off x="685800" y="6172200"/>
            <a:ext cx="10820400" cy="9525"/>
          </a:xfrm>
          <a:prstGeom prst="rect">
            <a:avLst/>
          </a:prstGeom>
          <a:solidFill>
            <a:srgbClr val="D5DEDD"/>
          </a:solidFill>
          <a:ln w="0">
            <a:noFill/>
          </a:ln>
        </p:spPr>
      </p:sp>
      <p:sp>
        <p:nvSpPr>
          <p:cNvPr id="10" name="">
            <a:extLst>
              <a:ext uri="{FF2B5EF4-FFF2-40B4-BE49-F238E27FC236}">
                <ns2:creationId id="{6D4CE986-1759-4BC0-8067-15BBE25C1F96}"/>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1" name="">
            <a:extLst>
              <a:ext uri="{FF2B5EF4-FFF2-40B4-BE49-F238E27FC236}">
                <ns2:creationId id="{2A7C53E0-48EA-4D60-AA32-C27B1A7568ED}"/>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2" name="">
            <a:extLst>
              <a:ext uri="{FF2B5EF4-FFF2-40B4-BE49-F238E27FC236}">
                <ns2:creationId id="{B914B053-F4B8-4A12-B545-A55534AF8046}"/>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3" name="">
            <a:extLst>
              <a:ext uri="{FF2B5EF4-FFF2-40B4-BE49-F238E27FC236}">
                <ns2:creationId id="{09D22651-3A59-4004-82DF-CB19DA543CDB}"/>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10/30   057</a:t>
            </a:r>
          </a:p>
        </p:txBody>
      </p:sp>
    </p:spTree>
    <p:extLst>
      <p:ext uri="{BB962C8B-B14F-4D97-AF65-F5344CB8AC3E}">
        <ns4:creationId val="1331719013"/>
      </p:ext>
    </p:extLst>
  </p:cSld>
</p:sld>
</file>

<file path=ppt/slides/slide58.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0" name="">
            <a:extLst>
              <a:ext uri="{FF2B5EF4-FFF2-40B4-BE49-F238E27FC236}">
                <ns2:creationId id="{0E255D74-623B-4371-9627-2C0410025A84}"/>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4교시</a:t>
            </a:r>
          </a:p>
        </p:txBody>
      </p:sp>
      <p:sp>
        <p:nvSpPr>
          <p:cNvPr id="2" name="">
            <a:extLst>
              <a:ext uri="{FF2B5EF4-FFF2-40B4-BE49-F238E27FC236}">
                <ns2:creationId id="{B4B5E206-F1BE-4433-A9F0-C6F8207D4479}"/>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정상·누락·중복·보존 시험</a:t>
            </a:r>
          </a:p>
        </p:txBody>
      </p:sp>
      <p:sp>
        <p:nvSpPr>
          <p:cNvPr id="3" name="">
            <a:extLst>
              <a:ext uri="{FF2B5EF4-FFF2-40B4-BE49-F238E27FC236}">
                <ns2:creationId id="{D8FB2CF9-52C0-458B-BBB3-54AA0C10EDB1}"/>
              </a:ext>
            </a:extLst>
          </p:cNvPr>
          <p:cNvSpPr>
            <a:spLocks noGrp="1"/>
          </p:cNvSpPr>
          <p:nvPr/>
        </p:nvSpPr>
        <p:spPr>
          <a:xfrm>
            <a:off x="685800" y="1990725"/>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정상 · 누락 · 중복 · 원문 보존</a:t>
            </a:r>
          </a:p>
        </p:txBody>
      </p:sp>
      <p:sp>
        <p:nvSpPr>
          <p:cNvPr id="4" name="">
            <a:extLst>
              <a:ext uri="{FF2B5EF4-FFF2-40B4-BE49-F238E27FC236}">
                <ns2:creationId id="{42A48DA8-4D34-4EC0-B178-DAF0C81CBDAA}"/>
              </a:ext>
            </a:extLst>
          </p:cNvPr>
          <p:cNvSpPr>
            <a:spLocks noGrp="1"/>
          </p:cNvSpPr>
          <p:nvPr/>
        </p:nvSpPr>
        <p:spPr>
          <a:xfrm>
            <a:off x="685800" y="2534793"/>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장비가 정해지지 않았다면 대신 확인할 방법과 담당자를 적으세요.</a:t>
            </a:r>
          </a:p>
        </p:txBody>
      </p:sp>
      <p:sp>
        <p:nvSpPr>
          <p:cNvPr id="5" name="">
            <a:extLst>
              <a:ext uri="{FF2B5EF4-FFF2-40B4-BE49-F238E27FC236}">
                <ns2:creationId id="{5A9FFA97-0151-4DAA-B73D-B5D3913A0BB6}"/>
              </a:ext>
            </a:extLst>
          </p:cNvPr>
          <p:cNvSpPr>
            <a:spLocks noGrp="1"/>
          </p:cNvSpPr>
          <p:nvPr/>
        </p:nvSpPr>
        <p:spPr>
          <a:xfrm>
            <a:off x="685800" y="6172200"/>
            <a:ext cx="10820400" cy="9525"/>
          </a:xfrm>
          <a:prstGeom prst="rect">
            <a:avLst/>
          </a:prstGeom>
          <a:solidFill>
            <a:srgbClr val="D5DEDD"/>
          </a:solidFill>
          <a:ln w="0">
            <a:noFill/>
          </a:ln>
        </p:spPr>
      </p:sp>
      <p:sp>
        <p:nvSpPr>
          <p:cNvPr id="6" name="">
            <a:extLst>
              <a:ext uri="{FF2B5EF4-FFF2-40B4-BE49-F238E27FC236}">
                <ns2:creationId id="{7E1654AB-B35D-49A1-864B-D0BD449D25EE}"/>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7" name="">
            <a:extLst>
              <a:ext uri="{FF2B5EF4-FFF2-40B4-BE49-F238E27FC236}">
                <ns2:creationId id="{449CD858-0A5D-4BFC-9E4F-52768FEA814A}"/>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8" name="">
            <a:extLst>
              <a:ext uri="{FF2B5EF4-FFF2-40B4-BE49-F238E27FC236}">
                <ns2:creationId id="{675DA8C7-DFCE-459C-B63F-325EFA3F3E91}"/>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9" name="">
            <a:extLst>
              <a:ext uri="{FF2B5EF4-FFF2-40B4-BE49-F238E27FC236}">
                <ns2:creationId id="{9C828925-3321-40B5-A862-8727028A751C}"/>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10/30   058</a:t>
            </a:r>
          </a:p>
        </p:txBody>
      </p:sp>
    </p:spTree>
    <p:extLst>
      <p:ext uri="{BB962C8B-B14F-4D97-AF65-F5344CB8AC3E}">
        <ns4:creationId val="1092359127"/>
      </p:ext>
    </p:extLst>
  </p:cSld>
</p:sld>
</file>

<file path=ppt/slides/slide59.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29" name="">
            <a:extLst>
              <a:ext uri="{FF2B5EF4-FFF2-40B4-BE49-F238E27FC236}">
                <ns2:creationId id="{E1EE9785-3EAD-4D79-9F64-5A070588EC7B}"/>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4교시</a:t>
            </a:r>
          </a:p>
        </p:txBody>
      </p:sp>
      <p:sp>
        <p:nvSpPr>
          <p:cNvPr id="2" name="">
            <a:extLst>
              <a:ext uri="{FF2B5EF4-FFF2-40B4-BE49-F238E27FC236}">
                <ns2:creationId id="{BEA79B92-9159-4554-82AF-67EED359046D}"/>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시험 상태 비교 코드</a:t>
            </a:r>
          </a:p>
        </p:txBody>
      </p:sp>
      <p:sp>
        <p:nvSpPr>
          <p:cNvPr id="3" name="">
            <a:extLst>
              <a:ext uri="{FF2B5EF4-FFF2-40B4-BE49-F238E27FC236}">
                <ns2:creationId id="{43CC9802-8954-47BF-9A54-DA374004B05D}"/>
              </a:ext>
            </a:extLst>
          </p:cNvPr>
          <p:cNvSpPr>
            <a:spLocks noGrp="1"/>
          </p:cNvSpPr>
          <p:nvPr/>
        </p:nvSpPr>
        <p:spPr>
          <a:xfrm>
            <a:off x="685800" y="1809750"/>
            <a:ext cx="10820400" cy="3493770"/>
          </a:xfrm>
          <a:prstGeom prst="rect">
            <a:avLst/>
          </a:prstGeom>
          <a:solidFill>
            <a:srgbClr val="F1F6F5"/>
          </a:solidFill>
          <a:ln w="0">
            <a:noFill/>
          </a:ln>
        </p:spPr>
      </p:sp>
      <p:sp>
        <p:nvSpPr>
          <p:cNvPr id="4" name="">
            <a:extLst>
              <a:ext uri="{FF2B5EF4-FFF2-40B4-BE49-F238E27FC236}">
                <ns2:creationId id="{372DFE0D-63B5-4E10-8490-64B863164ACE}"/>
              </a:ext>
            </a:extLst>
          </p:cNvPr>
          <p:cNvSpPr>
            <a:spLocks noGrp="1"/>
          </p:cNvSpPr>
          <p:nvPr/>
        </p:nvSpPr>
        <p:spPr>
          <a:xfrm>
            <a:off x="828675" y="1971675"/>
            <a:ext cx="361950" cy="316992"/>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01</a:t>
            </a:r>
          </a:p>
        </p:txBody>
      </p:sp>
      <p:sp>
        <p:nvSpPr>
          <p:cNvPr id="5" name="">
            <a:extLst>
              <a:ext uri="{FF2B5EF4-FFF2-40B4-BE49-F238E27FC236}">
                <ns2:creationId id="{AE3E4AF7-7B91-407B-903E-3ECFBFCB004F}"/>
              </a:ext>
            </a:extLst>
          </p:cNvPr>
          <p:cNvSpPr>
            <a:spLocks noGrp="1"/>
          </p:cNvSpPr>
          <p:nvPr/>
        </p:nvSpPr>
        <p:spPr>
          <a:xfrm>
            <a:off x="1276350" y="1933575"/>
            <a:ext cx="10096500" cy="374142"/>
          </a:xfrm>
          <a:prstGeom prst="rect">
            <a:avLst/>
          </a:prstGeom>
          <a:noFill/>
          <a:ln w="0">
            <a:noFill/>
          </a:ln>
        </p:spPr>
        <p:txBody>
          <a:bodyPr wrap="none" lIns="0" tIns="0" rIns="0" bIns="0">
            <a:noAutofit/>
          </a:bodyPr>
          <a:lstStyle/>
          <a:p>
            <a:pPr>
              <a:defRPr sz="1950" b="0">
                <a:solidFill>
                  <a:srgbClr val="172F39"/>
                </a:solidFill>
                <a:latin typeface="Consolas"/>
                <a:ea typeface="Consolas"/>
                <a:cs typeface="Consolas"/>
              </a:defRPr>
            </a:pPr>
            <a:r>
              <a:t>cases = [</a:t>
            </a:r>
          </a:p>
        </p:txBody>
      </p:sp>
      <p:sp>
        <p:nvSpPr>
          <p:cNvPr id="6" name="">
            <a:extLst>
              <a:ext uri="{FF2B5EF4-FFF2-40B4-BE49-F238E27FC236}">
                <ns2:creationId id="{563D3B23-D998-4BBF-AA99-5D2F5A04060B}"/>
              </a:ext>
            </a:extLst>
          </p:cNvPr>
          <p:cNvSpPr>
            <a:spLocks noGrp="1"/>
          </p:cNvSpPr>
          <p:nvPr/>
        </p:nvSpPr>
        <p:spPr>
          <a:xfrm>
            <a:off x="828675" y="2288667"/>
            <a:ext cx="361950" cy="316992"/>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02</a:t>
            </a:r>
          </a:p>
        </p:txBody>
      </p:sp>
      <p:sp>
        <p:nvSpPr>
          <p:cNvPr id="7" name="">
            <a:extLst>
              <a:ext uri="{FF2B5EF4-FFF2-40B4-BE49-F238E27FC236}">
                <ns2:creationId id="{EFD7D244-AFC2-4975-9875-1910A0040B47}"/>
              </a:ext>
            </a:extLst>
          </p:cNvPr>
          <p:cNvSpPr>
            <a:spLocks noGrp="1"/>
          </p:cNvSpPr>
          <p:nvPr/>
        </p:nvSpPr>
        <p:spPr>
          <a:xfrm>
            <a:off x="1276350" y="2250567"/>
            <a:ext cx="10096500" cy="374142"/>
          </a:xfrm>
          <a:prstGeom prst="rect">
            <a:avLst/>
          </a:prstGeom>
          <a:noFill/>
          <a:ln w="0">
            <a:noFill/>
          </a:ln>
        </p:spPr>
        <p:txBody>
          <a:bodyPr wrap="none" lIns="0" tIns="0" rIns="0" bIns="0">
            <a:noAutofit/>
          </a:bodyPr>
          <a:lstStyle/>
          <a:p>
            <a:pPr>
              <a:defRPr sz="1950" b="0">
                <a:solidFill>
                  <a:srgbClr val="172F39"/>
                </a:solidFill>
                <a:latin typeface="Consolas"/>
                <a:ea typeface="Consolas"/>
                <a:cs typeface="Consolas"/>
              </a:defRPr>
            </a:pPr>
            <a:r>
              <a:t>    ("T02", "review", "normal"),</a:t>
            </a:r>
          </a:p>
        </p:txBody>
      </p:sp>
      <p:sp>
        <p:nvSpPr>
          <p:cNvPr id="8" name="">
            <a:extLst>
              <a:ext uri="{FF2B5EF4-FFF2-40B4-BE49-F238E27FC236}">
                <ns2:creationId id="{620C8A4E-CC14-4A7B-9EA8-46EC658A3586}"/>
              </a:ext>
            </a:extLst>
          </p:cNvPr>
          <p:cNvSpPr>
            <a:spLocks noGrp="1"/>
          </p:cNvSpPr>
          <p:nvPr/>
        </p:nvSpPr>
        <p:spPr>
          <a:xfrm>
            <a:off x="828675" y="2605659"/>
            <a:ext cx="361950" cy="316992"/>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03</a:t>
            </a:r>
          </a:p>
        </p:txBody>
      </p:sp>
      <p:sp>
        <p:nvSpPr>
          <p:cNvPr id="9" name="">
            <a:extLst>
              <a:ext uri="{FF2B5EF4-FFF2-40B4-BE49-F238E27FC236}">
                <ns2:creationId id="{010EE730-E54C-4250-993B-3D9579B706A1}"/>
              </a:ext>
            </a:extLst>
          </p:cNvPr>
          <p:cNvSpPr>
            <a:spLocks noGrp="1"/>
          </p:cNvSpPr>
          <p:nvPr/>
        </p:nvSpPr>
        <p:spPr>
          <a:xfrm>
            <a:off x="1276350" y="2567559"/>
            <a:ext cx="10096500" cy="374142"/>
          </a:xfrm>
          <a:prstGeom prst="rect">
            <a:avLst/>
          </a:prstGeom>
          <a:noFill/>
          <a:ln w="0">
            <a:noFill/>
          </a:ln>
        </p:spPr>
        <p:txBody>
          <a:bodyPr wrap="none" lIns="0" tIns="0" rIns="0" bIns="0">
            <a:noAutofit/>
          </a:bodyPr>
          <a:lstStyle/>
          <a:p>
            <a:pPr>
              <a:defRPr sz="1950" b="0">
                <a:solidFill>
                  <a:srgbClr val="172F39"/>
                </a:solidFill>
                <a:latin typeface="Consolas"/>
                <a:ea typeface="Consolas"/>
                <a:cs typeface="Consolas"/>
              </a:defRPr>
            </a:pPr>
            <a:r>
              <a:t>    ("T03", "reject", None),</a:t>
            </a:r>
          </a:p>
        </p:txBody>
      </p:sp>
      <p:sp>
        <p:nvSpPr>
          <p:cNvPr id="10" name="">
            <a:extLst>
              <a:ext uri="{FF2B5EF4-FFF2-40B4-BE49-F238E27FC236}">
                <ns2:creationId id="{7C726E7E-32B2-4E80-A6D3-1EACF70A1C23}"/>
              </a:ext>
            </a:extLst>
          </p:cNvPr>
          <p:cNvSpPr>
            <a:spLocks noGrp="1"/>
          </p:cNvSpPr>
          <p:nvPr/>
        </p:nvSpPr>
        <p:spPr>
          <a:xfrm>
            <a:off x="828675" y="2922651"/>
            <a:ext cx="361950" cy="316992"/>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04</a:t>
            </a:r>
          </a:p>
        </p:txBody>
      </p:sp>
      <p:sp>
        <p:nvSpPr>
          <p:cNvPr id="11" name="">
            <a:extLst>
              <a:ext uri="{FF2B5EF4-FFF2-40B4-BE49-F238E27FC236}">
                <ns2:creationId id="{8FF48694-224C-4D3E-AE05-F5E8F6265C1F}"/>
              </a:ext>
            </a:extLst>
          </p:cNvPr>
          <p:cNvSpPr>
            <a:spLocks noGrp="1"/>
          </p:cNvSpPr>
          <p:nvPr/>
        </p:nvSpPr>
        <p:spPr>
          <a:xfrm>
            <a:off x="1276350" y="2884551"/>
            <a:ext cx="10096500" cy="374142"/>
          </a:xfrm>
          <a:prstGeom prst="rect">
            <a:avLst/>
          </a:prstGeom>
          <a:noFill/>
          <a:ln w="0">
            <a:noFill/>
          </a:ln>
        </p:spPr>
        <p:txBody>
          <a:bodyPr wrap="none" lIns="0" tIns="0" rIns="0" bIns="0">
            <a:noAutofit/>
          </a:bodyPr>
          <a:lstStyle/>
          <a:p>
            <a:pPr>
              <a:defRPr sz="1950" b="0">
                <a:solidFill>
                  <a:srgbClr val="172F39"/>
                </a:solidFill>
                <a:latin typeface="Consolas"/>
                <a:ea typeface="Consolas"/>
                <a:cs typeface="Consolas"/>
              </a:defRPr>
            </a:pPr>
            <a:r>
              <a:t>]</a:t>
            </a:r>
          </a:p>
        </p:txBody>
      </p:sp>
      <p:sp>
        <p:nvSpPr>
          <p:cNvPr id="12" name="">
            <a:extLst>
              <a:ext uri="{FF2B5EF4-FFF2-40B4-BE49-F238E27FC236}">
                <ns2:creationId id="{32177BD3-A69F-4BC5-8B8F-BB83D2FE0D90}"/>
              </a:ext>
            </a:extLst>
          </p:cNvPr>
          <p:cNvSpPr>
            <a:spLocks noGrp="1"/>
          </p:cNvSpPr>
          <p:nvPr/>
        </p:nvSpPr>
        <p:spPr>
          <a:xfrm>
            <a:off x="828675" y="3239643"/>
            <a:ext cx="361950" cy="316992"/>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05</a:t>
            </a:r>
          </a:p>
        </p:txBody>
      </p:sp>
      <p:sp>
        <p:nvSpPr>
          <p:cNvPr id="13" name="">
            <a:extLst>
              <a:ext uri="{FF2B5EF4-FFF2-40B4-BE49-F238E27FC236}">
                <ns2:creationId id="{166A92BB-4218-4866-A549-DEFF591C901E}"/>
              </a:ext>
            </a:extLst>
          </p:cNvPr>
          <p:cNvSpPr>
            <a:spLocks noGrp="1"/>
          </p:cNvSpPr>
          <p:nvPr/>
        </p:nvSpPr>
        <p:spPr>
          <a:xfrm>
            <a:off x="1276350" y="3201543"/>
            <a:ext cx="10096500" cy="374142"/>
          </a:xfrm>
          <a:prstGeom prst="rect">
            <a:avLst/>
          </a:prstGeom>
          <a:noFill/>
          <a:ln w="0">
            <a:noFill/>
          </a:ln>
        </p:spPr>
        <p:txBody>
          <a:bodyPr wrap="none" lIns="0" tIns="0" rIns="0" bIns="0">
            <a:noAutofit/>
          </a:bodyPr>
          <a:lstStyle/>
          <a:p>
            <a:pPr>
              <a:defRPr sz="1950" b="0">
                <a:solidFill>
                  <a:srgbClr val="172F39"/>
                </a:solidFill>
                <a:latin typeface="Consolas"/>
                <a:ea typeface="Consolas"/>
                <a:cs typeface="Consolas"/>
              </a:defRPr>
            </a:pPr>
            <a:r>
              <a:t>for name, expected, actual in cases:</a:t>
            </a:r>
          </a:p>
        </p:txBody>
      </p:sp>
      <p:sp>
        <p:nvSpPr>
          <p:cNvPr id="14" name="">
            <a:extLst>
              <a:ext uri="{FF2B5EF4-FFF2-40B4-BE49-F238E27FC236}">
                <ns2:creationId id="{8F8594E5-0663-4694-BC0C-9BD37ECE656A}"/>
              </a:ext>
            </a:extLst>
          </p:cNvPr>
          <p:cNvSpPr>
            <a:spLocks noGrp="1"/>
          </p:cNvSpPr>
          <p:nvPr/>
        </p:nvSpPr>
        <p:spPr>
          <a:xfrm>
            <a:off x="828675" y="3556635"/>
            <a:ext cx="361950" cy="316992"/>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06</a:t>
            </a:r>
          </a:p>
        </p:txBody>
      </p:sp>
      <p:sp>
        <p:nvSpPr>
          <p:cNvPr id="15" name="">
            <a:extLst>
              <a:ext uri="{FF2B5EF4-FFF2-40B4-BE49-F238E27FC236}">
                <ns2:creationId id="{9EB9816C-8F2F-448D-BF4E-B837F75081B7}"/>
              </a:ext>
            </a:extLst>
          </p:cNvPr>
          <p:cNvSpPr>
            <a:spLocks noGrp="1"/>
          </p:cNvSpPr>
          <p:nvPr/>
        </p:nvSpPr>
        <p:spPr>
          <a:xfrm>
            <a:off x="1276350" y="3518535"/>
            <a:ext cx="10096500" cy="374142"/>
          </a:xfrm>
          <a:prstGeom prst="rect">
            <a:avLst/>
          </a:prstGeom>
          <a:noFill/>
          <a:ln w="0">
            <a:noFill/>
          </a:ln>
        </p:spPr>
        <p:txBody>
          <a:bodyPr wrap="none" lIns="0" tIns="0" rIns="0" bIns="0">
            <a:noAutofit/>
          </a:bodyPr>
          <a:lstStyle/>
          <a:p>
            <a:pPr>
              <a:defRPr sz="1950" b="0">
                <a:solidFill>
                  <a:srgbClr val="172F39"/>
                </a:solidFill>
                <a:latin typeface="Consolas"/>
                <a:ea typeface="Consolas"/>
                <a:cs typeface="Consolas"/>
              </a:defRPr>
            </a:pPr>
            <a:r>
              <a:t>    if actual is None:</a:t>
            </a:r>
          </a:p>
        </p:txBody>
      </p:sp>
      <p:sp>
        <p:nvSpPr>
          <p:cNvPr id="16" name="">
            <a:extLst>
              <a:ext uri="{FF2B5EF4-FFF2-40B4-BE49-F238E27FC236}">
                <ns2:creationId id="{83DD3B9B-5642-45F6-996B-E20E4017BBA6}"/>
              </a:ext>
            </a:extLst>
          </p:cNvPr>
          <p:cNvSpPr>
            <a:spLocks noGrp="1"/>
          </p:cNvSpPr>
          <p:nvPr/>
        </p:nvSpPr>
        <p:spPr>
          <a:xfrm>
            <a:off x="828675" y="3873627"/>
            <a:ext cx="361950" cy="316992"/>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07</a:t>
            </a:r>
          </a:p>
        </p:txBody>
      </p:sp>
      <p:sp>
        <p:nvSpPr>
          <p:cNvPr id="17" name="">
            <a:extLst>
              <a:ext uri="{FF2B5EF4-FFF2-40B4-BE49-F238E27FC236}">
                <ns2:creationId id="{940DB7C0-4B58-419B-B3E9-E2400CEE10DA}"/>
              </a:ext>
            </a:extLst>
          </p:cNvPr>
          <p:cNvSpPr>
            <a:spLocks noGrp="1"/>
          </p:cNvSpPr>
          <p:nvPr/>
        </p:nvSpPr>
        <p:spPr>
          <a:xfrm>
            <a:off x="1276350" y="3835527"/>
            <a:ext cx="10096500" cy="374142"/>
          </a:xfrm>
          <a:prstGeom prst="rect">
            <a:avLst/>
          </a:prstGeom>
          <a:noFill/>
          <a:ln w="0">
            <a:noFill/>
          </a:ln>
        </p:spPr>
        <p:txBody>
          <a:bodyPr wrap="none" lIns="0" tIns="0" rIns="0" bIns="0">
            <a:noAutofit/>
          </a:bodyPr>
          <a:lstStyle/>
          <a:p>
            <a:pPr>
              <a:defRPr sz="1950" b="0">
                <a:solidFill>
                  <a:srgbClr val="172F39"/>
                </a:solidFill>
                <a:latin typeface="Consolas"/>
                <a:ea typeface="Consolas"/>
                <a:cs typeface="Consolas"/>
              </a:defRPr>
            </a:pPr>
            <a:r>
              <a:t>        result = "NOT_RUN"</a:t>
            </a:r>
          </a:p>
        </p:txBody>
      </p:sp>
      <p:sp>
        <p:nvSpPr>
          <p:cNvPr id="18" name="">
            <a:extLst>
              <a:ext uri="{FF2B5EF4-FFF2-40B4-BE49-F238E27FC236}">
                <ns2:creationId id="{BE16C6E8-CF01-48B0-B804-4DCC5B5E3EEF}"/>
              </a:ext>
            </a:extLst>
          </p:cNvPr>
          <p:cNvSpPr>
            <a:spLocks noGrp="1"/>
          </p:cNvSpPr>
          <p:nvPr/>
        </p:nvSpPr>
        <p:spPr>
          <a:xfrm>
            <a:off x="828675" y="4190619"/>
            <a:ext cx="361950" cy="316992"/>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08</a:t>
            </a:r>
          </a:p>
        </p:txBody>
      </p:sp>
      <p:sp>
        <p:nvSpPr>
          <p:cNvPr id="19" name="">
            <a:extLst>
              <a:ext uri="{FF2B5EF4-FFF2-40B4-BE49-F238E27FC236}">
                <ns2:creationId id="{CF96899D-F3A5-414F-A8B5-D7FB6ED7931A}"/>
              </a:ext>
            </a:extLst>
          </p:cNvPr>
          <p:cNvSpPr>
            <a:spLocks noGrp="1"/>
          </p:cNvSpPr>
          <p:nvPr/>
        </p:nvSpPr>
        <p:spPr>
          <a:xfrm>
            <a:off x="1276350" y="4152519"/>
            <a:ext cx="10096500" cy="374142"/>
          </a:xfrm>
          <a:prstGeom prst="rect">
            <a:avLst/>
          </a:prstGeom>
          <a:noFill/>
          <a:ln w="0">
            <a:noFill/>
          </a:ln>
        </p:spPr>
        <p:txBody>
          <a:bodyPr wrap="none" lIns="0" tIns="0" rIns="0" bIns="0">
            <a:noAutofit/>
          </a:bodyPr>
          <a:lstStyle/>
          <a:p>
            <a:pPr>
              <a:defRPr sz="1950" b="0">
                <a:solidFill>
                  <a:srgbClr val="172F39"/>
                </a:solidFill>
                <a:latin typeface="Consolas"/>
                <a:ea typeface="Consolas"/>
                <a:cs typeface="Consolas"/>
              </a:defRPr>
            </a:pPr>
            <a:r>
              <a:t>    else:</a:t>
            </a:r>
          </a:p>
        </p:txBody>
      </p:sp>
      <p:sp>
        <p:nvSpPr>
          <p:cNvPr id="20" name="">
            <a:extLst>
              <a:ext uri="{FF2B5EF4-FFF2-40B4-BE49-F238E27FC236}">
                <ns2:creationId id="{99B8CCAA-FB45-46B2-ABAA-CE519DD751A1}"/>
              </a:ext>
            </a:extLst>
          </p:cNvPr>
          <p:cNvSpPr>
            <a:spLocks noGrp="1"/>
          </p:cNvSpPr>
          <p:nvPr/>
        </p:nvSpPr>
        <p:spPr>
          <a:xfrm>
            <a:off x="828675" y="4507611"/>
            <a:ext cx="361950" cy="316992"/>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09</a:t>
            </a:r>
          </a:p>
        </p:txBody>
      </p:sp>
      <p:sp>
        <p:nvSpPr>
          <p:cNvPr id="21" name="">
            <a:extLst>
              <a:ext uri="{FF2B5EF4-FFF2-40B4-BE49-F238E27FC236}">
                <ns2:creationId id="{491F5F93-1E9A-4E29-B0AC-7FA0AA581731}"/>
              </a:ext>
            </a:extLst>
          </p:cNvPr>
          <p:cNvSpPr>
            <a:spLocks noGrp="1"/>
          </p:cNvSpPr>
          <p:nvPr/>
        </p:nvSpPr>
        <p:spPr>
          <a:xfrm>
            <a:off x="1276350" y="4469511"/>
            <a:ext cx="10096500" cy="374142"/>
          </a:xfrm>
          <a:prstGeom prst="rect">
            <a:avLst/>
          </a:prstGeom>
          <a:noFill/>
          <a:ln w="0">
            <a:noFill/>
          </a:ln>
        </p:spPr>
        <p:txBody>
          <a:bodyPr wrap="none" lIns="0" tIns="0" rIns="0" bIns="0">
            <a:noAutofit/>
          </a:bodyPr>
          <a:lstStyle/>
          <a:p>
            <a:pPr>
              <a:defRPr sz="1950" b="0">
                <a:solidFill>
                  <a:srgbClr val="172F39"/>
                </a:solidFill>
                <a:latin typeface="Consolas"/>
                <a:ea typeface="Consolas"/>
                <a:cs typeface="Consolas"/>
              </a:defRPr>
            </a:pPr>
            <a:r>
              <a:t>        result = "PASS" if actual == expected else "FAIL"</a:t>
            </a:r>
          </a:p>
        </p:txBody>
      </p:sp>
      <p:sp>
        <p:nvSpPr>
          <p:cNvPr id="22" name="">
            <a:extLst>
              <a:ext uri="{FF2B5EF4-FFF2-40B4-BE49-F238E27FC236}">
                <ns2:creationId id="{D96BF0F5-0C0A-47EE-89E5-649905FE4062}"/>
              </a:ext>
            </a:extLst>
          </p:cNvPr>
          <p:cNvSpPr>
            <a:spLocks noGrp="1"/>
          </p:cNvSpPr>
          <p:nvPr/>
        </p:nvSpPr>
        <p:spPr>
          <a:xfrm>
            <a:off x="828675" y="4824603"/>
            <a:ext cx="361950" cy="316992"/>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10</a:t>
            </a:r>
          </a:p>
        </p:txBody>
      </p:sp>
      <p:sp>
        <p:nvSpPr>
          <p:cNvPr id="23" name="">
            <a:extLst>
              <a:ext uri="{FF2B5EF4-FFF2-40B4-BE49-F238E27FC236}">
                <ns2:creationId id="{F4BD2C96-2917-4265-B766-4DE6F33A7405}"/>
              </a:ext>
            </a:extLst>
          </p:cNvPr>
          <p:cNvSpPr>
            <a:spLocks noGrp="1"/>
          </p:cNvSpPr>
          <p:nvPr/>
        </p:nvSpPr>
        <p:spPr>
          <a:xfrm>
            <a:off x="1276350" y="4786503"/>
            <a:ext cx="10096500" cy="374142"/>
          </a:xfrm>
          <a:prstGeom prst="rect">
            <a:avLst/>
          </a:prstGeom>
          <a:noFill/>
          <a:ln w="0">
            <a:noFill/>
          </a:ln>
        </p:spPr>
        <p:txBody>
          <a:bodyPr wrap="none" lIns="0" tIns="0" rIns="0" bIns="0">
            <a:noAutofit/>
          </a:bodyPr>
          <a:lstStyle/>
          <a:p>
            <a:pPr>
              <a:defRPr sz="1950" b="0">
                <a:solidFill>
                  <a:srgbClr val="172F39"/>
                </a:solidFill>
                <a:latin typeface="Consolas"/>
                <a:ea typeface="Consolas"/>
                <a:cs typeface="Consolas"/>
              </a:defRPr>
            </a:pPr>
            <a:r>
              <a:t>    print(name, result)</a:t>
            </a:r>
          </a:p>
        </p:txBody>
      </p:sp>
      <p:sp>
        <p:nvSpPr>
          <p:cNvPr id="24" name="">
            <a:extLst>
              <a:ext uri="{FF2B5EF4-FFF2-40B4-BE49-F238E27FC236}">
                <ns2:creationId id="{40F655DD-199E-4378-BFEE-A19B9C349C28}"/>
              </a:ext>
            </a:extLst>
          </p:cNvPr>
          <p:cNvSpPr>
            <a:spLocks noGrp="1"/>
          </p:cNvSpPr>
          <p:nvPr/>
        </p:nvSpPr>
        <p:spPr>
          <a:xfrm>
            <a:off x="685800" y="6172200"/>
            <a:ext cx="10820400" cy="9525"/>
          </a:xfrm>
          <a:prstGeom prst="rect">
            <a:avLst/>
          </a:prstGeom>
          <a:solidFill>
            <a:srgbClr val="D5DEDD"/>
          </a:solidFill>
          <a:ln w="0">
            <a:noFill/>
          </a:ln>
        </p:spPr>
      </p:sp>
      <p:sp>
        <p:nvSpPr>
          <p:cNvPr id="25" name="">
            <a:extLst>
              <a:ext uri="{FF2B5EF4-FFF2-40B4-BE49-F238E27FC236}">
                <ns2:creationId id="{8617EDB2-72E4-4ED7-A371-BE6F8E99B840}"/>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26" name="">
            <a:extLst>
              <a:ext uri="{FF2B5EF4-FFF2-40B4-BE49-F238E27FC236}">
                <ns2:creationId id="{306F1AE2-F8C6-47E4-8922-714F472C678F}"/>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27" name="">
            <a:extLst>
              <a:ext uri="{FF2B5EF4-FFF2-40B4-BE49-F238E27FC236}">
                <ns2:creationId id="{69026B9E-06D9-425D-803B-1A18033283B6}"/>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28" name="">
            <a:extLst>
              <a:ext uri="{FF2B5EF4-FFF2-40B4-BE49-F238E27FC236}">
                <ns2:creationId id="{419D309A-7171-48A5-B3A2-6850786D3BBB}"/>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10/30   059</a:t>
            </a:r>
          </a:p>
        </p:txBody>
      </p:sp>
    </p:spTree>
    <p:extLst>
      <p:ext uri="{BB962C8B-B14F-4D97-AF65-F5344CB8AC3E}">
        <ns4:creationId val="301050942"/>
      </p:ext>
    </p:extLst>
  </p:cSld>
</p:sld>
</file>

<file path=ppt/slides/slide60.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22" name="">
            <a:extLst>
              <a:ext uri="{FF2B5EF4-FFF2-40B4-BE49-F238E27FC236}">
                <ns2:creationId id="{138372AE-5610-4AAE-88C3-CC945478249D}"/>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4교시</a:t>
            </a:r>
          </a:p>
        </p:txBody>
      </p:sp>
      <p:sp>
        <p:nvSpPr>
          <p:cNvPr id="2" name="">
            <a:extLst>
              <a:ext uri="{FF2B5EF4-FFF2-40B4-BE49-F238E27FC236}">
                <ns2:creationId id="{861817FB-F16D-472A-91C0-942227B4E05D}"/>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코드의 줄별 역할</a:t>
            </a:r>
          </a:p>
        </p:txBody>
      </p:sp>
      <p:sp>
        <p:nvSpPr>
          <p:cNvPr id="3" name="">
            <a:extLst>
              <a:ext uri="{FF2B5EF4-FFF2-40B4-BE49-F238E27FC236}">
                <ns2:creationId id="{0EF3E68A-93BD-49E3-867B-714393C8C34E}"/>
              </a:ext>
            </a:extLst>
          </p:cNvPr>
          <p:cNvSpPr>
            <a:spLocks noGrp="1"/>
          </p:cNvSpPr>
          <p:nvPr/>
        </p:nvSpPr>
        <p:spPr>
          <a:xfrm>
            <a:off x="685800" y="1933575"/>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1~4행: 두 시험의 기대·관찰을 준비합니다.</a:t>
            </a:r>
          </a:p>
        </p:txBody>
      </p:sp>
      <p:sp>
        <p:nvSpPr>
          <p:cNvPr id="4" name="">
            <a:extLst>
              <a:ext uri="{FF2B5EF4-FFF2-40B4-BE49-F238E27FC236}">
                <ns2:creationId id="{390B1CF5-073F-449B-903E-D9AD59C449AE}"/>
              </a:ext>
            </a:extLst>
          </p:cNvPr>
          <p:cNvSpPr>
            <a:spLocks noGrp="1"/>
          </p:cNvSpPr>
          <p:nvPr/>
        </p:nvSpPr>
        <p:spPr>
          <a:xfrm>
            <a:off x="685800" y="2769870"/>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5~7행: 관찰 없음은 미실행으로 둡니다.</a:t>
            </a:r>
          </a:p>
        </p:txBody>
      </p:sp>
      <p:sp>
        <p:nvSpPr>
          <p:cNvPr id="5" name="">
            <a:extLst>
              <a:ext uri="{FF2B5EF4-FFF2-40B4-BE49-F238E27FC236}">
                <ns2:creationId id="{7158C345-3F8F-4700-8DA1-FA473BB2A5A7}"/>
              </a:ext>
            </a:extLst>
          </p:cNvPr>
          <p:cNvSpPr>
            <a:spLocks noGrp="1"/>
          </p:cNvSpPr>
          <p:nvPr/>
        </p:nvSpPr>
        <p:spPr>
          <a:xfrm>
            <a:off x="685800" y="3606165"/>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8~9행: 실제와 기대의 같음을 비교합니다.</a:t>
            </a:r>
          </a:p>
        </p:txBody>
      </p:sp>
      <p:sp>
        <p:nvSpPr>
          <p:cNvPr id="6" name="">
            <a:extLst>
              <a:ext uri="{FF2B5EF4-FFF2-40B4-BE49-F238E27FC236}">
                <ns2:creationId id="{3E53910D-A8BE-442C-B369-BF4E8F58234E}"/>
              </a:ext>
            </a:extLst>
          </p:cNvPr>
          <p:cNvSpPr>
            <a:spLocks noGrp="1"/>
          </p:cNvSpPr>
          <p:nvPr/>
        </p:nvSpPr>
        <p:spPr>
          <a:xfrm>
            <a:off x="685800" y="4442460"/>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10행: 시험 ID와 상태를 출력합니다.</a:t>
            </a:r>
          </a:p>
        </p:txBody>
      </p:sp>
      <p:sp>
        <p:nvSpPr>
          <p:cNvPr id="7" name="">
            <a:extLst>
              <a:ext uri="{FF2B5EF4-FFF2-40B4-BE49-F238E27FC236}">
                <ns2:creationId id="{CD1A1522-B4FC-43B4-B0BB-8F3F37C85A43}"/>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전체 코드 중 1~4행</a:t>
            </a:r>
          </a:p>
        </p:txBody>
      </p:sp>
      <p:sp>
        <p:nvSpPr>
          <p:cNvPr id="8" name="">
            <a:extLst>
              <a:ext uri="{FF2B5EF4-FFF2-40B4-BE49-F238E27FC236}">
                <ns2:creationId id="{AACC8C87-80C1-4AFF-9326-1A8640D58773}"/>
              </a:ext>
            </a:extLst>
          </p:cNvPr>
          <p:cNvSpPr>
            <a:spLocks noGrp="1"/>
          </p:cNvSpPr>
          <p:nvPr/>
        </p:nvSpPr>
        <p:spPr>
          <a:xfrm>
            <a:off x="6267450" y="2628900"/>
            <a:ext cx="5238750" cy="1494282"/>
          </a:xfrm>
          <a:prstGeom prst="rect">
            <a:avLst/>
          </a:prstGeom>
          <a:solidFill>
            <a:srgbClr val="F1F6F5"/>
          </a:solidFill>
          <a:ln w="0">
            <a:noFill/>
          </a:ln>
        </p:spPr>
      </p:sp>
      <p:sp>
        <p:nvSpPr>
          <p:cNvPr id="9" name="">
            <a:extLst>
              <a:ext uri="{FF2B5EF4-FFF2-40B4-BE49-F238E27FC236}">
                <ns2:creationId id="{52003990-B62F-4624-AC17-71B3BF5058B8}"/>
              </a:ext>
            </a:extLst>
          </p:cNvPr>
          <p:cNvSpPr>
            <a:spLocks noGrp="1"/>
          </p:cNvSpPr>
          <p:nvPr/>
        </p:nvSpPr>
        <p:spPr>
          <a:xfrm>
            <a:off x="6410325" y="2790825"/>
            <a:ext cx="361950" cy="292608"/>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01</a:t>
            </a:r>
          </a:p>
        </p:txBody>
      </p:sp>
      <p:sp>
        <p:nvSpPr>
          <p:cNvPr id="10" name="">
            <a:extLst>
              <a:ext uri="{FF2B5EF4-FFF2-40B4-BE49-F238E27FC236}">
                <ns2:creationId id="{CF0300BD-B875-4A12-A46A-8F961E7F29A4}"/>
              </a:ext>
            </a:extLst>
          </p:cNvPr>
          <p:cNvSpPr>
            <a:spLocks noGrp="1"/>
          </p:cNvSpPr>
          <p:nvPr/>
        </p:nvSpPr>
        <p:spPr>
          <a:xfrm>
            <a:off x="6858000" y="2752725"/>
            <a:ext cx="4514850" cy="349758"/>
          </a:xfrm>
          <a:prstGeom prst="rect">
            <a:avLst/>
          </a:prstGeom>
          <a:noFill/>
          <a:ln w="0">
            <a:noFill/>
          </a:ln>
        </p:spPr>
        <p:txBody>
          <a:bodyPr wrap="none" lIns="0" tIns="0" rIns="0" bIns="0">
            <a:noAutofit/>
          </a:bodyPr>
          <a:lstStyle/>
          <a:p>
            <a:pPr>
              <a:defRPr sz="1800" b="0">
                <a:solidFill>
                  <a:srgbClr val="172F39"/>
                </a:solidFill>
                <a:latin typeface="Consolas"/>
                <a:ea typeface="Consolas"/>
                <a:cs typeface="Consolas"/>
              </a:defRPr>
            </a:pPr>
            <a:r>
              <a:t>cases = [</a:t>
            </a:r>
          </a:p>
        </p:txBody>
      </p:sp>
      <p:sp>
        <p:nvSpPr>
          <p:cNvPr id="11" name="">
            <a:extLst>
              <a:ext uri="{FF2B5EF4-FFF2-40B4-BE49-F238E27FC236}">
                <ns2:creationId id="{4B6015B2-2662-4416-AC68-6FD1B00021B8}"/>
              </a:ext>
            </a:extLst>
          </p:cNvPr>
          <p:cNvSpPr>
            <a:spLocks noGrp="1"/>
          </p:cNvSpPr>
          <p:nvPr/>
        </p:nvSpPr>
        <p:spPr>
          <a:xfrm>
            <a:off x="6410325" y="3083433"/>
            <a:ext cx="361950" cy="292608"/>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02</a:t>
            </a:r>
          </a:p>
        </p:txBody>
      </p:sp>
      <p:sp>
        <p:nvSpPr>
          <p:cNvPr id="12" name="">
            <a:extLst>
              <a:ext uri="{FF2B5EF4-FFF2-40B4-BE49-F238E27FC236}">
                <ns2:creationId id="{C6A352A1-7D8A-4253-B0A0-F2CAF55CFAEF}"/>
              </a:ext>
            </a:extLst>
          </p:cNvPr>
          <p:cNvSpPr>
            <a:spLocks noGrp="1"/>
          </p:cNvSpPr>
          <p:nvPr/>
        </p:nvSpPr>
        <p:spPr>
          <a:xfrm>
            <a:off x="6858000" y="3045333"/>
            <a:ext cx="4514850" cy="349758"/>
          </a:xfrm>
          <a:prstGeom prst="rect">
            <a:avLst/>
          </a:prstGeom>
          <a:noFill/>
          <a:ln w="0">
            <a:noFill/>
          </a:ln>
        </p:spPr>
        <p:txBody>
          <a:bodyPr wrap="none" lIns="0" tIns="0" rIns="0" bIns="0">
            <a:noAutofit/>
          </a:bodyPr>
          <a:lstStyle/>
          <a:p>
            <a:pPr>
              <a:defRPr sz="1800" b="0">
                <a:solidFill>
                  <a:srgbClr val="172F39"/>
                </a:solidFill>
                <a:latin typeface="Consolas"/>
                <a:ea typeface="Consolas"/>
                <a:cs typeface="Consolas"/>
              </a:defRPr>
            </a:pPr>
            <a:r>
              <a:t>    ("T02", "review", "normal"),</a:t>
            </a:r>
          </a:p>
        </p:txBody>
      </p:sp>
      <p:sp>
        <p:nvSpPr>
          <p:cNvPr id="13" name="">
            <a:extLst>
              <a:ext uri="{FF2B5EF4-FFF2-40B4-BE49-F238E27FC236}">
                <ns2:creationId id="{1D047F92-CAB9-4DED-9ED6-8CB8032D0B8F}"/>
              </a:ext>
            </a:extLst>
          </p:cNvPr>
          <p:cNvSpPr>
            <a:spLocks noGrp="1"/>
          </p:cNvSpPr>
          <p:nvPr/>
        </p:nvSpPr>
        <p:spPr>
          <a:xfrm>
            <a:off x="6410325" y="3376041"/>
            <a:ext cx="361950" cy="292608"/>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03</a:t>
            </a:r>
          </a:p>
        </p:txBody>
      </p:sp>
      <p:sp>
        <p:nvSpPr>
          <p:cNvPr id="14" name="">
            <a:extLst>
              <a:ext uri="{FF2B5EF4-FFF2-40B4-BE49-F238E27FC236}">
                <ns2:creationId id="{1E81B4D2-5817-4C63-B135-5715976FD894}"/>
              </a:ext>
            </a:extLst>
          </p:cNvPr>
          <p:cNvSpPr>
            <a:spLocks noGrp="1"/>
          </p:cNvSpPr>
          <p:nvPr/>
        </p:nvSpPr>
        <p:spPr>
          <a:xfrm>
            <a:off x="6858000" y="3337941"/>
            <a:ext cx="4514850" cy="349758"/>
          </a:xfrm>
          <a:prstGeom prst="rect">
            <a:avLst/>
          </a:prstGeom>
          <a:noFill/>
          <a:ln w="0">
            <a:noFill/>
          </a:ln>
        </p:spPr>
        <p:txBody>
          <a:bodyPr wrap="none" lIns="0" tIns="0" rIns="0" bIns="0">
            <a:noAutofit/>
          </a:bodyPr>
          <a:lstStyle/>
          <a:p>
            <a:pPr>
              <a:defRPr sz="1800" b="0">
                <a:solidFill>
                  <a:srgbClr val="172F39"/>
                </a:solidFill>
                <a:latin typeface="Consolas"/>
                <a:ea typeface="Consolas"/>
                <a:cs typeface="Consolas"/>
              </a:defRPr>
            </a:pPr>
            <a:r>
              <a:t>    ("T03", "reject", None),</a:t>
            </a:r>
          </a:p>
        </p:txBody>
      </p:sp>
      <p:sp>
        <p:nvSpPr>
          <p:cNvPr id="15" name="">
            <a:extLst>
              <a:ext uri="{FF2B5EF4-FFF2-40B4-BE49-F238E27FC236}">
                <ns2:creationId id="{4829DA1D-A514-4826-9B68-5927C7E5552C}"/>
              </a:ext>
            </a:extLst>
          </p:cNvPr>
          <p:cNvSpPr>
            <a:spLocks noGrp="1"/>
          </p:cNvSpPr>
          <p:nvPr/>
        </p:nvSpPr>
        <p:spPr>
          <a:xfrm>
            <a:off x="6410325" y="3668649"/>
            <a:ext cx="361950" cy="292608"/>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04</a:t>
            </a:r>
          </a:p>
        </p:txBody>
      </p:sp>
      <p:sp>
        <p:nvSpPr>
          <p:cNvPr id="16" name="">
            <a:extLst>
              <a:ext uri="{FF2B5EF4-FFF2-40B4-BE49-F238E27FC236}">
                <ns2:creationId id="{ECB7096D-44AF-48EE-A8D3-97B2606ED8A6}"/>
              </a:ext>
            </a:extLst>
          </p:cNvPr>
          <p:cNvSpPr>
            <a:spLocks noGrp="1"/>
          </p:cNvSpPr>
          <p:nvPr/>
        </p:nvSpPr>
        <p:spPr>
          <a:xfrm>
            <a:off x="6858000" y="3630549"/>
            <a:ext cx="4514850" cy="349758"/>
          </a:xfrm>
          <a:prstGeom prst="rect">
            <a:avLst/>
          </a:prstGeom>
          <a:noFill/>
          <a:ln w="0">
            <a:noFill/>
          </a:ln>
        </p:spPr>
        <p:txBody>
          <a:bodyPr wrap="none" lIns="0" tIns="0" rIns="0" bIns="0">
            <a:noAutofit/>
          </a:bodyPr>
          <a:lstStyle/>
          <a:p>
            <a:pPr>
              <a:defRPr sz="1800" b="0">
                <a:solidFill>
                  <a:srgbClr val="172F39"/>
                </a:solidFill>
                <a:latin typeface="Consolas"/>
                <a:ea typeface="Consolas"/>
                <a:cs typeface="Consolas"/>
              </a:defRPr>
            </a:pPr>
            <a:r>
              <a:t>]</a:t>
            </a:r>
          </a:p>
        </p:txBody>
      </p:sp>
      <p:sp>
        <p:nvSpPr>
          <p:cNvPr id="17" name="">
            <a:extLst>
              <a:ext uri="{FF2B5EF4-FFF2-40B4-BE49-F238E27FC236}">
                <ns2:creationId id="{C4E7DA49-DDD3-4DAA-B960-6EB9F7661639}"/>
              </a:ext>
            </a:extLst>
          </p:cNvPr>
          <p:cNvSpPr>
            <a:spLocks noGrp="1"/>
          </p:cNvSpPr>
          <p:nvPr/>
        </p:nvSpPr>
        <p:spPr>
          <a:xfrm>
            <a:off x="685800" y="6172200"/>
            <a:ext cx="10820400" cy="9525"/>
          </a:xfrm>
          <a:prstGeom prst="rect">
            <a:avLst/>
          </a:prstGeom>
          <a:solidFill>
            <a:srgbClr val="D5DEDD"/>
          </a:solidFill>
          <a:ln w="0">
            <a:noFill/>
          </a:ln>
        </p:spPr>
      </p:sp>
      <p:sp>
        <p:nvSpPr>
          <p:cNvPr id="18" name="">
            <a:extLst>
              <a:ext uri="{FF2B5EF4-FFF2-40B4-BE49-F238E27FC236}">
                <ns2:creationId id="{8573E6CB-FE5F-4F1D-BFB2-3E9783EED1D3}"/>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9" name="">
            <a:extLst>
              <a:ext uri="{FF2B5EF4-FFF2-40B4-BE49-F238E27FC236}">
                <ns2:creationId id="{293CF08E-065A-4BD1-BB8A-8BE0426E58BB}"/>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20" name="">
            <a:extLst>
              <a:ext uri="{FF2B5EF4-FFF2-40B4-BE49-F238E27FC236}">
                <ns2:creationId id="{6AD64C62-CE1B-434E-8D9D-E34331AC90F0}"/>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21" name="">
            <a:extLst>
              <a:ext uri="{FF2B5EF4-FFF2-40B4-BE49-F238E27FC236}">
                <ns2:creationId id="{94C1E3A0-F2E8-4C58-8719-C867CC65DB81}"/>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10/30   060</a:t>
            </a:r>
          </a:p>
        </p:txBody>
      </p:sp>
    </p:spTree>
    <p:extLst>
      <p:ext uri="{BB962C8B-B14F-4D97-AF65-F5344CB8AC3E}">
        <ns4:creationId val="1707704425"/>
      </p:ext>
    </p:extLst>
  </p:cSld>
</p:sld>
</file>

<file path=ppt/slides/slide61.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1" name="">
            <a:extLst>
              <a:ext uri="{FF2B5EF4-FFF2-40B4-BE49-F238E27FC236}">
                <ns2:creationId id="{27401932-824A-490B-BE8C-3EFC14238806}"/>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4교시</a:t>
            </a:r>
          </a:p>
        </p:txBody>
      </p:sp>
      <p:sp>
        <p:nvSpPr>
          <p:cNvPr id="2" name="">
            <a:extLst>
              <a:ext uri="{FF2B5EF4-FFF2-40B4-BE49-F238E27FC236}">
                <ns2:creationId id="{EED7FBF8-C3BA-4B95-BBBD-DA90B2C7696A}"/>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학생 파일과 실행 명령</a:t>
            </a:r>
          </a:p>
        </p:txBody>
      </p:sp>
      <p:sp>
        <p:nvSpPr>
          <p:cNvPr id="3" name="">
            <a:extLst>
              <a:ext uri="{FF2B5EF4-FFF2-40B4-BE49-F238E27FC236}">
                <ns2:creationId id="{83F20357-9C21-4BD9-9476-0D034925534D}"/>
              </a:ext>
            </a:extLst>
          </p:cNvPr>
          <p:cNvSpPr>
            <a:spLocks noGrp="1"/>
          </p:cNvSpPr>
          <p:nvPr/>
        </p:nvSpPr>
        <p:spPr>
          <a:xfrm>
            <a:off x="685800" y="1990725"/>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현재 폴더: 압축을 푼 course</a:t>
            </a:r>
          </a:p>
        </p:txBody>
      </p:sp>
      <p:sp>
        <p:nvSpPr>
          <p:cNvPr id="4" name="">
            <a:extLst>
              <a:ext uri="{FF2B5EF4-FFF2-40B4-BE49-F238E27FC236}">
                <ns2:creationId id="{30AC5F42-CBFB-4F56-9FF0-30DB168DA169}"/>
              </a:ext>
            </a:extLst>
          </p:cNvPr>
          <p:cNvSpPr>
            <a:spLocks noGrp="1"/>
          </p:cNvSpPr>
          <p:nvPr/>
        </p:nvSpPr>
        <p:spPr>
          <a:xfrm>
            <a:off x="685800" y="2534793"/>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학생 파일: work/evidence_trace.py</a:t>
            </a:r>
          </a:p>
        </p:txBody>
      </p:sp>
      <p:sp>
        <p:nvSpPr>
          <p:cNvPr id="5" name="">
            <a:extLst>
              <a:ext uri="{FF2B5EF4-FFF2-40B4-BE49-F238E27FC236}">
                <ns2:creationId id="{5B48F328-FBF3-402B-9146-4D4C550EDBEA}"/>
              </a:ext>
            </a:extLst>
          </p:cNvPr>
          <p:cNvSpPr>
            <a:spLocks noGrp="1"/>
          </p:cNvSpPr>
          <p:nvPr/>
        </p:nvSpPr>
        <p:spPr>
          <a:xfrm>
            <a:off x="685800" y="3078861"/>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python -X utf8 work/evidence_trace.py</a:t>
            </a:r>
          </a:p>
        </p:txBody>
      </p:sp>
      <p:sp>
        <p:nvSpPr>
          <p:cNvPr id="6" name="">
            <a:extLst>
              <a:ext uri="{FF2B5EF4-FFF2-40B4-BE49-F238E27FC236}">
                <ns2:creationId id="{2E581FE8-3D79-4A70-B7CB-B3A085856133}"/>
              </a:ext>
            </a:extLst>
          </p:cNvPr>
          <p:cNvSpPr>
            <a:spLocks noGrp="1"/>
          </p:cNvSpPr>
          <p:nvPr/>
        </p:nvSpPr>
        <p:spPr>
          <a:xfrm>
            <a:off x="685800" y="6172200"/>
            <a:ext cx="10820400" cy="9525"/>
          </a:xfrm>
          <a:prstGeom prst="rect">
            <a:avLst/>
          </a:prstGeom>
          <a:solidFill>
            <a:srgbClr val="D5DEDD"/>
          </a:solidFill>
          <a:ln w="0">
            <a:noFill/>
          </a:ln>
        </p:spPr>
      </p:sp>
      <p:sp>
        <p:nvSpPr>
          <p:cNvPr id="7" name="">
            <a:extLst>
              <a:ext uri="{FF2B5EF4-FFF2-40B4-BE49-F238E27FC236}">
                <ns2:creationId id="{9776FCFB-2E69-40E7-9D9A-414289E1DBC1}"/>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8" name="">
            <a:extLst>
              <a:ext uri="{FF2B5EF4-FFF2-40B4-BE49-F238E27FC236}">
                <ns2:creationId id="{F06B9CEA-6841-426B-98F8-9A9276031A04}"/>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9" name="">
            <a:extLst>
              <a:ext uri="{FF2B5EF4-FFF2-40B4-BE49-F238E27FC236}">
                <ns2:creationId id="{B422BC34-B057-4DD8-B8A1-110A444F81A3}"/>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0" name="">
            <a:extLst>
              <a:ext uri="{FF2B5EF4-FFF2-40B4-BE49-F238E27FC236}">
                <ns2:creationId id="{4F4293ED-EA33-4C4C-AE17-F8DB0BA92751}"/>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10/30   061</a:t>
            </a:r>
          </a:p>
        </p:txBody>
      </p:sp>
    </p:spTree>
    <p:extLst>
      <p:ext uri="{BB962C8B-B14F-4D97-AF65-F5344CB8AC3E}">
        <ns4:creationId val="2007840262"/>
      </p:ext>
    </p:extLst>
  </p:cSld>
</p:sld>
</file>

<file path=ppt/slides/slide62.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1" name="">
            <a:extLst>
              <a:ext uri="{FF2B5EF4-FFF2-40B4-BE49-F238E27FC236}">
                <ns2:creationId id="{DEF2F469-6561-450B-82C4-68A8FF0A61DB}"/>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4교시</a:t>
            </a:r>
          </a:p>
        </p:txBody>
      </p:sp>
      <p:sp>
        <p:nvSpPr>
          <p:cNvPr id="2" name="">
            <a:extLst>
              <a:ext uri="{FF2B5EF4-FFF2-40B4-BE49-F238E27FC236}">
                <ns2:creationId id="{A8197577-1AB4-45B6-9048-8C37AF4C46E8}"/>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예상 출력</a:t>
            </a:r>
          </a:p>
        </p:txBody>
      </p:sp>
      <p:sp>
        <p:nvSpPr>
          <p:cNvPr id="3" name="">
            <a:extLst>
              <a:ext uri="{FF2B5EF4-FFF2-40B4-BE49-F238E27FC236}">
                <ns2:creationId id="{2ACD5917-A6A7-45B9-B9F4-052A7C152248}"/>
              </a:ext>
            </a:extLst>
          </p:cNvPr>
          <p:cNvSpPr>
            <a:spLocks noGrp="1"/>
          </p:cNvSpPr>
          <p:nvPr/>
        </p:nvSpPr>
        <p:spPr>
          <a:xfrm>
            <a:off x="685800" y="1990725"/>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T02 FAIL</a:t>
            </a:r>
          </a:p>
        </p:txBody>
      </p:sp>
      <p:sp>
        <p:nvSpPr>
          <p:cNvPr id="4" name="">
            <a:extLst>
              <a:ext uri="{FF2B5EF4-FFF2-40B4-BE49-F238E27FC236}">
                <ns2:creationId id="{1B3CB8E2-04F7-40F8-995E-1C2645A906A4}"/>
              </a:ext>
            </a:extLst>
          </p:cNvPr>
          <p:cNvSpPr>
            <a:spLocks noGrp="1"/>
          </p:cNvSpPr>
          <p:nvPr/>
        </p:nvSpPr>
        <p:spPr>
          <a:xfrm>
            <a:off x="685800" y="2534793"/>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T03 NOT_RUN</a:t>
            </a:r>
          </a:p>
        </p:txBody>
      </p:sp>
      <p:sp>
        <p:nvSpPr>
          <p:cNvPr id="5" name="">
            <a:extLst>
              <a:ext uri="{FF2B5EF4-FFF2-40B4-BE49-F238E27FC236}">
                <ns2:creationId id="{C05C8DEC-D110-4DC7-B8E3-DCCF57523C90}"/>
              </a:ext>
            </a:extLst>
          </p:cNvPr>
          <p:cNvSpPr>
            <a:spLocks noGrp="1"/>
          </p:cNvSpPr>
          <p:nvPr/>
        </p:nvSpPr>
        <p:spPr>
          <a:xfrm>
            <a:off x="685800" y="3078861"/>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비교 코드 실행과 실제 제품 시험은 다릅니다.</a:t>
            </a:r>
          </a:p>
        </p:txBody>
      </p:sp>
      <p:sp>
        <p:nvSpPr>
          <p:cNvPr id="6" name="">
            <a:extLst>
              <a:ext uri="{FF2B5EF4-FFF2-40B4-BE49-F238E27FC236}">
                <ns2:creationId id="{00C00C66-407B-452F-8606-488D82492032}"/>
              </a:ext>
            </a:extLst>
          </p:cNvPr>
          <p:cNvSpPr>
            <a:spLocks noGrp="1"/>
          </p:cNvSpPr>
          <p:nvPr/>
        </p:nvSpPr>
        <p:spPr>
          <a:xfrm>
            <a:off x="685800" y="6172200"/>
            <a:ext cx="10820400" cy="9525"/>
          </a:xfrm>
          <a:prstGeom prst="rect">
            <a:avLst/>
          </a:prstGeom>
          <a:solidFill>
            <a:srgbClr val="D5DEDD"/>
          </a:solidFill>
          <a:ln w="0">
            <a:noFill/>
          </a:ln>
        </p:spPr>
      </p:sp>
      <p:sp>
        <p:nvSpPr>
          <p:cNvPr id="7" name="">
            <a:extLst>
              <a:ext uri="{FF2B5EF4-FFF2-40B4-BE49-F238E27FC236}">
                <ns2:creationId id="{0FCFD2FC-E0E3-485B-9009-27B8614DD9A4}"/>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8" name="">
            <a:extLst>
              <a:ext uri="{FF2B5EF4-FFF2-40B4-BE49-F238E27FC236}">
                <ns2:creationId id="{8CC0EA32-9BC8-485D-A5DB-E7C073A85B9F}"/>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9" name="">
            <a:extLst>
              <a:ext uri="{FF2B5EF4-FFF2-40B4-BE49-F238E27FC236}">
                <ns2:creationId id="{9447F424-4DA5-467D-A18C-4A5D6641C338}"/>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0" name="">
            <a:extLst>
              <a:ext uri="{FF2B5EF4-FFF2-40B4-BE49-F238E27FC236}">
                <ns2:creationId id="{2149E38E-66D4-419D-9623-D0A5A240424A}"/>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10/30   062</a:t>
            </a:r>
          </a:p>
        </p:txBody>
      </p:sp>
    </p:spTree>
    <p:extLst>
      <p:ext uri="{BB962C8B-B14F-4D97-AF65-F5344CB8AC3E}">
        <ns4:creationId val="1511743120"/>
      </p:ext>
    </p:extLst>
  </p:cSld>
</p:sld>
</file>

<file path=ppt/slides/slide63.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1" name="">
            <a:extLst>
              <a:ext uri="{FF2B5EF4-FFF2-40B4-BE49-F238E27FC236}">
                <ns2:creationId id="{21F3A631-8F39-4D12-A212-B8FDFF7383B7}"/>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4교시</a:t>
            </a:r>
          </a:p>
        </p:txBody>
      </p:sp>
      <p:sp>
        <p:nvSpPr>
          <p:cNvPr id="2" name="">
            <a:extLst>
              <a:ext uri="{FF2B5EF4-FFF2-40B4-BE49-F238E27FC236}">
                <ns2:creationId id="{99921DD3-8644-4939-9E94-5447E01807A3}"/>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연습 문제</a:t>
            </a:r>
          </a:p>
        </p:txBody>
      </p:sp>
      <p:sp>
        <p:nvSpPr>
          <p:cNvPr id="3" name="">
            <a:extLst>
              <a:ext uri="{FF2B5EF4-FFF2-40B4-BE49-F238E27FC236}">
                <ns2:creationId id="{71784B73-6C0B-4CDF-AD6D-CE953519D71C}"/>
              </a:ext>
            </a:extLst>
          </p:cNvPr>
          <p:cNvSpPr>
            <a:spLocks noGrp="1"/>
          </p:cNvSpPr>
          <p:nvPr/>
        </p:nvSpPr>
        <p:spPr>
          <a:xfrm>
            <a:off x="685800" y="1990725"/>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기대 review·관찰 없음</a:t>
            </a:r>
          </a:p>
        </p:txBody>
      </p:sp>
      <p:sp>
        <p:nvSpPr>
          <p:cNvPr id="4" name="">
            <a:extLst>
              <a:ext uri="{FF2B5EF4-FFF2-40B4-BE49-F238E27FC236}">
                <ns2:creationId id="{C2BE3311-CA7B-4C6E-96EE-95F2C6A0B2C0}"/>
              </a:ext>
            </a:extLst>
          </p:cNvPr>
          <p:cNvSpPr>
            <a:spLocks noGrp="1"/>
          </p:cNvSpPr>
          <p:nvPr/>
        </p:nvSpPr>
        <p:spPr>
          <a:xfrm>
            <a:off x="685800" y="2557272"/>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기대 reject·관찰 reject</a:t>
            </a:r>
          </a:p>
        </p:txBody>
      </p:sp>
      <p:sp>
        <p:nvSpPr>
          <p:cNvPr id="5" name="">
            <a:extLst>
              <a:ext uri="{FF2B5EF4-FFF2-40B4-BE49-F238E27FC236}">
                <ns2:creationId id="{3D61397A-544D-4326-8090-CC1D24F6A9F7}"/>
              </a:ext>
            </a:extLst>
          </p:cNvPr>
          <p:cNvSpPr>
            <a:spLocks noGrp="1"/>
          </p:cNvSpPr>
          <p:nvPr/>
        </p:nvSpPr>
        <p:spPr>
          <a:xfrm>
            <a:off x="685800" y="3123819"/>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기대 normal·관찰 alert</a:t>
            </a:r>
          </a:p>
        </p:txBody>
      </p:sp>
      <p:sp>
        <p:nvSpPr>
          <p:cNvPr id="6" name="">
            <a:extLst>
              <a:ext uri="{FF2B5EF4-FFF2-40B4-BE49-F238E27FC236}">
                <ns2:creationId id="{C90F2A24-6499-4410-9EB8-82F023A717C7}"/>
              </a:ext>
            </a:extLst>
          </p:cNvPr>
          <p:cNvSpPr>
            <a:spLocks noGrp="1"/>
          </p:cNvSpPr>
          <p:nvPr/>
        </p:nvSpPr>
        <p:spPr>
          <a:xfrm>
            <a:off x="685800" y="6172200"/>
            <a:ext cx="10820400" cy="9525"/>
          </a:xfrm>
          <a:prstGeom prst="rect">
            <a:avLst/>
          </a:prstGeom>
          <a:solidFill>
            <a:srgbClr val="D5DEDD"/>
          </a:solidFill>
          <a:ln w="0">
            <a:noFill/>
          </a:ln>
        </p:spPr>
      </p:sp>
      <p:sp>
        <p:nvSpPr>
          <p:cNvPr id="7" name="">
            <a:extLst>
              <a:ext uri="{FF2B5EF4-FFF2-40B4-BE49-F238E27FC236}">
                <ns2:creationId id="{702F1C37-F0F3-4CA8-8398-0AD65EC37F8B}"/>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8" name="">
            <a:extLst>
              <a:ext uri="{FF2B5EF4-FFF2-40B4-BE49-F238E27FC236}">
                <ns2:creationId id="{234B0324-E0D5-45E9-B9E2-DC1AA2EFAF30}"/>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9" name="">
            <a:extLst>
              <a:ext uri="{FF2B5EF4-FFF2-40B4-BE49-F238E27FC236}">
                <ns2:creationId id="{71955EA5-78DA-4B92-B39B-85DE0B93CB91}"/>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0" name="">
            <a:extLst>
              <a:ext uri="{FF2B5EF4-FFF2-40B4-BE49-F238E27FC236}">
                <ns2:creationId id="{E785BEDA-F093-4EF1-A251-7EB1E5B5AFB0}"/>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10/30   063</a:t>
            </a:r>
          </a:p>
        </p:txBody>
      </p:sp>
    </p:spTree>
    <p:extLst>
      <p:ext uri="{BB962C8B-B14F-4D97-AF65-F5344CB8AC3E}">
        <ns4:creationId val="1721000597"/>
      </p:ext>
    </p:extLst>
  </p:cSld>
</p:sld>
</file>

<file path=ppt/slides/slide64.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0" name="">
            <a:extLst>
              <a:ext uri="{FF2B5EF4-FFF2-40B4-BE49-F238E27FC236}">
                <ns2:creationId id="{67FEFBA1-2016-413F-9121-4499573DF34D}"/>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4교시</a:t>
            </a:r>
          </a:p>
        </p:txBody>
      </p:sp>
      <p:sp>
        <p:nvSpPr>
          <p:cNvPr id="2" name="">
            <a:extLst>
              <a:ext uri="{FF2B5EF4-FFF2-40B4-BE49-F238E27FC236}">
                <ns2:creationId id="{B3035A3A-FC4A-4021-8A89-EC225EE0F24D}"/>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풀이</a:t>
            </a:r>
          </a:p>
        </p:txBody>
      </p:sp>
      <p:sp>
        <p:nvSpPr>
          <p:cNvPr id="3" name="">
            <a:extLst>
              <a:ext uri="{FF2B5EF4-FFF2-40B4-BE49-F238E27FC236}">
                <ns2:creationId id="{D475C32C-09F6-4A48-B3EB-A2314614F012}"/>
              </a:ext>
            </a:extLst>
          </p:cNvPr>
          <p:cNvSpPr>
            <a:spLocks noGrp="1"/>
          </p:cNvSpPr>
          <p:nvPr/>
        </p:nvSpPr>
        <p:spPr>
          <a:xfrm>
            <a:off x="685800" y="1990725"/>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NOT_RUN · PASS · FAIL</a:t>
            </a:r>
          </a:p>
        </p:txBody>
      </p:sp>
      <p:sp>
        <p:nvSpPr>
          <p:cNvPr id="4" name="">
            <a:extLst>
              <a:ext uri="{FF2B5EF4-FFF2-40B4-BE49-F238E27FC236}">
                <ns2:creationId id="{E2121D96-6DF8-45AC-AD1E-3F66EEA6CE16}"/>
              </a:ext>
            </a:extLst>
          </p:cNvPr>
          <p:cNvSpPr>
            <a:spLocks noGrp="1"/>
          </p:cNvSpPr>
          <p:nvPr/>
        </p:nvSpPr>
        <p:spPr>
          <a:xfrm>
            <a:off x="685800" y="2534793"/>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사용한 입력과 실행 환경, 실제 결과, 판정 이유를 적으세요.</a:t>
            </a:r>
          </a:p>
        </p:txBody>
      </p:sp>
      <p:sp>
        <p:nvSpPr>
          <p:cNvPr id="5" name="">
            <a:extLst>
              <a:ext uri="{FF2B5EF4-FFF2-40B4-BE49-F238E27FC236}">
                <ns2:creationId id="{D63BEBA7-8883-42B9-8985-92EAA16BE048}"/>
              </a:ext>
            </a:extLst>
          </p:cNvPr>
          <p:cNvSpPr>
            <a:spLocks noGrp="1"/>
          </p:cNvSpPr>
          <p:nvPr/>
        </p:nvSpPr>
        <p:spPr>
          <a:xfrm>
            <a:off x="685800" y="6172200"/>
            <a:ext cx="10820400" cy="9525"/>
          </a:xfrm>
          <a:prstGeom prst="rect">
            <a:avLst/>
          </a:prstGeom>
          <a:solidFill>
            <a:srgbClr val="D5DEDD"/>
          </a:solidFill>
          <a:ln w="0">
            <a:noFill/>
          </a:ln>
        </p:spPr>
      </p:sp>
      <p:sp>
        <p:nvSpPr>
          <p:cNvPr id="6" name="">
            <a:extLst>
              <a:ext uri="{FF2B5EF4-FFF2-40B4-BE49-F238E27FC236}">
                <ns2:creationId id="{B57D52E3-5FB0-42AE-A3FB-CF0082B4172B}"/>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7" name="">
            <a:extLst>
              <a:ext uri="{FF2B5EF4-FFF2-40B4-BE49-F238E27FC236}">
                <ns2:creationId id="{D2CFDF9F-9E94-4B7A-A83E-C491F0653479}"/>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8" name="">
            <a:extLst>
              <a:ext uri="{FF2B5EF4-FFF2-40B4-BE49-F238E27FC236}">
                <ns2:creationId id="{48DBF0DF-5275-4E31-80F0-38DBAEACBEF4}"/>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9" name="">
            <a:extLst>
              <a:ext uri="{FF2B5EF4-FFF2-40B4-BE49-F238E27FC236}">
                <ns2:creationId id="{8C347A8A-2592-4944-A67F-16C635D3F90D}"/>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10/30   064</a:t>
            </a:r>
          </a:p>
        </p:txBody>
      </p:sp>
    </p:spTree>
    <p:extLst>
      <p:ext uri="{BB962C8B-B14F-4D97-AF65-F5344CB8AC3E}">
        <ns4:creationId val="659932471"/>
      </p:ext>
    </p:extLst>
  </p:cSld>
</p:sld>
</file>

<file path=ppt/slides/slide65.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0" name="">
            <a:extLst>
              <a:ext uri="{FF2B5EF4-FFF2-40B4-BE49-F238E27FC236}">
                <ns2:creationId id="{5306B292-417D-4E57-B963-1335675B9460}"/>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4교시</a:t>
            </a:r>
          </a:p>
        </p:txBody>
      </p:sp>
      <p:sp>
        <p:nvSpPr>
          <p:cNvPr id="2" name="">
            <a:extLst>
              <a:ext uri="{FF2B5EF4-FFF2-40B4-BE49-F238E27FC236}">
                <ns2:creationId id="{EDA898A3-348A-49CA-B0A5-BA28409E41F4}"/>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조건을 바꿔 보기</a:t>
            </a:r>
          </a:p>
        </p:txBody>
      </p:sp>
      <p:sp>
        <p:nvSpPr>
          <p:cNvPr id="3" name="">
            <a:extLst>
              <a:ext uri="{FF2B5EF4-FFF2-40B4-BE49-F238E27FC236}">
                <ns2:creationId id="{88962690-9173-4818-89BE-52C517C9812C}"/>
              </a:ext>
            </a:extLst>
          </p:cNvPr>
          <p:cNvSpPr>
            <a:spLocks noGrp="1"/>
          </p:cNvSpPr>
          <p:nvPr/>
        </p:nvSpPr>
        <p:spPr>
          <a:xfrm>
            <a:off x="685800" y="1990725"/>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T02 관찰을 review로 바꾸면 PASS입니다.</a:t>
            </a:r>
          </a:p>
        </p:txBody>
      </p:sp>
      <p:sp>
        <p:nvSpPr>
          <p:cNvPr id="4" name="">
            <a:extLst>
              <a:ext uri="{FF2B5EF4-FFF2-40B4-BE49-F238E27FC236}">
                <ns2:creationId id="{2F23CE7A-4BE5-477E-9087-8B6A1F47FD18}"/>
              </a:ext>
            </a:extLst>
          </p:cNvPr>
          <p:cNvSpPr>
            <a:spLocks noGrp="1"/>
          </p:cNvSpPr>
          <p:nvPr/>
        </p:nvSpPr>
        <p:spPr>
          <a:xfrm>
            <a:off x="685800" y="2557272"/>
            <a:ext cx="10820400" cy="923544"/>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예제 표의 값만 바꾼 것입니다. 실제 제품을 다시 시험한 것은 아닙니다.</a:t>
            </a:r>
          </a:p>
        </p:txBody>
      </p:sp>
      <p:sp>
        <p:nvSpPr>
          <p:cNvPr id="5" name="">
            <a:extLst>
              <a:ext uri="{FF2B5EF4-FFF2-40B4-BE49-F238E27FC236}">
                <ns2:creationId id="{06C292BE-30C2-458A-A852-7F13EE03F92C}"/>
              </a:ext>
            </a:extLst>
          </p:cNvPr>
          <p:cNvSpPr>
            <a:spLocks noGrp="1"/>
          </p:cNvSpPr>
          <p:nvPr/>
        </p:nvSpPr>
        <p:spPr>
          <a:xfrm>
            <a:off x="685800" y="6172200"/>
            <a:ext cx="10820400" cy="9525"/>
          </a:xfrm>
          <a:prstGeom prst="rect">
            <a:avLst/>
          </a:prstGeom>
          <a:solidFill>
            <a:srgbClr val="D5DEDD"/>
          </a:solidFill>
          <a:ln w="0">
            <a:noFill/>
          </a:ln>
        </p:spPr>
      </p:sp>
      <p:sp>
        <p:nvSpPr>
          <p:cNvPr id="6" name="">
            <a:extLst>
              <a:ext uri="{FF2B5EF4-FFF2-40B4-BE49-F238E27FC236}">
                <ns2:creationId id="{6928888C-EC47-4504-B8CA-CDA04CA895B8}"/>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7" name="">
            <a:extLst>
              <a:ext uri="{FF2B5EF4-FFF2-40B4-BE49-F238E27FC236}">
                <ns2:creationId id="{3136CAEF-A8D5-431A-877A-5FA2964C932A}"/>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8" name="">
            <a:extLst>
              <a:ext uri="{FF2B5EF4-FFF2-40B4-BE49-F238E27FC236}">
                <ns2:creationId id="{EAABAD63-0D05-4B69-A48A-C4694EEB915B}"/>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9" name="">
            <a:extLst>
              <a:ext uri="{FF2B5EF4-FFF2-40B4-BE49-F238E27FC236}">
                <ns2:creationId id="{16EE1C4F-B100-4F79-8BD9-3F34A5B55D67}"/>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10/30   065</a:t>
            </a:r>
          </a:p>
        </p:txBody>
      </p:sp>
    </p:spTree>
    <p:extLst>
      <p:ext uri="{BB962C8B-B14F-4D97-AF65-F5344CB8AC3E}">
        <ns4:creationId val="2074359411"/>
      </p:ext>
    </p:extLst>
  </p:cSld>
</p:sld>
</file>

<file path=ppt/slides/slide66.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0" name="">
            <a:extLst>
              <a:ext uri="{FF2B5EF4-FFF2-40B4-BE49-F238E27FC236}">
                <ns2:creationId id="{9C524A4A-EC02-41C2-8AA3-BA3EAAC8EC3C}"/>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4교시</a:t>
            </a:r>
          </a:p>
        </p:txBody>
      </p:sp>
      <p:sp>
        <p:nvSpPr>
          <p:cNvPr id="2" name="">
            <a:extLst>
              <a:ext uri="{FF2B5EF4-FFF2-40B4-BE49-F238E27FC236}">
                <ns2:creationId id="{38BC559C-8410-4DF4-841E-EBF66DD2E4CA}"/>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잘못 쓰기 쉬운 내용</a:t>
            </a:r>
          </a:p>
        </p:txBody>
      </p:sp>
      <p:sp>
        <p:nvSpPr>
          <p:cNvPr id="3" name="">
            <a:extLst>
              <a:ext uri="{FF2B5EF4-FFF2-40B4-BE49-F238E27FC236}">
                <ns2:creationId id="{0FF77224-4F8F-4DB8-9705-4827DBDAA3FF}"/>
              </a:ext>
            </a:extLst>
          </p:cNvPr>
          <p:cNvSpPr>
            <a:spLocks noGrp="1"/>
          </p:cNvSpPr>
          <p:nvPr/>
        </p:nvSpPr>
        <p:spPr>
          <a:xfrm>
            <a:off x="685800" y="1990725"/>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기획서 작성과 실제 제품 시험은 별개의 작업입니다.</a:t>
            </a:r>
          </a:p>
        </p:txBody>
      </p:sp>
      <p:sp>
        <p:nvSpPr>
          <p:cNvPr id="4" name="">
            <a:extLst>
              <a:ext uri="{FF2B5EF4-FFF2-40B4-BE49-F238E27FC236}">
                <ns2:creationId id="{BD5915A5-E617-41A3-AF2F-CBA5ED735D07}"/>
              </a:ext>
            </a:extLst>
          </p:cNvPr>
          <p:cNvSpPr>
            <a:spLocks noGrp="1"/>
          </p:cNvSpPr>
          <p:nvPr/>
        </p:nvSpPr>
        <p:spPr>
          <a:xfrm>
            <a:off x="685800" y="2534793"/>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실행하지 않은 시험은 NOT_RUN으로 기록하세요.</a:t>
            </a:r>
          </a:p>
        </p:txBody>
      </p:sp>
      <p:sp>
        <p:nvSpPr>
          <p:cNvPr id="5" name="">
            <a:extLst>
              <a:ext uri="{FF2B5EF4-FFF2-40B4-BE49-F238E27FC236}">
                <ns2:creationId id="{71171807-2755-4066-A817-410879B985BA}"/>
              </a:ext>
            </a:extLst>
          </p:cNvPr>
          <p:cNvSpPr>
            <a:spLocks noGrp="1"/>
          </p:cNvSpPr>
          <p:nvPr/>
        </p:nvSpPr>
        <p:spPr>
          <a:xfrm>
            <a:off x="685800" y="6172200"/>
            <a:ext cx="10820400" cy="9525"/>
          </a:xfrm>
          <a:prstGeom prst="rect">
            <a:avLst/>
          </a:prstGeom>
          <a:solidFill>
            <a:srgbClr val="D5DEDD"/>
          </a:solidFill>
          <a:ln w="0">
            <a:noFill/>
          </a:ln>
        </p:spPr>
      </p:sp>
      <p:sp>
        <p:nvSpPr>
          <p:cNvPr id="6" name="">
            <a:extLst>
              <a:ext uri="{FF2B5EF4-FFF2-40B4-BE49-F238E27FC236}">
                <ns2:creationId id="{C8C1B04D-81B2-499C-9BC5-894512785673}"/>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7" name="">
            <a:extLst>
              <a:ext uri="{FF2B5EF4-FFF2-40B4-BE49-F238E27FC236}">
                <ns2:creationId id="{84F0D98B-1143-409B-8E4A-0919BB5E5B89}"/>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8" name="">
            <a:extLst>
              <a:ext uri="{FF2B5EF4-FFF2-40B4-BE49-F238E27FC236}">
                <ns2:creationId id="{350EC9E5-A0CC-46DF-8B54-E3AAF6B48080}"/>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9" name="">
            <a:extLst>
              <a:ext uri="{FF2B5EF4-FFF2-40B4-BE49-F238E27FC236}">
                <ns2:creationId id="{42E0B635-F6CA-412F-AAE9-3385EF5B626C}"/>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10/30   066</a:t>
            </a:r>
          </a:p>
        </p:txBody>
      </p:sp>
    </p:spTree>
    <p:extLst>
      <p:ext uri="{BB962C8B-B14F-4D97-AF65-F5344CB8AC3E}">
        <ns4:creationId val="799843558"/>
      </p:ext>
    </p:extLst>
  </p:cSld>
</p:sld>
</file>

<file path=ppt/slides/slide67.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0" name="">
            <a:extLst>
              <a:ext uri="{FF2B5EF4-FFF2-40B4-BE49-F238E27FC236}">
                <ns2:creationId id="{2E5E3343-6A28-4F7D-84A4-83B9E403F308}"/>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4교시</a:t>
            </a:r>
          </a:p>
        </p:txBody>
      </p:sp>
      <p:sp>
        <p:nvSpPr>
          <p:cNvPr id="2" name="">
            <a:extLst>
              <a:ext uri="{FF2B5EF4-FFF2-40B4-BE49-F238E27FC236}">
                <ns2:creationId id="{8F3C4C40-D1F3-4651-B83F-551E3EF13C6E}"/>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개념 확인 질문</a:t>
            </a:r>
          </a:p>
        </p:txBody>
      </p:sp>
      <p:sp>
        <p:nvSpPr>
          <p:cNvPr id="3" name="">
            <a:extLst>
              <a:ext uri="{FF2B5EF4-FFF2-40B4-BE49-F238E27FC236}">
                <ns2:creationId id="{D7092055-71A0-49FE-AC31-83502BD43D17}"/>
              </a:ext>
            </a:extLst>
          </p:cNvPr>
          <p:cNvSpPr>
            <a:spLocks noGrp="1"/>
          </p:cNvSpPr>
          <p:nvPr/>
        </p:nvSpPr>
        <p:spPr>
          <a:xfrm>
            <a:off x="685800" y="1990725"/>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PASS·FAIL·NOT_RUN은 각각 언제 기록하나요?</a:t>
            </a:r>
          </a:p>
        </p:txBody>
      </p:sp>
      <p:sp>
        <p:nvSpPr>
          <p:cNvPr id="4" name="">
            <a:extLst>
              <a:ext uri="{FF2B5EF4-FFF2-40B4-BE49-F238E27FC236}">
                <ns2:creationId id="{A8CDAF6D-54DB-4DF5-8BF5-190E64AA802E}"/>
              </a:ext>
            </a:extLst>
          </p:cNvPr>
          <p:cNvSpPr>
            <a:spLocks noGrp="1"/>
          </p:cNvSpPr>
          <p:nvPr/>
        </p:nvSpPr>
        <p:spPr>
          <a:xfrm>
            <a:off x="685800" y="2557272"/>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2/4를 제품 완성도라 부를 수 없는 이유는?</a:t>
            </a:r>
          </a:p>
        </p:txBody>
      </p:sp>
      <p:sp>
        <p:nvSpPr>
          <p:cNvPr id="5" name="">
            <a:extLst>
              <a:ext uri="{FF2B5EF4-FFF2-40B4-BE49-F238E27FC236}">
                <ns2:creationId id="{02263E7C-C492-4D27-BF7C-E83BB8170280}"/>
              </a:ext>
            </a:extLst>
          </p:cNvPr>
          <p:cNvSpPr>
            <a:spLocks noGrp="1"/>
          </p:cNvSpPr>
          <p:nvPr/>
        </p:nvSpPr>
        <p:spPr>
          <a:xfrm>
            <a:off x="685800" y="6172200"/>
            <a:ext cx="10820400" cy="9525"/>
          </a:xfrm>
          <a:prstGeom prst="rect">
            <a:avLst/>
          </a:prstGeom>
          <a:solidFill>
            <a:srgbClr val="D5DEDD"/>
          </a:solidFill>
          <a:ln w="0">
            <a:noFill/>
          </a:ln>
        </p:spPr>
      </p:sp>
      <p:sp>
        <p:nvSpPr>
          <p:cNvPr id="6" name="">
            <a:extLst>
              <a:ext uri="{FF2B5EF4-FFF2-40B4-BE49-F238E27FC236}">
                <ns2:creationId id="{076F4547-7534-4E6C-AB0D-445AE1FFB588}"/>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7" name="">
            <a:extLst>
              <a:ext uri="{FF2B5EF4-FFF2-40B4-BE49-F238E27FC236}">
                <ns2:creationId id="{FF8AFFB5-C000-40A0-BAA7-BE465A8926B1}"/>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8" name="">
            <a:extLst>
              <a:ext uri="{FF2B5EF4-FFF2-40B4-BE49-F238E27FC236}">
                <ns2:creationId id="{7AB22B3C-AA2C-4A8D-9632-0C6CA561FBDA}"/>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9" name="">
            <a:extLst>
              <a:ext uri="{FF2B5EF4-FFF2-40B4-BE49-F238E27FC236}">
                <ns2:creationId id="{5FFF2CCC-4469-4717-9D69-1CFE644980B3}"/>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10/30   067</a:t>
            </a:r>
          </a:p>
        </p:txBody>
      </p:sp>
    </p:spTree>
    <p:extLst>
      <p:ext uri="{BB962C8B-B14F-4D97-AF65-F5344CB8AC3E}">
        <ns4:creationId val="329868175"/>
      </p:ext>
    </p:extLst>
  </p:cSld>
</p:sld>
</file>

<file path=ppt/slides/slide68.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0" name="">
            <a:extLst>
              <a:ext uri="{FF2B5EF4-FFF2-40B4-BE49-F238E27FC236}">
                <ns2:creationId id="{E8F85DDB-C153-4164-80C2-C72A812914D2}"/>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4교시</a:t>
            </a:r>
          </a:p>
        </p:txBody>
      </p:sp>
      <p:sp>
        <p:nvSpPr>
          <p:cNvPr id="2" name="">
            <a:extLst>
              <a:ext uri="{FF2B5EF4-FFF2-40B4-BE49-F238E27FC236}">
                <ns2:creationId id="{40093FA2-F786-4BB9-BE12-77DF5C390BFF}"/>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추가·복습 문제</a:t>
            </a:r>
          </a:p>
        </p:txBody>
      </p:sp>
      <p:sp>
        <p:nvSpPr>
          <p:cNvPr id="3" name="">
            <a:extLst>
              <a:ext uri="{FF2B5EF4-FFF2-40B4-BE49-F238E27FC236}">
                <ns2:creationId id="{6CAEF38F-3B4D-4085-9A29-64D5FC2F5708}"/>
              </a:ext>
            </a:extLst>
          </p:cNvPr>
          <p:cNvSpPr>
            <a:spLocks noGrp="1"/>
          </p:cNvSpPr>
          <p:nvPr/>
        </p:nvSpPr>
        <p:spPr>
          <a:xfrm>
            <a:off x="685800" y="1990725"/>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추가·복습: 통과2·실패1·미실행2</a:t>
            </a:r>
          </a:p>
        </p:txBody>
      </p:sp>
      <p:sp>
        <p:nvSpPr>
          <p:cNvPr id="4" name="">
            <a:extLst>
              <a:ext uri="{FF2B5EF4-FFF2-40B4-BE49-F238E27FC236}">
                <ns2:creationId id="{C4A79775-97BC-4308-ADF5-83BADED28B75}"/>
              </a:ext>
            </a:extLst>
          </p:cNvPr>
          <p:cNvSpPr>
            <a:spLocks noGrp="1"/>
          </p:cNvSpPr>
          <p:nvPr/>
        </p:nvSpPr>
        <p:spPr>
          <a:xfrm>
            <a:off x="685800" y="2557272"/>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계획 대비와 실행 대비 통과 비율을 쓰세요.</a:t>
            </a:r>
          </a:p>
        </p:txBody>
      </p:sp>
      <p:sp>
        <p:nvSpPr>
          <p:cNvPr id="5" name="">
            <a:extLst>
              <a:ext uri="{FF2B5EF4-FFF2-40B4-BE49-F238E27FC236}">
                <ns2:creationId id="{653578D2-9935-438C-B3AC-9BB349D7BBDF}"/>
              </a:ext>
            </a:extLst>
          </p:cNvPr>
          <p:cNvSpPr>
            <a:spLocks noGrp="1"/>
          </p:cNvSpPr>
          <p:nvPr/>
        </p:nvSpPr>
        <p:spPr>
          <a:xfrm>
            <a:off x="685800" y="6172200"/>
            <a:ext cx="10820400" cy="9525"/>
          </a:xfrm>
          <a:prstGeom prst="rect">
            <a:avLst/>
          </a:prstGeom>
          <a:solidFill>
            <a:srgbClr val="D5DEDD"/>
          </a:solidFill>
          <a:ln w="0">
            <a:noFill/>
          </a:ln>
        </p:spPr>
      </p:sp>
      <p:sp>
        <p:nvSpPr>
          <p:cNvPr id="6" name="">
            <a:extLst>
              <a:ext uri="{FF2B5EF4-FFF2-40B4-BE49-F238E27FC236}">
                <ns2:creationId id="{9B4EEAB1-2114-43F9-9F49-AF492FCBAE92}"/>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7" name="">
            <a:extLst>
              <a:ext uri="{FF2B5EF4-FFF2-40B4-BE49-F238E27FC236}">
                <ns2:creationId id="{A0EDF12C-ACFB-41C2-A012-E260F6525412}"/>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8" name="">
            <a:extLst>
              <a:ext uri="{FF2B5EF4-FFF2-40B4-BE49-F238E27FC236}">
                <ns2:creationId id="{4736A2EA-4AF0-43BA-9774-22CFBD53F3F4}"/>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9" name="">
            <a:extLst>
              <a:ext uri="{FF2B5EF4-FFF2-40B4-BE49-F238E27FC236}">
                <ns2:creationId id="{AA0F9960-F8B1-468B-8222-B9D263238C8E}"/>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10/30   068</a:t>
            </a:r>
          </a:p>
        </p:txBody>
      </p:sp>
    </p:spTree>
    <p:extLst>
      <p:ext uri="{BB962C8B-B14F-4D97-AF65-F5344CB8AC3E}">
        <ns4:creationId val="609758256"/>
      </p:ext>
    </p:extLst>
  </p:cSld>
</p:sld>
</file>

<file path=ppt/slides/slide69.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1" name="">
            <a:extLst>
              <a:ext uri="{FF2B5EF4-FFF2-40B4-BE49-F238E27FC236}">
                <ns2:creationId id="{D2210684-9C0E-4E4C-A588-EECCA589814D}"/>
              </a:ext>
            </a:extLst>
          </p:cNvPr>
          <p:cNvSpPr>
            <a:spLocks noGrp="1"/>
          </p:cNvSpPr>
          <p:nvPr/>
        </p:nvSpPr>
        <p:spPr>
          <a:xfrm>
            <a:off x="685800" y="657225"/>
            <a:ext cx="10820400" cy="400050"/>
          </a:xfrm>
          <a:prstGeom prst="rect">
            <a:avLst/>
          </a:prstGeom>
          <a:noFill/>
          <a:ln w="0">
            <a:noFill/>
          </a:ln>
        </p:spPr>
        <p:txBody>
          <a:bodyPr wrap="square" lIns="0" tIns="0" rIns="0" bIns="0">
            <a:noAutofit/>
          </a:bodyPr>
          <a:lstStyle/>
          <a:p>
            <a:pPr>
              <a:defRPr sz="1950" b="1">
                <a:solidFill>
                  <a:srgbClr val="08786F"/>
                </a:solidFill>
                <a:latin typeface="Noto Sans KR"/>
                <a:ea typeface="Noto Sans KR"/>
                <a:cs typeface="Noto Sans KR"/>
              </a:defRPr>
            </a:pPr>
            <a:r>
              <a:t>5교시</a:t>
            </a:r>
          </a:p>
        </p:txBody>
      </p:sp>
      <p:sp>
        <p:nvSpPr>
          <p:cNvPr id="2" name="">
            <a:extLst>
              <a:ext uri="{FF2B5EF4-FFF2-40B4-BE49-F238E27FC236}">
                <ns2:creationId id="{2F9073DE-D232-4F1B-A256-E15DB0E90FC4}"/>
              </a:ext>
            </a:extLst>
          </p:cNvPr>
          <p:cNvSpPr>
            <a:spLocks noGrp="1"/>
          </p:cNvSpPr>
          <p:nvPr/>
        </p:nvSpPr>
        <p:spPr>
          <a:xfrm>
            <a:off x="685800" y="1552575"/>
            <a:ext cx="10668000" cy="1905000"/>
          </a:xfrm>
          <a:prstGeom prst="rect">
            <a:avLst/>
          </a:prstGeom>
          <a:noFill/>
          <a:ln w="0">
            <a:noFill/>
          </a:ln>
        </p:spPr>
        <p:txBody>
          <a:bodyPr wrap="square" lIns="0" tIns="0" rIns="0" bIns="0">
            <a:noAutofit/>
          </a:bodyPr>
          <a:lstStyle/>
          <a:p>
            <a:pPr>
              <a:defRPr sz="4725" b="1">
                <a:solidFill>
                  <a:srgbClr val="172F39"/>
                </a:solidFill>
                <a:latin typeface="Noto Sans KR"/>
                <a:ea typeface="Noto Sans KR"/>
                <a:cs typeface="Noto Sans KR"/>
              </a:defRPr>
            </a:pPr>
            <a:r>
              <a:t>작업·선행 조건·견적</a:t>
            </a:r>
          </a:p>
        </p:txBody>
      </p:sp>
      <p:sp>
        <p:nvSpPr>
          <p:cNvPr id="3" name="">
            <a:extLst>
              <a:ext uri="{FF2B5EF4-FFF2-40B4-BE49-F238E27FC236}">
                <ns2:creationId id="{BF410D84-69BE-44F3-B6A6-A1A2DB89EE66}"/>
              </a:ext>
            </a:extLst>
          </p:cNvPr>
          <p:cNvSpPr>
            <a:spLocks noGrp="1"/>
          </p:cNvSpPr>
          <p:nvPr/>
        </p:nvSpPr>
        <p:spPr>
          <a:xfrm>
            <a:off x="723900" y="3638550"/>
            <a:ext cx="10001250" cy="473964"/>
          </a:xfrm>
          <a:prstGeom prst="rect">
            <a:avLst/>
          </a:prstGeom>
          <a:noFill/>
          <a:ln w="0">
            <a:noFill/>
          </a:ln>
        </p:spPr>
        <p:txBody>
          <a:bodyPr wrap="square" lIns="0" tIns="0" rIns="0" bIns="0">
            <a:noAutofit/>
          </a:bodyPr>
          <a:lstStyle/>
          <a:p>
            <a:pPr>
              <a:defRPr sz="2400" b="0">
                <a:solidFill>
                  <a:srgbClr val="52636B"/>
                </a:solidFill>
                <a:latin typeface="Noto Sans KR"/>
                <a:ea typeface="Noto Sans KR"/>
                <a:cs typeface="Noto Sans KR"/>
              </a:defRPr>
            </a:pPr>
            <a:r>
              <a:t>15:00~15:50 · 50분</a:t>
            </a:r>
          </a:p>
        </p:txBody>
      </p:sp>
      <p:sp>
        <p:nvSpPr>
          <p:cNvPr id="4" name="">
            <a:extLst>
              <a:ext uri="{FF2B5EF4-FFF2-40B4-BE49-F238E27FC236}">
                <ns2:creationId id="{604AB358-3518-446E-945C-46C82B0D7606}"/>
              </a:ext>
            </a:extLst>
          </p:cNvPr>
          <p:cNvSpPr>
            <a:spLocks noGrp="1"/>
          </p:cNvSpPr>
          <p:nvPr/>
        </p:nvSpPr>
        <p:spPr>
          <a:xfrm>
            <a:off x="723900" y="4160139"/>
            <a:ext cx="10001250" cy="473964"/>
          </a:xfrm>
          <a:prstGeom prst="rect">
            <a:avLst/>
          </a:prstGeom>
          <a:noFill/>
          <a:ln w="0">
            <a:noFill/>
          </a:ln>
        </p:spPr>
        <p:txBody>
          <a:bodyPr wrap="square" lIns="0" tIns="0" rIns="0" bIns="0">
            <a:noAutofit/>
          </a:bodyPr>
          <a:lstStyle/>
          <a:p>
            <a:pPr>
              <a:defRPr sz="2400" b="0">
                <a:solidFill>
                  <a:srgbClr val="52636B"/>
                </a:solidFill>
                <a:latin typeface="Noto Sans KR"/>
                <a:ea typeface="Noto Sans KR"/>
                <a:cs typeface="Noto Sans KR"/>
              </a:defRPr>
            </a:pPr>
            <a:r>
              <a:t>A13 · A14 · A15</a:t>
            </a:r>
          </a:p>
        </p:txBody>
      </p:sp>
      <p:sp>
        <p:nvSpPr>
          <p:cNvPr id="5" name="">
            <a:extLst>
              <a:ext uri="{FF2B5EF4-FFF2-40B4-BE49-F238E27FC236}">
                <ns2:creationId id="{B2AECAC3-2424-49BF-82A4-ED4755D94878}"/>
              </a:ext>
            </a:extLst>
          </p:cNvPr>
          <p:cNvSpPr>
            <a:spLocks noGrp="1"/>
          </p:cNvSpPr>
          <p:nvPr/>
        </p:nvSpPr>
        <p:spPr>
          <a:xfrm>
            <a:off x="723900" y="4681728"/>
            <a:ext cx="10001250" cy="473964"/>
          </a:xfrm>
          <a:prstGeom prst="rect">
            <a:avLst/>
          </a:prstGeom>
          <a:noFill/>
          <a:ln w="0">
            <a:noFill/>
          </a:ln>
        </p:spPr>
        <p:txBody>
          <a:bodyPr wrap="square" lIns="0" tIns="0" rIns="0" bIns="0">
            <a:noAutofit/>
          </a:bodyPr>
          <a:lstStyle/>
          <a:p>
            <a:pPr>
              <a:defRPr sz="2400" b="0">
                <a:solidFill>
                  <a:srgbClr val="52636B"/>
                </a:solidFill>
                <a:latin typeface="Noto Sans KR"/>
                <a:ea typeface="Noto Sans KR"/>
                <a:cs typeface="Noto Sans KR"/>
              </a:defRPr>
            </a:pPr>
            <a:r>
              <a:t>설명 → 예제 따라 하기 → 직접 해 보기 → 풀이</a:t>
            </a:r>
          </a:p>
        </p:txBody>
      </p:sp>
      <p:sp>
        <p:nvSpPr>
          <p:cNvPr id="6" name="">
            <a:extLst>
              <a:ext uri="{FF2B5EF4-FFF2-40B4-BE49-F238E27FC236}">
                <ns2:creationId id="{979DBEF8-26AC-4E7B-B6B7-B5D456A1AA74}"/>
              </a:ext>
            </a:extLst>
          </p:cNvPr>
          <p:cNvSpPr>
            <a:spLocks noGrp="1"/>
          </p:cNvSpPr>
          <p:nvPr/>
        </p:nvSpPr>
        <p:spPr>
          <a:xfrm>
            <a:off x="685800" y="6172200"/>
            <a:ext cx="10820400" cy="9525"/>
          </a:xfrm>
          <a:prstGeom prst="rect">
            <a:avLst/>
          </a:prstGeom>
          <a:solidFill>
            <a:srgbClr val="D5DEDD"/>
          </a:solidFill>
          <a:ln w="0">
            <a:noFill/>
          </a:ln>
        </p:spPr>
      </p:sp>
      <p:sp>
        <p:nvSpPr>
          <p:cNvPr id="7" name="">
            <a:extLst>
              <a:ext uri="{FF2B5EF4-FFF2-40B4-BE49-F238E27FC236}">
                <ns2:creationId id="{10E21646-4684-4552-9CFF-97F838379EAA}"/>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8" name="">
            <a:extLst>
              <a:ext uri="{FF2B5EF4-FFF2-40B4-BE49-F238E27FC236}">
                <ns2:creationId id="{DEB29736-AD1B-4F4F-B2FA-324DED60C7AA}"/>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9" name="">
            <a:extLst>
              <a:ext uri="{FF2B5EF4-FFF2-40B4-BE49-F238E27FC236}">
                <ns2:creationId id="{D09F6B2F-167E-4F8D-92DD-59A5A34A6A63}"/>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0" name="">
            <a:extLst>
              <a:ext uri="{FF2B5EF4-FFF2-40B4-BE49-F238E27FC236}">
                <ns2:creationId id="{13463E1D-7447-40B6-A471-D10C7DEAA331}"/>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10/30   069</a:t>
            </a:r>
          </a:p>
        </p:txBody>
      </p:sp>
    </p:spTree>
    <p:extLst>
      <p:ext uri="{BB962C8B-B14F-4D97-AF65-F5344CB8AC3E}">
        <ns4:creationId val="1035357204"/>
      </p:ext>
    </p:extLst>
  </p:cSld>
</p:sld>
</file>

<file path=ppt/slides/slide70.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2" name="">
            <a:extLst>
              <a:ext uri="{FF2B5EF4-FFF2-40B4-BE49-F238E27FC236}">
                <ns2:creationId id="{5EF3ACDD-B381-416B-94CB-5DFCF37A3A4D}"/>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5교시</a:t>
            </a:r>
          </a:p>
        </p:txBody>
      </p:sp>
      <p:sp>
        <p:nvSpPr>
          <p:cNvPr id="2" name="">
            <a:extLst>
              <a:ext uri="{FF2B5EF4-FFF2-40B4-BE49-F238E27FC236}">
                <ns2:creationId id="{27465F10-5042-4C5E-A88B-C2CE2CF4970C}"/>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해야 할 작업 나누기</a:t>
            </a:r>
          </a:p>
        </p:txBody>
      </p:sp>
      <p:sp>
        <p:nvSpPr>
          <p:cNvPr id="3" name="">
            <a:extLst>
              <a:ext uri="{FF2B5EF4-FFF2-40B4-BE49-F238E27FC236}">
                <ns2:creationId id="{A2FB3564-68E3-42FC-A6B9-43259E811EC7}"/>
              </a:ext>
            </a:extLst>
          </p:cNvPr>
          <p:cNvSpPr>
            <a:spLocks noGrp="1"/>
          </p:cNvSpPr>
          <p:nvPr/>
        </p:nvSpPr>
        <p:spPr>
          <a:xfrm>
            <a:off x="685800" y="1933575"/>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W1 데이터 규칙·샘플 · W2 값 검사</a:t>
            </a:r>
          </a:p>
        </p:txBody>
      </p:sp>
      <p:sp>
        <p:nvSpPr>
          <p:cNvPr id="4" name="">
            <a:extLst>
              <a:ext uri="{FF2B5EF4-FFF2-40B4-BE49-F238E27FC236}">
                <ns2:creationId id="{7CB2D671-9BDD-4859-B3A0-4896C39AB52D}"/>
              </a:ext>
            </a:extLst>
          </p:cNvPr>
          <p:cNvSpPr>
            <a:spLocks noGrp="1"/>
          </p:cNvSpPr>
          <p:nvPr/>
        </p:nvSpPr>
        <p:spPr>
          <a:xfrm>
            <a:off x="685800" y="2432685"/>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W3 화면 · W4 통합·시험·안내</a:t>
            </a:r>
          </a:p>
        </p:txBody>
      </p:sp>
      <p:sp>
        <p:nvSpPr>
          <p:cNvPr id="5" name="">
            <a:extLst>
              <a:ext uri="{FF2B5EF4-FFF2-40B4-BE49-F238E27FC236}">
                <ns2:creationId id="{6B27544F-CD85-4CB4-8EB3-4BDB898BC84E}"/>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작업마다 결과 정하기</a:t>
            </a:r>
          </a:p>
        </p:txBody>
      </p:sp>
      <p:graphicFrame>
        <p:nvGraphicFramePr>
          <p:cNvPr id="17" name=""/>
          <p:cNvGraphicFramePr/>
          <p:nvPr/>
        </p:nvGraphicFramePr>
        <p:xfrm>
          <a:off x="6267450" y="2628900"/>
          <a:ext cx="5238750" cy="2571750"/>
        </p:xfrm>
        <a:graphic>
          <a:graphicData uri="http://schemas.openxmlformats.org/drawingml/2006/table">
            <a:tbl>
              <a:tblPr firstRow="1" bandRow="0"/>
              <a:tblGrid>
                <a:gridCol w="1650520"/>
                <a:gridCol w="3588230"/>
              </a:tblGrid>
              <a:tr h="514350">
                <a:tc>
                  <a:txBody>
                    <a:bodyPr wrap="square"/>
                    <a:lstStyle/>
                    <a:p>
                      <a:pPr>
                        <a:lnSpc>
                          <a:spcPct val="102000"/>
                        </a:lnSpc>
                        <a:buNone/>
                      </a:pPr>
                      <a:r>
                        <a:rPr sz="1875" b="1">
                          <a:solidFill>
                            <a:srgbClr val="172F39"/>
                          </a:solidFill>
                          <a:latin typeface="Noto Sans KR"/>
                          <a:ea typeface="Noto Sans KR"/>
                          <a:cs typeface="Noto Sans KR"/>
                        </a:rPr>
                        <a:t>작업</a:t>
                      </a:r>
                    </a:p>
                  </a:txBody>
                  <a:tcPr marL="114300" marR="114300" marT="76200" marB="76200" anchor="ctr">
                    <a:solidFill>
                      <a:srgbClr val="DCECE8"/>
                    </a:solidFill>
                  </a:tcPr>
                </a:tc>
                <a:tc>
                  <a:txBody>
                    <a:bodyPr wrap="square"/>
                    <a:lstStyle/>
                    <a:p>
                      <a:pPr>
                        <a:lnSpc>
                          <a:spcPct val="102000"/>
                        </a:lnSpc>
                        <a:buNone/>
                      </a:pPr>
                      <a:r>
                        <a:rPr sz="1875" b="1">
                          <a:solidFill>
                            <a:srgbClr val="172F39"/>
                          </a:solidFill>
                          <a:latin typeface="Noto Sans KR"/>
                          <a:ea typeface="Noto Sans KR"/>
                          <a:cs typeface="Noto Sans KR"/>
                        </a:rPr>
                        <a:t>결과</a:t>
                      </a:r>
                    </a:p>
                  </a:txBody>
                  <a:tcPr marL="114300" marR="114300" marT="76200" marB="76200" anchor="ctr">
                    <a:solidFill>
                      <a:srgbClr val="DCECE8"/>
                    </a:solidFill>
                  </a:tcPr>
                </a:tc>
              </a:tr>
              <a:tr h="514350">
                <a:tc>
                  <a:txBody>
                    <a:bodyPr wrap="square"/>
                    <a:lstStyle/>
                    <a:p>
                      <a:pPr>
                        <a:lnSpc>
                          <a:spcPct val="102000"/>
                        </a:lnSpc>
                        <a:buNone/>
                      </a:pPr>
                      <a:r>
                        <a:rPr sz="1875" b="0">
                          <a:solidFill>
                            <a:srgbClr val="172F39"/>
                          </a:solidFill>
                          <a:latin typeface="Noto Sans KR"/>
                          <a:ea typeface="Noto Sans KR"/>
                          <a:cs typeface="Noto Sans KR"/>
                        </a:rPr>
                        <a:t>W1</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데이터 규칙·샘플</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W2</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값 검사</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W3</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화면</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W4</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통합·시험·안내</a:t>
                      </a:r>
                    </a:p>
                  </a:txBody>
                  <a:tcPr marL="114300" marR="114300" marT="76200" marB="76200" anchor="ctr">
                    <a:solidFill>
                      <a:srgbClr val="FFFFFF"/>
                    </a:solidFill>
                  </a:tcPr>
                </a:tc>
              </a:tr>
            </a:tbl>
          </a:graphicData>
        </a:graphic>
      </p:graphicFrame>
      <p:sp>
        <p:nvSpPr>
          <p:cNvPr id="7" name="">
            <a:extLst>
              <a:ext uri="{FF2B5EF4-FFF2-40B4-BE49-F238E27FC236}">
                <ns2:creationId id="{B2D37EDC-E6AF-41B5-9195-DB6405AC9F09}"/>
              </a:ext>
            </a:extLst>
          </p:cNvPr>
          <p:cNvSpPr>
            <a:spLocks noGrp="1"/>
          </p:cNvSpPr>
          <p:nvPr/>
        </p:nvSpPr>
        <p:spPr>
          <a:xfrm>
            <a:off x="685800" y="6172200"/>
            <a:ext cx="10820400" cy="9525"/>
          </a:xfrm>
          <a:prstGeom prst="rect">
            <a:avLst/>
          </a:prstGeom>
          <a:solidFill>
            <a:srgbClr val="D5DEDD"/>
          </a:solidFill>
          <a:ln w="0">
            <a:noFill/>
          </a:ln>
        </p:spPr>
      </p:sp>
      <p:sp>
        <p:nvSpPr>
          <p:cNvPr id="8" name="">
            <a:extLst>
              <a:ext uri="{FF2B5EF4-FFF2-40B4-BE49-F238E27FC236}">
                <ns2:creationId id="{30EFC47C-7F0A-4F89-AFA9-7282DB439C2C}"/>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9" name="">
            <a:extLst>
              <a:ext uri="{FF2B5EF4-FFF2-40B4-BE49-F238E27FC236}">
                <ns2:creationId id="{919AC2BC-1985-48E4-BFBE-2409C6B72B21}"/>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0" name="">
            <a:extLst>
              <a:ext uri="{FF2B5EF4-FFF2-40B4-BE49-F238E27FC236}">
                <ns2:creationId id="{94ABDCB7-3B4C-467C-AA19-EDA796283941}"/>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1" name="">
            <a:extLst>
              <a:ext uri="{FF2B5EF4-FFF2-40B4-BE49-F238E27FC236}">
                <ns2:creationId id="{291202B9-6C9F-4FAF-A0BE-58B0DBB3C3A3}"/>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10/30   070</a:t>
            </a:r>
          </a:p>
        </p:txBody>
      </p:sp>
    </p:spTree>
    <p:extLst>
      <p:ext uri="{BB962C8B-B14F-4D97-AF65-F5344CB8AC3E}">
        <ns4:creationId val="965902144"/>
      </p:ext>
    </p:extLst>
  </p:cSld>
</p:sld>
</file>

<file path=ppt/slides/slide71.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2" name="">
            <a:extLst>
              <a:ext uri="{FF2B5EF4-FFF2-40B4-BE49-F238E27FC236}">
                <ns2:creationId id="{9591E580-FE3A-4943-B615-DBBE49C11E67}"/>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5교시</a:t>
            </a:r>
          </a:p>
        </p:txBody>
      </p:sp>
      <p:sp>
        <p:nvSpPr>
          <p:cNvPr id="2" name="">
            <a:extLst>
              <a:ext uri="{FF2B5EF4-FFF2-40B4-BE49-F238E27FC236}">
                <ns2:creationId id="{637BF240-9E0E-4AD4-B856-A1A9B093E326}"/>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작업의 선행 관계</a:t>
            </a:r>
          </a:p>
        </p:txBody>
      </p:sp>
      <p:sp>
        <p:nvSpPr>
          <p:cNvPr id="3" name="">
            <a:extLst>
              <a:ext uri="{FF2B5EF4-FFF2-40B4-BE49-F238E27FC236}">
                <ns2:creationId id="{A9F95614-A7B4-41BC-AFD1-15A64A328FDD}"/>
              </a:ext>
            </a:extLst>
          </p:cNvPr>
          <p:cNvSpPr>
            <a:spLocks noGrp="1"/>
          </p:cNvSpPr>
          <p:nvPr/>
        </p:nvSpPr>
        <p:spPr>
          <a:xfrm>
            <a:off x="685800" y="1933575"/>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W1에서 데이터 규칙을 정한 뒤 W2·W3을 진행합니다.</a:t>
            </a:r>
          </a:p>
        </p:txBody>
      </p:sp>
      <p:sp>
        <p:nvSpPr>
          <p:cNvPr id="4" name="">
            <a:extLst>
              <a:ext uri="{FF2B5EF4-FFF2-40B4-BE49-F238E27FC236}">
                <ns2:creationId id="{60334433-845B-4E96-968A-C331F95EFCF8}"/>
              </a:ext>
            </a:extLst>
          </p:cNvPr>
          <p:cNvSpPr>
            <a:spLocks noGrp="1"/>
          </p:cNvSpPr>
          <p:nvPr/>
        </p:nvSpPr>
        <p:spPr>
          <a:xfrm>
            <a:off x="685800" y="2769870"/>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먼저 끝나야 할 작업과 확인 결과를 적으세요.</a:t>
            </a:r>
          </a:p>
        </p:txBody>
      </p:sp>
      <p:sp>
        <p:nvSpPr>
          <p:cNvPr id="5" name="">
            <a:extLst>
              <a:ext uri="{FF2B5EF4-FFF2-40B4-BE49-F238E27FC236}">
                <ns2:creationId id="{BDF80EA4-C433-46E7-83F4-7FD42F17E6D6}"/>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작업마다 결과 정하기</a:t>
            </a:r>
          </a:p>
        </p:txBody>
      </p:sp>
      <p:graphicFrame>
        <p:nvGraphicFramePr>
          <p:cNvPr id="17" name=""/>
          <p:cNvGraphicFramePr/>
          <p:nvPr/>
        </p:nvGraphicFramePr>
        <p:xfrm>
          <a:off x="6267450" y="2628900"/>
          <a:ext cx="5238750" cy="2571750"/>
        </p:xfrm>
        <a:graphic>
          <a:graphicData uri="http://schemas.openxmlformats.org/drawingml/2006/table">
            <a:tbl>
              <a:tblPr firstRow="1" bandRow="0"/>
              <a:tblGrid>
                <a:gridCol w="1650520"/>
                <a:gridCol w="3588230"/>
              </a:tblGrid>
              <a:tr h="514350">
                <a:tc>
                  <a:txBody>
                    <a:bodyPr wrap="square"/>
                    <a:lstStyle/>
                    <a:p>
                      <a:pPr>
                        <a:lnSpc>
                          <a:spcPct val="102000"/>
                        </a:lnSpc>
                        <a:buNone/>
                      </a:pPr>
                      <a:r>
                        <a:rPr sz="1875" b="1">
                          <a:solidFill>
                            <a:srgbClr val="172F39"/>
                          </a:solidFill>
                          <a:latin typeface="Noto Sans KR"/>
                          <a:ea typeface="Noto Sans KR"/>
                          <a:cs typeface="Noto Sans KR"/>
                        </a:rPr>
                        <a:t>작업</a:t>
                      </a:r>
                    </a:p>
                  </a:txBody>
                  <a:tcPr marL="114300" marR="114300" marT="76200" marB="76200" anchor="ctr">
                    <a:solidFill>
                      <a:srgbClr val="DCECE8"/>
                    </a:solidFill>
                  </a:tcPr>
                </a:tc>
                <a:tc>
                  <a:txBody>
                    <a:bodyPr wrap="square"/>
                    <a:lstStyle/>
                    <a:p>
                      <a:pPr>
                        <a:lnSpc>
                          <a:spcPct val="102000"/>
                        </a:lnSpc>
                        <a:buNone/>
                      </a:pPr>
                      <a:r>
                        <a:rPr sz="1875" b="1">
                          <a:solidFill>
                            <a:srgbClr val="172F39"/>
                          </a:solidFill>
                          <a:latin typeface="Noto Sans KR"/>
                          <a:ea typeface="Noto Sans KR"/>
                          <a:cs typeface="Noto Sans KR"/>
                        </a:rPr>
                        <a:t>결과</a:t>
                      </a:r>
                    </a:p>
                  </a:txBody>
                  <a:tcPr marL="114300" marR="114300" marT="76200" marB="76200" anchor="ctr">
                    <a:solidFill>
                      <a:srgbClr val="DCECE8"/>
                    </a:solidFill>
                  </a:tcPr>
                </a:tc>
              </a:tr>
              <a:tr h="514350">
                <a:tc>
                  <a:txBody>
                    <a:bodyPr wrap="square"/>
                    <a:lstStyle/>
                    <a:p>
                      <a:pPr>
                        <a:lnSpc>
                          <a:spcPct val="102000"/>
                        </a:lnSpc>
                        <a:buNone/>
                      </a:pPr>
                      <a:r>
                        <a:rPr sz="1875" b="0">
                          <a:solidFill>
                            <a:srgbClr val="172F39"/>
                          </a:solidFill>
                          <a:latin typeface="Noto Sans KR"/>
                          <a:ea typeface="Noto Sans KR"/>
                          <a:cs typeface="Noto Sans KR"/>
                        </a:rPr>
                        <a:t>W1</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데이터 규칙·샘플</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W2</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값 검사</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W3</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화면</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W4</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통합·시험·안내</a:t>
                      </a:r>
                    </a:p>
                  </a:txBody>
                  <a:tcPr marL="114300" marR="114300" marT="76200" marB="76200" anchor="ctr">
                    <a:solidFill>
                      <a:srgbClr val="FFFFFF"/>
                    </a:solidFill>
                  </a:tcPr>
                </a:tc>
              </a:tr>
            </a:tbl>
          </a:graphicData>
        </a:graphic>
      </p:graphicFrame>
      <p:sp>
        <p:nvSpPr>
          <p:cNvPr id="7" name="">
            <a:extLst>
              <a:ext uri="{FF2B5EF4-FFF2-40B4-BE49-F238E27FC236}">
                <ns2:creationId id="{38522548-834F-426D-B677-7078B27CB29F}"/>
              </a:ext>
            </a:extLst>
          </p:cNvPr>
          <p:cNvSpPr>
            <a:spLocks noGrp="1"/>
          </p:cNvSpPr>
          <p:nvPr/>
        </p:nvSpPr>
        <p:spPr>
          <a:xfrm>
            <a:off x="685800" y="6172200"/>
            <a:ext cx="10820400" cy="9525"/>
          </a:xfrm>
          <a:prstGeom prst="rect">
            <a:avLst/>
          </a:prstGeom>
          <a:solidFill>
            <a:srgbClr val="D5DEDD"/>
          </a:solidFill>
          <a:ln w="0">
            <a:noFill/>
          </a:ln>
        </p:spPr>
      </p:sp>
      <p:sp>
        <p:nvSpPr>
          <p:cNvPr id="8" name="">
            <a:extLst>
              <a:ext uri="{FF2B5EF4-FFF2-40B4-BE49-F238E27FC236}">
                <ns2:creationId id="{A072A5E4-856E-4465-A8BB-31CDA8A4BBFD}"/>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9" name="">
            <a:extLst>
              <a:ext uri="{FF2B5EF4-FFF2-40B4-BE49-F238E27FC236}">
                <ns2:creationId id="{E8BC772B-77AF-48AA-9131-20887FCC6CBC}"/>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0" name="">
            <a:extLst>
              <a:ext uri="{FF2B5EF4-FFF2-40B4-BE49-F238E27FC236}">
                <ns2:creationId id="{98FCEF22-05BA-45D3-9ABB-9BCB45927028}"/>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1" name="">
            <a:extLst>
              <a:ext uri="{FF2B5EF4-FFF2-40B4-BE49-F238E27FC236}">
                <ns2:creationId id="{0ED5B45B-D6C6-427D-BDA2-E2D8C91053F0}"/>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10/30   071</a:t>
            </a:r>
          </a:p>
        </p:txBody>
      </p:sp>
    </p:spTree>
    <p:extLst>
      <p:ext uri="{BB962C8B-B14F-4D97-AF65-F5344CB8AC3E}">
        <ns4:creationId val="910493540"/>
      </p:ext>
    </p:extLst>
  </p:cSld>
</p:sld>
</file>

<file path=ppt/slides/slide72.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3" name="">
            <a:extLst>
              <a:ext uri="{FF2B5EF4-FFF2-40B4-BE49-F238E27FC236}">
                <ns2:creationId id="{EC40DC23-7EE1-4001-BA1C-02D65765AEC7}"/>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5교시</a:t>
            </a:r>
          </a:p>
        </p:txBody>
      </p:sp>
      <p:sp>
        <p:nvSpPr>
          <p:cNvPr id="2" name="">
            <a:extLst>
              <a:ext uri="{FF2B5EF4-FFF2-40B4-BE49-F238E27FC236}">
                <ns2:creationId id="{F0514C8D-A83A-4E1B-837F-7044D9A10DA1}"/>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작업량과 달력 기간</a:t>
            </a:r>
          </a:p>
        </p:txBody>
      </p:sp>
      <p:sp>
        <p:nvSpPr>
          <p:cNvPr id="3" name="">
            <a:extLst>
              <a:ext uri="{FF2B5EF4-FFF2-40B4-BE49-F238E27FC236}">
                <ns2:creationId id="{806F018C-DC37-419D-9F6D-C4E988734330}"/>
              </a:ext>
            </a:extLst>
          </p:cNvPr>
          <p:cNvSpPr>
            <a:spLocks noGrp="1"/>
          </p:cNvSpPr>
          <p:nvPr/>
        </p:nvSpPr>
        <p:spPr>
          <a:xfrm>
            <a:off x="685800" y="1933575"/>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가정 작업량: 2+4+3+3=12시간</a:t>
            </a:r>
          </a:p>
        </p:txBody>
      </p:sp>
      <p:sp>
        <p:nvSpPr>
          <p:cNvPr id="4" name="">
            <a:extLst>
              <a:ext uri="{FF2B5EF4-FFF2-40B4-BE49-F238E27FC236}">
                <ns2:creationId id="{AA6600C3-F634-4CC1-8ECF-8AAB1B254B33}"/>
              </a:ext>
            </a:extLst>
          </p:cNvPr>
          <p:cNvSpPr>
            <a:spLocks noGrp="1"/>
          </p:cNvSpPr>
          <p:nvPr/>
        </p:nvSpPr>
        <p:spPr>
          <a:xfrm>
            <a:off x="685800" y="2432685"/>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팀원 수만으로 달력 기간을 나누지 않습니다.</a:t>
            </a:r>
          </a:p>
        </p:txBody>
      </p:sp>
      <p:sp>
        <p:nvSpPr>
          <p:cNvPr id="5" name="">
            <a:extLst>
              <a:ext uri="{FF2B5EF4-FFF2-40B4-BE49-F238E27FC236}">
                <ns2:creationId id="{E6147AB0-C6D8-41E5-9B44-2A055798173C}"/>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이 예의 작업량</a:t>
            </a:r>
          </a:p>
        </p:txBody>
      </p:sp>
      <p:sp>
        <p:nvSpPr>
          <p:cNvPr id="6" name="">
            <a:extLst>
              <a:ext uri="{FF2B5EF4-FFF2-40B4-BE49-F238E27FC236}">
                <ns2:creationId id="{3FFC377F-B03D-4B23-B8BE-C4A14A483B0E}"/>
              </a:ext>
            </a:extLst>
          </p:cNvPr>
          <p:cNvSpPr>
            <a:spLocks noGrp="1"/>
          </p:cNvSpPr>
          <p:nvPr/>
        </p:nvSpPr>
        <p:spPr>
          <a:xfrm>
            <a:off x="6267450" y="2628900"/>
            <a:ext cx="5238750" cy="440246"/>
          </a:xfrm>
          <a:prstGeom prst="rect">
            <a:avLst/>
          </a:prstGeom>
          <a:noFill/>
          <a:ln w="0">
            <a:noFill/>
          </a:ln>
        </p:spPr>
        <p:txBody>
          <a:bodyPr wrap="square" lIns="0" tIns="0" rIns="0" bIns="0">
            <a:noAutofit/>
          </a:bodyPr>
          <a:lstStyle/>
          <a:p>
            <a:pPr>
              <a:defRPr sz="2175" b="0">
                <a:solidFill>
                  <a:srgbClr val="172F39"/>
                </a:solidFill>
                <a:latin typeface="Noto Sans KR"/>
                <a:ea typeface="Noto Sans KR"/>
                <a:cs typeface="Noto Sans KR"/>
              </a:defRPr>
            </a:pPr>
            <a:r>
              <a:t>2 + 4 + 3 + 3 = 12시간</a:t>
            </a:r>
          </a:p>
        </p:txBody>
      </p:sp>
      <p:sp>
        <p:nvSpPr>
          <p:cNvPr id="7" name="">
            <a:extLst>
              <a:ext uri="{FF2B5EF4-FFF2-40B4-BE49-F238E27FC236}">
                <ns2:creationId id="{716E7F6D-0058-4645-A71B-60AB778BEDCE}"/>
              </a:ext>
            </a:extLst>
          </p:cNvPr>
          <p:cNvSpPr>
            <a:spLocks noGrp="1"/>
          </p:cNvSpPr>
          <p:nvPr/>
        </p:nvSpPr>
        <p:spPr>
          <a:xfrm>
            <a:off x="6267450" y="3116771"/>
            <a:ext cx="5238750" cy="440246"/>
          </a:xfrm>
          <a:prstGeom prst="rect">
            <a:avLst/>
          </a:prstGeom>
          <a:noFill/>
          <a:ln w="0">
            <a:noFill/>
          </a:ln>
        </p:spPr>
        <p:txBody>
          <a:bodyPr wrap="square" lIns="0" tIns="0" rIns="0" bIns="0">
            <a:noAutofit/>
          </a:bodyPr>
          <a:lstStyle/>
          <a:p>
            <a:pPr>
              <a:defRPr sz="2175" b="0">
                <a:solidFill>
                  <a:srgbClr val="172F39"/>
                </a:solidFill>
                <a:latin typeface="Noto Sans KR"/>
                <a:ea typeface="Noto Sans KR"/>
                <a:cs typeface="Noto Sans KR"/>
              </a:defRPr>
            </a:pPr>
            <a:r>
              <a:t>인원만으로 기간을 나누지 않기</a:t>
            </a:r>
          </a:p>
        </p:txBody>
      </p:sp>
      <p:sp>
        <p:nvSpPr>
          <p:cNvPr id="8" name="">
            <a:extLst>
              <a:ext uri="{FF2B5EF4-FFF2-40B4-BE49-F238E27FC236}">
                <ns2:creationId id="{AC8FFA51-E16E-42D7-8EB6-0033CB3E233A}"/>
              </a:ext>
            </a:extLst>
          </p:cNvPr>
          <p:cNvSpPr>
            <a:spLocks noGrp="1"/>
          </p:cNvSpPr>
          <p:nvPr/>
        </p:nvSpPr>
        <p:spPr>
          <a:xfrm>
            <a:off x="685800" y="6172200"/>
            <a:ext cx="10820400" cy="9525"/>
          </a:xfrm>
          <a:prstGeom prst="rect">
            <a:avLst/>
          </a:prstGeom>
          <a:solidFill>
            <a:srgbClr val="D5DEDD"/>
          </a:solidFill>
          <a:ln w="0">
            <a:noFill/>
          </a:ln>
        </p:spPr>
      </p:sp>
      <p:sp>
        <p:nvSpPr>
          <p:cNvPr id="9" name="">
            <a:extLst>
              <a:ext uri="{FF2B5EF4-FFF2-40B4-BE49-F238E27FC236}">
                <ns2:creationId id="{69AB0125-AD85-4EA3-A6D3-66B61D622FC7}"/>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0" name="">
            <a:extLst>
              <a:ext uri="{FF2B5EF4-FFF2-40B4-BE49-F238E27FC236}">
                <ns2:creationId id="{81D16730-A251-4818-AFB9-3BAF5D9D9A3C}"/>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1" name="">
            <a:extLst>
              <a:ext uri="{FF2B5EF4-FFF2-40B4-BE49-F238E27FC236}">
                <ns2:creationId id="{D5720F38-2158-40DA-9A24-B7F3D35F1CBA}"/>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2" name="">
            <a:extLst>
              <a:ext uri="{FF2B5EF4-FFF2-40B4-BE49-F238E27FC236}">
                <ns2:creationId id="{7DCAAE16-8BA3-4A03-A99E-D73CB2BF0DCE}"/>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10/30   072</a:t>
            </a:r>
          </a:p>
        </p:txBody>
      </p:sp>
    </p:spTree>
    <p:extLst>
      <p:ext uri="{BB962C8B-B14F-4D97-AF65-F5344CB8AC3E}">
        <ns4:creationId val="35875355"/>
      </p:ext>
    </p:extLst>
  </p:cSld>
</p:sld>
</file>

<file path=ppt/slides/slide73.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0" name="">
            <a:extLst>
              <a:ext uri="{FF2B5EF4-FFF2-40B4-BE49-F238E27FC236}">
                <ns2:creationId id="{8EBDD7A8-4438-4303-BD37-8DAA94F6D09E}"/>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5교시</a:t>
            </a:r>
          </a:p>
        </p:txBody>
      </p:sp>
      <p:sp>
        <p:nvSpPr>
          <p:cNvPr id="2" name="">
            <a:extLst>
              <a:ext uri="{FF2B5EF4-FFF2-40B4-BE49-F238E27FC236}">
                <ns2:creationId id="{969BE412-DDFC-45E0-92C7-A8B42CF432C1}"/>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작업이 끝났는지 확인하는 방법</a:t>
            </a:r>
          </a:p>
        </p:txBody>
      </p:sp>
      <p:sp>
        <p:nvSpPr>
          <p:cNvPr id="3" name="">
            <a:extLst>
              <a:ext uri="{FF2B5EF4-FFF2-40B4-BE49-F238E27FC236}">
                <ns2:creationId id="{55E423DF-4813-4925-9585-4ACE7D6A277C}"/>
              </a:ext>
            </a:extLst>
          </p:cNvPr>
          <p:cNvSpPr>
            <a:spLocks noGrp="1"/>
          </p:cNvSpPr>
          <p:nvPr/>
        </p:nvSpPr>
        <p:spPr>
          <a:xfrm>
            <a:off x="685800" y="1990725"/>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샘플 승인 · 정상·오류 출력 · 세 상태 화면</a:t>
            </a:r>
          </a:p>
        </p:txBody>
      </p:sp>
      <p:sp>
        <p:nvSpPr>
          <p:cNvPr id="4" name="">
            <a:extLst>
              <a:ext uri="{FF2B5EF4-FFF2-40B4-BE49-F238E27FC236}">
                <ns2:creationId id="{F629231A-6072-49E7-84B4-A758333EE77E}"/>
              </a:ext>
            </a:extLst>
          </p:cNvPr>
          <p:cNvSpPr>
            <a:spLocks noGrp="1"/>
          </p:cNvSpPr>
          <p:nvPr/>
        </p:nvSpPr>
        <p:spPr>
          <a:xfrm>
            <a:off x="685800" y="2534793"/>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예정 시간이 지나도 결과를 확인해야 작업을 끝낼 수 있습니다.</a:t>
            </a:r>
          </a:p>
        </p:txBody>
      </p:sp>
      <p:sp>
        <p:nvSpPr>
          <p:cNvPr id="5" name="">
            <a:extLst>
              <a:ext uri="{FF2B5EF4-FFF2-40B4-BE49-F238E27FC236}">
                <ns2:creationId id="{FFDA036F-E8E3-4485-81AC-4EAAFE2AF118}"/>
              </a:ext>
            </a:extLst>
          </p:cNvPr>
          <p:cNvSpPr>
            <a:spLocks noGrp="1"/>
          </p:cNvSpPr>
          <p:nvPr/>
        </p:nvSpPr>
        <p:spPr>
          <a:xfrm>
            <a:off x="685800" y="6172200"/>
            <a:ext cx="10820400" cy="9525"/>
          </a:xfrm>
          <a:prstGeom prst="rect">
            <a:avLst/>
          </a:prstGeom>
          <a:solidFill>
            <a:srgbClr val="D5DEDD"/>
          </a:solidFill>
          <a:ln w="0">
            <a:noFill/>
          </a:ln>
        </p:spPr>
      </p:sp>
      <p:sp>
        <p:nvSpPr>
          <p:cNvPr id="6" name="">
            <a:extLst>
              <a:ext uri="{FF2B5EF4-FFF2-40B4-BE49-F238E27FC236}">
                <ns2:creationId id="{0F719FDB-D87F-457D-94A6-6E5CA6F163C2}"/>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7" name="">
            <a:extLst>
              <a:ext uri="{FF2B5EF4-FFF2-40B4-BE49-F238E27FC236}">
                <ns2:creationId id="{96DE2B09-477D-44DD-A947-B5F1EF15F095}"/>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8" name="">
            <a:extLst>
              <a:ext uri="{FF2B5EF4-FFF2-40B4-BE49-F238E27FC236}">
                <ns2:creationId id="{9D5063DE-725C-4E04-952D-A5468EDF0744}"/>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9" name="">
            <a:extLst>
              <a:ext uri="{FF2B5EF4-FFF2-40B4-BE49-F238E27FC236}">
                <ns2:creationId id="{3E320B38-37FE-49FF-8B45-3AAFF6E9B755}"/>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10/30   073</a:t>
            </a:r>
          </a:p>
        </p:txBody>
      </p:sp>
    </p:spTree>
    <p:extLst>
      <p:ext uri="{BB962C8B-B14F-4D97-AF65-F5344CB8AC3E}">
        <ns4:creationId val="1512655579"/>
      </p:ext>
    </p:extLst>
  </p:cSld>
</p:sld>
</file>

<file path=ppt/slides/slide74.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2" name="">
            <a:extLst>
              <a:ext uri="{FF2B5EF4-FFF2-40B4-BE49-F238E27FC236}">
                <ns2:creationId id="{D90ACE45-5E51-42C8-A5A6-05D5084429F8}"/>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5교시</a:t>
            </a:r>
          </a:p>
        </p:txBody>
      </p:sp>
      <p:sp>
        <p:nvSpPr>
          <p:cNvPr id="2" name="">
            <a:extLst>
              <a:ext uri="{FF2B5EF4-FFF2-40B4-BE49-F238E27FC236}">
                <ns2:creationId id="{D58F140D-076A-428F-9F29-8F0560A06514}"/>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작업 시간과 가정 시급</a:t>
            </a:r>
          </a:p>
        </p:txBody>
      </p:sp>
      <p:sp>
        <p:nvSpPr>
          <p:cNvPr id="3" name="">
            <a:extLst>
              <a:ext uri="{FF2B5EF4-FFF2-40B4-BE49-F238E27FC236}">
                <ns2:creationId id="{E14F6B93-534D-47B9-A5F8-6AFEB28E4AF8}"/>
              </a:ext>
            </a:extLst>
          </p:cNvPr>
          <p:cNvSpPr>
            <a:spLocks noGrp="1"/>
          </p:cNvSpPr>
          <p:nvPr/>
        </p:nvSpPr>
        <p:spPr>
          <a:xfrm>
            <a:off x="685800" y="1933575"/>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12시간 × 가정 시급 30,000원</a:t>
            </a:r>
          </a:p>
        </p:txBody>
      </p:sp>
      <p:sp>
        <p:nvSpPr>
          <p:cNvPr id="4" name="">
            <a:extLst>
              <a:ext uri="{FF2B5EF4-FFF2-40B4-BE49-F238E27FC236}">
                <ns2:creationId id="{7C6D6171-C6F1-438A-BCB4-77D8775B988C}"/>
              </a:ext>
            </a:extLst>
          </p:cNvPr>
          <p:cNvSpPr>
            <a:spLocks noGrp="1"/>
          </p:cNvSpPr>
          <p:nvPr/>
        </p:nvSpPr>
        <p:spPr>
          <a:xfrm>
            <a:off x="685800" y="2432685"/>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기본 비용 360,000원</a:t>
            </a:r>
          </a:p>
        </p:txBody>
      </p:sp>
      <p:sp>
        <p:nvSpPr>
          <p:cNvPr id="5" name="">
            <a:extLst>
              <a:ext uri="{FF2B5EF4-FFF2-40B4-BE49-F238E27FC236}">
                <ns2:creationId id="{E6797FB6-33C8-48D1-A17E-0CA9DD7AFA2F}"/>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예제의 계산 결과</a:t>
            </a:r>
          </a:p>
        </p:txBody>
      </p:sp>
      <p:graphicFrame>
        <p:nvGraphicFramePr>
          <p:cNvPr id="17" name=""/>
          <p:cNvGraphicFramePr/>
          <p:nvPr/>
        </p:nvGraphicFramePr>
        <p:xfrm>
          <a:off x="6267450" y="2628900"/>
          <a:ext cx="5238750" cy="2057400"/>
        </p:xfrm>
        <a:graphic>
          <a:graphicData uri="http://schemas.openxmlformats.org/drawingml/2006/table">
            <a:tbl>
              <a:tblPr firstRow="1" bandRow="0"/>
              <a:tblGrid>
                <a:gridCol w="3227746"/>
                <a:gridCol w="2011004"/>
              </a:tblGrid>
              <a:tr h="514350">
                <a:tc>
                  <a:txBody>
                    <a:bodyPr wrap="square"/>
                    <a:lstStyle/>
                    <a:p>
                      <a:pPr>
                        <a:lnSpc>
                          <a:spcPct val="102000"/>
                        </a:lnSpc>
                        <a:buNone/>
                      </a:pPr>
                      <a:r>
                        <a:rPr sz="1875" b="1">
                          <a:solidFill>
                            <a:srgbClr val="172F39"/>
                          </a:solidFill>
                          <a:latin typeface="Noto Sans KR"/>
                          <a:ea typeface="Noto Sans KR"/>
                          <a:cs typeface="Noto Sans KR"/>
                        </a:rPr>
                        <a:t>계산</a:t>
                      </a:r>
                    </a:p>
                  </a:txBody>
                  <a:tcPr marL="114300" marR="114300" marT="76200" marB="76200" anchor="ctr">
                    <a:solidFill>
                      <a:srgbClr val="DCECE8"/>
                    </a:solidFill>
                  </a:tcPr>
                </a:tc>
                <a:tc>
                  <a:txBody>
                    <a:bodyPr wrap="square"/>
                    <a:lstStyle/>
                    <a:p>
                      <a:pPr>
                        <a:lnSpc>
                          <a:spcPct val="102000"/>
                        </a:lnSpc>
                        <a:buNone/>
                      </a:pPr>
                      <a:r>
                        <a:rPr sz="1875" b="1">
                          <a:solidFill>
                            <a:srgbClr val="172F39"/>
                          </a:solidFill>
                          <a:latin typeface="Noto Sans KR"/>
                          <a:ea typeface="Noto Sans KR"/>
                          <a:cs typeface="Noto Sans KR"/>
                        </a:rPr>
                        <a:t>금액(원)</a:t>
                      </a:r>
                    </a:p>
                  </a:txBody>
                  <a:tcPr marL="114300" marR="114300" marT="76200" marB="76200" anchor="ctr">
                    <a:solidFill>
                      <a:srgbClr val="DCECE8"/>
                    </a:solidFill>
                  </a:tcPr>
                </a:tc>
              </a:tr>
              <a:tr h="514350">
                <a:tc>
                  <a:txBody>
                    <a:bodyPr wrap="square"/>
                    <a:lstStyle/>
                    <a:p>
                      <a:pPr>
                        <a:lnSpc>
                          <a:spcPct val="102000"/>
                        </a:lnSpc>
                        <a:buNone/>
                      </a:pPr>
                      <a:r>
                        <a:rPr sz="1875" b="0">
                          <a:solidFill>
                            <a:srgbClr val="172F39"/>
                          </a:solidFill>
                          <a:latin typeface="Noto Sans KR"/>
                          <a:ea typeface="Noto Sans KR"/>
                          <a:cs typeface="Noto Sans KR"/>
                        </a:rPr>
                        <a:t>12시간 × 30,000원</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360,000</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360,000 × 0.20</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72,000</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360,000 + 72,000</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432,000</a:t>
                      </a:r>
                    </a:p>
                  </a:txBody>
                  <a:tcPr marL="114300" marR="114300" marT="76200" marB="76200" anchor="ctr">
                    <a:solidFill>
                      <a:srgbClr val="FFFFFF"/>
                    </a:solidFill>
                  </a:tcPr>
                </a:tc>
              </a:tr>
            </a:tbl>
          </a:graphicData>
        </a:graphic>
      </p:graphicFrame>
      <p:sp>
        <p:nvSpPr>
          <p:cNvPr id="7" name="">
            <a:extLst>
              <a:ext uri="{FF2B5EF4-FFF2-40B4-BE49-F238E27FC236}">
                <ns2:creationId id="{E89FFF8F-9993-4DF3-9933-1C3A1A4A658D}"/>
              </a:ext>
            </a:extLst>
          </p:cNvPr>
          <p:cNvSpPr>
            <a:spLocks noGrp="1"/>
          </p:cNvSpPr>
          <p:nvPr/>
        </p:nvSpPr>
        <p:spPr>
          <a:xfrm>
            <a:off x="685800" y="6172200"/>
            <a:ext cx="10820400" cy="9525"/>
          </a:xfrm>
          <a:prstGeom prst="rect">
            <a:avLst/>
          </a:prstGeom>
          <a:solidFill>
            <a:srgbClr val="D5DEDD"/>
          </a:solidFill>
          <a:ln w="0">
            <a:noFill/>
          </a:ln>
        </p:spPr>
      </p:sp>
      <p:sp>
        <p:nvSpPr>
          <p:cNvPr id="8" name="">
            <a:extLst>
              <a:ext uri="{FF2B5EF4-FFF2-40B4-BE49-F238E27FC236}">
                <ns2:creationId id="{F8467293-8FA2-4356-B02D-F7717981D7A0}"/>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9" name="">
            <a:extLst>
              <a:ext uri="{FF2B5EF4-FFF2-40B4-BE49-F238E27FC236}">
                <ns2:creationId id="{137FFEEB-FF15-4CAD-8D73-6E55445CAA6F}"/>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0" name="">
            <a:extLst>
              <a:ext uri="{FF2B5EF4-FFF2-40B4-BE49-F238E27FC236}">
                <ns2:creationId id="{77B071C3-A39D-4088-B4CC-C98407A08EC3}"/>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1" name="">
            <a:extLst>
              <a:ext uri="{FF2B5EF4-FFF2-40B4-BE49-F238E27FC236}">
                <ns2:creationId id="{DEF57E29-8710-49C5-A5EA-9A58CA4EF507}"/>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10/30   074</a:t>
            </a:r>
          </a:p>
        </p:txBody>
      </p:sp>
    </p:spTree>
    <p:extLst>
      <p:ext uri="{BB962C8B-B14F-4D97-AF65-F5344CB8AC3E}">
        <ns4:creationId val="604903671"/>
      </p:ext>
    </p:extLst>
  </p:cSld>
</p:sld>
</file>

<file path=ppt/slides/slide75.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2" name="">
            <a:extLst>
              <a:ext uri="{FF2B5EF4-FFF2-40B4-BE49-F238E27FC236}">
                <ns2:creationId id="{2C602905-20CA-4D6E-9EB1-E5BF4FA481DF}"/>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5교시</a:t>
            </a:r>
          </a:p>
        </p:txBody>
      </p:sp>
      <p:sp>
        <p:nvSpPr>
          <p:cNvPr id="2" name="">
            <a:extLst>
              <a:ext uri="{FF2B5EF4-FFF2-40B4-BE49-F238E27FC236}">
                <ns2:creationId id="{BCAC0649-10C7-4109-AC48-E7F6A17326AE}"/>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견적 여유와 별도 비용</a:t>
            </a:r>
          </a:p>
        </p:txBody>
      </p:sp>
      <p:sp>
        <p:nvSpPr>
          <p:cNvPr id="3" name="">
            <a:extLst>
              <a:ext uri="{FF2B5EF4-FFF2-40B4-BE49-F238E27FC236}">
                <ns2:creationId id="{5795E7A5-A7C2-4758-A78D-99A9019C9C46}"/>
              </a:ext>
            </a:extLst>
          </p:cNvPr>
          <p:cNvSpPr>
            <a:spLocks noGrp="1"/>
          </p:cNvSpPr>
          <p:nvPr/>
        </p:nvSpPr>
        <p:spPr>
          <a:xfrm>
            <a:off x="685800" y="1933575"/>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20% 여유 72,000원 → 합계 432,000원</a:t>
            </a:r>
          </a:p>
        </p:txBody>
      </p:sp>
      <p:sp>
        <p:nvSpPr>
          <p:cNvPr id="4" name="">
            <a:extLst>
              <a:ext uri="{FF2B5EF4-FFF2-40B4-BE49-F238E27FC236}">
                <ns2:creationId id="{3A7B0349-70DD-423F-AC58-853BD704B3C3}"/>
              </a:ext>
            </a:extLst>
          </p:cNvPr>
          <p:cNvSpPr>
            <a:spLocks noGrp="1"/>
          </p:cNvSpPr>
          <p:nvPr/>
        </p:nvSpPr>
        <p:spPr>
          <a:xfrm>
            <a:off x="685800" y="2769870"/>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장비·서버·API·세금 포함 여부는 따로 씁니다.</a:t>
            </a:r>
          </a:p>
        </p:txBody>
      </p:sp>
      <p:sp>
        <p:nvSpPr>
          <p:cNvPr id="5" name="">
            <a:extLst>
              <a:ext uri="{FF2B5EF4-FFF2-40B4-BE49-F238E27FC236}">
                <ns2:creationId id="{5AE6148B-EFDC-435A-83E8-C5B2A11B1A10}"/>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견적 계산 연습</a:t>
            </a:r>
          </a:p>
        </p:txBody>
      </p:sp>
      <p:graphicFrame>
        <p:nvGraphicFramePr>
          <p:cNvPr id="17" name=""/>
          <p:cNvGraphicFramePr/>
          <p:nvPr/>
        </p:nvGraphicFramePr>
        <p:xfrm>
          <a:off x="6267450" y="2628900"/>
          <a:ext cx="5238750" cy="2057400"/>
        </p:xfrm>
        <a:graphic>
          <a:graphicData uri="http://schemas.openxmlformats.org/drawingml/2006/table">
            <a:tbl>
              <a:tblPr firstRow="1" bandRow="0"/>
              <a:tblGrid>
                <a:gridCol w="2546130"/>
                <a:gridCol w="2692620"/>
              </a:tblGrid>
              <a:tr h="514350">
                <a:tc>
                  <a:txBody>
                    <a:bodyPr wrap="square"/>
                    <a:lstStyle/>
                    <a:p>
                      <a:pPr>
                        <a:lnSpc>
                          <a:spcPct val="102000"/>
                        </a:lnSpc>
                        <a:buNone/>
                      </a:pPr>
                      <a:r>
                        <a:rPr sz="1875" b="1">
                          <a:solidFill>
                            <a:srgbClr val="172F39"/>
                          </a:solidFill>
                          <a:latin typeface="Noto Sans KR"/>
                          <a:ea typeface="Noto Sans KR"/>
                          <a:cs typeface="Noto Sans KR"/>
                        </a:rPr>
                        <a:t>항목</a:t>
                      </a:r>
                    </a:p>
                  </a:txBody>
                  <a:tcPr marL="114300" marR="114300" marT="76200" marB="76200" anchor="ctr">
                    <a:solidFill>
                      <a:srgbClr val="DCECE8"/>
                    </a:solidFill>
                  </a:tcPr>
                </a:tc>
                <a:tc>
                  <a:txBody>
                    <a:bodyPr wrap="square"/>
                    <a:lstStyle/>
                    <a:p>
                      <a:pPr>
                        <a:lnSpc>
                          <a:spcPct val="102000"/>
                        </a:lnSpc>
                        <a:buNone/>
                      </a:pPr>
                      <a:r>
                        <a:rPr sz="1875" b="1">
                          <a:solidFill>
                            <a:srgbClr val="172F39"/>
                          </a:solidFill>
                          <a:latin typeface="Noto Sans KR"/>
                          <a:ea typeface="Noto Sans KR"/>
                          <a:cs typeface="Noto Sans KR"/>
                        </a:rPr>
                        <a:t>금액</a:t>
                      </a:r>
                    </a:p>
                  </a:txBody>
                  <a:tcPr marL="114300" marR="114300" marT="76200" marB="76200" anchor="ctr">
                    <a:solidFill>
                      <a:srgbClr val="DCECE8"/>
                    </a:solidFill>
                  </a:tcPr>
                </a:tc>
              </a:tr>
              <a:tr h="514350">
                <a:tc>
                  <a:txBody>
                    <a:bodyPr wrap="square"/>
                    <a:lstStyle/>
                    <a:p>
                      <a:pPr>
                        <a:lnSpc>
                          <a:spcPct val="102000"/>
                        </a:lnSpc>
                        <a:buNone/>
                      </a:pPr>
                      <a:r>
                        <a:rPr sz="1875" b="0">
                          <a:solidFill>
                            <a:srgbClr val="172F39"/>
                          </a:solidFill>
                          <a:latin typeface="Noto Sans KR"/>
                          <a:ea typeface="Noto Sans KR"/>
                          <a:cs typeface="Noto Sans KR"/>
                        </a:rPr>
                        <a:t>기본 비용</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360,000원</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여유 20%</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72,000원</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합계</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432,000원</a:t>
                      </a:r>
                    </a:p>
                  </a:txBody>
                  <a:tcPr marL="114300" marR="114300" marT="76200" marB="76200" anchor="ctr">
                    <a:solidFill>
                      <a:srgbClr val="FFFFFF"/>
                    </a:solidFill>
                  </a:tcPr>
                </a:tc>
              </a:tr>
            </a:tbl>
          </a:graphicData>
        </a:graphic>
      </p:graphicFrame>
      <p:sp>
        <p:nvSpPr>
          <p:cNvPr id="7" name="">
            <a:extLst>
              <a:ext uri="{FF2B5EF4-FFF2-40B4-BE49-F238E27FC236}">
                <ns2:creationId id="{7F9E859B-80F0-4637-A0C9-8001F5C15D71}"/>
              </a:ext>
            </a:extLst>
          </p:cNvPr>
          <p:cNvSpPr>
            <a:spLocks noGrp="1"/>
          </p:cNvSpPr>
          <p:nvPr/>
        </p:nvSpPr>
        <p:spPr>
          <a:xfrm>
            <a:off x="685800" y="6172200"/>
            <a:ext cx="10820400" cy="9525"/>
          </a:xfrm>
          <a:prstGeom prst="rect">
            <a:avLst/>
          </a:prstGeom>
          <a:solidFill>
            <a:srgbClr val="D5DEDD"/>
          </a:solidFill>
          <a:ln w="0">
            <a:noFill/>
          </a:ln>
        </p:spPr>
      </p:sp>
      <p:sp>
        <p:nvSpPr>
          <p:cNvPr id="8" name="">
            <a:extLst>
              <a:ext uri="{FF2B5EF4-FFF2-40B4-BE49-F238E27FC236}">
                <ns2:creationId id="{26D101E3-13BC-4A20-85DC-023AA1CC4B26}"/>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9" name="">
            <a:extLst>
              <a:ext uri="{FF2B5EF4-FFF2-40B4-BE49-F238E27FC236}">
                <ns2:creationId id="{F4EB32A1-E7AD-44FA-A7D8-AF3C815802CA}"/>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0" name="">
            <a:extLst>
              <a:ext uri="{FF2B5EF4-FFF2-40B4-BE49-F238E27FC236}">
                <ns2:creationId id="{1431B990-69F3-4550-9302-7199E601D8BA}"/>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1" name="">
            <a:extLst>
              <a:ext uri="{FF2B5EF4-FFF2-40B4-BE49-F238E27FC236}">
                <ns2:creationId id="{7AE87152-128C-4A9A-BF89-A0136E0695A8}"/>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10/30   075</a:t>
            </a:r>
          </a:p>
        </p:txBody>
      </p:sp>
    </p:spTree>
    <p:extLst>
      <p:ext uri="{BB962C8B-B14F-4D97-AF65-F5344CB8AC3E}">
        <ns4:creationId val="1957005332"/>
      </p:ext>
    </p:extLst>
  </p:cSld>
</p:sld>
</file>

<file path=ppt/slides/slide76.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23" name="">
            <a:extLst>
              <a:ext uri="{FF2B5EF4-FFF2-40B4-BE49-F238E27FC236}">
                <ns2:creationId id="{4526BD60-6BFB-4DC3-8C3D-83E16909FB1B}"/>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5교시</a:t>
            </a:r>
          </a:p>
        </p:txBody>
      </p:sp>
      <p:sp>
        <p:nvSpPr>
          <p:cNvPr id="2" name="">
            <a:extLst>
              <a:ext uri="{FF2B5EF4-FFF2-40B4-BE49-F238E27FC236}">
                <ns2:creationId id="{B6E2303B-34ED-41FE-AFE4-4D4255F85A03}"/>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가정 견적 계산 예제</a:t>
            </a:r>
          </a:p>
        </p:txBody>
      </p:sp>
      <p:sp>
        <p:nvSpPr>
          <p:cNvPr id="3" name="">
            <a:extLst>
              <a:ext uri="{FF2B5EF4-FFF2-40B4-BE49-F238E27FC236}">
                <ns2:creationId id="{38749C3F-A922-4BB8-98D7-0802EE85E2BA}"/>
              </a:ext>
            </a:extLst>
          </p:cNvPr>
          <p:cNvSpPr>
            <a:spLocks noGrp="1"/>
          </p:cNvSpPr>
          <p:nvPr/>
        </p:nvSpPr>
        <p:spPr>
          <a:xfrm>
            <a:off x="685800" y="1809750"/>
            <a:ext cx="10820400" cy="2542794"/>
          </a:xfrm>
          <a:prstGeom prst="rect">
            <a:avLst/>
          </a:prstGeom>
          <a:solidFill>
            <a:srgbClr val="F1F6F5"/>
          </a:solidFill>
          <a:ln w="0">
            <a:noFill/>
          </a:ln>
        </p:spPr>
      </p:sp>
      <p:sp>
        <p:nvSpPr>
          <p:cNvPr id="4" name="">
            <a:extLst>
              <a:ext uri="{FF2B5EF4-FFF2-40B4-BE49-F238E27FC236}">
                <ns2:creationId id="{0C344A18-755D-4CDF-B6C5-71C2700255FF}"/>
              </a:ext>
            </a:extLst>
          </p:cNvPr>
          <p:cNvSpPr>
            <a:spLocks noGrp="1"/>
          </p:cNvSpPr>
          <p:nvPr/>
        </p:nvSpPr>
        <p:spPr>
          <a:xfrm>
            <a:off x="828675" y="1971675"/>
            <a:ext cx="361950" cy="316992"/>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01</a:t>
            </a:r>
          </a:p>
        </p:txBody>
      </p:sp>
      <p:sp>
        <p:nvSpPr>
          <p:cNvPr id="5" name="">
            <a:extLst>
              <a:ext uri="{FF2B5EF4-FFF2-40B4-BE49-F238E27FC236}">
                <ns2:creationId id="{C36D3B4F-39AF-4046-A662-64F2F5824721}"/>
              </a:ext>
            </a:extLst>
          </p:cNvPr>
          <p:cNvSpPr>
            <a:spLocks noGrp="1"/>
          </p:cNvSpPr>
          <p:nvPr/>
        </p:nvSpPr>
        <p:spPr>
          <a:xfrm>
            <a:off x="1276350" y="1933575"/>
            <a:ext cx="10096500" cy="374142"/>
          </a:xfrm>
          <a:prstGeom prst="rect">
            <a:avLst/>
          </a:prstGeom>
          <a:noFill/>
          <a:ln w="0">
            <a:noFill/>
          </a:ln>
        </p:spPr>
        <p:txBody>
          <a:bodyPr wrap="none" lIns="0" tIns="0" rIns="0" bIns="0">
            <a:noAutofit/>
          </a:bodyPr>
          <a:lstStyle/>
          <a:p>
            <a:pPr>
              <a:defRPr sz="1950" b="0">
                <a:solidFill>
                  <a:srgbClr val="172F39"/>
                </a:solidFill>
                <a:latin typeface="Consolas"/>
                <a:ea typeface="Consolas"/>
                <a:cs typeface="Consolas"/>
              </a:defRPr>
            </a:pPr>
            <a:r>
              <a:t>hours = 12</a:t>
            </a:r>
          </a:p>
        </p:txBody>
      </p:sp>
      <p:sp>
        <p:nvSpPr>
          <p:cNvPr id="6" name="">
            <a:extLst>
              <a:ext uri="{FF2B5EF4-FFF2-40B4-BE49-F238E27FC236}">
                <ns2:creationId id="{2F3F20B7-7AB6-421E-9F15-20EC579094EC}"/>
              </a:ext>
            </a:extLst>
          </p:cNvPr>
          <p:cNvSpPr>
            <a:spLocks noGrp="1"/>
          </p:cNvSpPr>
          <p:nvPr/>
        </p:nvSpPr>
        <p:spPr>
          <a:xfrm>
            <a:off x="828675" y="2288667"/>
            <a:ext cx="361950" cy="316992"/>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02</a:t>
            </a:r>
          </a:p>
        </p:txBody>
      </p:sp>
      <p:sp>
        <p:nvSpPr>
          <p:cNvPr id="7" name="">
            <a:extLst>
              <a:ext uri="{FF2B5EF4-FFF2-40B4-BE49-F238E27FC236}">
                <ns2:creationId id="{B6A0A5EB-0C28-4340-9805-8CD6BB9D82DE}"/>
              </a:ext>
            </a:extLst>
          </p:cNvPr>
          <p:cNvSpPr>
            <a:spLocks noGrp="1"/>
          </p:cNvSpPr>
          <p:nvPr/>
        </p:nvSpPr>
        <p:spPr>
          <a:xfrm>
            <a:off x="1276350" y="2250567"/>
            <a:ext cx="10096500" cy="374142"/>
          </a:xfrm>
          <a:prstGeom prst="rect">
            <a:avLst/>
          </a:prstGeom>
          <a:noFill/>
          <a:ln w="0">
            <a:noFill/>
          </a:ln>
        </p:spPr>
        <p:txBody>
          <a:bodyPr wrap="none" lIns="0" tIns="0" rIns="0" bIns="0">
            <a:noAutofit/>
          </a:bodyPr>
          <a:lstStyle/>
          <a:p>
            <a:pPr>
              <a:defRPr sz="1950" b="0">
                <a:solidFill>
                  <a:srgbClr val="172F39"/>
                </a:solidFill>
                <a:latin typeface="Consolas"/>
                <a:ea typeface="Consolas"/>
                <a:cs typeface="Consolas"/>
              </a:defRPr>
            </a:pPr>
            <a:r>
              <a:t>rate_won = 30000</a:t>
            </a:r>
          </a:p>
        </p:txBody>
      </p:sp>
      <p:sp>
        <p:nvSpPr>
          <p:cNvPr id="8" name="">
            <a:extLst>
              <a:ext uri="{FF2B5EF4-FFF2-40B4-BE49-F238E27FC236}">
                <ns2:creationId id="{56F70267-75FC-498E-A891-1C333C01C41A}"/>
              </a:ext>
            </a:extLst>
          </p:cNvPr>
          <p:cNvSpPr>
            <a:spLocks noGrp="1"/>
          </p:cNvSpPr>
          <p:nvPr/>
        </p:nvSpPr>
        <p:spPr>
          <a:xfrm>
            <a:off x="828675" y="2605659"/>
            <a:ext cx="361950" cy="316992"/>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03</a:t>
            </a:r>
          </a:p>
        </p:txBody>
      </p:sp>
      <p:sp>
        <p:nvSpPr>
          <p:cNvPr id="9" name="">
            <a:extLst>
              <a:ext uri="{FF2B5EF4-FFF2-40B4-BE49-F238E27FC236}">
                <ns2:creationId id="{DB7F60C1-A92F-4A04-9A88-6F8AE232B90D}"/>
              </a:ext>
            </a:extLst>
          </p:cNvPr>
          <p:cNvSpPr>
            <a:spLocks noGrp="1"/>
          </p:cNvSpPr>
          <p:nvPr/>
        </p:nvSpPr>
        <p:spPr>
          <a:xfrm>
            <a:off x="1276350" y="2567559"/>
            <a:ext cx="10096500" cy="374142"/>
          </a:xfrm>
          <a:prstGeom prst="rect">
            <a:avLst/>
          </a:prstGeom>
          <a:noFill/>
          <a:ln w="0">
            <a:noFill/>
          </a:ln>
        </p:spPr>
        <p:txBody>
          <a:bodyPr wrap="none" lIns="0" tIns="0" rIns="0" bIns="0">
            <a:noAutofit/>
          </a:bodyPr>
          <a:lstStyle/>
          <a:p>
            <a:pPr>
              <a:defRPr sz="1950" b="0">
                <a:solidFill>
                  <a:srgbClr val="172F39"/>
                </a:solidFill>
                <a:latin typeface="Consolas"/>
                <a:ea typeface="Consolas"/>
                <a:cs typeface="Consolas"/>
              </a:defRPr>
            </a:pPr>
            <a:r>
              <a:t>reserve_rate = 0.20</a:t>
            </a:r>
          </a:p>
        </p:txBody>
      </p:sp>
      <p:sp>
        <p:nvSpPr>
          <p:cNvPr id="10" name="">
            <a:extLst>
              <a:ext uri="{FF2B5EF4-FFF2-40B4-BE49-F238E27FC236}">
                <ns2:creationId id="{A97F594A-80AD-4FF3-968F-9A573952FA4C}"/>
              </a:ext>
            </a:extLst>
          </p:cNvPr>
          <p:cNvSpPr>
            <a:spLocks noGrp="1"/>
          </p:cNvSpPr>
          <p:nvPr/>
        </p:nvSpPr>
        <p:spPr>
          <a:xfrm>
            <a:off x="828675" y="2922651"/>
            <a:ext cx="361950" cy="316992"/>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04</a:t>
            </a:r>
          </a:p>
        </p:txBody>
      </p:sp>
      <p:sp>
        <p:nvSpPr>
          <p:cNvPr id="11" name="">
            <a:extLst>
              <a:ext uri="{FF2B5EF4-FFF2-40B4-BE49-F238E27FC236}">
                <ns2:creationId id="{4A39629A-918C-4C16-ABCC-78FC1772BCFD}"/>
              </a:ext>
            </a:extLst>
          </p:cNvPr>
          <p:cNvSpPr>
            <a:spLocks noGrp="1"/>
          </p:cNvSpPr>
          <p:nvPr/>
        </p:nvSpPr>
        <p:spPr>
          <a:xfrm>
            <a:off x="1276350" y="2884551"/>
            <a:ext cx="10096500" cy="374142"/>
          </a:xfrm>
          <a:prstGeom prst="rect">
            <a:avLst/>
          </a:prstGeom>
          <a:noFill/>
          <a:ln w="0">
            <a:noFill/>
          </a:ln>
        </p:spPr>
        <p:txBody>
          <a:bodyPr wrap="none" lIns="0" tIns="0" rIns="0" bIns="0">
            <a:noAutofit/>
          </a:bodyPr>
          <a:lstStyle/>
          <a:p>
            <a:pPr>
              <a:defRPr sz="1950" b="0">
                <a:solidFill>
                  <a:srgbClr val="172F39"/>
                </a:solidFill>
                <a:latin typeface="Consolas"/>
                <a:ea typeface="Consolas"/>
                <a:cs typeface="Consolas"/>
              </a:defRPr>
            </a:pPr>
            <a:r>
              <a:t>base_won = hours * rate_won</a:t>
            </a:r>
          </a:p>
        </p:txBody>
      </p:sp>
      <p:sp>
        <p:nvSpPr>
          <p:cNvPr id="12" name="">
            <a:extLst>
              <a:ext uri="{FF2B5EF4-FFF2-40B4-BE49-F238E27FC236}">
                <ns2:creationId id="{22629EBB-3C0E-424D-963E-C7B4D2A94A3E}"/>
              </a:ext>
            </a:extLst>
          </p:cNvPr>
          <p:cNvSpPr>
            <a:spLocks noGrp="1"/>
          </p:cNvSpPr>
          <p:nvPr/>
        </p:nvSpPr>
        <p:spPr>
          <a:xfrm>
            <a:off x="828675" y="3239643"/>
            <a:ext cx="361950" cy="316992"/>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05</a:t>
            </a:r>
          </a:p>
        </p:txBody>
      </p:sp>
      <p:sp>
        <p:nvSpPr>
          <p:cNvPr id="13" name="">
            <a:extLst>
              <a:ext uri="{FF2B5EF4-FFF2-40B4-BE49-F238E27FC236}">
                <ns2:creationId id="{0D9E00A8-AE06-41A1-8123-70044262C8FD}"/>
              </a:ext>
            </a:extLst>
          </p:cNvPr>
          <p:cNvSpPr>
            <a:spLocks noGrp="1"/>
          </p:cNvSpPr>
          <p:nvPr/>
        </p:nvSpPr>
        <p:spPr>
          <a:xfrm>
            <a:off x="1276350" y="3201543"/>
            <a:ext cx="10096500" cy="374142"/>
          </a:xfrm>
          <a:prstGeom prst="rect">
            <a:avLst/>
          </a:prstGeom>
          <a:noFill/>
          <a:ln w="0">
            <a:noFill/>
          </a:ln>
        </p:spPr>
        <p:txBody>
          <a:bodyPr wrap="none" lIns="0" tIns="0" rIns="0" bIns="0">
            <a:noAutofit/>
          </a:bodyPr>
          <a:lstStyle/>
          <a:p>
            <a:pPr>
              <a:defRPr sz="1950" b="0">
                <a:solidFill>
                  <a:srgbClr val="172F39"/>
                </a:solidFill>
                <a:latin typeface="Consolas"/>
                <a:ea typeface="Consolas"/>
                <a:cs typeface="Consolas"/>
              </a:defRPr>
            </a:pPr>
            <a:r>
              <a:t>reserve_won = base_won * reserve_rate</a:t>
            </a:r>
          </a:p>
        </p:txBody>
      </p:sp>
      <p:sp>
        <p:nvSpPr>
          <p:cNvPr id="14" name="">
            <a:extLst>
              <a:ext uri="{FF2B5EF4-FFF2-40B4-BE49-F238E27FC236}">
                <ns2:creationId id="{8C74367D-23A9-4163-AEE0-A7059E65F661}"/>
              </a:ext>
            </a:extLst>
          </p:cNvPr>
          <p:cNvSpPr>
            <a:spLocks noGrp="1"/>
          </p:cNvSpPr>
          <p:nvPr/>
        </p:nvSpPr>
        <p:spPr>
          <a:xfrm>
            <a:off x="828675" y="3556635"/>
            <a:ext cx="361950" cy="316992"/>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06</a:t>
            </a:r>
          </a:p>
        </p:txBody>
      </p:sp>
      <p:sp>
        <p:nvSpPr>
          <p:cNvPr id="15" name="">
            <a:extLst>
              <a:ext uri="{FF2B5EF4-FFF2-40B4-BE49-F238E27FC236}">
                <ns2:creationId id="{53FFFB3C-39C9-48A7-B7B3-8FEC9B455824}"/>
              </a:ext>
            </a:extLst>
          </p:cNvPr>
          <p:cNvSpPr>
            <a:spLocks noGrp="1"/>
          </p:cNvSpPr>
          <p:nvPr/>
        </p:nvSpPr>
        <p:spPr>
          <a:xfrm>
            <a:off x="1276350" y="3518535"/>
            <a:ext cx="10096500" cy="374142"/>
          </a:xfrm>
          <a:prstGeom prst="rect">
            <a:avLst/>
          </a:prstGeom>
          <a:noFill/>
          <a:ln w="0">
            <a:noFill/>
          </a:ln>
        </p:spPr>
        <p:txBody>
          <a:bodyPr wrap="none" lIns="0" tIns="0" rIns="0" bIns="0">
            <a:noAutofit/>
          </a:bodyPr>
          <a:lstStyle/>
          <a:p>
            <a:pPr>
              <a:defRPr sz="1950" b="0">
                <a:solidFill>
                  <a:srgbClr val="172F39"/>
                </a:solidFill>
                <a:latin typeface="Consolas"/>
                <a:ea typeface="Consolas"/>
                <a:cs typeface="Consolas"/>
              </a:defRPr>
            </a:pPr>
            <a:r>
              <a:t>total_won = base_won + reserve_won</a:t>
            </a:r>
          </a:p>
        </p:txBody>
      </p:sp>
      <p:sp>
        <p:nvSpPr>
          <p:cNvPr id="16" name="">
            <a:extLst>
              <a:ext uri="{FF2B5EF4-FFF2-40B4-BE49-F238E27FC236}">
                <ns2:creationId id="{7407724A-2162-472D-ABBE-CBFA0C80D5AF}"/>
              </a:ext>
            </a:extLst>
          </p:cNvPr>
          <p:cNvSpPr>
            <a:spLocks noGrp="1"/>
          </p:cNvSpPr>
          <p:nvPr/>
        </p:nvSpPr>
        <p:spPr>
          <a:xfrm>
            <a:off x="828675" y="3873627"/>
            <a:ext cx="361950" cy="316992"/>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07</a:t>
            </a:r>
          </a:p>
        </p:txBody>
      </p:sp>
      <p:sp>
        <p:nvSpPr>
          <p:cNvPr id="17" name="">
            <a:extLst>
              <a:ext uri="{FF2B5EF4-FFF2-40B4-BE49-F238E27FC236}">
                <ns2:creationId id="{59016C5D-8933-4F3A-AF32-A9FD296087E9}"/>
              </a:ext>
            </a:extLst>
          </p:cNvPr>
          <p:cNvSpPr>
            <a:spLocks noGrp="1"/>
          </p:cNvSpPr>
          <p:nvPr/>
        </p:nvSpPr>
        <p:spPr>
          <a:xfrm>
            <a:off x="1276350" y="3835527"/>
            <a:ext cx="10096500" cy="374142"/>
          </a:xfrm>
          <a:prstGeom prst="rect">
            <a:avLst/>
          </a:prstGeom>
          <a:noFill/>
          <a:ln w="0">
            <a:noFill/>
          </a:ln>
        </p:spPr>
        <p:txBody>
          <a:bodyPr wrap="none" lIns="0" tIns="0" rIns="0" bIns="0">
            <a:noAutofit/>
          </a:bodyPr>
          <a:lstStyle/>
          <a:p>
            <a:pPr>
              <a:defRPr sz="1950" b="0">
                <a:solidFill>
                  <a:srgbClr val="172F39"/>
                </a:solidFill>
                <a:latin typeface="Consolas"/>
                <a:ea typeface="Consolas"/>
                <a:cs typeface="Consolas"/>
              </a:defRPr>
            </a:pPr>
            <a:r>
              <a:t>print(round(total_won))</a:t>
            </a:r>
          </a:p>
        </p:txBody>
      </p:sp>
      <p:sp>
        <p:nvSpPr>
          <p:cNvPr id="18" name="">
            <a:extLst>
              <a:ext uri="{FF2B5EF4-FFF2-40B4-BE49-F238E27FC236}">
                <ns2:creationId id="{F13783FA-7C4F-4AAA-8B7E-48A86334D0BD}"/>
              </a:ext>
            </a:extLst>
          </p:cNvPr>
          <p:cNvSpPr>
            <a:spLocks noGrp="1"/>
          </p:cNvSpPr>
          <p:nvPr/>
        </p:nvSpPr>
        <p:spPr>
          <a:xfrm>
            <a:off x="685800" y="6172200"/>
            <a:ext cx="10820400" cy="9525"/>
          </a:xfrm>
          <a:prstGeom prst="rect">
            <a:avLst/>
          </a:prstGeom>
          <a:solidFill>
            <a:srgbClr val="D5DEDD"/>
          </a:solidFill>
          <a:ln w="0">
            <a:noFill/>
          </a:ln>
        </p:spPr>
      </p:sp>
      <p:sp>
        <p:nvSpPr>
          <p:cNvPr id="19" name="">
            <a:extLst>
              <a:ext uri="{FF2B5EF4-FFF2-40B4-BE49-F238E27FC236}">
                <ns2:creationId id="{B7E42CA2-5678-44BA-906C-7235EB3E4912}"/>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20" name="">
            <a:extLst>
              <a:ext uri="{FF2B5EF4-FFF2-40B4-BE49-F238E27FC236}">
                <ns2:creationId id="{13592241-845D-4649-8C49-F6834F15E291}"/>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21" name="">
            <a:extLst>
              <a:ext uri="{FF2B5EF4-FFF2-40B4-BE49-F238E27FC236}">
                <ns2:creationId id="{6F38C801-F38B-492F-801C-D8D734F9B6D2}"/>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22" name="">
            <a:extLst>
              <a:ext uri="{FF2B5EF4-FFF2-40B4-BE49-F238E27FC236}">
                <ns2:creationId id="{62239665-AB4B-414D-947F-3C90963BD97F}"/>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10/30   076</a:t>
            </a:r>
          </a:p>
        </p:txBody>
      </p:sp>
    </p:spTree>
    <p:extLst>
      <p:ext uri="{BB962C8B-B14F-4D97-AF65-F5344CB8AC3E}">
        <ns4:creationId val="1073197534"/>
      </p:ext>
    </p:extLst>
  </p:cSld>
</p:sld>
</file>

<file path=ppt/slides/slide77.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4" name="">
            <a:extLst>
              <a:ext uri="{FF2B5EF4-FFF2-40B4-BE49-F238E27FC236}">
                <ns2:creationId id="{3951D2ED-22D1-4D8D-89B2-72224788336B}"/>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5교시</a:t>
            </a:r>
          </a:p>
        </p:txBody>
      </p:sp>
      <p:sp>
        <p:nvSpPr>
          <p:cNvPr id="2" name="">
            <a:extLst>
              <a:ext uri="{FF2B5EF4-FFF2-40B4-BE49-F238E27FC236}">
                <ns2:creationId id="{D15881B1-A1EB-4F58-8A0E-2322FFC41F0E}"/>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코드의 줄별 역할</a:t>
            </a:r>
          </a:p>
        </p:txBody>
      </p:sp>
      <p:sp>
        <p:nvSpPr>
          <p:cNvPr id="3" name="">
            <a:extLst>
              <a:ext uri="{FF2B5EF4-FFF2-40B4-BE49-F238E27FC236}">
                <ns2:creationId id="{70DA12D1-F1AD-4F88-872E-60F721A1EFD3}"/>
              </a:ext>
            </a:extLst>
          </p:cNvPr>
          <p:cNvSpPr>
            <a:spLocks noGrp="1"/>
          </p:cNvSpPr>
          <p:nvPr/>
        </p:nvSpPr>
        <p:spPr>
          <a:xfrm>
            <a:off x="685800" y="1933575"/>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1~3행: 시간·시급·여유 비율을 정합니다.</a:t>
            </a:r>
          </a:p>
        </p:txBody>
      </p:sp>
      <p:sp>
        <p:nvSpPr>
          <p:cNvPr id="4" name="">
            <a:extLst>
              <a:ext uri="{FF2B5EF4-FFF2-40B4-BE49-F238E27FC236}">
                <ns2:creationId id="{409436A6-B136-4AEC-9545-EED224C26A44}"/>
              </a:ext>
            </a:extLst>
          </p:cNvPr>
          <p:cNvSpPr>
            <a:spLocks noGrp="1"/>
          </p:cNvSpPr>
          <p:nvPr/>
        </p:nvSpPr>
        <p:spPr>
          <a:xfrm>
            <a:off x="685800" y="2769870"/>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4~5행: 기본 비용과 여유를 계산합니다.</a:t>
            </a:r>
          </a:p>
        </p:txBody>
      </p:sp>
      <p:sp>
        <p:nvSpPr>
          <p:cNvPr id="5" name="">
            <a:extLst>
              <a:ext uri="{FF2B5EF4-FFF2-40B4-BE49-F238E27FC236}">
                <ns2:creationId id="{7C43DC7B-9D27-44EA-9DCC-A949798AEADD}"/>
              </a:ext>
            </a:extLst>
          </p:cNvPr>
          <p:cNvSpPr>
            <a:spLocks noGrp="1"/>
          </p:cNvSpPr>
          <p:nvPr/>
        </p:nvSpPr>
        <p:spPr>
          <a:xfrm>
            <a:off x="685800" y="3606165"/>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6행: 두 금액을 더합니다.</a:t>
            </a:r>
          </a:p>
        </p:txBody>
      </p:sp>
      <p:sp>
        <p:nvSpPr>
          <p:cNvPr id="6" name="">
            <a:extLst>
              <a:ext uri="{FF2B5EF4-FFF2-40B4-BE49-F238E27FC236}">
                <ns2:creationId id="{E14569DB-3BB2-4433-B9C6-E58957C7E9C0}"/>
              </a:ext>
            </a:extLst>
          </p:cNvPr>
          <p:cNvSpPr>
            <a:spLocks noGrp="1"/>
          </p:cNvSpPr>
          <p:nvPr/>
        </p:nvSpPr>
        <p:spPr>
          <a:xfrm>
            <a:off x="685800" y="4105275"/>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7행: 합계를 출력합니다.</a:t>
            </a:r>
          </a:p>
        </p:txBody>
      </p:sp>
      <p:sp>
        <p:nvSpPr>
          <p:cNvPr id="7" name="">
            <a:extLst>
              <a:ext uri="{FF2B5EF4-FFF2-40B4-BE49-F238E27FC236}">
                <ns2:creationId id="{14D5C903-F93C-4578-AF65-09C7E9287AFA}"/>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예제의 계산 결과</a:t>
            </a:r>
          </a:p>
        </p:txBody>
      </p:sp>
      <p:graphicFrame>
        <p:nvGraphicFramePr>
          <p:cNvPr id="21" name=""/>
          <p:cNvGraphicFramePr/>
          <p:nvPr/>
        </p:nvGraphicFramePr>
        <p:xfrm>
          <a:off x="6267450" y="2628900"/>
          <a:ext cx="5238750" cy="2057400"/>
        </p:xfrm>
        <a:graphic>
          <a:graphicData uri="http://schemas.openxmlformats.org/drawingml/2006/table">
            <a:tbl>
              <a:tblPr firstRow="1" bandRow="0"/>
              <a:tblGrid>
                <a:gridCol w="3227746"/>
                <a:gridCol w="2011004"/>
              </a:tblGrid>
              <a:tr h="514350">
                <a:tc>
                  <a:txBody>
                    <a:bodyPr wrap="square"/>
                    <a:lstStyle/>
                    <a:p>
                      <a:pPr>
                        <a:lnSpc>
                          <a:spcPct val="102000"/>
                        </a:lnSpc>
                        <a:buNone/>
                      </a:pPr>
                      <a:r>
                        <a:rPr sz="1875" b="1">
                          <a:solidFill>
                            <a:srgbClr val="172F39"/>
                          </a:solidFill>
                          <a:latin typeface="Noto Sans KR"/>
                          <a:ea typeface="Noto Sans KR"/>
                          <a:cs typeface="Noto Sans KR"/>
                        </a:rPr>
                        <a:t>계산</a:t>
                      </a:r>
                    </a:p>
                  </a:txBody>
                  <a:tcPr marL="114300" marR="114300" marT="76200" marB="76200" anchor="ctr">
                    <a:solidFill>
                      <a:srgbClr val="DCECE8"/>
                    </a:solidFill>
                  </a:tcPr>
                </a:tc>
                <a:tc>
                  <a:txBody>
                    <a:bodyPr wrap="square"/>
                    <a:lstStyle/>
                    <a:p>
                      <a:pPr>
                        <a:lnSpc>
                          <a:spcPct val="102000"/>
                        </a:lnSpc>
                        <a:buNone/>
                      </a:pPr>
                      <a:r>
                        <a:rPr sz="1875" b="1">
                          <a:solidFill>
                            <a:srgbClr val="172F39"/>
                          </a:solidFill>
                          <a:latin typeface="Noto Sans KR"/>
                          <a:ea typeface="Noto Sans KR"/>
                          <a:cs typeface="Noto Sans KR"/>
                        </a:rPr>
                        <a:t>금액(원)</a:t>
                      </a:r>
                    </a:p>
                  </a:txBody>
                  <a:tcPr marL="114300" marR="114300" marT="76200" marB="76200" anchor="ctr">
                    <a:solidFill>
                      <a:srgbClr val="DCECE8"/>
                    </a:solidFill>
                  </a:tcPr>
                </a:tc>
              </a:tr>
              <a:tr h="514350">
                <a:tc>
                  <a:txBody>
                    <a:bodyPr wrap="square"/>
                    <a:lstStyle/>
                    <a:p>
                      <a:pPr>
                        <a:lnSpc>
                          <a:spcPct val="102000"/>
                        </a:lnSpc>
                        <a:buNone/>
                      </a:pPr>
                      <a:r>
                        <a:rPr sz="1875" b="0">
                          <a:solidFill>
                            <a:srgbClr val="172F39"/>
                          </a:solidFill>
                          <a:latin typeface="Noto Sans KR"/>
                          <a:ea typeface="Noto Sans KR"/>
                          <a:cs typeface="Noto Sans KR"/>
                        </a:rPr>
                        <a:t>12시간 × 30,000원</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360,000</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360,000 × 0.20</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72,000</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360,000 + 72,000</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432,000</a:t>
                      </a:r>
                    </a:p>
                  </a:txBody>
                  <a:tcPr marL="114300" marR="114300" marT="76200" marB="76200" anchor="ctr">
                    <a:solidFill>
                      <a:srgbClr val="FFFFFF"/>
                    </a:solidFill>
                  </a:tcPr>
                </a:tc>
              </a:tr>
            </a:tbl>
          </a:graphicData>
        </a:graphic>
      </p:graphicFrame>
      <p:sp>
        <p:nvSpPr>
          <p:cNvPr id="9" name="">
            <a:extLst>
              <a:ext uri="{FF2B5EF4-FFF2-40B4-BE49-F238E27FC236}">
                <ns2:creationId id="{D22497AF-1892-4179-9B92-A1E9EC27D5BA}"/>
              </a:ext>
            </a:extLst>
          </p:cNvPr>
          <p:cNvSpPr>
            <a:spLocks noGrp="1"/>
          </p:cNvSpPr>
          <p:nvPr/>
        </p:nvSpPr>
        <p:spPr>
          <a:xfrm>
            <a:off x="685800" y="6172200"/>
            <a:ext cx="10820400" cy="9525"/>
          </a:xfrm>
          <a:prstGeom prst="rect">
            <a:avLst/>
          </a:prstGeom>
          <a:solidFill>
            <a:srgbClr val="D5DEDD"/>
          </a:solidFill>
          <a:ln w="0">
            <a:noFill/>
          </a:ln>
        </p:spPr>
      </p:sp>
      <p:sp>
        <p:nvSpPr>
          <p:cNvPr id="10" name="">
            <a:extLst>
              <a:ext uri="{FF2B5EF4-FFF2-40B4-BE49-F238E27FC236}">
                <ns2:creationId id="{032ACCB6-7D66-4973-B7DE-153FDFDF5755}"/>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1" name="">
            <a:extLst>
              <a:ext uri="{FF2B5EF4-FFF2-40B4-BE49-F238E27FC236}">
                <ns2:creationId id="{4D7F2A9B-42ED-4CFE-ABA6-922B1611491B}"/>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2" name="">
            <a:extLst>
              <a:ext uri="{FF2B5EF4-FFF2-40B4-BE49-F238E27FC236}">
                <ns2:creationId id="{3DC1B9CD-276B-44F5-807D-A466621565D1}"/>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3" name="">
            <a:extLst>
              <a:ext uri="{FF2B5EF4-FFF2-40B4-BE49-F238E27FC236}">
                <ns2:creationId id="{E90C7D48-AEEF-41BB-9F73-4D04088C866C}"/>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10/30   077</a:t>
            </a:r>
          </a:p>
        </p:txBody>
      </p:sp>
    </p:spTree>
    <p:extLst>
      <p:ext uri="{BB962C8B-B14F-4D97-AF65-F5344CB8AC3E}">
        <ns4:creationId val="1642986836"/>
      </p:ext>
    </p:extLst>
  </p:cSld>
</p:sld>
</file>

<file path=ppt/slides/slide78.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1" name="">
            <a:extLst>
              <a:ext uri="{FF2B5EF4-FFF2-40B4-BE49-F238E27FC236}">
                <ns2:creationId id="{2BF14368-01D9-49AC-9A96-61ACCEAA2867}"/>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5교시</a:t>
            </a:r>
          </a:p>
        </p:txBody>
      </p:sp>
      <p:sp>
        <p:nvSpPr>
          <p:cNvPr id="2" name="">
            <a:extLst>
              <a:ext uri="{FF2B5EF4-FFF2-40B4-BE49-F238E27FC236}">
                <ns2:creationId id="{0C3E9FE0-9D83-48B9-A763-D0678F90AA31}"/>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학생 파일과 실행 명령</a:t>
            </a:r>
          </a:p>
        </p:txBody>
      </p:sp>
      <p:sp>
        <p:nvSpPr>
          <p:cNvPr id="3" name="">
            <a:extLst>
              <a:ext uri="{FF2B5EF4-FFF2-40B4-BE49-F238E27FC236}">
                <ns2:creationId id="{AB944066-346A-4848-A7C1-B5AC57A1D18C}"/>
              </a:ext>
            </a:extLst>
          </p:cNvPr>
          <p:cNvSpPr>
            <a:spLocks noGrp="1"/>
          </p:cNvSpPr>
          <p:nvPr/>
        </p:nvSpPr>
        <p:spPr>
          <a:xfrm>
            <a:off x="685800" y="1990725"/>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현재 폴더: 압축을 푼 course</a:t>
            </a:r>
          </a:p>
        </p:txBody>
      </p:sp>
      <p:sp>
        <p:nvSpPr>
          <p:cNvPr id="4" name="">
            <a:extLst>
              <a:ext uri="{FF2B5EF4-FFF2-40B4-BE49-F238E27FC236}">
                <ns2:creationId id="{252E82EF-C607-4465-9BCA-912D67F6DD6A}"/>
              </a:ext>
            </a:extLst>
          </p:cNvPr>
          <p:cNvSpPr>
            <a:spLocks noGrp="1"/>
          </p:cNvSpPr>
          <p:nvPr/>
        </p:nvSpPr>
        <p:spPr>
          <a:xfrm>
            <a:off x="685800" y="2534793"/>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학생 파일: work/03_estimate.py</a:t>
            </a:r>
          </a:p>
        </p:txBody>
      </p:sp>
      <p:sp>
        <p:nvSpPr>
          <p:cNvPr id="5" name="">
            <a:extLst>
              <a:ext uri="{FF2B5EF4-FFF2-40B4-BE49-F238E27FC236}">
                <ns2:creationId id="{732DC3F4-9A97-44C1-821B-366AA7B27DB9}"/>
              </a:ext>
            </a:extLst>
          </p:cNvPr>
          <p:cNvSpPr>
            <a:spLocks noGrp="1"/>
          </p:cNvSpPr>
          <p:nvPr/>
        </p:nvSpPr>
        <p:spPr>
          <a:xfrm>
            <a:off x="685800" y="3078861"/>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python -X utf8 work/03_estimate.py</a:t>
            </a:r>
          </a:p>
        </p:txBody>
      </p:sp>
      <p:sp>
        <p:nvSpPr>
          <p:cNvPr id="6" name="">
            <a:extLst>
              <a:ext uri="{FF2B5EF4-FFF2-40B4-BE49-F238E27FC236}">
                <ns2:creationId id="{13BE172E-5056-4EEF-B4A3-B33DAEC66D75}"/>
              </a:ext>
            </a:extLst>
          </p:cNvPr>
          <p:cNvSpPr>
            <a:spLocks noGrp="1"/>
          </p:cNvSpPr>
          <p:nvPr/>
        </p:nvSpPr>
        <p:spPr>
          <a:xfrm>
            <a:off x="685800" y="6172200"/>
            <a:ext cx="10820400" cy="9525"/>
          </a:xfrm>
          <a:prstGeom prst="rect">
            <a:avLst/>
          </a:prstGeom>
          <a:solidFill>
            <a:srgbClr val="D5DEDD"/>
          </a:solidFill>
          <a:ln w="0">
            <a:noFill/>
          </a:ln>
        </p:spPr>
      </p:sp>
      <p:sp>
        <p:nvSpPr>
          <p:cNvPr id="7" name="">
            <a:extLst>
              <a:ext uri="{FF2B5EF4-FFF2-40B4-BE49-F238E27FC236}">
                <ns2:creationId id="{9668AD4D-58E9-4273-A540-B0366A9528E8}"/>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8" name="">
            <a:extLst>
              <a:ext uri="{FF2B5EF4-FFF2-40B4-BE49-F238E27FC236}">
                <ns2:creationId id="{EE628AF5-9626-46A2-856F-1695057A8207}"/>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9" name="">
            <a:extLst>
              <a:ext uri="{FF2B5EF4-FFF2-40B4-BE49-F238E27FC236}">
                <ns2:creationId id="{37E40285-D79E-4E54-A735-EDF0A10B2F99}"/>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0" name="">
            <a:extLst>
              <a:ext uri="{FF2B5EF4-FFF2-40B4-BE49-F238E27FC236}">
                <ns2:creationId id="{D13F937F-61DB-4DAD-9168-C0AE5566615E}"/>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10/30   078</a:t>
            </a:r>
          </a:p>
        </p:txBody>
      </p:sp>
    </p:spTree>
    <p:extLst>
      <p:ext uri="{BB962C8B-B14F-4D97-AF65-F5344CB8AC3E}">
        <ns4:creationId val="874492883"/>
      </p:ext>
    </p:extLst>
  </p:cSld>
</p:sld>
</file>

<file path=ppt/slides/slide79.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1" name="">
            <a:extLst>
              <a:ext uri="{FF2B5EF4-FFF2-40B4-BE49-F238E27FC236}">
                <ns2:creationId id="{2B06021E-A2C3-4F21-9528-2733B1D62C9D}"/>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5교시</a:t>
            </a:r>
          </a:p>
        </p:txBody>
      </p:sp>
      <p:sp>
        <p:nvSpPr>
          <p:cNvPr id="2" name="">
            <a:extLst>
              <a:ext uri="{FF2B5EF4-FFF2-40B4-BE49-F238E27FC236}">
                <ns2:creationId id="{E377A744-6FF0-4C0B-AA5E-3F6925B09DA3}"/>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예상 출력</a:t>
            </a:r>
          </a:p>
        </p:txBody>
      </p:sp>
      <p:sp>
        <p:nvSpPr>
          <p:cNvPr id="3" name="">
            <a:extLst>
              <a:ext uri="{FF2B5EF4-FFF2-40B4-BE49-F238E27FC236}">
                <ns2:creationId id="{5D95CB59-B6D1-4A42-B39F-DDC2B8E97857}"/>
              </a:ext>
            </a:extLst>
          </p:cNvPr>
          <p:cNvSpPr>
            <a:spLocks noGrp="1"/>
          </p:cNvSpPr>
          <p:nvPr/>
        </p:nvSpPr>
        <p:spPr>
          <a:xfrm>
            <a:off x="685800" y="1990725"/>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기본 360,000원 + 여유 72,000원</a:t>
            </a:r>
          </a:p>
        </p:txBody>
      </p:sp>
      <p:sp>
        <p:nvSpPr>
          <p:cNvPr id="4" name="">
            <a:extLst>
              <a:ext uri="{FF2B5EF4-FFF2-40B4-BE49-F238E27FC236}">
                <ns2:creationId id="{A659818E-2F86-41BF-9473-037333101916}"/>
              </a:ext>
            </a:extLst>
          </p:cNvPr>
          <p:cNvSpPr>
            <a:spLocks noGrp="1"/>
          </p:cNvSpPr>
          <p:nvPr/>
        </p:nvSpPr>
        <p:spPr>
          <a:xfrm>
            <a:off x="685800" y="2534793"/>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합계 432,000원</a:t>
            </a:r>
          </a:p>
        </p:txBody>
      </p:sp>
      <p:sp>
        <p:nvSpPr>
          <p:cNvPr id="5" name="">
            <a:extLst>
              <a:ext uri="{FF2B5EF4-FFF2-40B4-BE49-F238E27FC236}">
                <ns2:creationId id="{C8913F94-509E-4119-AAF9-B5AFBFCE2190}"/>
              </a:ext>
            </a:extLst>
          </p:cNvPr>
          <p:cNvSpPr>
            <a:spLocks noGrp="1"/>
          </p:cNvSpPr>
          <p:nvPr/>
        </p:nvSpPr>
        <p:spPr>
          <a:xfrm>
            <a:off x="685800" y="3078861"/>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실제 계약 가격이 아닌 계산 연습입니다.</a:t>
            </a:r>
          </a:p>
        </p:txBody>
      </p:sp>
      <p:sp>
        <p:nvSpPr>
          <p:cNvPr id="6" name="">
            <a:extLst>
              <a:ext uri="{FF2B5EF4-FFF2-40B4-BE49-F238E27FC236}">
                <ns2:creationId id="{CA2852DC-CDE5-44D5-BD06-1FA830B817B9}"/>
              </a:ext>
            </a:extLst>
          </p:cNvPr>
          <p:cNvSpPr>
            <a:spLocks noGrp="1"/>
          </p:cNvSpPr>
          <p:nvPr/>
        </p:nvSpPr>
        <p:spPr>
          <a:xfrm>
            <a:off x="685800" y="6172200"/>
            <a:ext cx="10820400" cy="9525"/>
          </a:xfrm>
          <a:prstGeom prst="rect">
            <a:avLst/>
          </a:prstGeom>
          <a:solidFill>
            <a:srgbClr val="D5DEDD"/>
          </a:solidFill>
          <a:ln w="0">
            <a:noFill/>
          </a:ln>
        </p:spPr>
      </p:sp>
      <p:sp>
        <p:nvSpPr>
          <p:cNvPr id="7" name="">
            <a:extLst>
              <a:ext uri="{FF2B5EF4-FFF2-40B4-BE49-F238E27FC236}">
                <ns2:creationId id="{260DE07C-36C0-4400-A2F0-70EE7AD8D582}"/>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8" name="">
            <a:extLst>
              <a:ext uri="{FF2B5EF4-FFF2-40B4-BE49-F238E27FC236}">
                <ns2:creationId id="{E67E90D7-C722-400E-A60B-999F59881EFC}"/>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9" name="">
            <a:extLst>
              <a:ext uri="{FF2B5EF4-FFF2-40B4-BE49-F238E27FC236}">
                <ns2:creationId id="{9E85E089-041C-4656-8CA5-997CB7FBA58F}"/>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0" name="">
            <a:extLst>
              <a:ext uri="{FF2B5EF4-FFF2-40B4-BE49-F238E27FC236}">
                <ns2:creationId id="{0D9D05A7-503E-4C8A-88CF-6C7E3BB2D6AE}"/>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10/30   079</a:t>
            </a:r>
          </a:p>
        </p:txBody>
      </p:sp>
    </p:spTree>
    <p:extLst>
      <p:ext uri="{BB962C8B-B14F-4D97-AF65-F5344CB8AC3E}">
        <ns4:creationId val="1132404268"/>
      </p:ext>
    </p:extLst>
  </p:cSld>
</p:sld>
</file>

<file path=ppt/slides/slide80.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0" name="">
            <a:extLst>
              <a:ext uri="{FF2B5EF4-FFF2-40B4-BE49-F238E27FC236}">
                <ns2:creationId id="{06F8079B-C292-4879-B769-219BD32DA8E2}"/>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5교시</a:t>
            </a:r>
          </a:p>
        </p:txBody>
      </p:sp>
      <p:sp>
        <p:nvSpPr>
          <p:cNvPr id="2" name="">
            <a:extLst>
              <a:ext uri="{FF2B5EF4-FFF2-40B4-BE49-F238E27FC236}">
                <ns2:creationId id="{EC9F531F-2AEB-4680-98EA-8947F425B4D5}"/>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연습 문제</a:t>
            </a:r>
          </a:p>
        </p:txBody>
      </p:sp>
      <p:sp>
        <p:nvSpPr>
          <p:cNvPr id="3" name="">
            <a:extLst>
              <a:ext uri="{FF2B5EF4-FFF2-40B4-BE49-F238E27FC236}">
                <ns2:creationId id="{E163D72A-8D0F-4B26-B998-5A6D79797673}"/>
              </a:ext>
            </a:extLst>
          </p:cNvPr>
          <p:cNvSpPr>
            <a:spLocks noGrp="1"/>
          </p:cNvSpPr>
          <p:nvPr/>
        </p:nvSpPr>
        <p:spPr>
          <a:xfrm>
            <a:off x="685800" y="1990725"/>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작업 8시간 · 가정 시급 25,000원</a:t>
            </a:r>
          </a:p>
        </p:txBody>
      </p:sp>
      <p:sp>
        <p:nvSpPr>
          <p:cNvPr id="4" name="">
            <a:extLst>
              <a:ext uri="{FF2B5EF4-FFF2-40B4-BE49-F238E27FC236}">
                <ns2:creationId id="{F4DB7E2D-51E1-4B17-9210-24AF4C4B3F9C}"/>
              </a:ext>
            </a:extLst>
          </p:cNvPr>
          <p:cNvSpPr>
            <a:spLocks noGrp="1"/>
          </p:cNvSpPr>
          <p:nvPr/>
        </p:nvSpPr>
        <p:spPr>
          <a:xfrm>
            <a:off x="685800" y="2557272"/>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여유 15%의 합계를 계산하세요.</a:t>
            </a:r>
          </a:p>
        </p:txBody>
      </p:sp>
      <p:sp>
        <p:nvSpPr>
          <p:cNvPr id="5" name="">
            <a:extLst>
              <a:ext uri="{FF2B5EF4-FFF2-40B4-BE49-F238E27FC236}">
                <ns2:creationId id="{BEA5F34F-3B6E-4130-8F28-B52DD96A1975}"/>
              </a:ext>
            </a:extLst>
          </p:cNvPr>
          <p:cNvSpPr>
            <a:spLocks noGrp="1"/>
          </p:cNvSpPr>
          <p:nvPr/>
        </p:nvSpPr>
        <p:spPr>
          <a:xfrm>
            <a:off x="685800" y="6172200"/>
            <a:ext cx="10820400" cy="9525"/>
          </a:xfrm>
          <a:prstGeom prst="rect">
            <a:avLst/>
          </a:prstGeom>
          <a:solidFill>
            <a:srgbClr val="D5DEDD"/>
          </a:solidFill>
          <a:ln w="0">
            <a:noFill/>
          </a:ln>
        </p:spPr>
      </p:sp>
      <p:sp>
        <p:nvSpPr>
          <p:cNvPr id="6" name="">
            <a:extLst>
              <a:ext uri="{FF2B5EF4-FFF2-40B4-BE49-F238E27FC236}">
                <ns2:creationId id="{EDE71EB0-A695-4FE7-81DE-5DB367392FF1}"/>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7" name="">
            <a:extLst>
              <a:ext uri="{FF2B5EF4-FFF2-40B4-BE49-F238E27FC236}">
                <ns2:creationId id="{1278BB48-111B-40DA-BE93-52C2451E8EDF}"/>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8" name="">
            <a:extLst>
              <a:ext uri="{FF2B5EF4-FFF2-40B4-BE49-F238E27FC236}">
                <ns2:creationId id="{C832847A-D8E6-4E47-912D-9A0ACE2AA495}"/>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9" name="">
            <a:extLst>
              <a:ext uri="{FF2B5EF4-FFF2-40B4-BE49-F238E27FC236}">
                <ns2:creationId id="{3B92071E-BA64-457F-8DFC-953779B5B865}"/>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10/30   080</a:t>
            </a:r>
          </a:p>
        </p:txBody>
      </p:sp>
    </p:spTree>
    <p:extLst>
      <p:ext uri="{BB962C8B-B14F-4D97-AF65-F5344CB8AC3E}">
        <ns4:creationId val="1649025187"/>
      </p:ext>
    </p:extLst>
  </p:cSld>
</p:sld>
</file>

<file path=ppt/slides/slide81.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1" name="">
            <a:extLst>
              <a:ext uri="{FF2B5EF4-FFF2-40B4-BE49-F238E27FC236}">
                <ns2:creationId id="{90452145-EE48-4ABA-BC5E-C70891F0CA6E}"/>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5교시</a:t>
            </a:r>
          </a:p>
        </p:txBody>
      </p:sp>
      <p:sp>
        <p:nvSpPr>
          <p:cNvPr id="2" name="">
            <a:extLst>
              <a:ext uri="{FF2B5EF4-FFF2-40B4-BE49-F238E27FC236}">
                <ns2:creationId id="{55599523-2F56-4DF0-96DB-6040B48361C1}"/>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풀이</a:t>
            </a:r>
          </a:p>
        </p:txBody>
      </p:sp>
      <p:sp>
        <p:nvSpPr>
          <p:cNvPr id="3" name="">
            <a:extLst>
              <a:ext uri="{FF2B5EF4-FFF2-40B4-BE49-F238E27FC236}">
                <ns2:creationId id="{73A14E61-B7E0-4CB3-82DE-1BABAF0CBD94}"/>
              </a:ext>
            </a:extLst>
          </p:cNvPr>
          <p:cNvSpPr>
            <a:spLocks noGrp="1"/>
          </p:cNvSpPr>
          <p:nvPr/>
        </p:nvSpPr>
        <p:spPr>
          <a:xfrm>
            <a:off x="685800" y="1990725"/>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기본 200,000원 + 여유 30,000원</a:t>
            </a:r>
          </a:p>
        </p:txBody>
      </p:sp>
      <p:sp>
        <p:nvSpPr>
          <p:cNvPr id="4" name="">
            <a:extLst>
              <a:ext uri="{FF2B5EF4-FFF2-40B4-BE49-F238E27FC236}">
                <ns2:creationId id="{F3488ACA-8326-4E37-A71B-919224192A2A}"/>
              </a:ext>
            </a:extLst>
          </p:cNvPr>
          <p:cNvSpPr>
            <a:spLocks noGrp="1"/>
          </p:cNvSpPr>
          <p:nvPr/>
        </p:nvSpPr>
        <p:spPr>
          <a:xfrm>
            <a:off x="685800" y="2534793"/>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합계 230,000원</a:t>
            </a:r>
          </a:p>
        </p:txBody>
      </p:sp>
      <p:sp>
        <p:nvSpPr>
          <p:cNvPr id="5" name="">
            <a:extLst>
              <a:ext uri="{FF2B5EF4-FFF2-40B4-BE49-F238E27FC236}">
                <ns2:creationId id="{6A3CFAFF-010D-41D5-8907-49DA558E28B4}"/>
              </a:ext>
            </a:extLst>
          </p:cNvPr>
          <p:cNvSpPr>
            <a:spLocks noGrp="1"/>
          </p:cNvSpPr>
          <p:nvPr/>
        </p:nvSpPr>
        <p:spPr>
          <a:xfrm>
            <a:off x="685800" y="3078861"/>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추가 비용과 수정할 수 있는 범위도 적으세요.</a:t>
            </a:r>
          </a:p>
        </p:txBody>
      </p:sp>
      <p:sp>
        <p:nvSpPr>
          <p:cNvPr id="6" name="">
            <a:extLst>
              <a:ext uri="{FF2B5EF4-FFF2-40B4-BE49-F238E27FC236}">
                <ns2:creationId id="{1B33695F-E1F5-4AAC-94F7-CE8462B5DC9D}"/>
              </a:ext>
            </a:extLst>
          </p:cNvPr>
          <p:cNvSpPr>
            <a:spLocks noGrp="1"/>
          </p:cNvSpPr>
          <p:nvPr/>
        </p:nvSpPr>
        <p:spPr>
          <a:xfrm>
            <a:off x="685800" y="6172200"/>
            <a:ext cx="10820400" cy="9525"/>
          </a:xfrm>
          <a:prstGeom prst="rect">
            <a:avLst/>
          </a:prstGeom>
          <a:solidFill>
            <a:srgbClr val="D5DEDD"/>
          </a:solidFill>
          <a:ln w="0">
            <a:noFill/>
          </a:ln>
        </p:spPr>
      </p:sp>
      <p:sp>
        <p:nvSpPr>
          <p:cNvPr id="7" name="">
            <a:extLst>
              <a:ext uri="{FF2B5EF4-FFF2-40B4-BE49-F238E27FC236}">
                <ns2:creationId id="{C5CF3A62-0C89-470F-92C7-0F865A3A44B7}"/>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8" name="">
            <a:extLst>
              <a:ext uri="{FF2B5EF4-FFF2-40B4-BE49-F238E27FC236}">
                <ns2:creationId id="{2CE262CC-808D-4C2C-93EB-FBA6B7B35DCE}"/>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9" name="">
            <a:extLst>
              <a:ext uri="{FF2B5EF4-FFF2-40B4-BE49-F238E27FC236}">
                <ns2:creationId id="{5BBD768D-C0B4-4C40-8AB6-F081B5E8C34E}"/>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0" name="">
            <a:extLst>
              <a:ext uri="{FF2B5EF4-FFF2-40B4-BE49-F238E27FC236}">
                <ns2:creationId id="{D7C4939A-1436-462A-8E14-E14A9FD4571C}"/>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10/30   081</a:t>
            </a:r>
          </a:p>
        </p:txBody>
      </p:sp>
    </p:spTree>
    <p:extLst>
      <p:ext uri="{BB962C8B-B14F-4D97-AF65-F5344CB8AC3E}">
        <ns4:creationId val="642537474"/>
      </p:ext>
    </p:extLst>
  </p:cSld>
</p:sld>
</file>

<file path=ppt/slides/slide82.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0" name="">
            <a:extLst>
              <a:ext uri="{FF2B5EF4-FFF2-40B4-BE49-F238E27FC236}">
                <ns2:creationId id="{77E0E930-0315-4B7B-878B-F279C2C4CB3C}"/>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5교시</a:t>
            </a:r>
          </a:p>
        </p:txBody>
      </p:sp>
      <p:sp>
        <p:nvSpPr>
          <p:cNvPr id="2" name="">
            <a:extLst>
              <a:ext uri="{FF2B5EF4-FFF2-40B4-BE49-F238E27FC236}">
                <ns2:creationId id="{D94967B5-2ECD-432E-AB76-CA5C6004E92B}"/>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조건을 바꿔 보기</a:t>
            </a:r>
          </a:p>
        </p:txBody>
      </p:sp>
      <p:sp>
        <p:nvSpPr>
          <p:cNvPr id="3" name="">
            <a:extLst>
              <a:ext uri="{FF2B5EF4-FFF2-40B4-BE49-F238E27FC236}">
                <ns2:creationId id="{4B2AD366-815B-4EAC-937F-A7B5F3C9CBC7}"/>
              </a:ext>
            </a:extLst>
          </p:cNvPr>
          <p:cNvSpPr>
            <a:spLocks noGrp="1"/>
          </p:cNvSpPr>
          <p:nvPr/>
        </p:nvSpPr>
        <p:spPr>
          <a:xfrm>
            <a:off x="685800" y="1990725"/>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참고 코드의 hours를 8로 바꿉니다.</a:t>
            </a:r>
          </a:p>
        </p:txBody>
      </p:sp>
      <p:sp>
        <p:nvSpPr>
          <p:cNvPr id="4" name="">
            <a:extLst>
              <a:ext uri="{FF2B5EF4-FFF2-40B4-BE49-F238E27FC236}">
                <ns2:creationId id="{ECF3DFC4-EBD3-4F1E-977B-1947488B8A39}"/>
              </a:ext>
            </a:extLst>
          </p:cNvPr>
          <p:cNvSpPr>
            <a:spLocks noGrp="1"/>
          </p:cNvSpPr>
          <p:nvPr/>
        </p:nvSpPr>
        <p:spPr>
          <a:xfrm>
            <a:off x="685800" y="2557272"/>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시급·여유 유지 시 합계 288,000원입니다.</a:t>
            </a:r>
          </a:p>
        </p:txBody>
      </p:sp>
      <p:sp>
        <p:nvSpPr>
          <p:cNvPr id="5" name="">
            <a:extLst>
              <a:ext uri="{FF2B5EF4-FFF2-40B4-BE49-F238E27FC236}">
                <ns2:creationId id="{74A796D4-9936-4315-A9D0-A89820FDF25A}"/>
              </a:ext>
            </a:extLst>
          </p:cNvPr>
          <p:cNvSpPr>
            <a:spLocks noGrp="1"/>
          </p:cNvSpPr>
          <p:nvPr/>
        </p:nvSpPr>
        <p:spPr>
          <a:xfrm>
            <a:off x="685800" y="6172200"/>
            <a:ext cx="10820400" cy="9525"/>
          </a:xfrm>
          <a:prstGeom prst="rect">
            <a:avLst/>
          </a:prstGeom>
          <a:solidFill>
            <a:srgbClr val="D5DEDD"/>
          </a:solidFill>
          <a:ln w="0">
            <a:noFill/>
          </a:ln>
        </p:spPr>
      </p:sp>
      <p:sp>
        <p:nvSpPr>
          <p:cNvPr id="6" name="">
            <a:extLst>
              <a:ext uri="{FF2B5EF4-FFF2-40B4-BE49-F238E27FC236}">
                <ns2:creationId id="{503B79FE-8586-4A82-9C46-B0AA70DC2FE7}"/>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7" name="">
            <a:extLst>
              <a:ext uri="{FF2B5EF4-FFF2-40B4-BE49-F238E27FC236}">
                <ns2:creationId id="{BA377CE1-8DE2-4B01-9B15-A707FBF41D59}"/>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8" name="">
            <a:extLst>
              <a:ext uri="{FF2B5EF4-FFF2-40B4-BE49-F238E27FC236}">
                <ns2:creationId id="{E3524F40-9323-49F1-BD36-C4E34A9AD684}"/>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9" name="">
            <a:extLst>
              <a:ext uri="{FF2B5EF4-FFF2-40B4-BE49-F238E27FC236}">
                <ns2:creationId id="{08EE7768-CF03-475B-9AA6-3C93C1DB9C72}"/>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10/30   082</a:t>
            </a:r>
          </a:p>
        </p:txBody>
      </p:sp>
    </p:spTree>
    <p:extLst>
      <p:ext uri="{BB962C8B-B14F-4D97-AF65-F5344CB8AC3E}">
        <ns4:creationId val="287351210"/>
      </p:ext>
    </p:extLst>
  </p:cSld>
</p:sld>
</file>

<file path=ppt/slides/slide83.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0" name="">
            <a:extLst>
              <a:ext uri="{FF2B5EF4-FFF2-40B4-BE49-F238E27FC236}">
                <ns2:creationId id="{F3CF2A10-8E37-43CF-B287-49352BFBDF55}"/>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5교시</a:t>
            </a:r>
          </a:p>
        </p:txBody>
      </p:sp>
      <p:sp>
        <p:nvSpPr>
          <p:cNvPr id="2" name="">
            <a:extLst>
              <a:ext uri="{FF2B5EF4-FFF2-40B4-BE49-F238E27FC236}">
                <ns2:creationId id="{AD6A66BC-3720-4265-A66E-BAF018ACF726}"/>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잘못 쓰기 쉬운 내용</a:t>
            </a:r>
          </a:p>
        </p:txBody>
      </p:sp>
      <p:sp>
        <p:nvSpPr>
          <p:cNvPr id="3" name="">
            <a:extLst>
              <a:ext uri="{FF2B5EF4-FFF2-40B4-BE49-F238E27FC236}">
                <ns2:creationId id="{1BA60B8F-C0BC-443F-A3A7-33ED6C6845E8}"/>
              </a:ext>
            </a:extLst>
          </p:cNvPr>
          <p:cNvSpPr>
            <a:spLocks noGrp="1"/>
          </p:cNvSpPr>
          <p:nvPr/>
        </p:nvSpPr>
        <p:spPr>
          <a:xfrm>
            <a:off x="685800" y="1990725"/>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20%는 20이 아니라 0.20입니다.</a:t>
            </a:r>
          </a:p>
        </p:txBody>
      </p:sp>
      <p:sp>
        <p:nvSpPr>
          <p:cNvPr id="4" name="">
            <a:extLst>
              <a:ext uri="{FF2B5EF4-FFF2-40B4-BE49-F238E27FC236}">
                <ns2:creationId id="{19A35B81-CE91-4020-A2A5-0C628A3CF13E}"/>
              </a:ext>
            </a:extLst>
          </p:cNvPr>
          <p:cNvSpPr>
            <a:spLocks noGrp="1"/>
          </p:cNvSpPr>
          <p:nvPr/>
        </p:nvSpPr>
        <p:spPr>
          <a:xfrm>
            <a:off x="685800" y="2534793"/>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기능을 추가하면 오류 처리, 시험, 문서 수정 시간도 다시 계산합니다.</a:t>
            </a:r>
          </a:p>
        </p:txBody>
      </p:sp>
      <p:sp>
        <p:nvSpPr>
          <p:cNvPr id="5" name="">
            <a:extLst>
              <a:ext uri="{FF2B5EF4-FFF2-40B4-BE49-F238E27FC236}">
                <ns2:creationId id="{CC9D5D7A-BC23-4A1A-B374-94B975B7C456}"/>
              </a:ext>
            </a:extLst>
          </p:cNvPr>
          <p:cNvSpPr>
            <a:spLocks noGrp="1"/>
          </p:cNvSpPr>
          <p:nvPr/>
        </p:nvSpPr>
        <p:spPr>
          <a:xfrm>
            <a:off x="685800" y="6172200"/>
            <a:ext cx="10820400" cy="9525"/>
          </a:xfrm>
          <a:prstGeom prst="rect">
            <a:avLst/>
          </a:prstGeom>
          <a:solidFill>
            <a:srgbClr val="D5DEDD"/>
          </a:solidFill>
          <a:ln w="0">
            <a:noFill/>
          </a:ln>
        </p:spPr>
      </p:sp>
      <p:sp>
        <p:nvSpPr>
          <p:cNvPr id="6" name="">
            <a:extLst>
              <a:ext uri="{FF2B5EF4-FFF2-40B4-BE49-F238E27FC236}">
                <ns2:creationId id="{6CC6633A-30FD-4603-A5DE-03E6C00248B6}"/>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7" name="">
            <a:extLst>
              <a:ext uri="{FF2B5EF4-FFF2-40B4-BE49-F238E27FC236}">
                <ns2:creationId id="{7F03DBAD-9350-4641-8C98-CA5F07E6EBC2}"/>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8" name="">
            <a:extLst>
              <a:ext uri="{FF2B5EF4-FFF2-40B4-BE49-F238E27FC236}">
                <ns2:creationId id="{33445093-5FE3-4CF4-9848-BF2416BE3E51}"/>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9" name="">
            <a:extLst>
              <a:ext uri="{FF2B5EF4-FFF2-40B4-BE49-F238E27FC236}">
                <ns2:creationId id="{C9DC8FB1-895A-408C-A516-6487B359CB49}"/>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10/30   083</a:t>
            </a:r>
          </a:p>
        </p:txBody>
      </p:sp>
    </p:spTree>
    <p:extLst>
      <p:ext uri="{BB962C8B-B14F-4D97-AF65-F5344CB8AC3E}">
        <ns4:creationId val="1306766324"/>
      </p:ext>
    </p:extLst>
  </p:cSld>
</p:sld>
</file>

<file path=ppt/slides/slide84.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0" name="">
            <a:extLst>
              <a:ext uri="{FF2B5EF4-FFF2-40B4-BE49-F238E27FC236}">
                <ns2:creationId id="{6D5915D5-7623-43AC-BD16-56CCBF050E69}"/>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5교시</a:t>
            </a:r>
          </a:p>
        </p:txBody>
      </p:sp>
      <p:sp>
        <p:nvSpPr>
          <p:cNvPr id="2" name="">
            <a:extLst>
              <a:ext uri="{FF2B5EF4-FFF2-40B4-BE49-F238E27FC236}">
                <ns2:creationId id="{791EF443-0805-4A64-BF6B-25B13C87FD06}"/>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개념 확인 질문</a:t>
            </a:r>
          </a:p>
        </p:txBody>
      </p:sp>
      <p:sp>
        <p:nvSpPr>
          <p:cNvPr id="3" name="">
            <a:extLst>
              <a:ext uri="{FF2B5EF4-FFF2-40B4-BE49-F238E27FC236}">
                <ns2:creationId id="{B86725AA-CA99-4E30-A356-D68EF5D6D193}"/>
              </a:ext>
            </a:extLst>
          </p:cNvPr>
          <p:cNvSpPr>
            <a:spLocks noGrp="1"/>
          </p:cNvSpPr>
          <p:nvPr/>
        </p:nvSpPr>
        <p:spPr>
          <a:xfrm>
            <a:off x="685800" y="1990725"/>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총 작업 시간과 실제 완료 날짜는 어떻게 다른가요?</a:t>
            </a:r>
          </a:p>
        </p:txBody>
      </p:sp>
      <p:sp>
        <p:nvSpPr>
          <p:cNvPr id="4" name="">
            <a:extLst>
              <a:ext uri="{FF2B5EF4-FFF2-40B4-BE49-F238E27FC236}">
                <ns2:creationId id="{8162ABFF-2757-4AE7-A364-6AA3D16A3BCC}"/>
              </a:ext>
            </a:extLst>
          </p:cNvPr>
          <p:cNvSpPr>
            <a:spLocks noGrp="1"/>
          </p:cNvSpPr>
          <p:nvPr/>
        </p:nvSpPr>
        <p:spPr>
          <a:xfrm>
            <a:off x="685800" y="2557272"/>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견적에서 아직 정하지 않은 비용은 무엇인가요?</a:t>
            </a:r>
          </a:p>
        </p:txBody>
      </p:sp>
      <p:sp>
        <p:nvSpPr>
          <p:cNvPr id="5" name="">
            <a:extLst>
              <a:ext uri="{FF2B5EF4-FFF2-40B4-BE49-F238E27FC236}">
                <ns2:creationId id="{1370C06B-BE73-41C8-A79F-D845125F5F2D}"/>
              </a:ext>
            </a:extLst>
          </p:cNvPr>
          <p:cNvSpPr>
            <a:spLocks noGrp="1"/>
          </p:cNvSpPr>
          <p:nvPr/>
        </p:nvSpPr>
        <p:spPr>
          <a:xfrm>
            <a:off x="685800" y="6172200"/>
            <a:ext cx="10820400" cy="9525"/>
          </a:xfrm>
          <a:prstGeom prst="rect">
            <a:avLst/>
          </a:prstGeom>
          <a:solidFill>
            <a:srgbClr val="D5DEDD"/>
          </a:solidFill>
          <a:ln w="0">
            <a:noFill/>
          </a:ln>
        </p:spPr>
      </p:sp>
      <p:sp>
        <p:nvSpPr>
          <p:cNvPr id="6" name="">
            <a:extLst>
              <a:ext uri="{FF2B5EF4-FFF2-40B4-BE49-F238E27FC236}">
                <ns2:creationId id="{B14D26FE-9CF6-4DC9-82A9-B858673A678A}"/>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7" name="">
            <a:extLst>
              <a:ext uri="{FF2B5EF4-FFF2-40B4-BE49-F238E27FC236}">
                <ns2:creationId id="{56BF76CD-2AF2-434F-8374-13D9E9D71CE3}"/>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8" name="">
            <a:extLst>
              <a:ext uri="{FF2B5EF4-FFF2-40B4-BE49-F238E27FC236}">
                <ns2:creationId id="{D2E084F6-AB74-4267-B43C-A9CE019589E9}"/>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9" name="">
            <a:extLst>
              <a:ext uri="{FF2B5EF4-FFF2-40B4-BE49-F238E27FC236}">
                <ns2:creationId id="{A27DE033-3B86-42F7-A1D9-4A9DA5B29F20}"/>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10/30   084</a:t>
            </a:r>
          </a:p>
        </p:txBody>
      </p:sp>
    </p:spTree>
    <p:extLst>
      <p:ext uri="{BB962C8B-B14F-4D97-AF65-F5344CB8AC3E}">
        <ns4:creationId val="917981396"/>
      </p:ext>
    </p:extLst>
  </p:cSld>
</p:sld>
</file>

<file path=ppt/slides/slide85.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0" name="">
            <a:extLst>
              <a:ext uri="{FF2B5EF4-FFF2-40B4-BE49-F238E27FC236}">
                <ns2:creationId id="{FB9D3747-4B66-46F2-A573-A554C2DBFBB2}"/>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5교시</a:t>
            </a:r>
          </a:p>
        </p:txBody>
      </p:sp>
      <p:sp>
        <p:nvSpPr>
          <p:cNvPr id="2" name="">
            <a:extLst>
              <a:ext uri="{FF2B5EF4-FFF2-40B4-BE49-F238E27FC236}">
                <ns2:creationId id="{2D5BF1A5-9319-4878-86CD-32D282B2390E}"/>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추가·복습 문제</a:t>
            </a:r>
          </a:p>
        </p:txBody>
      </p:sp>
      <p:sp>
        <p:nvSpPr>
          <p:cNvPr id="3" name="">
            <a:extLst>
              <a:ext uri="{FF2B5EF4-FFF2-40B4-BE49-F238E27FC236}">
                <ns2:creationId id="{A95FB2C4-E829-4BDC-B6A1-7031EB440CFD}"/>
              </a:ext>
            </a:extLst>
          </p:cNvPr>
          <p:cNvSpPr>
            <a:spLocks noGrp="1"/>
          </p:cNvSpPr>
          <p:nvPr/>
        </p:nvSpPr>
        <p:spPr>
          <a:xfrm>
            <a:off x="685800" y="1990725"/>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추가·복습: 10시간·시급2만원·여유10%</a:t>
            </a:r>
          </a:p>
        </p:txBody>
      </p:sp>
      <p:sp>
        <p:nvSpPr>
          <p:cNvPr id="4" name="">
            <a:extLst>
              <a:ext uri="{FF2B5EF4-FFF2-40B4-BE49-F238E27FC236}">
                <ns2:creationId id="{F91DE418-9CA8-4A33-A46B-9F1F74192D2F}"/>
              </a:ext>
            </a:extLst>
          </p:cNvPr>
          <p:cNvSpPr>
            <a:spLocks noGrp="1"/>
          </p:cNvSpPr>
          <p:nvPr/>
        </p:nvSpPr>
        <p:spPr>
          <a:xfrm>
            <a:off x="685800" y="2557272"/>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견적과 기능 추가 영향을 쓰세요.</a:t>
            </a:r>
          </a:p>
        </p:txBody>
      </p:sp>
      <p:sp>
        <p:nvSpPr>
          <p:cNvPr id="5" name="">
            <a:extLst>
              <a:ext uri="{FF2B5EF4-FFF2-40B4-BE49-F238E27FC236}">
                <ns2:creationId id="{F11B0FEE-1C3C-4823-A870-0FBE31247DF3}"/>
              </a:ext>
            </a:extLst>
          </p:cNvPr>
          <p:cNvSpPr>
            <a:spLocks noGrp="1"/>
          </p:cNvSpPr>
          <p:nvPr/>
        </p:nvSpPr>
        <p:spPr>
          <a:xfrm>
            <a:off x="685800" y="6172200"/>
            <a:ext cx="10820400" cy="9525"/>
          </a:xfrm>
          <a:prstGeom prst="rect">
            <a:avLst/>
          </a:prstGeom>
          <a:solidFill>
            <a:srgbClr val="D5DEDD"/>
          </a:solidFill>
          <a:ln w="0">
            <a:noFill/>
          </a:ln>
        </p:spPr>
      </p:sp>
      <p:sp>
        <p:nvSpPr>
          <p:cNvPr id="6" name="">
            <a:extLst>
              <a:ext uri="{FF2B5EF4-FFF2-40B4-BE49-F238E27FC236}">
                <ns2:creationId id="{1FE7CD98-15CF-4062-94DA-FF88FE10FC1A}"/>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7" name="">
            <a:extLst>
              <a:ext uri="{FF2B5EF4-FFF2-40B4-BE49-F238E27FC236}">
                <ns2:creationId id="{8389B22C-FBB0-445C-AB80-0CD6A70E6787}"/>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8" name="">
            <a:extLst>
              <a:ext uri="{FF2B5EF4-FFF2-40B4-BE49-F238E27FC236}">
                <ns2:creationId id="{73293507-AD1B-4FCD-9337-6EACE4ED9E1A}"/>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9" name="">
            <a:extLst>
              <a:ext uri="{FF2B5EF4-FFF2-40B4-BE49-F238E27FC236}">
                <ns2:creationId id="{08E095E7-A924-4358-BA56-6E52F255965D}"/>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10/30   085</a:t>
            </a:r>
          </a:p>
        </p:txBody>
      </p:sp>
    </p:spTree>
    <p:extLst>
      <p:ext uri="{BB962C8B-B14F-4D97-AF65-F5344CB8AC3E}">
        <ns4:creationId val="2029548294"/>
      </p:ext>
    </p:extLst>
  </p:cSld>
</p:sld>
</file>

<file path=ppt/slides/slide86.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1" name="">
            <a:extLst>
              <a:ext uri="{FF2B5EF4-FFF2-40B4-BE49-F238E27FC236}">
                <ns2:creationId id="{9B122C84-4E10-4B26-94A0-966E4D14D51A}"/>
              </a:ext>
            </a:extLst>
          </p:cNvPr>
          <p:cNvSpPr>
            <a:spLocks noGrp="1"/>
          </p:cNvSpPr>
          <p:nvPr/>
        </p:nvSpPr>
        <p:spPr>
          <a:xfrm>
            <a:off x="685800" y="657225"/>
            <a:ext cx="10820400" cy="400050"/>
          </a:xfrm>
          <a:prstGeom prst="rect">
            <a:avLst/>
          </a:prstGeom>
          <a:noFill/>
          <a:ln w="0">
            <a:noFill/>
          </a:ln>
        </p:spPr>
        <p:txBody>
          <a:bodyPr wrap="square" lIns="0" tIns="0" rIns="0" bIns="0">
            <a:noAutofit/>
          </a:bodyPr>
          <a:lstStyle/>
          <a:p>
            <a:pPr>
              <a:defRPr sz="1950" b="1">
                <a:solidFill>
                  <a:srgbClr val="08786F"/>
                </a:solidFill>
                <a:latin typeface="Noto Sans KR"/>
                <a:ea typeface="Noto Sans KR"/>
                <a:cs typeface="Noto Sans KR"/>
              </a:defRPr>
            </a:pPr>
            <a:r>
              <a:t>6교시</a:t>
            </a:r>
          </a:p>
        </p:txBody>
      </p:sp>
      <p:sp>
        <p:nvSpPr>
          <p:cNvPr id="2" name="">
            <a:extLst>
              <a:ext uri="{FF2B5EF4-FFF2-40B4-BE49-F238E27FC236}">
                <ns2:creationId id="{A1BD60D2-C93B-46AA-97AB-C9B691EE0799}"/>
              </a:ext>
            </a:extLst>
          </p:cNvPr>
          <p:cNvSpPr>
            <a:spLocks noGrp="1"/>
          </p:cNvSpPr>
          <p:nvPr/>
        </p:nvSpPr>
        <p:spPr>
          <a:xfrm>
            <a:off x="685800" y="1552575"/>
            <a:ext cx="10668000" cy="1905000"/>
          </a:xfrm>
          <a:prstGeom prst="rect">
            <a:avLst/>
          </a:prstGeom>
          <a:noFill/>
          <a:ln w="0">
            <a:noFill/>
          </a:ln>
        </p:spPr>
        <p:txBody>
          <a:bodyPr wrap="square" lIns="0" tIns="0" rIns="0" bIns="0">
            <a:noAutofit/>
          </a:bodyPr>
          <a:lstStyle/>
          <a:p>
            <a:pPr>
              <a:defRPr sz="4725" b="1">
                <a:solidFill>
                  <a:srgbClr val="172F39"/>
                </a:solidFill>
                <a:latin typeface="Noto Sans KR"/>
                <a:ea typeface="Noto Sans KR"/>
                <a:cs typeface="Noto Sans KR"/>
              </a:defRPr>
            </a:pPr>
            <a:r>
              <a:t>기획 통합·발표·수정</a:t>
            </a:r>
          </a:p>
        </p:txBody>
      </p:sp>
      <p:sp>
        <p:nvSpPr>
          <p:cNvPr id="3" name="">
            <a:extLst>
              <a:ext uri="{FF2B5EF4-FFF2-40B4-BE49-F238E27FC236}">
                <ns2:creationId id="{4694F763-9860-47F9-83C8-F5EB8A3B41B1}"/>
              </a:ext>
            </a:extLst>
          </p:cNvPr>
          <p:cNvSpPr>
            <a:spLocks noGrp="1"/>
          </p:cNvSpPr>
          <p:nvPr/>
        </p:nvSpPr>
        <p:spPr>
          <a:xfrm>
            <a:off x="723900" y="3638550"/>
            <a:ext cx="10001250" cy="473964"/>
          </a:xfrm>
          <a:prstGeom prst="rect">
            <a:avLst/>
          </a:prstGeom>
          <a:noFill/>
          <a:ln w="0">
            <a:noFill/>
          </a:ln>
        </p:spPr>
        <p:txBody>
          <a:bodyPr wrap="square" lIns="0" tIns="0" rIns="0" bIns="0">
            <a:noAutofit/>
          </a:bodyPr>
          <a:lstStyle/>
          <a:p>
            <a:pPr>
              <a:defRPr sz="2400" b="0">
                <a:solidFill>
                  <a:srgbClr val="52636B"/>
                </a:solidFill>
                <a:latin typeface="Noto Sans KR"/>
                <a:ea typeface="Noto Sans KR"/>
                <a:cs typeface="Noto Sans KR"/>
              </a:defRPr>
            </a:pPr>
            <a:r>
              <a:t>16:00~16:50 · 50분</a:t>
            </a:r>
          </a:p>
        </p:txBody>
      </p:sp>
      <p:sp>
        <p:nvSpPr>
          <p:cNvPr id="4" name="">
            <a:extLst>
              <a:ext uri="{FF2B5EF4-FFF2-40B4-BE49-F238E27FC236}">
                <ns2:creationId id="{254348C3-805C-4E45-9407-5F8D819A0DAA}"/>
              </a:ext>
            </a:extLst>
          </p:cNvPr>
          <p:cNvSpPr>
            <a:spLocks noGrp="1"/>
          </p:cNvSpPr>
          <p:nvPr/>
        </p:nvSpPr>
        <p:spPr>
          <a:xfrm>
            <a:off x="723900" y="4160139"/>
            <a:ext cx="10001250" cy="473964"/>
          </a:xfrm>
          <a:prstGeom prst="rect">
            <a:avLst/>
          </a:prstGeom>
          <a:noFill/>
          <a:ln w="0">
            <a:noFill/>
          </a:ln>
        </p:spPr>
        <p:txBody>
          <a:bodyPr wrap="square" lIns="0" tIns="0" rIns="0" bIns="0">
            <a:noAutofit/>
          </a:bodyPr>
          <a:lstStyle/>
          <a:p>
            <a:pPr>
              <a:defRPr sz="2400" b="0">
                <a:solidFill>
                  <a:srgbClr val="52636B"/>
                </a:solidFill>
                <a:latin typeface="Noto Sans KR"/>
                <a:ea typeface="Noto Sans KR"/>
                <a:cs typeface="Noto Sans KR"/>
              </a:defRPr>
            </a:pPr>
            <a:r>
              <a:t>A16 · A17 · A18</a:t>
            </a:r>
          </a:p>
        </p:txBody>
      </p:sp>
      <p:sp>
        <p:nvSpPr>
          <p:cNvPr id="5" name="">
            <a:extLst>
              <a:ext uri="{FF2B5EF4-FFF2-40B4-BE49-F238E27FC236}">
                <ns2:creationId id="{DE8EFB9D-BE9E-448D-899E-A62A372FF6A7}"/>
              </a:ext>
            </a:extLst>
          </p:cNvPr>
          <p:cNvSpPr>
            <a:spLocks noGrp="1"/>
          </p:cNvSpPr>
          <p:nvPr/>
        </p:nvSpPr>
        <p:spPr>
          <a:xfrm>
            <a:off x="723900" y="4681728"/>
            <a:ext cx="10001250" cy="473964"/>
          </a:xfrm>
          <a:prstGeom prst="rect">
            <a:avLst/>
          </a:prstGeom>
          <a:noFill/>
          <a:ln w="0">
            <a:noFill/>
          </a:ln>
        </p:spPr>
        <p:txBody>
          <a:bodyPr wrap="square" lIns="0" tIns="0" rIns="0" bIns="0">
            <a:noAutofit/>
          </a:bodyPr>
          <a:lstStyle/>
          <a:p>
            <a:pPr>
              <a:defRPr sz="2400" b="0">
                <a:solidFill>
                  <a:srgbClr val="52636B"/>
                </a:solidFill>
                <a:latin typeface="Noto Sans KR"/>
                <a:ea typeface="Noto Sans KR"/>
                <a:cs typeface="Noto Sans KR"/>
              </a:defRPr>
            </a:pPr>
            <a:r>
              <a:t>설명 → 예제 따라 하기 → 직접 해 보기 → 풀이</a:t>
            </a:r>
          </a:p>
        </p:txBody>
      </p:sp>
      <p:sp>
        <p:nvSpPr>
          <p:cNvPr id="6" name="">
            <a:extLst>
              <a:ext uri="{FF2B5EF4-FFF2-40B4-BE49-F238E27FC236}">
                <ns2:creationId id="{C5872502-D906-4512-BCE4-C64B41DDF22B}"/>
              </a:ext>
            </a:extLst>
          </p:cNvPr>
          <p:cNvSpPr>
            <a:spLocks noGrp="1"/>
          </p:cNvSpPr>
          <p:nvPr/>
        </p:nvSpPr>
        <p:spPr>
          <a:xfrm>
            <a:off x="685800" y="6172200"/>
            <a:ext cx="10820400" cy="9525"/>
          </a:xfrm>
          <a:prstGeom prst="rect">
            <a:avLst/>
          </a:prstGeom>
          <a:solidFill>
            <a:srgbClr val="D5DEDD"/>
          </a:solidFill>
          <a:ln w="0">
            <a:noFill/>
          </a:ln>
        </p:spPr>
      </p:sp>
      <p:sp>
        <p:nvSpPr>
          <p:cNvPr id="7" name="">
            <a:extLst>
              <a:ext uri="{FF2B5EF4-FFF2-40B4-BE49-F238E27FC236}">
                <ns2:creationId id="{A055B4A5-8CD9-4141-A2A6-D9465A448653}"/>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8" name="">
            <a:extLst>
              <a:ext uri="{FF2B5EF4-FFF2-40B4-BE49-F238E27FC236}">
                <ns2:creationId id="{DCE7BD92-D3E5-4D19-B908-BAB130D51FE3}"/>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9" name="">
            <a:extLst>
              <a:ext uri="{FF2B5EF4-FFF2-40B4-BE49-F238E27FC236}">
                <ns2:creationId id="{3A81FB97-1A39-4498-9FBB-2C44A0A52B3E}"/>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0" name="">
            <a:extLst>
              <a:ext uri="{FF2B5EF4-FFF2-40B4-BE49-F238E27FC236}">
                <ns2:creationId id="{0927592B-533B-4370-B3C6-499CE49D43F3}"/>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10/30   086</a:t>
            </a:r>
          </a:p>
        </p:txBody>
      </p:sp>
    </p:spTree>
    <p:extLst>
      <p:ext uri="{BB962C8B-B14F-4D97-AF65-F5344CB8AC3E}">
        <ns4:creationId val="1998154097"/>
      </p:ext>
    </p:extLst>
  </p:cSld>
</p:sld>
</file>

<file path=ppt/slides/slide87.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2" name="">
            <a:extLst>
              <a:ext uri="{FF2B5EF4-FFF2-40B4-BE49-F238E27FC236}">
                <ns2:creationId id="{41E21AD0-0986-4976-86B2-23653CA40C49}"/>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6교시</a:t>
            </a:r>
          </a:p>
        </p:txBody>
      </p:sp>
      <p:sp>
        <p:nvSpPr>
          <p:cNvPr id="2" name="">
            <a:extLst>
              <a:ext uri="{FF2B5EF4-FFF2-40B4-BE49-F238E27FC236}">
                <ns2:creationId id="{48C9181B-5478-4747-9B2E-5B43E69BDDBE}"/>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문제·요구·시험의 일치</a:t>
            </a:r>
          </a:p>
        </p:txBody>
      </p:sp>
      <p:sp>
        <p:nvSpPr>
          <p:cNvPr id="3" name="">
            <a:extLst>
              <a:ext uri="{FF2B5EF4-FFF2-40B4-BE49-F238E27FC236}">
                <ns2:creationId id="{31FB365E-FAF6-41B8-809A-68740BFA889B}"/>
              </a:ext>
            </a:extLst>
          </p:cNvPr>
          <p:cNvSpPr>
            <a:spLocks noGrp="1"/>
          </p:cNvSpPr>
          <p:nvPr/>
        </p:nvSpPr>
        <p:spPr>
          <a:xfrm>
            <a:off x="685800" y="1933575"/>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근거 → 문제 → 작은 범위 → 요구 → 시험</a:t>
            </a:r>
          </a:p>
        </p:txBody>
      </p:sp>
      <p:sp>
        <p:nvSpPr>
          <p:cNvPr id="4" name="">
            <a:extLst>
              <a:ext uri="{FF2B5EF4-FFF2-40B4-BE49-F238E27FC236}">
                <ns2:creationId id="{9F1CC7BB-DE59-4086-9DF8-77C5F0870341}"/>
              </a:ext>
            </a:extLst>
          </p:cNvPr>
          <p:cNvSpPr>
            <a:spLocks noGrp="1"/>
          </p:cNvSpPr>
          <p:nvPr/>
        </p:nvSpPr>
        <p:spPr>
          <a:xfrm>
            <a:off x="685800" y="2769870"/>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기획서에 적은 기능에 맞춰 데이터와 작업 계획을 작성하세요.</a:t>
            </a:r>
          </a:p>
        </p:txBody>
      </p:sp>
      <p:sp>
        <p:nvSpPr>
          <p:cNvPr id="5" name="">
            <a:extLst>
              <a:ext uri="{FF2B5EF4-FFF2-40B4-BE49-F238E27FC236}">
                <ns2:creationId id="{6D5F5B5C-44E2-4051-BFE6-A138940E6805}"/>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변경한 내용을 문서에 반영</a:t>
            </a:r>
          </a:p>
        </p:txBody>
      </p:sp>
      <p:graphicFrame>
        <p:nvGraphicFramePr>
          <p:cNvPr id="17" name=""/>
          <p:cNvGraphicFramePr/>
          <p:nvPr/>
        </p:nvGraphicFramePr>
        <p:xfrm>
          <a:off x="6267450" y="2628900"/>
          <a:ext cx="5238750" cy="2057400"/>
        </p:xfrm>
        <a:graphic>
          <a:graphicData uri="http://schemas.openxmlformats.org/drawingml/2006/table">
            <a:tbl>
              <a:tblPr firstRow="1" bandRow="0"/>
              <a:tblGrid>
                <a:gridCol w="1803909"/>
                <a:gridCol w="3434841"/>
              </a:tblGrid>
              <a:tr h="514350">
                <a:tc>
                  <a:txBody>
                    <a:bodyPr wrap="square"/>
                    <a:lstStyle/>
                    <a:p>
                      <a:pPr>
                        <a:lnSpc>
                          <a:spcPct val="102000"/>
                        </a:lnSpc>
                        <a:buNone/>
                      </a:pPr>
                      <a:r>
                        <a:rPr sz="1875" b="1">
                          <a:solidFill>
                            <a:srgbClr val="172F39"/>
                          </a:solidFill>
                          <a:latin typeface="Noto Sans KR"/>
                          <a:ea typeface="Noto Sans KR"/>
                          <a:cs typeface="Noto Sans KR"/>
                        </a:rPr>
                        <a:t>문서</a:t>
                      </a:r>
                    </a:p>
                  </a:txBody>
                  <a:tcPr marL="114300" marR="114300" marT="76200" marB="76200" anchor="ctr">
                    <a:solidFill>
                      <a:srgbClr val="DCECE8"/>
                    </a:solidFill>
                  </a:tcPr>
                </a:tc>
                <a:tc>
                  <a:txBody>
                    <a:bodyPr wrap="square"/>
                    <a:lstStyle/>
                    <a:p>
                      <a:pPr>
                        <a:lnSpc>
                          <a:spcPct val="102000"/>
                        </a:lnSpc>
                        <a:buNone/>
                      </a:pPr>
                      <a:r>
                        <a:rPr sz="1875" b="1">
                          <a:solidFill>
                            <a:srgbClr val="172F39"/>
                          </a:solidFill>
                          <a:latin typeface="Noto Sans KR"/>
                          <a:ea typeface="Noto Sans KR"/>
                          <a:cs typeface="Noto Sans KR"/>
                        </a:rPr>
                        <a:t>카메라를 제외한다면</a:t>
                      </a:r>
                    </a:p>
                  </a:txBody>
                  <a:tcPr marL="114300" marR="114300" marT="76200" marB="76200" anchor="ctr">
                    <a:solidFill>
                      <a:srgbClr val="DCECE8"/>
                    </a:solidFill>
                  </a:tcPr>
                </a:tc>
              </a:tr>
              <a:tr h="514350">
                <a:tc>
                  <a:txBody>
                    <a:bodyPr wrap="square"/>
                    <a:lstStyle/>
                    <a:p>
                      <a:pPr>
                        <a:lnSpc>
                          <a:spcPct val="102000"/>
                        </a:lnSpc>
                        <a:buNone/>
                      </a:pPr>
                      <a:r>
                        <a:rPr sz="1875" b="0">
                          <a:solidFill>
                            <a:srgbClr val="172F39"/>
                          </a:solidFill>
                          <a:latin typeface="Noto Sans KR"/>
                          <a:ea typeface="Noto Sans KR"/>
                          <a:cs typeface="Noto Sans KR"/>
                        </a:rPr>
                        <a:t>기능 목록</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카메라 기능을 넣지 않음</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시험표</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실물 시험은 NOT_RUN</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견적</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구매비 포함 여부 확인</a:t>
                      </a:r>
                    </a:p>
                  </a:txBody>
                  <a:tcPr marL="114300" marR="114300" marT="76200" marB="76200" anchor="ctr">
                    <a:solidFill>
                      <a:srgbClr val="FFFFFF"/>
                    </a:solidFill>
                  </a:tcPr>
                </a:tc>
              </a:tr>
            </a:tbl>
          </a:graphicData>
        </a:graphic>
      </p:graphicFrame>
      <p:sp>
        <p:nvSpPr>
          <p:cNvPr id="7" name="">
            <a:extLst>
              <a:ext uri="{FF2B5EF4-FFF2-40B4-BE49-F238E27FC236}">
                <ns2:creationId id="{19CABAAB-9D91-4AE4-96D1-E5828BA911D0}"/>
              </a:ext>
            </a:extLst>
          </p:cNvPr>
          <p:cNvSpPr>
            <a:spLocks noGrp="1"/>
          </p:cNvSpPr>
          <p:nvPr/>
        </p:nvSpPr>
        <p:spPr>
          <a:xfrm>
            <a:off x="685800" y="6172200"/>
            <a:ext cx="10820400" cy="9525"/>
          </a:xfrm>
          <a:prstGeom prst="rect">
            <a:avLst/>
          </a:prstGeom>
          <a:solidFill>
            <a:srgbClr val="D5DEDD"/>
          </a:solidFill>
          <a:ln w="0">
            <a:noFill/>
          </a:ln>
        </p:spPr>
      </p:sp>
      <p:sp>
        <p:nvSpPr>
          <p:cNvPr id="8" name="">
            <a:extLst>
              <a:ext uri="{FF2B5EF4-FFF2-40B4-BE49-F238E27FC236}">
                <ns2:creationId id="{0B4BFD15-54CB-4F8F-8292-1C37B583B95F}"/>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9" name="">
            <a:extLst>
              <a:ext uri="{FF2B5EF4-FFF2-40B4-BE49-F238E27FC236}">
                <ns2:creationId id="{FCBCF22D-CE9A-4B86-AF2A-630B2004CADF}"/>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0" name="">
            <a:extLst>
              <a:ext uri="{FF2B5EF4-FFF2-40B4-BE49-F238E27FC236}">
                <ns2:creationId id="{CAF485BC-DED5-4279-BA36-CA4C8A9435C4}"/>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1" name="">
            <a:extLst>
              <a:ext uri="{FF2B5EF4-FFF2-40B4-BE49-F238E27FC236}">
                <ns2:creationId id="{D575004C-CCBD-44F5-A914-F3145D88F49A}"/>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10/30   087</a:t>
            </a:r>
          </a:p>
        </p:txBody>
      </p:sp>
    </p:spTree>
    <p:extLst>
      <p:ext uri="{BB962C8B-B14F-4D97-AF65-F5344CB8AC3E}">
        <ns4:creationId val="1339149951"/>
      </p:ext>
    </p:extLst>
  </p:cSld>
</p:sld>
</file>

<file path=ppt/slides/slide88.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2" name="">
            <a:extLst>
              <a:ext uri="{FF2B5EF4-FFF2-40B4-BE49-F238E27FC236}">
                <ns2:creationId id="{BD44B614-8E03-4FFF-90AE-766AFA6CAE1F}"/>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6교시</a:t>
            </a:r>
          </a:p>
        </p:txBody>
      </p:sp>
      <p:sp>
        <p:nvSpPr>
          <p:cNvPr id="2" name="">
            <a:extLst>
              <a:ext uri="{FF2B5EF4-FFF2-40B4-BE49-F238E27FC236}">
                <ns2:creationId id="{D253DBE6-26C2-444E-9A93-6A00D7E0860F}"/>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2분 발표의 구성</a:t>
            </a:r>
          </a:p>
        </p:txBody>
      </p:sp>
      <p:sp>
        <p:nvSpPr>
          <p:cNvPr id="3" name="">
            <a:extLst>
              <a:ext uri="{FF2B5EF4-FFF2-40B4-BE49-F238E27FC236}">
                <ns2:creationId id="{4501E752-590F-48B2-9A73-349A9A5674C2}"/>
              </a:ext>
            </a:extLst>
          </p:cNvPr>
          <p:cNvSpPr>
            <a:spLocks noGrp="1"/>
          </p:cNvSpPr>
          <p:nvPr/>
        </p:nvSpPr>
        <p:spPr>
          <a:xfrm>
            <a:off x="685800" y="1933575"/>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문제·근거 → 입력·결과 → 시험</a:t>
            </a:r>
          </a:p>
        </p:txBody>
      </p:sp>
      <p:sp>
        <p:nvSpPr>
          <p:cNvPr id="4" name="">
            <a:extLst>
              <a:ext uri="{FF2B5EF4-FFF2-40B4-BE49-F238E27FC236}">
                <ns2:creationId id="{23EFD6CD-58E9-48AC-B10A-EE4F8BD342C7}"/>
              </a:ext>
            </a:extLst>
          </p:cNvPr>
          <p:cNvSpPr>
            <a:spLocks noGrp="1"/>
          </p:cNvSpPr>
          <p:nvPr/>
        </p:nvSpPr>
        <p:spPr>
          <a:xfrm>
            <a:off x="685800" y="2432685"/>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마지막에는 더 확인해야 할 질문을 말하세요.</a:t>
            </a:r>
          </a:p>
        </p:txBody>
      </p:sp>
      <p:sp>
        <p:nvSpPr>
          <p:cNvPr id="5" name="">
            <a:extLst>
              <a:ext uri="{FF2B5EF4-FFF2-40B4-BE49-F238E27FC236}">
                <ns2:creationId id="{D6FBC724-5EA4-417A-8D0E-94604A445D3B}"/>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2분 발표의 시간 배분</a:t>
            </a:r>
          </a:p>
        </p:txBody>
      </p:sp>
      <p:graphicFrame>
        <p:nvGraphicFramePr>
          <p:cNvPr id="17" name=""/>
          <p:cNvGraphicFramePr/>
          <p:nvPr/>
        </p:nvGraphicFramePr>
        <p:xfrm>
          <a:off x="6267450" y="2628900"/>
          <a:ext cx="5238750" cy="2571750"/>
        </p:xfrm>
        <a:graphic>
          <a:graphicData uri="http://schemas.openxmlformats.org/drawingml/2006/table">
            <a:tbl>
              <a:tblPr firstRow="1" bandRow="0"/>
              <a:tblGrid>
                <a:gridCol w="3235240"/>
                <a:gridCol w="2003510"/>
              </a:tblGrid>
              <a:tr h="514350">
                <a:tc>
                  <a:txBody>
                    <a:bodyPr wrap="square"/>
                    <a:lstStyle/>
                    <a:p>
                      <a:pPr>
                        <a:lnSpc>
                          <a:spcPct val="102000"/>
                        </a:lnSpc>
                        <a:buNone/>
                      </a:pPr>
                      <a:r>
                        <a:rPr sz="1875" b="1">
                          <a:solidFill>
                            <a:srgbClr val="172F39"/>
                          </a:solidFill>
                          <a:latin typeface="Noto Sans KR"/>
                          <a:ea typeface="Noto Sans KR"/>
                          <a:cs typeface="Noto Sans KR"/>
                        </a:rPr>
                        <a:t>내용</a:t>
                      </a:r>
                    </a:p>
                  </a:txBody>
                  <a:tcPr marL="114300" marR="114300" marT="76200" marB="76200" anchor="ctr">
                    <a:solidFill>
                      <a:srgbClr val="DCECE8"/>
                    </a:solidFill>
                  </a:tcPr>
                </a:tc>
                <a:tc>
                  <a:txBody>
                    <a:bodyPr wrap="square"/>
                    <a:lstStyle/>
                    <a:p>
                      <a:pPr>
                        <a:lnSpc>
                          <a:spcPct val="102000"/>
                        </a:lnSpc>
                        <a:buNone/>
                      </a:pPr>
                      <a:r>
                        <a:rPr sz="1875" b="1">
                          <a:solidFill>
                            <a:srgbClr val="172F39"/>
                          </a:solidFill>
                          <a:latin typeface="Noto Sans KR"/>
                          <a:ea typeface="Noto Sans KR"/>
                          <a:cs typeface="Noto Sans KR"/>
                        </a:rPr>
                        <a:t>시간</a:t>
                      </a:r>
                    </a:p>
                  </a:txBody>
                  <a:tcPr marL="114300" marR="114300" marT="76200" marB="76200" anchor="ctr">
                    <a:solidFill>
                      <a:srgbClr val="DCECE8"/>
                    </a:solidFill>
                  </a:tcPr>
                </a:tc>
              </a:tr>
              <a:tr h="514350">
                <a:tc>
                  <a:txBody>
                    <a:bodyPr wrap="square"/>
                    <a:lstStyle/>
                    <a:p>
                      <a:pPr>
                        <a:lnSpc>
                          <a:spcPct val="102000"/>
                        </a:lnSpc>
                        <a:buNone/>
                      </a:pPr>
                      <a:r>
                        <a:rPr sz="1875" b="0">
                          <a:solidFill>
                            <a:srgbClr val="172F39"/>
                          </a:solidFill>
                          <a:latin typeface="Noto Sans KR"/>
                          <a:ea typeface="Noto Sans KR"/>
                          <a:cs typeface="Noto Sans KR"/>
                        </a:rPr>
                        <a:t>문제·자료</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30초</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입력과 결과</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40초</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시험</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30초</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확인 질문</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20초</a:t>
                      </a:r>
                    </a:p>
                  </a:txBody>
                  <a:tcPr marL="114300" marR="114300" marT="76200" marB="76200" anchor="ctr">
                    <a:solidFill>
                      <a:srgbClr val="FFFFFF"/>
                    </a:solidFill>
                  </a:tcPr>
                </a:tc>
              </a:tr>
            </a:tbl>
          </a:graphicData>
        </a:graphic>
      </p:graphicFrame>
      <p:sp>
        <p:nvSpPr>
          <p:cNvPr id="7" name="">
            <a:extLst>
              <a:ext uri="{FF2B5EF4-FFF2-40B4-BE49-F238E27FC236}">
                <ns2:creationId id="{176A7A1E-B9F4-48F1-AF66-99FD51EC6EEA}"/>
              </a:ext>
            </a:extLst>
          </p:cNvPr>
          <p:cNvSpPr>
            <a:spLocks noGrp="1"/>
          </p:cNvSpPr>
          <p:nvPr/>
        </p:nvSpPr>
        <p:spPr>
          <a:xfrm>
            <a:off x="685800" y="6172200"/>
            <a:ext cx="10820400" cy="9525"/>
          </a:xfrm>
          <a:prstGeom prst="rect">
            <a:avLst/>
          </a:prstGeom>
          <a:solidFill>
            <a:srgbClr val="D5DEDD"/>
          </a:solidFill>
          <a:ln w="0">
            <a:noFill/>
          </a:ln>
        </p:spPr>
      </p:sp>
      <p:sp>
        <p:nvSpPr>
          <p:cNvPr id="8" name="">
            <a:extLst>
              <a:ext uri="{FF2B5EF4-FFF2-40B4-BE49-F238E27FC236}">
                <ns2:creationId id="{C15B79B5-F604-4FC1-88EA-974C6D33019E}"/>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9" name="">
            <a:extLst>
              <a:ext uri="{FF2B5EF4-FFF2-40B4-BE49-F238E27FC236}">
                <ns2:creationId id="{E5ED3853-57BD-44B8-BEE0-5D0E5CD520EE}"/>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0" name="">
            <a:extLst>
              <a:ext uri="{FF2B5EF4-FFF2-40B4-BE49-F238E27FC236}">
                <ns2:creationId id="{C386606B-BC9B-4534-AEBA-53607FC8C8F9}"/>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1" name="">
            <a:extLst>
              <a:ext uri="{FF2B5EF4-FFF2-40B4-BE49-F238E27FC236}">
                <ns2:creationId id="{02041E1D-07D3-4456-A211-6F50ADE71627}"/>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10/30   088</a:t>
            </a:r>
          </a:p>
        </p:txBody>
      </p:sp>
    </p:spTree>
    <p:extLst>
      <p:ext uri="{BB962C8B-B14F-4D97-AF65-F5344CB8AC3E}">
        <ns4:creationId val="2128315787"/>
      </p:ext>
    </p:extLst>
  </p:cSld>
</p:sld>
</file>

<file path=ppt/slides/slide89.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2" name="">
            <a:extLst>
              <a:ext uri="{FF2B5EF4-FFF2-40B4-BE49-F238E27FC236}">
                <ns2:creationId id="{0E241726-D249-495F-8EA0-4EA6F0C9FC2E}"/>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6교시</a:t>
            </a:r>
          </a:p>
        </p:txBody>
      </p:sp>
      <p:sp>
        <p:nvSpPr>
          <p:cNvPr id="2" name="">
            <a:extLst>
              <a:ext uri="{FF2B5EF4-FFF2-40B4-BE49-F238E27FC236}">
                <ns2:creationId id="{92FAFB57-F046-4E68-B2F1-AFB36E8A0621}"/>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기대 효과와 측정 근거</a:t>
            </a:r>
          </a:p>
        </p:txBody>
      </p:sp>
      <p:sp>
        <p:nvSpPr>
          <p:cNvPr id="3" name="">
            <a:extLst>
              <a:ext uri="{FF2B5EF4-FFF2-40B4-BE49-F238E27FC236}">
                <ns2:creationId id="{18D02CF7-F9F3-4FC0-BCF4-922726B2C343}"/>
              </a:ext>
            </a:extLst>
          </p:cNvPr>
          <p:cNvSpPr>
            <a:spLocks noGrp="1"/>
          </p:cNvSpPr>
          <p:nvPr/>
        </p:nvSpPr>
        <p:spPr>
          <a:xfrm>
            <a:off x="685800" y="1933575"/>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현장에서 측정한 효과는 아직 없습니다.</a:t>
            </a:r>
          </a:p>
        </p:txBody>
      </p:sp>
      <p:sp>
        <p:nvSpPr>
          <p:cNvPr id="4" name="">
            <a:extLst>
              <a:ext uri="{FF2B5EF4-FFF2-40B4-BE49-F238E27FC236}">
                <ns2:creationId id="{4000ADF5-78E0-49A0-90CA-8E7EB1BA7962}"/>
              </a:ext>
            </a:extLst>
          </p:cNvPr>
          <p:cNvSpPr>
            <a:spLocks noGrp="1"/>
          </p:cNvSpPr>
          <p:nvPr/>
        </p:nvSpPr>
        <p:spPr>
          <a:xfrm>
            <a:off x="685800" y="2769870"/>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예상한 효과와 그 효과를 측정할 방법을 적으세요.</a:t>
            </a:r>
          </a:p>
        </p:txBody>
      </p:sp>
      <p:sp>
        <p:nvSpPr>
          <p:cNvPr id="5" name="">
            <a:extLst>
              <a:ext uri="{FF2B5EF4-FFF2-40B4-BE49-F238E27FC236}">
                <ns2:creationId id="{0D39327C-6C07-4818-822F-B26F74A55776}"/>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변경한 내용을 문서에 반영</a:t>
            </a:r>
          </a:p>
        </p:txBody>
      </p:sp>
      <p:graphicFrame>
        <p:nvGraphicFramePr>
          <p:cNvPr id="17" name=""/>
          <p:cNvGraphicFramePr/>
          <p:nvPr/>
        </p:nvGraphicFramePr>
        <p:xfrm>
          <a:off x="6267450" y="2628900"/>
          <a:ext cx="5238750" cy="2057400"/>
        </p:xfrm>
        <a:graphic>
          <a:graphicData uri="http://schemas.openxmlformats.org/drawingml/2006/table">
            <a:tbl>
              <a:tblPr firstRow="1" bandRow="0"/>
              <a:tblGrid>
                <a:gridCol w="1803909"/>
                <a:gridCol w="3434841"/>
              </a:tblGrid>
              <a:tr h="514350">
                <a:tc>
                  <a:txBody>
                    <a:bodyPr wrap="square"/>
                    <a:lstStyle/>
                    <a:p>
                      <a:pPr>
                        <a:lnSpc>
                          <a:spcPct val="102000"/>
                        </a:lnSpc>
                        <a:buNone/>
                      </a:pPr>
                      <a:r>
                        <a:rPr sz="1875" b="1">
                          <a:solidFill>
                            <a:srgbClr val="172F39"/>
                          </a:solidFill>
                          <a:latin typeface="Noto Sans KR"/>
                          <a:ea typeface="Noto Sans KR"/>
                          <a:cs typeface="Noto Sans KR"/>
                        </a:rPr>
                        <a:t>문서</a:t>
                      </a:r>
                    </a:p>
                  </a:txBody>
                  <a:tcPr marL="114300" marR="114300" marT="76200" marB="76200" anchor="ctr">
                    <a:solidFill>
                      <a:srgbClr val="DCECE8"/>
                    </a:solidFill>
                  </a:tcPr>
                </a:tc>
                <a:tc>
                  <a:txBody>
                    <a:bodyPr wrap="square"/>
                    <a:lstStyle/>
                    <a:p>
                      <a:pPr>
                        <a:lnSpc>
                          <a:spcPct val="102000"/>
                        </a:lnSpc>
                        <a:buNone/>
                      </a:pPr>
                      <a:r>
                        <a:rPr sz="1875" b="1">
                          <a:solidFill>
                            <a:srgbClr val="172F39"/>
                          </a:solidFill>
                          <a:latin typeface="Noto Sans KR"/>
                          <a:ea typeface="Noto Sans KR"/>
                          <a:cs typeface="Noto Sans KR"/>
                        </a:rPr>
                        <a:t>카메라를 제외한다면</a:t>
                      </a:r>
                    </a:p>
                  </a:txBody>
                  <a:tcPr marL="114300" marR="114300" marT="76200" marB="76200" anchor="ctr">
                    <a:solidFill>
                      <a:srgbClr val="DCECE8"/>
                    </a:solidFill>
                  </a:tcPr>
                </a:tc>
              </a:tr>
              <a:tr h="514350">
                <a:tc>
                  <a:txBody>
                    <a:bodyPr wrap="square"/>
                    <a:lstStyle/>
                    <a:p>
                      <a:pPr>
                        <a:lnSpc>
                          <a:spcPct val="102000"/>
                        </a:lnSpc>
                        <a:buNone/>
                      </a:pPr>
                      <a:r>
                        <a:rPr sz="1875" b="0">
                          <a:solidFill>
                            <a:srgbClr val="172F39"/>
                          </a:solidFill>
                          <a:latin typeface="Noto Sans KR"/>
                          <a:ea typeface="Noto Sans KR"/>
                          <a:cs typeface="Noto Sans KR"/>
                        </a:rPr>
                        <a:t>기능 목록</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카메라 기능을 넣지 않음</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시험표</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실물 시험은 NOT_RUN</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견적</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구매비 포함 여부 확인</a:t>
                      </a:r>
                    </a:p>
                  </a:txBody>
                  <a:tcPr marL="114300" marR="114300" marT="76200" marB="76200" anchor="ctr">
                    <a:solidFill>
                      <a:srgbClr val="FFFFFF"/>
                    </a:solidFill>
                  </a:tcPr>
                </a:tc>
              </a:tr>
            </a:tbl>
          </a:graphicData>
        </a:graphic>
      </p:graphicFrame>
      <p:sp>
        <p:nvSpPr>
          <p:cNvPr id="7" name="">
            <a:extLst>
              <a:ext uri="{FF2B5EF4-FFF2-40B4-BE49-F238E27FC236}">
                <ns2:creationId id="{06454A36-7D9D-4C78-9500-B94AE3F431F0}"/>
              </a:ext>
            </a:extLst>
          </p:cNvPr>
          <p:cNvSpPr>
            <a:spLocks noGrp="1"/>
          </p:cNvSpPr>
          <p:nvPr/>
        </p:nvSpPr>
        <p:spPr>
          <a:xfrm>
            <a:off x="685800" y="6172200"/>
            <a:ext cx="10820400" cy="9525"/>
          </a:xfrm>
          <a:prstGeom prst="rect">
            <a:avLst/>
          </a:prstGeom>
          <a:solidFill>
            <a:srgbClr val="D5DEDD"/>
          </a:solidFill>
          <a:ln w="0">
            <a:noFill/>
          </a:ln>
        </p:spPr>
      </p:sp>
      <p:sp>
        <p:nvSpPr>
          <p:cNvPr id="8" name="">
            <a:extLst>
              <a:ext uri="{FF2B5EF4-FFF2-40B4-BE49-F238E27FC236}">
                <ns2:creationId id="{8C666198-0004-4933-B2DE-A0CB6B580204}"/>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9" name="">
            <a:extLst>
              <a:ext uri="{FF2B5EF4-FFF2-40B4-BE49-F238E27FC236}">
                <ns2:creationId id="{EE049A59-AFB8-4ECE-A0CF-193B55FF1502}"/>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0" name="">
            <a:extLst>
              <a:ext uri="{FF2B5EF4-FFF2-40B4-BE49-F238E27FC236}">
                <ns2:creationId id="{C7794370-45F4-4794-B55A-54DC2D3237E9}"/>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1" name="">
            <a:extLst>
              <a:ext uri="{FF2B5EF4-FFF2-40B4-BE49-F238E27FC236}">
                <ns2:creationId id="{8C198276-0220-426A-858C-02888412686B}"/>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10/30   089</a:t>
            </a:r>
          </a:p>
        </p:txBody>
      </p:sp>
    </p:spTree>
    <p:extLst>
      <p:ext uri="{BB962C8B-B14F-4D97-AF65-F5344CB8AC3E}">
        <ns4:creationId val="1903512448"/>
      </p:ext>
    </p:extLst>
  </p:cSld>
</p:sld>
</file>

<file path=ppt/slides/slide90.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2" name="">
            <a:extLst>
              <a:ext uri="{FF2B5EF4-FFF2-40B4-BE49-F238E27FC236}">
                <ns2:creationId id="{3AF3E18C-8E35-4A8D-B3DB-3006B94634FC}"/>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6교시</a:t>
            </a:r>
          </a:p>
        </p:txBody>
      </p:sp>
      <p:sp>
        <p:nvSpPr>
          <p:cNvPr id="2" name="">
            <a:extLst>
              <a:ext uri="{FF2B5EF4-FFF2-40B4-BE49-F238E27FC236}">
                <ns2:creationId id="{AA80ABEC-3E92-4FF2-997D-E9D29D606407}"/>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피드백과 관련 문서</a:t>
            </a:r>
          </a:p>
        </p:txBody>
      </p:sp>
      <p:sp>
        <p:nvSpPr>
          <p:cNvPr id="3" name="">
            <a:extLst>
              <a:ext uri="{FF2B5EF4-FFF2-40B4-BE49-F238E27FC236}">
                <ns2:creationId id="{C577C2E5-7389-44B2-B2FD-28DFC767206F}"/>
              </a:ext>
            </a:extLst>
          </p:cNvPr>
          <p:cNvSpPr>
            <a:spLocks noGrp="1"/>
          </p:cNvSpPr>
          <p:nvPr/>
        </p:nvSpPr>
        <p:spPr>
          <a:xfrm>
            <a:off x="685800" y="1933575"/>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카메라 보류 → 범위·시험·위험·견적 변경</a:t>
            </a:r>
          </a:p>
        </p:txBody>
      </p:sp>
      <p:sp>
        <p:nvSpPr>
          <p:cNvPr id="4" name="">
            <a:extLst>
              <a:ext uri="{FF2B5EF4-FFF2-40B4-BE49-F238E27FC236}">
                <ns2:creationId id="{1FCEDA9B-74AD-4174-A211-CC209EC7D157}"/>
              </a:ext>
            </a:extLst>
          </p:cNvPr>
          <p:cNvSpPr>
            <a:spLocks noGrp="1"/>
          </p:cNvSpPr>
          <p:nvPr/>
        </p:nvSpPr>
        <p:spPr>
          <a:xfrm>
            <a:off x="685800" y="2769870"/>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발표문만 고치면 시험표와 견적에는 카메라 내용이 남습니다.</a:t>
            </a:r>
          </a:p>
        </p:txBody>
      </p:sp>
      <p:sp>
        <p:nvSpPr>
          <p:cNvPr id="5" name="">
            <a:extLst>
              <a:ext uri="{FF2B5EF4-FFF2-40B4-BE49-F238E27FC236}">
                <ns2:creationId id="{A5E40A18-E483-4B7B-81A1-35ADF9E16A36}"/>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변경한 내용을 문서에 반영</a:t>
            </a:r>
          </a:p>
        </p:txBody>
      </p:sp>
      <p:graphicFrame>
        <p:nvGraphicFramePr>
          <p:cNvPr id="17" name=""/>
          <p:cNvGraphicFramePr/>
          <p:nvPr/>
        </p:nvGraphicFramePr>
        <p:xfrm>
          <a:off x="6267450" y="2628900"/>
          <a:ext cx="5238750" cy="2057400"/>
        </p:xfrm>
        <a:graphic>
          <a:graphicData uri="http://schemas.openxmlformats.org/drawingml/2006/table">
            <a:tbl>
              <a:tblPr firstRow="1" bandRow="0"/>
              <a:tblGrid>
                <a:gridCol w="1803909"/>
                <a:gridCol w="3434841"/>
              </a:tblGrid>
              <a:tr h="514350">
                <a:tc>
                  <a:txBody>
                    <a:bodyPr wrap="square"/>
                    <a:lstStyle/>
                    <a:p>
                      <a:pPr>
                        <a:lnSpc>
                          <a:spcPct val="102000"/>
                        </a:lnSpc>
                        <a:buNone/>
                      </a:pPr>
                      <a:r>
                        <a:rPr sz="1875" b="1">
                          <a:solidFill>
                            <a:srgbClr val="172F39"/>
                          </a:solidFill>
                          <a:latin typeface="Noto Sans KR"/>
                          <a:ea typeface="Noto Sans KR"/>
                          <a:cs typeface="Noto Sans KR"/>
                        </a:rPr>
                        <a:t>문서</a:t>
                      </a:r>
                    </a:p>
                  </a:txBody>
                  <a:tcPr marL="114300" marR="114300" marT="76200" marB="76200" anchor="ctr">
                    <a:solidFill>
                      <a:srgbClr val="DCECE8"/>
                    </a:solidFill>
                  </a:tcPr>
                </a:tc>
                <a:tc>
                  <a:txBody>
                    <a:bodyPr wrap="square"/>
                    <a:lstStyle/>
                    <a:p>
                      <a:pPr>
                        <a:lnSpc>
                          <a:spcPct val="102000"/>
                        </a:lnSpc>
                        <a:buNone/>
                      </a:pPr>
                      <a:r>
                        <a:rPr sz="1875" b="1">
                          <a:solidFill>
                            <a:srgbClr val="172F39"/>
                          </a:solidFill>
                          <a:latin typeface="Noto Sans KR"/>
                          <a:ea typeface="Noto Sans KR"/>
                          <a:cs typeface="Noto Sans KR"/>
                        </a:rPr>
                        <a:t>카메라를 제외한다면</a:t>
                      </a:r>
                    </a:p>
                  </a:txBody>
                  <a:tcPr marL="114300" marR="114300" marT="76200" marB="76200" anchor="ctr">
                    <a:solidFill>
                      <a:srgbClr val="DCECE8"/>
                    </a:solidFill>
                  </a:tcPr>
                </a:tc>
              </a:tr>
              <a:tr h="514350">
                <a:tc>
                  <a:txBody>
                    <a:bodyPr wrap="square"/>
                    <a:lstStyle/>
                    <a:p>
                      <a:pPr>
                        <a:lnSpc>
                          <a:spcPct val="102000"/>
                        </a:lnSpc>
                        <a:buNone/>
                      </a:pPr>
                      <a:r>
                        <a:rPr sz="1875" b="0">
                          <a:solidFill>
                            <a:srgbClr val="172F39"/>
                          </a:solidFill>
                          <a:latin typeface="Noto Sans KR"/>
                          <a:ea typeface="Noto Sans KR"/>
                          <a:cs typeface="Noto Sans KR"/>
                        </a:rPr>
                        <a:t>기능 목록</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카메라 기능을 넣지 않음</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시험표</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실물 시험은 NOT_RUN</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견적</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구매비 포함 여부 확인</a:t>
                      </a:r>
                    </a:p>
                  </a:txBody>
                  <a:tcPr marL="114300" marR="114300" marT="76200" marB="76200" anchor="ctr">
                    <a:solidFill>
                      <a:srgbClr val="FFFFFF"/>
                    </a:solidFill>
                  </a:tcPr>
                </a:tc>
              </a:tr>
            </a:tbl>
          </a:graphicData>
        </a:graphic>
      </p:graphicFrame>
      <p:sp>
        <p:nvSpPr>
          <p:cNvPr id="7" name="">
            <a:extLst>
              <a:ext uri="{FF2B5EF4-FFF2-40B4-BE49-F238E27FC236}">
                <ns2:creationId id="{DDF00773-81C3-47CD-903E-79536F790B00}"/>
              </a:ext>
            </a:extLst>
          </p:cNvPr>
          <p:cNvSpPr>
            <a:spLocks noGrp="1"/>
          </p:cNvSpPr>
          <p:nvPr/>
        </p:nvSpPr>
        <p:spPr>
          <a:xfrm>
            <a:off x="685800" y="6172200"/>
            <a:ext cx="10820400" cy="9525"/>
          </a:xfrm>
          <a:prstGeom prst="rect">
            <a:avLst/>
          </a:prstGeom>
          <a:solidFill>
            <a:srgbClr val="D5DEDD"/>
          </a:solidFill>
          <a:ln w="0">
            <a:noFill/>
          </a:ln>
        </p:spPr>
      </p:sp>
      <p:sp>
        <p:nvSpPr>
          <p:cNvPr id="8" name="">
            <a:extLst>
              <a:ext uri="{FF2B5EF4-FFF2-40B4-BE49-F238E27FC236}">
                <ns2:creationId id="{DADB786E-8113-4A58-B259-F88A15ADF976}"/>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9" name="">
            <a:extLst>
              <a:ext uri="{FF2B5EF4-FFF2-40B4-BE49-F238E27FC236}">
                <ns2:creationId id="{12C638F2-8C98-42F6-93F6-D6C9BEC543D4}"/>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0" name="">
            <a:extLst>
              <a:ext uri="{FF2B5EF4-FFF2-40B4-BE49-F238E27FC236}">
                <ns2:creationId id="{FC4CD2EF-BED9-43BD-8334-5C6963DDF998}"/>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1" name="">
            <a:extLst>
              <a:ext uri="{FF2B5EF4-FFF2-40B4-BE49-F238E27FC236}">
                <ns2:creationId id="{D5B9EB5B-AD15-4101-9831-54EE0E5EE577}"/>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10/30   090</a:t>
            </a:r>
          </a:p>
        </p:txBody>
      </p:sp>
    </p:spTree>
    <p:extLst>
      <p:ext uri="{BB962C8B-B14F-4D97-AF65-F5344CB8AC3E}">
        <ns4:creationId val="668751696"/>
      </p:ext>
    </p:extLst>
  </p:cSld>
</p:sld>
</file>

<file path=ppt/slides/slide91.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4" name="">
            <a:extLst>
              <a:ext uri="{FF2B5EF4-FFF2-40B4-BE49-F238E27FC236}">
                <ns2:creationId id="{901F0A6E-5C64-417A-BEE9-72F864B28836}"/>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6교시</a:t>
            </a:r>
          </a:p>
        </p:txBody>
      </p:sp>
      <p:sp>
        <p:nvSpPr>
          <p:cNvPr id="2" name="">
            <a:extLst>
              <a:ext uri="{FF2B5EF4-FFF2-40B4-BE49-F238E27FC236}">
                <ns2:creationId id="{A57361A3-EF4D-4B30-A34B-187480738E43}"/>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변경 이력과 영향</a:t>
            </a:r>
          </a:p>
        </p:txBody>
      </p:sp>
      <p:sp>
        <p:nvSpPr>
          <p:cNvPr id="3" name="">
            <a:extLst>
              <a:ext uri="{FF2B5EF4-FFF2-40B4-BE49-F238E27FC236}">
                <ns2:creationId id="{BB92982F-7F85-43E3-8BB7-1A5E44EDBA88}"/>
              </a:ext>
            </a:extLst>
          </p:cNvPr>
          <p:cNvSpPr>
            <a:spLocks noGrp="1"/>
          </p:cNvSpPr>
          <p:nvPr/>
        </p:nvSpPr>
        <p:spPr>
          <a:xfrm>
            <a:off x="685800" y="1933575"/>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변경 전 · 변경 후 · 이유 · 관련 ID · 담당</a:t>
            </a:r>
          </a:p>
        </p:txBody>
      </p:sp>
      <p:sp>
        <p:nvSpPr>
          <p:cNvPr id="4" name="">
            <a:extLst>
              <a:ext uri="{FF2B5EF4-FFF2-40B4-BE49-F238E27FC236}">
                <ns2:creationId id="{E3F107A4-51FA-4A9D-A309-28C4B6320EC6}"/>
              </a:ext>
            </a:extLst>
          </p:cNvPr>
          <p:cNvSpPr>
            <a:spLocks noGrp="1"/>
          </p:cNvSpPr>
          <p:nvPr/>
        </p:nvSpPr>
        <p:spPr>
          <a:xfrm>
            <a:off x="685800" y="2769870"/>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다음 담당자가 무엇을 왜 바꿨는지 알 수 있어야 합니다.</a:t>
            </a:r>
          </a:p>
        </p:txBody>
      </p:sp>
      <p:sp>
        <p:nvSpPr>
          <p:cNvPr id="5" name="">
            <a:extLst>
              <a:ext uri="{FF2B5EF4-FFF2-40B4-BE49-F238E27FC236}">
                <ns2:creationId id="{7166CE59-3B14-4849-A57F-F8877BA23F06}"/>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수정 이력의 예</a:t>
            </a:r>
          </a:p>
        </p:txBody>
      </p:sp>
      <p:sp>
        <p:nvSpPr>
          <p:cNvPr id="6" name="">
            <a:extLst>
              <a:ext uri="{FF2B5EF4-FFF2-40B4-BE49-F238E27FC236}">
                <ns2:creationId id="{DAB0D8F2-E842-48F7-A1EE-7ACC33B100CF}"/>
              </a:ext>
            </a:extLst>
          </p:cNvPr>
          <p:cNvSpPr>
            <a:spLocks noGrp="1"/>
          </p:cNvSpPr>
          <p:nvPr/>
        </p:nvSpPr>
        <p:spPr>
          <a:xfrm>
            <a:off x="6267450" y="2628900"/>
            <a:ext cx="5238750" cy="440246"/>
          </a:xfrm>
          <a:prstGeom prst="rect">
            <a:avLst/>
          </a:prstGeom>
          <a:noFill/>
          <a:ln w="0">
            <a:noFill/>
          </a:ln>
        </p:spPr>
        <p:txBody>
          <a:bodyPr wrap="square" lIns="0" tIns="0" rIns="0" bIns="0">
            <a:noAutofit/>
          </a:bodyPr>
          <a:lstStyle/>
          <a:p>
            <a:pPr>
              <a:defRPr sz="2175" b="0">
                <a:solidFill>
                  <a:srgbClr val="172F39"/>
                </a:solidFill>
                <a:latin typeface="Noto Sans KR"/>
                <a:ea typeface="Noto Sans KR"/>
                <a:cs typeface="Noto Sans KR"/>
              </a:defRPr>
            </a:pPr>
            <a:r>
              <a:t>변경: 실시간 카메라 보류</a:t>
            </a:r>
          </a:p>
        </p:txBody>
      </p:sp>
      <p:sp>
        <p:nvSpPr>
          <p:cNvPr id="7" name="">
            <a:extLst>
              <a:ext uri="{FF2B5EF4-FFF2-40B4-BE49-F238E27FC236}">
                <ns2:creationId id="{10E515E6-AE17-4951-ADDC-F5B42E2A2B4A}"/>
              </a:ext>
            </a:extLst>
          </p:cNvPr>
          <p:cNvSpPr>
            <a:spLocks noGrp="1"/>
          </p:cNvSpPr>
          <p:nvPr/>
        </p:nvSpPr>
        <p:spPr>
          <a:xfrm>
            <a:off x="6267450" y="3116771"/>
            <a:ext cx="5238750" cy="440246"/>
          </a:xfrm>
          <a:prstGeom prst="rect">
            <a:avLst/>
          </a:prstGeom>
          <a:noFill/>
          <a:ln w="0">
            <a:noFill/>
          </a:ln>
        </p:spPr>
        <p:txBody>
          <a:bodyPr wrap="square" lIns="0" tIns="0" rIns="0" bIns="0">
            <a:noAutofit/>
          </a:bodyPr>
          <a:lstStyle/>
          <a:p>
            <a:pPr>
              <a:defRPr sz="2175" b="0">
                <a:solidFill>
                  <a:srgbClr val="172F39"/>
                </a:solidFill>
                <a:latin typeface="Noto Sans KR"/>
                <a:ea typeface="Noto Sans KR"/>
                <a:cs typeface="Noto Sans KR"/>
              </a:defRPr>
            </a:pPr>
            <a:r>
              <a:t>이유: 모델과 성능 미확인</a:t>
            </a:r>
          </a:p>
        </p:txBody>
      </p:sp>
      <p:sp>
        <p:nvSpPr>
          <p:cNvPr id="8" name="">
            <a:extLst>
              <a:ext uri="{FF2B5EF4-FFF2-40B4-BE49-F238E27FC236}">
                <ns2:creationId id="{19FE4B44-504D-46C0-9482-144952A4C352}"/>
              </a:ext>
            </a:extLst>
          </p:cNvPr>
          <p:cNvSpPr>
            <a:spLocks noGrp="1"/>
          </p:cNvSpPr>
          <p:nvPr/>
        </p:nvSpPr>
        <p:spPr>
          <a:xfrm>
            <a:off x="6267450" y="3604641"/>
            <a:ext cx="5238750" cy="440246"/>
          </a:xfrm>
          <a:prstGeom prst="rect">
            <a:avLst/>
          </a:prstGeom>
          <a:noFill/>
          <a:ln w="0">
            <a:noFill/>
          </a:ln>
        </p:spPr>
        <p:txBody>
          <a:bodyPr wrap="square" lIns="0" tIns="0" rIns="0" bIns="0">
            <a:noAutofit/>
          </a:bodyPr>
          <a:lstStyle/>
          <a:p>
            <a:pPr>
              <a:defRPr sz="2175" b="0">
                <a:solidFill>
                  <a:srgbClr val="172F39"/>
                </a:solidFill>
                <a:latin typeface="Noto Sans KR"/>
                <a:ea typeface="Noto Sans KR"/>
                <a:cs typeface="Noto Sans KR"/>
              </a:defRPr>
            </a:pPr>
            <a:r>
              <a:t>영향: 범위·시험·위험·견적</a:t>
            </a:r>
          </a:p>
        </p:txBody>
      </p:sp>
      <p:sp>
        <p:nvSpPr>
          <p:cNvPr id="9" name="">
            <a:extLst>
              <a:ext uri="{FF2B5EF4-FFF2-40B4-BE49-F238E27FC236}">
                <ns2:creationId id="{2944BB4F-D24E-4F03-B963-A9F475F6CE57}"/>
              </a:ext>
            </a:extLst>
          </p:cNvPr>
          <p:cNvSpPr>
            <a:spLocks noGrp="1"/>
          </p:cNvSpPr>
          <p:nvPr/>
        </p:nvSpPr>
        <p:spPr>
          <a:xfrm>
            <a:off x="685800" y="6172200"/>
            <a:ext cx="10820400" cy="9525"/>
          </a:xfrm>
          <a:prstGeom prst="rect">
            <a:avLst/>
          </a:prstGeom>
          <a:solidFill>
            <a:srgbClr val="D5DEDD"/>
          </a:solidFill>
          <a:ln w="0">
            <a:noFill/>
          </a:ln>
        </p:spPr>
      </p:sp>
      <p:sp>
        <p:nvSpPr>
          <p:cNvPr id="10" name="">
            <a:extLst>
              <a:ext uri="{FF2B5EF4-FFF2-40B4-BE49-F238E27FC236}">
                <ns2:creationId id="{76C5534F-6E9B-4063-9E22-1DB226576C3B}"/>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1" name="">
            <a:extLst>
              <a:ext uri="{FF2B5EF4-FFF2-40B4-BE49-F238E27FC236}">
                <ns2:creationId id="{63F3A5FB-43DF-48AD-9094-D018638747DE}"/>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2" name="">
            <a:extLst>
              <a:ext uri="{FF2B5EF4-FFF2-40B4-BE49-F238E27FC236}">
                <ns2:creationId id="{E342A3D6-8BEB-4B69-827F-1B792903F9F3}"/>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3" name="">
            <a:extLst>
              <a:ext uri="{FF2B5EF4-FFF2-40B4-BE49-F238E27FC236}">
                <ns2:creationId id="{698B0033-122B-418A-81AD-4D09EC54EED4}"/>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10/30   091</a:t>
            </a:r>
          </a:p>
        </p:txBody>
      </p:sp>
    </p:spTree>
    <p:extLst>
      <p:ext uri="{BB962C8B-B14F-4D97-AF65-F5344CB8AC3E}">
        <ns4:creationId val="192305339"/>
      </p:ext>
    </p:extLst>
  </p:cSld>
</p:sld>
</file>

<file path=ppt/slides/slide92.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2" name="">
            <a:extLst>
              <a:ext uri="{FF2B5EF4-FFF2-40B4-BE49-F238E27FC236}">
                <ns2:creationId id="{98A64681-7C60-4D11-A37C-87770F51328F}"/>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6교시</a:t>
            </a:r>
          </a:p>
        </p:txBody>
      </p:sp>
      <p:sp>
        <p:nvSpPr>
          <p:cNvPr id="2" name="">
            <a:extLst>
              <a:ext uri="{FF2B5EF4-FFF2-40B4-BE49-F238E27FC236}">
                <ns2:creationId id="{91735471-907C-4C97-8F67-D5C729DA5F51}"/>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기획 완료와 제품 검증</a:t>
            </a:r>
          </a:p>
        </p:txBody>
      </p:sp>
      <p:sp>
        <p:nvSpPr>
          <p:cNvPr id="3" name="">
            <a:extLst>
              <a:ext uri="{FF2B5EF4-FFF2-40B4-BE49-F238E27FC236}">
                <ns2:creationId id="{BEFDDA18-3231-41C4-9773-ED69DD57C7EC}"/>
              </a:ext>
            </a:extLst>
          </p:cNvPr>
          <p:cNvSpPr>
            <a:spLocks noGrp="1"/>
          </p:cNvSpPr>
          <p:nvPr/>
        </p:nvSpPr>
        <p:spPr>
          <a:xfrm>
            <a:off x="685800" y="1933575"/>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이번에 완료할 것: 기획서 작성과 예제 코드 실행</a:t>
            </a:r>
          </a:p>
        </p:txBody>
      </p:sp>
      <p:sp>
        <p:nvSpPr>
          <p:cNvPr id="4" name="">
            <a:extLst>
              <a:ext uri="{FF2B5EF4-FFF2-40B4-BE49-F238E27FC236}">
                <ns2:creationId id="{89ED4FE6-8763-4A8C-839F-EA8255E75DD1}"/>
              </a:ext>
            </a:extLst>
          </p:cNvPr>
          <p:cNvSpPr>
            <a:spLocks noGrp="1"/>
          </p:cNvSpPr>
          <p:nvPr/>
        </p:nvSpPr>
        <p:spPr>
          <a:xfrm>
            <a:off x="685800" y="2769870"/>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실제 제품 개발·사용자 시험·장비 성능 시험은 별도로 진행</a:t>
            </a:r>
          </a:p>
        </p:txBody>
      </p:sp>
      <p:sp>
        <p:nvSpPr>
          <p:cNvPr id="5" name="">
            <a:extLst>
              <a:ext uri="{FF2B5EF4-FFF2-40B4-BE49-F238E27FC236}">
                <ns2:creationId id="{80892D73-4BC5-4312-8832-CFCB4D9783AA}"/>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변경한 내용을 문서에 반영</a:t>
            </a:r>
          </a:p>
        </p:txBody>
      </p:sp>
      <p:graphicFrame>
        <p:nvGraphicFramePr>
          <p:cNvPr id="17" name=""/>
          <p:cNvGraphicFramePr/>
          <p:nvPr/>
        </p:nvGraphicFramePr>
        <p:xfrm>
          <a:off x="6267450" y="2628900"/>
          <a:ext cx="5238750" cy="2057400"/>
        </p:xfrm>
        <a:graphic>
          <a:graphicData uri="http://schemas.openxmlformats.org/drawingml/2006/table">
            <a:tbl>
              <a:tblPr firstRow="1" bandRow="0"/>
              <a:tblGrid>
                <a:gridCol w="1803909"/>
                <a:gridCol w="3434841"/>
              </a:tblGrid>
              <a:tr h="514350">
                <a:tc>
                  <a:txBody>
                    <a:bodyPr wrap="square"/>
                    <a:lstStyle/>
                    <a:p>
                      <a:pPr>
                        <a:lnSpc>
                          <a:spcPct val="102000"/>
                        </a:lnSpc>
                        <a:buNone/>
                      </a:pPr>
                      <a:r>
                        <a:rPr sz="1875" b="1">
                          <a:solidFill>
                            <a:srgbClr val="172F39"/>
                          </a:solidFill>
                          <a:latin typeface="Noto Sans KR"/>
                          <a:ea typeface="Noto Sans KR"/>
                          <a:cs typeface="Noto Sans KR"/>
                        </a:rPr>
                        <a:t>문서</a:t>
                      </a:r>
                    </a:p>
                  </a:txBody>
                  <a:tcPr marL="114300" marR="114300" marT="76200" marB="76200" anchor="ctr">
                    <a:solidFill>
                      <a:srgbClr val="DCECE8"/>
                    </a:solidFill>
                  </a:tcPr>
                </a:tc>
                <a:tc>
                  <a:txBody>
                    <a:bodyPr wrap="square"/>
                    <a:lstStyle/>
                    <a:p>
                      <a:pPr>
                        <a:lnSpc>
                          <a:spcPct val="102000"/>
                        </a:lnSpc>
                        <a:buNone/>
                      </a:pPr>
                      <a:r>
                        <a:rPr sz="1875" b="1">
                          <a:solidFill>
                            <a:srgbClr val="172F39"/>
                          </a:solidFill>
                          <a:latin typeface="Noto Sans KR"/>
                          <a:ea typeface="Noto Sans KR"/>
                          <a:cs typeface="Noto Sans KR"/>
                        </a:rPr>
                        <a:t>카메라를 제외한다면</a:t>
                      </a:r>
                    </a:p>
                  </a:txBody>
                  <a:tcPr marL="114300" marR="114300" marT="76200" marB="76200" anchor="ctr">
                    <a:solidFill>
                      <a:srgbClr val="DCECE8"/>
                    </a:solidFill>
                  </a:tcPr>
                </a:tc>
              </a:tr>
              <a:tr h="514350">
                <a:tc>
                  <a:txBody>
                    <a:bodyPr wrap="square"/>
                    <a:lstStyle/>
                    <a:p>
                      <a:pPr>
                        <a:lnSpc>
                          <a:spcPct val="102000"/>
                        </a:lnSpc>
                        <a:buNone/>
                      </a:pPr>
                      <a:r>
                        <a:rPr sz="1875" b="0">
                          <a:solidFill>
                            <a:srgbClr val="172F39"/>
                          </a:solidFill>
                          <a:latin typeface="Noto Sans KR"/>
                          <a:ea typeface="Noto Sans KR"/>
                          <a:cs typeface="Noto Sans KR"/>
                        </a:rPr>
                        <a:t>기능 목록</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카메라 기능을 넣지 않음</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시험표</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실물 시험은 NOT_RUN</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견적</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구매비 포함 여부 확인</a:t>
                      </a:r>
                    </a:p>
                  </a:txBody>
                  <a:tcPr marL="114300" marR="114300" marT="76200" marB="76200" anchor="ctr">
                    <a:solidFill>
                      <a:srgbClr val="FFFFFF"/>
                    </a:solidFill>
                  </a:tcPr>
                </a:tc>
              </a:tr>
            </a:tbl>
          </a:graphicData>
        </a:graphic>
      </p:graphicFrame>
      <p:sp>
        <p:nvSpPr>
          <p:cNvPr id="7" name="">
            <a:extLst>
              <a:ext uri="{FF2B5EF4-FFF2-40B4-BE49-F238E27FC236}">
                <ns2:creationId id="{4B4F8836-3EBA-489D-9604-C3AE0820AB17}"/>
              </a:ext>
            </a:extLst>
          </p:cNvPr>
          <p:cNvSpPr>
            <a:spLocks noGrp="1"/>
          </p:cNvSpPr>
          <p:nvPr/>
        </p:nvSpPr>
        <p:spPr>
          <a:xfrm>
            <a:off x="685800" y="6172200"/>
            <a:ext cx="10820400" cy="9525"/>
          </a:xfrm>
          <a:prstGeom prst="rect">
            <a:avLst/>
          </a:prstGeom>
          <a:solidFill>
            <a:srgbClr val="D5DEDD"/>
          </a:solidFill>
          <a:ln w="0">
            <a:noFill/>
          </a:ln>
        </p:spPr>
      </p:sp>
      <p:sp>
        <p:nvSpPr>
          <p:cNvPr id="8" name="">
            <a:extLst>
              <a:ext uri="{FF2B5EF4-FFF2-40B4-BE49-F238E27FC236}">
                <ns2:creationId id="{FE140EAF-2F50-455E-88BA-BED7965F6ECD}"/>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9" name="">
            <a:extLst>
              <a:ext uri="{FF2B5EF4-FFF2-40B4-BE49-F238E27FC236}">
                <ns2:creationId id="{205BB2D8-D7D5-4F1A-8E70-F35B9CD7C04F}"/>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0" name="">
            <a:extLst>
              <a:ext uri="{FF2B5EF4-FFF2-40B4-BE49-F238E27FC236}">
                <ns2:creationId id="{9B248B31-C08E-45CB-B6A4-3DD41ECA4BC9}"/>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1" name="">
            <a:extLst>
              <a:ext uri="{FF2B5EF4-FFF2-40B4-BE49-F238E27FC236}">
                <ns2:creationId id="{E07BCA4F-1E69-4C62-BC0B-15BDA3042838}"/>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10/30   092</a:t>
            </a:r>
          </a:p>
        </p:txBody>
      </p:sp>
    </p:spTree>
    <p:extLst>
      <p:ext uri="{BB962C8B-B14F-4D97-AF65-F5344CB8AC3E}">
        <ns4:creationId val="954674216"/>
      </p:ext>
    </p:extLst>
  </p:cSld>
</p:sld>
</file>

<file path=ppt/slides/slide93.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9" name="">
            <a:extLst>
              <a:ext uri="{FF2B5EF4-FFF2-40B4-BE49-F238E27FC236}">
                <ns2:creationId id="{CCA5BF25-6C6E-459B-B407-E1CDD5288B81}"/>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6교시</a:t>
            </a:r>
          </a:p>
        </p:txBody>
      </p:sp>
      <p:sp>
        <p:nvSpPr>
          <p:cNvPr id="2" name="">
            <a:extLst>
              <a:ext uri="{FF2B5EF4-FFF2-40B4-BE49-F238E27FC236}">
                <ns2:creationId id="{23B2EBF1-BB8B-4E75-9D81-162A6A345160}"/>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기획 인수인계 묶음</a:t>
            </a:r>
          </a:p>
        </p:txBody>
      </p:sp>
      <p:graphicFrame>
        <p:nvGraphicFramePr>
          <p:cNvPr id="11" name=""/>
          <p:cNvGraphicFramePr/>
          <p:nvPr/>
        </p:nvGraphicFramePr>
        <p:xfrm>
          <a:off x="685800" y="1809750"/>
          <a:ext cx="10820400" cy="2682240"/>
        </p:xfrm>
        <a:graphic>
          <a:graphicData uri="http://schemas.openxmlformats.org/drawingml/2006/table">
            <a:tbl>
              <a:tblPr firstRow="1" bandRow="0"/>
              <a:tblGrid>
                <a:gridCol w="5217262"/>
                <a:gridCol w="5603138"/>
              </a:tblGrid>
              <a:tr h="536448">
                <a:tc>
                  <a:txBody>
                    <a:bodyPr wrap="square"/>
                    <a:lstStyle/>
                    <a:p>
                      <a:pPr>
                        <a:lnSpc>
                          <a:spcPct val="102000"/>
                        </a:lnSpc>
                        <a:buNone/>
                      </a:pPr>
                      <a:r>
                        <a:rPr sz="2025" b="1">
                          <a:solidFill>
                            <a:srgbClr val="172F39"/>
                          </a:solidFill>
                          <a:latin typeface="Noto Sans KR"/>
                          <a:ea typeface="Noto Sans KR"/>
                          <a:cs typeface="Noto Sans KR"/>
                        </a:rPr>
                        <a:t>문서</a:t>
                      </a:r>
                    </a:p>
                  </a:txBody>
                  <a:tcPr marL="114300" marR="114300" marT="76200" marB="76200" anchor="ctr">
                    <a:solidFill>
                      <a:srgbClr val="DCECE8"/>
                    </a:solidFill>
                  </a:tcPr>
                </a:tc>
                <a:tc>
                  <a:txBody>
                    <a:bodyPr wrap="square"/>
                    <a:lstStyle/>
                    <a:p>
                      <a:pPr>
                        <a:lnSpc>
                          <a:spcPct val="102000"/>
                        </a:lnSpc>
                        <a:buNone/>
                      </a:pPr>
                      <a:r>
                        <a:rPr sz="2025" b="1">
                          <a:solidFill>
                            <a:srgbClr val="172F39"/>
                          </a:solidFill>
                          <a:latin typeface="Noto Sans KR"/>
                          <a:ea typeface="Noto Sans KR"/>
                          <a:cs typeface="Noto Sans KR"/>
                        </a:rPr>
                        <a:t>서로 확인할 내용</a:t>
                      </a:r>
                    </a:p>
                  </a:txBody>
                  <a:tcPr marL="114300" marR="114300" marT="76200" marB="76200" anchor="ctr">
                    <a:solidFill>
                      <a:srgbClr val="DCECE8"/>
                    </a:solidFill>
                  </a:tcPr>
                </a:tc>
              </a:tr>
              <a:tr h="536448">
                <a:tc>
                  <a:txBody>
                    <a:bodyPr wrap="square"/>
                    <a:lstStyle/>
                    <a:p>
                      <a:pPr>
                        <a:lnSpc>
                          <a:spcPct val="102000"/>
                        </a:lnSpc>
                        <a:buNone/>
                      </a:pPr>
                      <a:r>
                        <a:rPr sz="2025" b="0">
                          <a:solidFill>
                            <a:srgbClr val="172F39"/>
                          </a:solidFill>
                          <a:latin typeface="Noto Sans KR"/>
                          <a:ea typeface="Noto Sans KR"/>
                          <a:cs typeface="Noto Sans KR"/>
                        </a:rPr>
                        <a:t>기획서</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문제·범위·가정</a:t>
                      </a:r>
                    </a:p>
                  </a:txBody>
                  <a:tcPr marL="114300" marR="114300" marT="76200" marB="76200" anchor="ctr">
                    <a:solidFill>
                      <a:srgbClr val="FFFFFF"/>
                    </a:solidFill>
                  </a:tcPr>
                </a:tc>
              </a:tr>
              <a:tr h="536448">
                <a:tc>
                  <a:txBody>
                    <a:bodyPr wrap="square"/>
                    <a:lstStyle/>
                    <a:p>
                      <a:pPr>
                        <a:lnSpc>
                          <a:spcPct val="102000"/>
                        </a:lnSpc>
                        <a:buNone/>
                      </a:pPr>
                      <a:r>
                        <a:rPr sz="2025" b="0">
                          <a:solidFill>
                            <a:srgbClr val="172F39"/>
                          </a:solidFill>
                          <a:latin typeface="Noto Sans KR"/>
                          <a:ea typeface="Noto Sans KR"/>
                          <a:cs typeface="Noto Sans KR"/>
                        </a:rPr>
                        <a:t>데이터 계약</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키·값·누락</a:t>
                      </a:r>
                    </a:p>
                  </a:txBody>
                  <a:tcPr marL="114300" marR="114300" marT="76200" marB="76200" anchor="ctr">
                    <a:solidFill>
                      <a:srgbClr val="FFFFFF"/>
                    </a:solidFill>
                  </a:tcPr>
                </a:tc>
              </a:tr>
              <a:tr h="536448">
                <a:tc>
                  <a:txBody>
                    <a:bodyPr wrap="square"/>
                    <a:lstStyle/>
                    <a:p>
                      <a:pPr>
                        <a:lnSpc>
                          <a:spcPct val="102000"/>
                        </a:lnSpc>
                        <a:buNone/>
                      </a:pPr>
                      <a:r>
                        <a:rPr sz="2025" b="0">
                          <a:solidFill>
                            <a:srgbClr val="172F39"/>
                          </a:solidFill>
                          <a:latin typeface="Noto Sans KR"/>
                          <a:ea typeface="Noto Sans KR"/>
                          <a:cs typeface="Noto Sans KR"/>
                        </a:rPr>
                        <a:t>요구·시험표</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입력·기대·관찰</a:t>
                      </a:r>
                    </a:p>
                  </a:txBody>
                  <a:tcPr marL="114300" marR="114300" marT="76200" marB="76200" anchor="ctr">
                    <a:solidFill>
                      <a:srgbClr val="FFFFFF"/>
                    </a:solidFill>
                  </a:tcPr>
                </a:tc>
              </a:tr>
              <a:tr h="536448">
                <a:tc>
                  <a:txBody>
                    <a:bodyPr wrap="square"/>
                    <a:lstStyle/>
                    <a:p>
                      <a:pPr>
                        <a:lnSpc>
                          <a:spcPct val="102000"/>
                        </a:lnSpc>
                        <a:buNone/>
                      </a:pPr>
                      <a:r>
                        <a:rPr sz="2025" b="0">
                          <a:solidFill>
                            <a:srgbClr val="172F39"/>
                          </a:solidFill>
                          <a:latin typeface="Noto Sans KR"/>
                          <a:ea typeface="Noto Sans KR"/>
                          <a:cs typeface="Noto Sans KR"/>
                        </a:rPr>
                        <a:t>작업·변경 이력</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순서·비용·영향</a:t>
                      </a:r>
                    </a:p>
                  </a:txBody>
                  <a:tcPr marL="114300" marR="114300" marT="76200" marB="76200" anchor="ctr">
                    <a:solidFill>
                      <a:srgbClr val="FFFFFF"/>
                    </a:solidFill>
                  </a:tcPr>
                </a:tc>
              </a:tr>
            </a:tbl>
          </a:graphicData>
        </a:graphic>
      </p:graphicFrame>
      <p:sp>
        <p:nvSpPr>
          <p:cNvPr id="4" name="">
            <a:extLst>
              <a:ext uri="{FF2B5EF4-FFF2-40B4-BE49-F238E27FC236}">
                <ns2:creationId id="{65B3D7FA-BE18-414B-B5D7-CDE0FB3734F3}"/>
              </a:ext>
            </a:extLst>
          </p:cNvPr>
          <p:cNvSpPr>
            <a:spLocks noGrp="1"/>
          </p:cNvSpPr>
          <p:nvPr/>
        </p:nvSpPr>
        <p:spPr>
          <a:xfrm>
            <a:off x="685800" y="6172200"/>
            <a:ext cx="10820400" cy="9525"/>
          </a:xfrm>
          <a:prstGeom prst="rect">
            <a:avLst/>
          </a:prstGeom>
          <a:solidFill>
            <a:srgbClr val="D5DEDD"/>
          </a:solidFill>
          <a:ln w="0">
            <a:noFill/>
          </a:ln>
        </p:spPr>
      </p:sp>
      <p:sp>
        <p:nvSpPr>
          <p:cNvPr id="5" name="">
            <a:extLst>
              <a:ext uri="{FF2B5EF4-FFF2-40B4-BE49-F238E27FC236}">
                <ns2:creationId id="{3F48940C-BB7D-4DD5-B57F-2BA7671852C2}"/>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6" name="">
            <a:extLst>
              <a:ext uri="{FF2B5EF4-FFF2-40B4-BE49-F238E27FC236}">
                <ns2:creationId id="{44C99B44-9796-4540-8EBB-8CF819BA5091}"/>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7" name="">
            <a:extLst>
              <a:ext uri="{FF2B5EF4-FFF2-40B4-BE49-F238E27FC236}">
                <ns2:creationId id="{53B6717E-BBCB-4473-8643-44BDF99F725A}"/>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8" name="">
            <a:extLst>
              <a:ext uri="{FF2B5EF4-FFF2-40B4-BE49-F238E27FC236}">
                <ns2:creationId id="{F01B6E61-DD42-4BF9-886F-20CF62E1FB4E}"/>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10/30   093</a:t>
            </a:r>
          </a:p>
        </p:txBody>
      </p:sp>
    </p:spTree>
    <p:extLst>
      <p:ext uri="{BB962C8B-B14F-4D97-AF65-F5344CB8AC3E}">
        <ns4:creationId val="1071335192"/>
      </p:ext>
    </p:extLst>
  </p:cSld>
</p:sld>
</file>

<file path=ppt/slides/slide94.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0" name="">
            <a:extLst>
              <a:ext uri="{FF2B5EF4-FFF2-40B4-BE49-F238E27FC236}">
                <ns2:creationId id="{C3EDFD59-FDCF-4F8A-9E8B-85F66D6C2FD9}"/>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6교시</a:t>
            </a:r>
          </a:p>
        </p:txBody>
      </p:sp>
      <p:sp>
        <p:nvSpPr>
          <p:cNvPr id="2" name="">
            <a:extLst>
              <a:ext uri="{FF2B5EF4-FFF2-40B4-BE49-F238E27FC236}">
                <ns2:creationId id="{06B2F4E9-5CEB-4E11-86D9-CAAB7FB35F52}"/>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예상 출력</a:t>
            </a:r>
          </a:p>
        </p:txBody>
      </p:sp>
      <p:sp>
        <p:nvSpPr>
          <p:cNvPr id="3" name="">
            <a:extLst>
              <a:ext uri="{FF2B5EF4-FFF2-40B4-BE49-F238E27FC236}">
                <ns2:creationId id="{3FE90128-1A18-48A1-821B-DD9DF2851DF6}"/>
              </a:ext>
            </a:extLst>
          </p:cNvPr>
          <p:cNvSpPr>
            <a:spLocks noGrp="1"/>
          </p:cNvSpPr>
          <p:nvPr/>
        </p:nvSpPr>
        <p:spPr>
          <a:xfrm>
            <a:off x="685800" y="1990725"/>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기획서에 사용할 입력과 작업 완료 조건이 적혀 있나요?</a:t>
            </a:r>
          </a:p>
        </p:txBody>
      </p:sp>
      <p:sp>
        <p:nvSpPr>
          <p:cNvPr id="4" name="">
            <a:extLst>
              <a:ext uri="{FF2B5EF4-FFF2-40B4-BE49-F238E27FC236}">
                <ns2:creationId id="{AEBFED5F-DAE4-4204-BAD8-1C5DB4A116E3}"/>
              </a:ext>
            </a:extLst>
          </p:cNvPr>
          <p:cNvSpPr>
            <a:spLocks noGrp="1"/>
          </p:cNvSpPr>
          <p:nvPr/>
        </p:nvSpPr>
        <p:spPr>
          <a:xfrm>
            <a:off x="685800" y="2534793"/>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기획서, 시험표, 견적의 값과 ID가 서로 맞는지 확인하세요.</a:t>
            </a:r>
          </a:p>
        </p:txBody>
      </p:sp>
      <p:sp>
        <p:nvSpPr>
          <p:cNvPr id="5" name="">
            <a:extLst>
              <a:ext uri="{FF2B5EF4-FFF2-40B4-BE49-F238E27FC236}">
                <ns2:creationId id="{5F0B38DC-1C23-4C42-ADD4-4F03ED2A5D70}"/>
              </a:ext>
            </a:extLst>
          </p:cNvPr>
          <p:cNvSpPr>
            <a:spLocks noGrp="1"/>
          </p:cNvSpPr>
          <p:nvPr/>
        </p:nvSpPr>
        <p:spPr>
          <a:xfrm>
            <a:off x="685800" y="6172200"/>
            <a:ext cx="10820400" cy="9525"/>
          </a:xfrm>
          <a:prstGeom prst="rect">
            <a:avLst/>
          </a:prstGeom>
          <a:solidFill>
            <a:srgbClr val="D5DEDD"/>
          </a:solidFill>
          <a:ln w="0">
            <a:noFill/>
          </a:ln>
        </p:spPr>
      </p:sp>
      <p:sp>
        <p:nvSpPr>
          <p:cNvPr id="6" name="">
            <a:extLst>
              <a:ext uri="{FF2B5EF4-FFF2-40B4-BE49-F238E27FC236}">
                <ns2:creationId id="{04F9D3D3-382B-4016-A98B-9FD5A046F79E}"/>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7" name="">
            <a:extLst>
              <a:ext uri="{FF2B5EF4-FFF2-40B4-BE49-F238E27FC236}">
                <ns2:creationId id="{32C86CEE-FBE3-411A-A3AA-5D960C695865}"/>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8" name="">
            <a:extLst>
              <a:ext uri="{FF2B5EF4-FFF2-40B4-BE49-F238E27FC236}">
                <ns2:creationId id="{3DC3FA54-DD12-4112-8AF5-4FF1EA7DD616}"/>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9" name="">
            <a:extLst>
              <a:ext uri="{FF2B5EF4-FFF2-40B4-BE49-F238E27FC236}">
                <ns2:creationId id="{8B78FDB8-C016-4130-A21F-0A2CD69FECAF}"/>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10/30   094</a:t>
            </a:r>
          </a:p>
        </p:txBody>
      </p:sp>
    </p:spTree>
    <p:extLst>
      <p:ext uri="{BB962C8B-B14F-4D97-AF65-F5344CB8AC3E}">
        <ns4:creationId val="1934825447"/>
      </p:ext>
    </p:extLst>
  </p:cSld>
</p:sld>
</file>

<file path=ppt/slides/slide95.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1" name="">
            <a:extLst>
              <a:ext uri="{FF2B5EF4-FFF2-40B4-BE49-F238E27FC236}">
                <ns2:creationId id="{6358D0B0-313E-46F7-8DDA-C72464B6A92F}"/>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6교시</a:t>
            </a:r>
          </a:p>
        </p:txBody>
      </p:sp>
      <p:sp>
        <p:nvSpPr>
          <p:cNvPr id="2" name="">
            <a:extLst>
              <a:ext uri="{FF2B5EF4-FFF2-40B4-BE49-F238E27FC236}">
                <ns2:creationId id="{A5CBAD30-2CD3-4CF0-8A21-DB871888208D}"/>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연습 문제</a:t>
            </a:r>
          </a:p>
        </p:txBody>
      </p:sp>
      <p:sp>
        <p:nvSpPr>
          <p:cNvPr id="3" name="">
            <a:extLst>
              <a:ext uri="{FF2B5EF4-FFF2-40B4-BE49-F238E27FC236}">
                <ns2:creationId id="{D3E7CBF8-0E1D-4EBE-8383-7EA2BB8B612A}"/>
              </a:ext>
            </a:extLst>
          </p:cNvPr>
          <p:cNvSpPr>
            <a:spLocks noGrp="1"/>
          </p:cNvSpPr>
          <p:nvPr/>
        </p:nvSpPr>
        <p:spPr>
          <a:xfrm>
            <a:off x="685800" y="1990725"/>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범위에서 카메라를 제외했습니다.</a:t>
            </a:r>
          </a:p>
        </p:txBody>
      </p:sp>
      <p:sp>
        <p:nvSpPr>
          <p:cNvPr id="4" name="">
            <a:extLst>
              <a:ext uri="{FF2B5EF4-FFF2-40B4-BE49-F238E27FC236}">
                <ns2:creationId id="{DE95D47B-CC3B-4CE3-84BC-F5B72C459C01}"/>
              </a:ext>
            </a:extLst>
          </p:cNvPr>
          <p:cNvSpPr>
            <a:spLocks noGrp="1"/>
          </p:cNvSpPr>
          <p:nvPr/>
        </p:nvSpPr>
        <p:spPr>
          <a:xfrm>
            <a:off x="685800" y="2557272"/>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예산에는 구매, 시험표에는 실물 PASS가 있습니다.</a:t>
            </a:r>
          </a:p>
        </p:txBody>
      </p:sp>
      <p:sp>
        <p:nvSpPr>
          <p:cNvPr id="5" name="">
            <a:extLst>
              <a:ext uri="{FF2B5EF4-FFF2-40B4-BE49-F238E27FC236}">
                <ns2:creationId id="{76663965-5B1B-46BB-B224-E859ECBC137B}"/>
              </a:ext>
            </a:extLst>
          </p:cNvPr>
          <p:cNvSpPr>
            <a:spLocks noGrp="1"/>
          </p:cNvSpPr>
          <p:nvPr/>
        </p:nvSpPr>
        <p:spPr>
          <a:xfrm>
            <a:off x="685800" y="3123819"/>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어디를 왜 고칠까요?</a:t>
            </a:r>
          </a:p>
        </p:txBody>
      </p:sp>
      <p:sp>
        <p:nvSpPr>
          <p:cNvPr id="6" name="">
            <a:extLst>
              <a:ext uri="{FF2B5EF4-FFF2-40B4-BE49-F238E27FC236}">
                <ns2:creationId id="{6565D635-DDDD-470E-8E0D-A8CBC2712AB8}"/>
              </a:ext>
            </a:extLst>
          </p:cNvPr>
          <p:cNvSpPr>
            <a:spLocks noGrp="1"/>
          </p:cNvSpPr>
          <p:nvPr/>
        </p:nvSpPr>
        <p:spPr>
          <a:xfrm>
            <a:off x="685800" y="6172200"/>
            <a:ext cx="10820400" cy="9525"/>
          </a:xfrm>
          <a:prstGeom prst="rect">
            <a:avLst/>
          </a:prstGeom>
          <a:solidFill>
            <a:srgbClr val="D5DEDD"/>
          </a:solidFill>
          <a:ln w="0">
            <a:noFill/>
          </a:ln>
        </p:spPr>
      </p:sp>
      <p:sp>
        <p:nvSpPr>
          <p:cNvPr id="7" name="">
            <a:extLst>
              <a:ext uri="{FF2B5EF4-FFF2-40B4-BE49-F238E27FC236}">
                <ns2:creationId id="{F5E77040-4188-4ED5-87D2-5BF55897069A}"/>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8" name="">
            <a:extLst>
              <a:ext uri="{FF2B5EF4-FFF2-40B4-BE49-F238E27FC236}">
                <ns2:creationId id="{AA36A207-98F0-4ADA-B477-15357632BB20}"/>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9" name="">
            <a:extLst>
              <a:ext uri="{FF2B5EF4-FFF2-40B4-BE49-F238E27FC236}">
                <ns2:creationId id="{A001E0EC-FEC1-471D-A90A-FB857FEE5CC8}"/>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0" name="">
            <a:extLst>
              <a:ext uri="{FF2B5EF4-FFF2-40B4-BE49-F238E27FC236}">
                <ns2:creationId id="{AFC3C2EE-BD33-42A2-A968-ECCF927B3EFC}"/>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10/30   095</a:t>
            </a:r>
          </a:p>
        </p:txBody>
      </p:sp>
    </p:spTree>
    <p:extLst>
      <p:ext uri="{BB962C8B-B14F-4D97-AF65-F5344CB8AC3E}">
        <ns4:creationId val="1894157175"/>
      </p:ext>
    </p:extLst>
  </p:cSld>
</p:sld>
</file>

<file path=ppt/slides/slide96.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1" name="">
            <a:extLst>
              <a:ext uri="{FF2B5EF4-FFF2-40B4-BE49-F238E27FC236}">
                <ns2:creationId id="{95FF7F7F-C6DB-4784-A0F1-D3E9BB283727}"/>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6교시</a:t>
            </a:r>
          </a:p>
        </p:txBody>
      </p:sp>
      <p:sp>
        <p:nvSpPr>
          <p:cNvPr id="2" name="">
            <a:extLst>
              <a:ext uri="{FF2B5EF4-FFF2-40B4-BE49-F238E27FC236}">
                <ns2:creationId id="{FC3F635B-67DF-473B-A7D3-EC88B680CD00}"/>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풀이</a:t>
            </a:r>
          </a:p>
        </p:txBody>
      </p:sp>
      <p:sp>
        <p:nvSpPr>
          <p:cNvPr id="3" name="">
            <a:extLst>
              <a:ext uri="{FF2B5EF4-FFF2-40B4-BE49-F238E27FC236}">
                <ns2:creationId id="{83A61D0E-0554-4804-9AA7-9973A936A3C3}"/>
              </a:ext>
            </a:extLst>
          </p:cNvPr>
          <p:cNvSpPr>
            <a:spLocks noGrp="1"/>
          </p:cNvSpPr>
          <p:nvPr/>
        </p:nvSpPr>
        <p:spPr>
          <a:xfrm>
            <a:off x="685800" y="1990725"/>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카메라를 제외한 내용을 기능 목록, 예산, 시험표에 모두 반영하세요.</a:t>
            </a:r>
          </a:p>
        </p:txBody>
      </p:sp>
      <p:sp>
        <p:nvSpPr>
          <p:cNvPr id="4" name="">
            <a:extLst>
              <a:ext uri="{FF2B5EF4-FFF2-40B4-BE49-F238E27FC236}">
                <ns2:creationId id="{5EE43D26-1134-4124-9EEE-B7FAB17E0E3D}"/>
              </a:ext>
            </a:extLst>
          </p:cNvPr>
          <p:cNvSpPr>
            <a:spLocks noGrp="1"/>
          </p:cNvSpPr>
          <p:nvPr/>
        </p:nvSpPr>
        <p:spPr>
          <a:xfrm>
            <a:off x="685800" y="2534793"/>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카메라 시험을 하지 않았다면 PASS를 NOT_RUN으로 고치세요.</a:t>
            </a:r>
          </a:p>
        </p:txBody>
      </p:sp>
      <p:sp>
        <p:nvSpPr>
          <p:cNvPr id="5" name="">
            <a:extLst>
              <a:ext uri="{FF2B5EF4-FFF2-40B4-BE49-F238E27FC236}">
                <ns2:creationId id="{BA9E2845-E68E-4212-AFD1-028B2D2387C2}"/>
              </a:ext>
            </a:extLst>
          </p:cNvPr>
          <p:cNvSpPr>
            <a:spLocks noGrp="1"/>
          </p:cNvSpPr>
          <p:nvPr/>
        </p:nvSpPr>
        <p:spPr>
          <a:xfrm>
            <a:off x="685800" y="3078861"/>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필요한 장비 모델과 가지고 있는 장비도 확인하세요.</a:t>
            </a:r>
          </a:p>
        </p:txBody>
      </p:sp>
      <p:sp>
        <p:nvSpPr>
          <p:cNvPr id="6" name="">
            <a:extLst>
              <a:ext uri="{FF2B5EF4-FFF2-40B4-BE49-F238E27FC236}">
                <ns2:creationId id="{02126BFA-1A5F-45AB-ABAD-E3E164F69D4E}"/>
              </a:ext>
            </a:extLst>
          </p:cNvPr>
          <p:cNvSpPr>
            <a:spLocks noGrp="1"/>
          </p:cNvSpPr>
          <p:nvPr/>
        </p:nvSpPr>
        <p:spPr>
          <a:xfrm>
            <a:off x="685800" y="6172200"/>
            <a:ext cx="10820400" cy="9525"/>
          </a:xfrm>
          <a:prstGeom prst="rect">
            <a:avLst/>
          </a:prstGeom>
          <a:solidFill>
            <a:srgbClr val="D5DEDD"/>
          </a:solidFill>
          <a:ln w="0">
            <a:noFill/>
          </a:ln>
        </p:spPr>
      </p:sp>
      <p:sp>
        <p:nvSpPr>
          <p:cNvPr id="7" name="">
            <a:extLst>
              <a:ext uri="{FF2B5EF4-FFF2-40B4-BE49-F238E27FC236}">
                <ns2:creationId id="{4341612D-6EB6-4DAE-849A-E42BF7D08F20}"/>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8" name="">
            <a:extLst>
              <a:ext uri="{FF2B5EF4-FFF2-40B4-BE49-F238E27FC236}">
                <ns2:creationId id="{9F98B134-4650-40FA-818D-E040450FA05A}"/>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9" name="">
            <a:extLst>
              <a:ext uri="{FF2B5EF4-FFF2-40B4-BE49-F238E27FC236}">
                <ns2:creationId id="{54E17310-38FA-4671-B794-6077AF0D9AF6}"/>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0" name="">
            <a:extLst>
              <a:ext uri="{FF2B5EF4-FFF2-40B4-BE49-F238E27FC236}">
                <ns2:creationId id="{AC83D39B-8321-4D36-B517-A56C559D56B4}"/>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10/30   096</a:t>
            </a:r>
          </a:p>
        </p:txBody>
      </p:sp>
    </p:spTree>
    <p:extLst>
      <p:ext uri="{BB962C8B-B14F-4D97-AF65-F5344CB8AC3E}">
        <ns4:creationId val="225876765"/>
      </p:ext>
    </p:extLst>
  </p:cSld>
</p:sld>
</file>

<file path=ppt/slides/slide97.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0" name="">
            <a:extLst>
              <a:ext uri="{FF2B5EF4-FFF2-40B4-BE49-F238E27FC236}">
                <ns2:creationId id="{7CBC14BE-4681-49A4-8457-D51CBE9747B1}"/>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6교시</a:t>
            </a:r>
          </a:p>
        </p:txBody>
      </p:sp>
      <p:sp>
        <p:nvSpPr>
          <p:cNvPr id="2" name="">
            <a:extLst>
              <a:ext uri="{FF2B5EF4-FFF2-40B4-BE49-F238E27FC236}">
                <ns2:creationId id="{823052FD-7C14-486C-9D8F-8848E482C29C}"/>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조건을 바꿔 보기</a:t>
            </a:r>
          </a:p>
        </p:txBody>
      </p:sp>
      <p:sp>
        <p:nvSpPr>
          <p:cNvPr id="3" name="">
            <a:extLst>
              <a:ext uri="{FF2B5EF4-FFF2-40B4-BE49-F238E27FC236}">
                <ns2:creationId id="{01E302BA-F753-48E0-AF7D-AFC6904F99A8}"/>
              </a:ext>
            </a:extLst>
          </p:cNvPr>
          <p:cNvSpPr>
            <a:spLocks noGrp="1"/>
          </p:cNvSpPr>
          <p:nvPr/>
        </p:nvSpPr>
        <p:spPr>
          <a:xfrm>
            <a:off x="685800" y="1990725"/>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자동 잠금 요청이 추가되면</a:t>
            </a:r>
          </a:p>
        </p:txBody>
      </p:sp>
      <p:sp>
        <p:nvSpPr>
          <p:cNvPr id="4" name="">
            <a:extLst>
              <a:ext uri="{FF2B5EF4-FFF2-40B4-BE49-F238E27FC236}">
                <ns2:creationId id="{AEBF2690-256D-43E0-B7BE-2AF1ECD59499}"/>
              </a:ext>
            </a:extLst>
          </p:cNvPr>
          <p:cNvSpPr>
            <a:spLocks noGrp="1"/>
          </p:cNvSpPr>
          <p:nvPr/>
        </p:nvSpPr>
        <p:spPr>
          <a:xfrm>
            <a:off x="685800" y="2557272"/>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장비·안전 조건·범위·시험·견적을 재검토합니다.</a:t>
            </a:r>
          </a:p>
        </p:txBody>
      </p:sp>
      <p:sp>
        <p:nvSpPr>
          <p:cNvPr id="5" name="">
            <a:extLst>
              <a:ext uri="{FF2B5EF4-FFF2-40B4-BE49-F238E27FC236}">
                <ns2:creationId id="{9975D4C7-7C61-4C1D-9E4C-614A781F6563}"/>
              </a:ext>
            </a:extLst>
          </p:cNvPr>
          <p:cNvSpPr>
            <a:spLocks noGrp="1"/>
          </p:cNvSpPr>
          <p:nvPr/>
        </p:nvSpPr>
        <p:spPr>
          <a:xfrm>
            <a:off x="685800" y="6172200"/>
            <a:ext cx="10820400" cy="9525"/>
          </a:xfrm>
          <a:prstGeom prst="rect">
            <a:avLst/>
          </a:prstGeom>
          <a:solidFill>
            <a:srgbClr val="D5DEDD"/>
          </a:solidFill>
          <a:ln w="0">
            <a:noFill/>
          </a:ln>
        </p:spPr>
      </p:sp>
      <p:sp>
        <p:nvSpPr>
          <p:cNvPr id="6" name="">
            <a:extLst>
              <a:ext uri="{FF2B5EF4-FFF2-40B4-BE49-F238E27FC236}">
                <ns2:creationId id="{3C629CCD-2D72-4B0E-8C9F-11B6B1CBD558}"/>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7" name="">
            <a:extLst>
              <a:ext uri="{FF2B5EF4-FFF2-40B4-BE49-F238E27FC236}">
                <ns2:creationId id="{DA4F33A5-3351-43FC-BC72-C39E84A25509}"/>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8" name="">
            <a:extLst>
              <a:ext uri="{FF2B5EF4-FFF2-40B4-BE49-F238E27FC236}">
                <ns2:creationId id="{4CA70247-58C5-4324-9181-8B6955ABFE12}"/>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9" name="">
            <a:extLst>
              <a:ext uri="{FF2B5EF4-FFF2-40B4-BE49-F238E27FC236}">
                <ns2:creationId id="{AD4FE75B-75C4-40EE-8517-288877191B95}"/>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10/30   097</a:t>
            </a:r>
          </a:p>
        </p:txBody>
      </p:sp>
    </p:spTree>
    <p:extLst>
      <p:ext uri="{BB962C8B-B14F-4D97-AF65-F5344CB8AC3E}">
        <ns4:creationId val="350580178"/>
      </p:ext>
    </p:extLst>
  </p:cSld>
</p:sld>
</file>

<file path=ppt/slides/slide98.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0" name="">
            <a:extLst>
              <a:ext uri="{FF2B5EF4-FFF2-40B4-BE49-F238E27FC236}">
                <ns2:creationId id="{565FB436-B36A-43D6-82B3-7F3098760811}"/>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6교시</a:t>
            </a:r>
          </a:p>
        </p:txBody>
      </p:sp>
      <p:sp>
        <p:nvSpPr>
          <p:cNvPr id="2" name="">
            <a:extLst>
              <a:ext uri="{FF2B5EF4-FFF2-40B4-BE49-F238E27FC236}">
                <ns2:creationId id="{26C31094-C8B9-480E-868E-BCBD5C1BEBF0}"/>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잘못 쓰기 쉬운 내용</a:t>
            </a:r>
          </a:p>
        </p:txBody>
      </p:sp>
      <p:sp>
        <p:nvSpPr>
          <p:cNvPr id="3" name="">
            <a:extLst>
              <a:ext uri="{FF2B5EF4-FFF2-40B4-BE49-F238E27FC236}">
                <ns2:creationId id="{FF8204F3-E49B-4318-8EA9-3E6CD457350B}"/>
              </a:ext>
            </a:extLst>
          </p:cNvPr>
          <p:cNvSpPr>
            <a:spLocks noGrp="1"/>
          </p:cNvSpPr>
          <p:nvPr/>
        </p:nvSpPr>
        <p:spPr>
          <a:xfrm>
            <a:off x="685800" y="1990725"/>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아직 모르는 조건은 확인이 필요하다고 적으세요.</a:t>
            </a:r>
          </a:p>
        </p:txBody>
      </p:sp>
      <p:sp>
        <p:nvSpPr>
          <p:cNvPr id="4" name="">
            <a:extLst>
              <a:ext uri="{FF2B5EF4-FFF2-40B4-BE49-F238E27FC236}">
                <ns2:creationId id="{9C8751BE-B540-4A90-B8B9-A2557716C987}"/>
              </a:ext>
            </a:extLst>
          </p:cNvPr>
          <p:cNvSpPr>
            <a:spLocks noGrp="1"/>
          </p:cNvSpPr>
          <p:nvPr/>
        </p:nvSpPr>
        <p:spPr>
          <a:xfrm>
            <a:off x="685800" y="2534793"/>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무엇을 물을지, 누구에게 물을지, 어떤 자료가 필요한지 적으세요.</a:t>
            </a:r>
          </a:p>
        </p:txBody>
      </p:sp>
      <p:sp>
        <p:nvSpPr>
          <p:cNvPr id="5" name="">
            <a:extLst>
              <a:ext uri="{FF2B5EF4-FFF2-40B4-BE49-F238E27FC236}">
                <ns2:creationId id="{56CB90EF-945B-456B-8D9A-6E639C377A98}"/>
              </a:ext>
            </a:extLst>
          </p:cNvPr>
          <p:cNvSpPr>
            <a:spLocks noGrp="1"/>
          </p:cNvSpPr>
          <p:nvPr/>
        </p:nvSpPr>
        <p:spPr>
          <a:xfrm>
            <a:off x="685800" y="6172200"/>
            <a:ext cx="10820400" cy="9525"/>
          </a:xfrm>
          <a:prstGeom prst="rect">
            <a:avLst/>
          </a:prstGeom>
          <a:solidFill>
            <a:srgbClr val="D5DEDD"/>
          </a:solidFill>
          <a:ln w="0">
            <a:noFill/>
          </a:ln>
        </p:spPr>
      </p:sp>
      <p:sp>
        <p:nvSpPr>
          <p:cNvPr id="6" name="">
            <a:extLst>
              <a:ext uri="{FF2B5EF4-FFF2-40B4-BE49-F238E27FC236}">
                <ns2:creationId id="{FD81A022-BDAA-461A-B81B-A2286F5E23F4}"/>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7" name="">
            <a:extLst>
              <a:ext uri="{FF2B5EF4-FFF2-40B4-BE49-F238E27FC236}">
                <ns2:creationId id="{A11751E4-CA8A-49BF-AEDD-49442D5A05AC}"/>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8" name="">
            <a:extLst>
              <a:ext uri="{FF2B5EF4-FFF2-40B4-BE49-F238E27FC236}">
                <ns2:creationId id="{A524D108-65AC-4411-A134-5FD067032F31}"/>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9" name="">
            <a:extLst>
              <a:ext uri="{FF2B5EF4-FFF2-40B4-BE49-F238E27FC236}">
                <ns2:creationId id="{AECA925D-C4D8-4A31-85A1-2E8ADB93CBD7}"/>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10/30   098</a:t>
            </a:r>
          </a:p>
        </p:txBody>
      </p:sp>
    </p:spTree>
    <p:extLst>
      <p:ext uri="{BB962C8B-B14F-4D97-AF65-F5344CB8AC3E}">
        <ns4:creationId val="733475427"/>
      </p:ext>
    </p:extLst>
  </p:cSld>
</p:sld>
</file>

<file path=ppt/slides/slide99.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0" name="">
            <a:extLst>
              <a:ext uri="{FF2B5EF4-FFF2-40B4-BE49-F238E27FC236}">
                <ns2:creationId id="{12BE06AE-7AF5-4E93-9DF0-C41DCE7D04F4}"/>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6교시</a:t>
            </a:r>
          </a:p>
        </p:txBody>
      </p:sp>
      <p:sp>
        <p:nvSpPr>
          <p:cNvPr id="2" name="">
            <a:extLst>
              <a:ext uri="{FF2B5EF4-FFF2-40B4-BE49-F238E27FC236}">
                <ns2:creationId id="{39661745-266B-4833-9418-F58F60DEB764}"/>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개념 확인 질문</a:t>
            </a:r>
          </a:p>
        </p:txBody>
      </p:sp>
      <p:sp>
        <p:nvSpPr>
          <p:cNvPr id="3" name="">
            <a:extLst>
              <a:ext uri="{FF2B5EF4-FFF2-40B4-BE49-F238E27FC236}">
                <ns2:creationId id="{892A0CD3-7509-435E-8347-69664865B467}"/>
              </a:ext>
            </a:extLst>
          </p:cNvPr>
          <p:cNvSpPr>
            <a:spLocks noGrp="1"/>
          </p:cNvSpPr>
          <p:nvPr/>
        </p:nvSpPr>
        <p:spPr>
          <a:xfrm>
            <a:off x="685800" y="1990725"/>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2분 안에 사용자 불편과 시험 방법을 설명해 보세요.</a:t>
            </a:r>
          </a:p>
        </p:txBody>
      </p:sp>
      <p:sp>
        <p:nvSpPr>
          <p:cNvPr id="4" name="">
            <a:extLst>
              <a:ext uri="{FF2B5EF4-FFF2-40B4-BE49-F238E27FC236}">
                <ns2:creationId id="{3FD3D53B-085E-40C7-A1C3-82ED73F1FC88}"/>
              </a:ext>
            </a:extLst>
          </p:cNvPr>
          <p:cNvSpPr>
            <a:spLocks noGrp="1"/>
          </p:cNvSpPr>
          <p:nvPr/>
        </p:nvSpPr>
        <p:spPr>
          <a:xfrm>
            <a:off x="685800" y="2557272"/>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자료에서 확인한 사실과 아직 확인하지 못한 내용을 나눠 말하세요.</a:t>
            </a:r>
          </a:p>
        </p:txBody>
      </p:sp>
      <p:sp>
        <p:nvSpPr>
          <p:cNvPr id="5" name="">
            <a:extLst>
              <a:ext uri="{FF2B5EF4-FFF2-40B4-BE49-F238E27FC236}">
                <ns2:creationId id="{E85AC2A0-0807-457F-A133-F7D4A5D3EBE7}"/>
              </a:ext>
            </a:extLst>
          </p:cNvPr>
          <p:cNvSpPr>
            <a:spLocks noGrp="1"/>
          </p:cNvSpPr>
          <p:nvPr/>
        </p:nvSpPr>
        <p:spPr>
          <a:xfrm>
            <a:off x="685800" y="6172200"/>
            <a:ext cx="10820400" cy="9525"/>
          </a:xfrm>
          <a:prstGeom prst="rect">
            <a:avLst/>
          </a:prstGeom>
          <a:solidFill>
            <a:srgbClr val="D5DEDD"/>
          </a:solidFill>
          <a:ln w="0">
            <a:noFill/>
          </a:ln>
        </p:spPr>
      </p:sp>
      <p:sp>
        <p:nvSpPr>
          <p:cNvPr id="6" name="">
            <a:extLst>
              <a:ext uri="{FF2B5EF4-FFF2-40B4-BE49-F238E27FC236}">
                <ns2:creationId id="{815A2DDE-480C-478C-9BC9-C2350CC53910}"/>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7" name="">
            <a:extLst>
              <a:ext uri="{FF2B5EF4-FFF2-40B4-BE49-F238E27FC236}">
                <ns2:creationId id="{36BB077A-3597-4E67-BFAC-23967B524B6D}"/>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8" name="">
            <a:extLst>
              <a:ext uri="{FF2B5EF4-FFF2-40B4-BE49-F238E27FC236}">
                <ns2:creationId id="{C0A8F9AD-E6CC-4E21-965D-9635A25E5C88}"/>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9" name="">
            <a:extLst>
              <a:ext uri="{FF2B5EF4-FFF2-40B4-BE49-F238E27FC236}">
                <ns2:creationId id="{2F31D154-25E0-4613-99C5-68C1DC06F8FE}"/>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10/30   099</a:t>
            </a:r>
          </a:p>
        </p:txBody>
      </p:sp>
    </p:spTree>
    <p:extLst>
      <p:ext uri="{BB962C8B-B14F-4D97-AF65-F5344CB8AC3E}">
        <ns4:creationId val="1072697344"/>
      </p:ext>
    </p:extLst>
  </p:cSld>
</p:sld>
</file>

<file path=ppt/slides/slide100.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0" name="">
            <a:extLst>
              <a:ext uri="{FF2B5EF4-FFF2-40B4-BE49-F238E27FC236}">
                <ns2:creationId id="{78221AB6-7418-45EC-8C0B-FB97E2D10401}"/>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6교시</a:t>
            </a:r>
          </a:p>
        </p:txBody>
      </p:sp>
      <p:sp>
        <p:nvSpPr>
          <p:cNvPr id="2" name="">
            <a:extLst>
              <a:ext uri="{FF2B5EF4-FFF2-40B4-BE49-F238E27FC236}">
                <ns2:creationId id="{F65C7D47-56B3-43BA-AD7E-0F0AA9225242}"/>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추가·복습 문제</a:t>
            </a:r>
          </a:p>
        </p:txBody>
      </p:sp>
      <p:sp>
        <p:nvSpPr>
          <p:cNvPr id="3" name="">
            <a:extLst>
              <a:ext uri="{FF2B5EF4-FFF2-40B4-BE49-F238E27FC236}">
                <ns2:creationId id="{662EB19F-84C2-4C83-B6A4-4F4ECC67AEAB}"/>
              </a:ext>
            </a:extLst>
          </p:cNvPr>
          <p:cNvSpPr>
            <a:spLocks noGrp="1"/>
          </p:cNvSpPr>
          <p:nvPr/>
        </p:nvSpPr>
        <p:spPr>
          <a:xfrm>
            <a:off x="685800" y="1990725"/>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추가·도전: CSV 기획에 자동 잠금 추가</a:t>
            </a:r>
          </a:p>
        </p:txBody>
      </p:sp>
      <p:sp>
        <p:nvSpPr>
          <p:cNvPr id="4" name="">
            <a:extLst>
              <a:ext uri="{FF2B5EF4-FFF2-40B4-BE49-F238E27FC236}">
                <ns2:creationId id="{27CA0D5E-B275-4987-B184-793FEC022393}"/>
              </a:ext>
            </a:extLst>
          </p:cNvPr>
          <p:cNvSpPr>
            <a:spLocks noGrp="1"/>
          </p:cNvSpPr>
          <p:nvPr/>
        </p:nvSpPr>
        <p:spPr>
          <a:xfrm>
            <a:off x="685800" y="2557272"/>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고쳐야 할 문서와 기능 추가를 미룰 이유를 적으세요.</a:t>
            </a:r>
          </a:p>
        </p:txBody>
      </p:sp>
      <p:sp>
        <p:nvSpPr>
          <p:cNvPr id="5" name="">
            <a:extLst>
              <a:ext uri="{FF2B5EF4-FFF2-40B4-BE49-F238E27FC236}">
                <ns2:creationId id="{4CF756F3-F3D5-4B4B-AFDC-82D7B74D74F3}"/>
              </a:ext>
            </a:extLst>
          </p:cNvPr>
          <p:cNvSpPr>
            <a:spLocks noGrp="1"/>
          </p:cNvSpPr>
          <p:nvPr/>
        </p:nvSpPr>
        <p:spPr>
          <a:xfrm>
            <a:off x="685800" y="6172200"/>
            <a:ext cx="10820400" cy="9525"/>
          </a:xfrm>
          <a:prstGeom prst="rect">
            <a:avLst/>
          </a:prstGeom>
          <a:solidFill>
            <a:srgbClr val="D5DEDD"/>
          </a:solidFill>
          <a:ln w="0">
            <a:noFill/>
          </a:ln>
        </p:spPr>
      </p:sp>
      <p:sp>
        <p:nvSpPr>
          <p:cNvPr id="6" name="">
            <a:extLst>
              <a:ext uri="{FF2B5EF4-FFF2-40B4-BE49-F238E27FC236}">
                <ns2:creationId id="{F8EB613D-BF73-4A25-A15D-5A4526A6EE09}"/>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7" name="">
            <a:extLst>
              <a:ext uri="{FF2B5EF4-FFF2-40B4-BE49-F238E27FC236}">
                <ns2:creationId id="{D2841552-560D-4B88-B5ED-7ED50A0B7B7C}"/>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8" name="">
            <a:extLst>
              <a:ext uri="{FF2B5EF4-FFF2-40B4-BE49-F238E27FC236}">
                <ns2:creationId id="{A76D9F44-B260-491F-8706-2906542E11AC}"/>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9" name="">
            <a:extLst>
              <a:ext uri="{FF2B5EF4-FFF2-40B4-BE49-F238E27FC236}">
                <ns2:creationId id="{97254B23-32E8-4C14-AF90-2CAE7848884B}"/>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10/30   100</a:t>
            </a:r>
          </a:p>
        </p:txBody>
      </p:sp>
    </p:spTree>
    <p:extLst>
      <p:ext uri="{BB962C8B-B14F-4D97-AF65-F5344CB8AC3E}">
        <ns4:creationId val="698769531"/>
      </p:ext>
    </p:extLst>
  </p:cSld>
</p:sld>
</file>

<file path=ppt/slides/slide101.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5" name="">
            <a:extLst>
              <a:ext uri="{FF2B5EF4-FFF2-40B4-BE49-F238E27FC236}">
                <ns2:creationId id="{8D8CC897-EEBF-44ED-9EE7-92559425E356}"/>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6교시</a:t>
            </a:r>
          </a:p>
        </p:txBody>
      </p:sp>
      <p:sp>
        <p:nvSpPr>
          <p:cNvPr id="2" name="">
            <a:extLst>
              <a:ext uri="{FF2B5EF4-FFF2-40B4-BE49-F238E27FC236}">
                <ns2:creationId id="{EB0FC058-548C-4020-AA79-25D62463AF15}"/>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제출할 기록과 파일</a:t>
            </a:r>
          </a:p>
        </p:txBody>
      </p:sp>
      <p:sp>
        <p:nvSpPr>
          <p:cNvPr id="3" name="">
            <a:extLst>
              <a:ext uri="{FF2B5EF4-FFF2-40B4-BE49-F238E27FC236}">
                <ns2:creationId id="{AE068168-06A4-404B-87FE-F71E2A253B49}"/>
              </a:ext>
            </a:extLst>
          </p:cNvPr>
          <p:cNvSpPr>
            <a:spLocks noGrp="1"/>
          </p:cNvSpPr>
          <p:nvPr/>
        </p:nvSpPr>
        <p:spPr>
          <a:xfrm>
            <a:off x="685800" y="1933575"/>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work의 기록과 수정본을 저장합니다.</a:t>
            </a:r>
          </a:p>
        </p:txBody>
      </p:sp>
      <p:sp>
        <p:nvSpPr>
          <p:cNvPr id="4" name="">
            <a:extLst>
              <a:ext uri="{FF2B5EF4-FFF2-40B4-BE49-F238E27FC236}">
                <ns2:creationId id="{4F0280C6-9CF1-4C02-A7C2-1105555E1C27}"/>
              </a:ext>
            </a:extLst>
          </p:cNvPr>
          <p:cNvSpPr>
            <a:spLocks noGrp="1"/>
          </p:cNvSpPr>
          <p:nvPr/>
        </p:nvSpPr>
        <p:spPr>
          <a:xfrm>
            <a:off x="685800" y="2432685"/>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기록한 입력과 설정이 실행 결과에 사용한 것인지 확인하세요.</a:t>
            </a:r>
          </a:p>
        </p:txBody>
      </p:sp>
      <p:sp>
        <p:nvSpPr>
          <p:cNvPr id="5" name="">
            <a:extLst>
              <a:ext uri="{FF2B5EF4-FFF2-40B4-BE49-F238E27FC236}">
                <ns2:creationId id="{6E26F89B-F5C4-4A75-8311-2ED5AB927BDA}"/>
              </a:ext>
            </a:extLst>
          </p:cNvPr>
          <p:cNvSpPr>
            <a:spLocks noGrp="1"/>
          </p:cNvSpPr>
          <p:nvPr/>
        </p:nvSpPr>
        <p:spPr>
          <a:xfrm>
            <a:off x="685800" y="3268980"/>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결과를 확인한 방법과 남은 작업을 적으세요.</a:t>
            </a:r>
          </a:p>
        </p:txBody>
      </p:sp>
      <p:sp>
        <p:nvSpPr>
          <p:cNvPr id="6" name="">
            <a:extLst>
              <a:ext uri="{FF2B5EF4-FFF2-40B4-BE49-F238E27FC236}">
                <ns2:creationId id="{5B48E5DC-DE84-4447-9D54-D860FD15C7A7}"/>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제출 전 확인</a:t>
            </a:r>
          </a:p>
        </p:txBody>
      </p:sp>
      <p:sp>
        <p:nvSpPr>
          <p:cNvPr id="7" name="">
            <a:extLst>
              <a:ext uri="{FF2B5EF4-FFF2-40B4-BE49-F238E27FC236}">
                <ns2:creationId id="{A4E5FC83-C455-459F-A056-3B896188212C}"/>
              </a:ext>
            </a:extLst>
          </p:cNvPr>
          <p:cNvSpPr>
            <a:spLocks noGrp="1"/>
          </p:cNvSpPr>
          <p:nvPr/>
        </p:nvSpPr>
        <p:spPr>
          <a:xfrm>
            <a:off x="6267450" y="2628900"/>
            <a:ext cx="5238750" cy="440246"/>
          </a:xfrm>
          <a:prstGeom prst="rect">
            <a:avLst/>
          </a:prstGeom>
          <a:noFill/>
          <a:ln w="0">
            <a:noFill/>
          </a:ln>
        </p:spPr>
        <p:txBody>
          <a:bodyPr wrap="square" lIns="0" tIns="0" rIns="0" bIns="0">
            <a:noAutofit/>
          </a:bodyPr>
          <a:lstStyle/>
          <a:p>
            <a:pPr>
              <a:defRPr sz="2175" b="0">
                <a:solidFill>
                  <a:srgbClr val="172F39"/>
                </a:solidFill>
                <a:latin typeface="Noto Sans KR"/>
                <a:ea typeface="Noto Sans KR"/>
                <a:cs typeface="Noto Sans KR"/>
              </a:defRPr>
            </a:pPr>
            <a:r>
              <a:t>work의 기록과 수정 파일</a:t>
            </a:r>
          </a:p>
        </p:txBody>
      </p:sp>
      <p:sp>
        <p:nvSpPr>
          <p:cNvPr id="8" name="">
            <a:extLst>
              <a:ext uri="{FF2B5EF4-FFF2-40B4-BE49-F238E27FC236}">
                <ns2:creationId id="{7BD65F44-5C8D-48F2-9AD2-8EA7D9E0571F}"/>
              </a:ext>
            </a:extLst>
          </p:cNvPr>
          <p:cNvSpPr>
            <a:spLocks noGrp="1"/>
          </p:cNvSpPr>
          <p:nvPr/>
        </p:nvSpPr>
        <p:spPr>
          <a:xfrm>
            <a:off x="6267450" y="3116771"/>
            <a:ext cx="5238750" cy="440246"/>
          </a:xfrm>
          <a:prstGeom prst="rect">
            <a:avLst/>
          </a:prstGeom>
          <a:noFill/>
          <a:ln w="0">
            <a:noFill/>
          </a:ln>
        </p:spPr>
        <p:txBody>
          <a:bodyPr wrap="square" lIns="0" tIns="0" rIns="0" bIns="0">
            <a:noAutofit/>
          </a:bodyPr>
          <a:lstStyle/>
          <a:p>
            <a:pPr>
              <a:defRPr sz="2175" b="0">
                <a:solidFill>
                  <a:srgbClr val="172F39"/>
                </a:solidFill>
                <a:latin typeface="Noto Sans KR"/>
                <a:ea typeface="Noto Sans KR"/>
                <a:cs typeface="Noto Sans KR"/>
              </a:defRPr>
            </a:pPr>
            <a:r>
              <a:t>실행한 입력과 설정</a:t>
            </a:r>
          </a:p>
        </p:txBody>
      </p:sp>
      <p:sp>
        <p:nvSpPr>
          <p:cNvPr id="9" name="">
            <a:extLst>
              <a:ext uri="{FF2B5EF4-FFF2-40B4-BE49-F238E27FC236}">
                <ns2:creationId id="{77BCE97A-281B-4DC4-A43A-D3AB062EA85E}"/>
              </a:ext>
            </a:extLst>
          </p:cNvPr>
          <p:cNvSpPr>
            <a:spLocks noGrp="1"/>
          </p:cNvSpPr>
          <p:nvPr/>
        </p:nvSpPr>
        <p:spPr>
          <a:xfrm>
            <a:off x="6267450" y="3604641"/>
            <a:ext cx="5238750" cy="440246"/>
          </a:xfrm>
          <a:prstGeom prst="rect">
            <a:avLst/>
          </a:prstGeom>
          <a:noFill/>
          <a:ln w="0">
            <a:noFill/>
          </a:ln>
        </p:spPr>
        <p:txBody>
          <a:bodyPr wrap="square" lIns="0" tIns="0" rIns="0" bIns="0">
            <a:noAutofit/>
          </a:bodyPr>
          <a:lstStyle/>
          <a:p>
            <a:pPr>
              <a:defRPr sz="2175" b="0">
                <a:solidFill>
                  <a:srgbClr val="172F39"/>
                </a:solidFill>
                <a:latin typeface="Noto Sans KR"/>
                <a:ea typeface="Noto Sans KR"/>
                <a:cs typeface="Noto Sans KR"/>
              </a:defRPr>
            </a:pPr>
            <a:r>
              <a:t>확인 방법과 남은 작업</a:t>
            </a:r>
          </a:p>
        </p:txBody>
      </p:sp>
      <p:sp>
        <p:nvSpPr>
          <p:cNvPr id="10" name="">
            <a:extLst>
              <a:ext uri="{FF2B5EF4-FFF2-40B4-BE49-F238E27FC236}">
                <ns2:creationId id="{8D1E9603-53FE-4ED5-A910-D7E021F57E58}"/>
              </a:ext>
            </a:extLst>
          </p:cNvPr>
          <p:cNvSpPr>
            <a:spLocks noGrp="1"/>
          </p:cNvSpPr>
          <p:nvPr/>
        </p:nvSpPr>
        <p:spPr>
          <a:xfrm>
            <a:off x="685800" y="6172200"/>
            <a:ext cx="10820400" cy="9525"/>
          </a:xfrm>
          <a:prstGeom prst="rect">
            <a:avLst/>
          </a:prstGeom>
          <a:solidFill>
            <a:srgbClr val="D5DEDD"/>
          </a:solidFill>
          <a:ln w="0">
            <a:noFill/>
          </a:ln>
        </p:spPr>
      </p:sp>
      <p:sp>
        <p:nvSpPr>
          <p:cNvPr id="11" name="">
            <a:extLst>
              <a:ext uri="{FF2B5EF4-FFF2-40B4-BE49-F238E27FC236}">
                <ns2:creationId id="{BED68F80-DE05-4A27-98FC-668B9BB4B094}"/>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2" name="">
            <a:extLst>
              <a:ext uri="{FF2B5EF4-FFF2-40B4-BE49-F238E27FC236}">
                <ns2:creationId id="{99ECB6B2-9086-46FF-98A0-5E5CAF4E371B}"/>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3" name="">
            <a:extLst>
              <a:ext uri="{FF2B5EF4-FFF2-40B4-BE49-F238E27FC236}">
                <ns2:creationId id="{F2CEC2C3-3C2A-43EE-B058-5705594EED46}"/>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4" name="">
            <a:extLst>
              <a:ext uri="{FF2B5EF4-FFF2-40B4-BE49-F238E27FC236}">
                <ns2:creationId id="{CA88A98C-2743-4C0B-8BEB-87536E007F5E}"/>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10/30   101</a:t>
            </a:r>
          </a:p>
        </p:txBody>
      </p:sp>
    </p:spTree>
    <p:extLst>
      <p:ext uri="{BB962C8B-B14F-4D97-AF65-F5344CB8AC3E}">
        <ns4:creationId val="1426446725"/>
      </p:ext>
    </p:extLst>
  </p:cSld>
</p:sld>
</file>

<file path=ppt/slides/slide102.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1" name="">
            <a:extLst>
              <a:ext uri="{FF2B5EF4-FFF2-40B4-BE49-F238E27FC236}">
                <ns2:creationId id="{DD6EAB59-5878-4286-B873-C153FDB782E2}"/>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6교시</a:t>
            </a:r>
          </a:p>
        </p:txBody>
      </p:sp>
      <p:sp>
        <p:nvSpPr>
          <p:cNvPr id="2" name="">
            <a:extLst>
              <a:ext uri="{FF2B5EF4-FFF2-40B4-BE49-F238E27FC236}">
                <ns2:creationId id="{2AD842C7-69E4-4F19-BDE8-CAC36110234E}"/>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인수인계 확인 질문</a:t>
            </a:r>
          </a:p>
        </p:txBody>
      </p:sp>
      <p:sp>
        <p:nvSpPr>
          <p:cNvPr id="3" name="">
            <a:extLst>
              <a:ext uri="{FF2B5EF4-FFF2-40B4-BE49-F238E27FC236}">
                <ns2:creationId id="{F155EFA2-031A-4B6A-A0CF-748E8B582086}"/>
              </a:ext>
            </a:extLst>
          </p:cNvPr>
          <p:cNvSpPr>
            <a:spLocks noGrp="1"/>
          </p:cNvSpPr>
          <p:nvPr/>
        </p:nvSpPr>
        <p:spPr>
          <a:xfrm>
            <a:off x="685800" y="1990725"/>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어느 폴더에서 어떤 명령을 실행하는지 설명해 보세요.</a:t>
            </a:r>
          </a:p>
        </p:txBody>
      </p:sp>
      <p:sp>
        <p:nvSpPr>
          <p:cNvPr id="4" name="">
            <a:extLst>
              <a:ext uri="{FF2B5EF4-FFF2-40B4-BE49-F238E27FC236}">
                <ns2:creationId id="{D94E75C3-A39F-4D37-AA55-AD42CF3649BC}"/>
              </a:ext>
            </a:extLst>
          </p:cNvPr>
          <p:cNvSpPr>
            <a:spLocks noGrp="1"/>
          </p:cNvSpPr>
          <p:nvPr/>
        </p:nvSpPr>
        <p:spPr>
          <a:xfrm>
            <a:off x="685800" y="2557272"/>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실행 결과로 알 수 있는 것과 알 수 없는 것은 무엇인가요?</a:t>
            </a:r>
          </a:p>
        </p:txBody>
      </p:sp>
      <p:sp>
        <p:nvSpPr>
          <p:cNvPr id="5" name="">
            <a:extLst>
              <a:ext uri="{FF2B5EF4-FFF2-40B4-BE49-F238E27FC236}">
                <ns2:creationId id="{E4A491A2-1754-4799-B5AC-1086494B5713}"/>
              </a:ext>
            </a:extLst>
          </p:cNvPr>
          <p:cNvSpPr>
            <a:spLocks noGrp="1"/>
          </p:cNvSpPr>
          <p:nvPr/>
        </p:nvSpPr>
        <p:spPr>
          <a:xfrm>
            <a:off x="685800" y="3123819"/>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막힌 단계와 다음에 확인할 내용을 적으세요.</a:t>
            </a:r>
          </a:p>
        </p:txBody>
      </p:sp>
      <p:sp>
        <p:nvSpPr>
          <p:cNvPr id="6" name="">
            <a:extLst>
              <a:ext uri="{FF2B5EF4-FFF2-40B4-BE49-F238E27FC236}">
                <ns2:creationId id="{DA7E1322-0F01-44D9-833B-F8BA83EC1FEE}"/>
              </a:ext>
            </a:extLst>
          </p:cNvPr>
          <p:cNvSpPr>
            <a:spLocks noGrp="1"/>
          </p:cNvSpPr>
          <p:nvPr/>
        </p:nvSpPr>
        <p:spPr>
          <a:xfrm>
            <a:off x="685800" y="6172200"/>
            <a:ext cx="10820400" cy="9525"/>
          </a:xfrm>
          <a:prstGeom prst="rect">
            <a:avLst/>
          </a:prstGeom>
          <a:solidFill>
            <a:srgbClr val="D5DEDD"/>
          </a:solidFill>
          <a:ln w="0">
            <a:noFill/>
          </a:ln>
        </p:spPr>
      </p:sp>
      <p:sp>
        <p:nvSpPr>
          <p:cNvPr id="7" name="">
            <a:extLst>
              <a:ext uri="{FF2B5EF4-FFF2-40B4-BE49-F238E27FC236}">
                <ns2:creationId id="{48357F62-5514-452B-9685-9CC80F3D6AF6}"/>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8" name="">
            <a:extLst>
              <a:ext uri="{FF2B5EF4-FFF2-40B4-BE49-F238E27FC236}">
                <ns2:creationId id="{241F2E44-9C94-49BB-B698-1F5C98336A91}"/>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9" name="">
            <a:extLst>
              <a:ext uri="{FF2B5EF4-FFF2-40B4-BE49-F238E27FC236}">
                <ns2:creationId id="{8EF65914-F12B-4540-AD4F-B20752628E47}"/>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0" name="">
            <a:extLst>
              <a:ext uri="{FF2B5EF4-FFF2-40B4-BE49-F238E27FC236}">
                <ns2:creationId id="{0B00EC1E-9251-46E7-93E2-D55AE3AEF6AB}"/>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10/30   102</a:t>
            </a:r>
          </a:p>
        </p:txBody>
      </p:sp>
    </p:spTree>
    <p:extLst>
      <p:ext uri="{BB962C8B-B14F-4D97-AF65-F5344CB8AC3E}">
        <ns4:creationId val="1933367326"/>
      </p:ext>
    </p:extLst>
  </p:cSld>
</p:sld>
</file>

<file path=ppt/slides/slide103.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8" name="">
            <a:extLst>
              <a:ext uri="{FF2B5EF4-FFF2-40B4-BE49-F238E27FC236}">
                <ns2:creationId id="{51402914-C228-4BFC-A6AC-B76768FC1927}"/>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10/30 수업</a:t>
            </a:r>
          </a:p>
        </p:txBody>
      </p:sp>
      <p:sp>
        <p:nvSpPr>
          <p:cNvPr id="2" name="">
            <a:extLst>
              <a:ext uri="{FF2B5EF4-FFF2-40B4-BE49-F238E27FC236}">
                <ns2:creationId id="{26E8691B-F95E-45CE-B6A9-6AD1788FD5FB}"/>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오늘의 수업 자료</a:t>
            </a:r>
          </a:p>
        </p:txBody>
      </p:sp>
      <p:sp>
        <p:nvSpPr>
          <p:cNvPr id="3" name="">
            <a:extLst>
              <a:ext uri="{FF2B5EF4-FFF2-40B4-BE49-F238E27FC236}">
                <ns2:creationId id="{9AE5DA0C-047F-4280-9134-22B3226C38E3}"/>
              </a:ext>
            </a:extLst>
          </p:cNvPr>
          <p:cNvSpPr>
            <a:spLocks noGrp="1"/>
          </p:cNvSpPr>
          <p:nvPr/>
        </p:nvSpPr>
        <p:spPr>
          <a:xfrm>
            <a:off x="685800" y="1885950"/>
            <a:ext cx="10820400" cy="447675"/>
          </a:xfrm>
          <a:prstGeom prst="rect">
            <a:avLst/>
          </a:prstGeom>
          <a:noFill/>
          <a:ln w="0">
            <a:noFill/>
          </a:ln>
        </p:spPr>
        <p:txBody>
          <a:bodyPr wrap="square" lIns="0" tIns="0" rIns="0" bIns="0">
            <a:noAutofit/>
          </a:bodyPr>
          <a:lstStyle/>
          <a:p>
            <a:pPr>
              <a:defRPr sz="2325" b="1">
                <a:solidFill>
                  <a:srgbClr val="08786F"/>
                </a:solidFill>
                <a:latin typeface="Noto Sans KR"/>
                <a:ea typeface="Noto Sans KR"/>
                <a:cs typeface="Noto Sans KR"/>
              </a:defRPr>
            </a:pPr>
            <a:r>
              <a:rPr u="sng">
                <a:hlinkClick r:id="rIdLink4"/>
              </a:rPr>
              <a:t>처음 시작 안내 ↗</a:t>
            </a:r>
          </a:p>
        </p:txBody>
      </p:sp>
      <p:sp>
        <p:nvSpPr>
          <p:cNvPr id="4" name="">
            <a:extLst>
              <a:ext uri="{FF2B5EF4-FFF2-40B4-BE49-F238E27FC236}">
                <ns2:creationId id="{C361AC99-0608-41AE-A909-23CC8968C33D}"/>
              </a:ext>
            </a:extLst>
          </p:cNvPr>
          <p:cNvSpPr>
            <a:spLocks noGrp="1"/>
          </p:cNvSpPr>
          <p:nvPr/>
        </p:nvSpPr>
        <p:spPr>
          <a:xfrm>
            <a:off x="685800" y="2343150"/>
            <a:ext cx="10820400" cy="257175"/>
          </a:xfrm>
          <a:prstGeom prst="rect">
            <a:avLst/>
          </a:prstGeom>
          <a:noFill/>
          <a:ln w="0">
            <a:noFill/>
          </a:ln>
        </p:spPr>
        <p:txBody>
          <a:bodyPr wrap="square" lIns="0" tIns="0" rIns="0" bIns="0">
            <a:noAutofit/>
          </a:bodyPr>
          <a:lstStyle/>
          <a:p>
            <a:pPr>
              <a:defRPr sz="1425" b="0">
                <a:solidFill>
                  <a:srgbClr val="52636B"/>
                </a:solidFill>
                <a:latin typeface="Noto Sans KR"/>
                <a:ea typeface="Noto Sans KR"/>
                <a:cs typeface="Noto Sans KR"/>
              </a:defRPr>
            </a:pPr>
            <a:r>
              <a:t>zeusk302-png.github.io</a:t>
            </a:r>
          </a:p>
        </p:txBody>
      </p:sp>
      <p:sp>
        <p:nvSpPr>
          <p:cNvPr id="5" name="">
            <a:extLst>
              <a:ext uri="{FF2B5EF4-FFF2-40B4-BE49-F238E27FC236}">
                <ns2:creationId id="{3E5D0C70-C406-4BB7-8E8C-B26FF2C81523}"/>
              </a:ext>
            </a:extLst>
          </p:cNvPr>
          <p:cNvSpPr>
            <a:spLocks noGrp="1"/>
          </p:cNvSpPr>
          <p:nvPr/>
        </p:nvSpPr>
        <p:spPr>
          <a:xfrm>
            <a:off x="685800" y="2647950"/>
            <a:ext cx="10820400" cy="447675"/>
          </a:xfrm>
          <a:prstGeom prst="rect">
            <a:avLst/>
          </a:prstGeom>
          <a:noFill/>
          <a:ln w="0">
            <a:noFill/>
          </a:ln>
        </p:spPr>
        <p:txBody>
          <a:bodyPr wrap="square" lIns="0" tIns="0" rIns="0" bIns="0">
            <a:noAutofit/>
          </a:bodyPr>
          <a:lstStyle/>
          <a:p>
            <a:pPr>
              <a:defRPr sz="2325" b="1">
                <a:solidFill>
                  <a:srgbClr val="08786F"/>
                </a:solidFill>
                <a:latin typeface="Noto Sans KR"/>
                <a:ea typeface="Noto Sans KR"/>
                <a:cs typeface="Noto Sans KR"/>
              </a:defRPr>
            </a:pPr>
            <a:r>
              <a:rPr u="sng">
                <a:hlinkClick r:id="rIdLink5"/>
              </a:rPr>
              <a:t>학생 교안 ↗</a:t>
            </a:r>
          </a:p>
        </p:txBody>
      </p:sp>
      <p:sp>
        <p:nvSpPr>
          <p:cNvPr id="6" name="">
            <a:extLst>
              <a:ext uri="{FF2B5EF4-FFF2-40B4-BE49-F238E27FC236}">
                <ns2:creationId id="{286AFD4B-CCED-4E02-A4C3-5D098D835DD3}"/>
              </a:ext>
            </a:extLst>
          </p:cNvPr>
          <p:cNvSpPr>
            <a:spLocks noGrp="1"/>
          </p:cNvSpPr>
          <p:nvPr/>
        </p:nvSpPr>
        <p:spPr>
          <a:xfrm>
            <a:off x="685800" y="3105150"/>
            <a:ext cx="10820400" cy="257175"/>
          </a:xfrm>
          <a:prstGeom prst="rect">
            <a:avLst/>
          </a:prstGeom>
          <a:noFill/>
          <a:ln w="0">
            <a:noFill/>
          </a:ln>
        </p:spPr>
        <p:txBody>
          <a:bodyPr wrap="square" lIns="0" tIns="0" rIns="0" bIns="0">
            <a:noAutofit/>
          </a:bodyPr>
          <a:lstStyle/>
          <a:p>
            <a:pPr>
              <a:defRPr sz="1425" b="0">
                <a:solidFill>
                  <a:srgbClr val="52636B"/>
                </a:solidFill>
                <a:latin typeface="Noto Sans KR"/>
                <a:ea typeface="Noto Sans KR"/>
                <a:cs typeface="Noto Sans KR"/>
              </a:defRPr>
            </a:pPr>
            <a:r>
              <a:t>zeusk302-png.github.io</a:t>
            </a:r>
          </a:p>
        </p:txBody>
      </p:sp>
      <p:sp>
        <p:nvSpPr>
          <p:cNvPr id="7" name="">
            <a:extLst>
              <a:ext uri="{FF2B5EF4-FFF2-40B4-BE49-F238E27FC236}">
                <ns2:creationId id="{32EA6B27-76AA-4DCD-B0FF-63ADF6488BDC}"/>
              </a:ext>
            </a:extLst>
          </p:cNvPr>
          <p:cNvSpPr>
            <a:spLocks noGrp="1"/>
          </p:cNvSpPr>
          <p:nvPr/>
        </p:nvSpPr>
        <p:spPr>
          <a:xfrm>
            <a:off x="685800" y="3409950"/>
            <a:ext cx="10820400" cy="447675"/>
          </a:xfrm>
          <a:prstGeom prst="rect">
            <a:avLst/>
          </a:prstGeom>
          <a:noFill/>
          <a:ln w="0">
            <a:noFill/>
          </a:ln>
        </p:spPr>
        <p:txBody>
          <a:bodyPr wrap="square" lIns="0" tIns="0" rIns="0" bIns="0">
            <a:noAutofit/>
          </a:bodyPr>
          <a:lstStyle/>
          <a:p>
            <a:pPr>
              <a:defRPr sz="2325" b="1">
                <a:solidFill>
                  <a:srgbClr val="08786F"/>
                </a:solidFill>
                <a:latin typeface="Noto Sans KR"/>
                <a:ea typeface="Noto Sans KR"/>
                <a:cs typeface="Noto Sans KR"/>
              </a:defRPr>
            </a:pPr>
            <a:r>
              <a:rPr u="sng">
                <a:hlinkClick r:id="rIdLink6"/>
              </a:rPr>
              <a:t>실습 활동 ↗</a:t>
            </a:r>
          </a:p>
        </p:txBody>
      </p:sp>
      <p:sp>
        <p:nvSpPr>
          <p:cNvPr id="8" name="">
            <a:extLst>
              <a:ext uri="{FF2B5EF4-FFF2-40B4-BE49-F238E27FC236}">
                <ns2:creationId id="{195EB6C0-C1DE-4CD0-8C1D-D4615E8526DB}"/>
              </a:ext>
            </a:extLst>
          </p:cNvPr>
          <p:cNvSpPr>
            <a:spLocks noGrp="1"/>
          </p:cNvSpPr>
          <p:nvPr/>
        </p:nvSpPr>
        <p:spPr>
          <a:xfrm>
            <a:off x="685800" y="3867150"/>
            <a:ext cx="10820400" cy="257175"/>
          </a:xfrm>
          <a:prstGeom prst="rect">
            <a:avLst/>
          </a:prstGeom>
          <a:noFill/>
          <a:ln w="0">
            <a:noFill/>
          </a:ln>
        </p:spPr>
        <p:txBody>
          <a:bodyPr wrap="square" lIns="0" tIns="0" rIns="0" bIns="0">
            <a:noAutofit/>
          </a:bodyPr>
          <a:lstStyle/>
          <a:p>
            <a:pPr>
              <a:defRPr sz="1425" b="0">
                <a:solidFill>
                  <a:srgbClr val="52636B"/>
                </a:solidFill>
                <a:latin typeface="Noto Sans KR"/>
                <a:ea typeface="Noto Sans KR"/>
                <a:cs typeface="Noto Sans KR"/>
              </a:defRPr>
            </a:pPr>
            <a:r>
              <a:t>zeusk302-png.github.io</a:t>
            </a:r>
          </a:p>
        </p:txBody>
      </p:sp>
      <p:sp>
        <p:nvSpPr>
          <p:cNvPr id="9" name="">
            <a:extLst>
              <a:ext uri="{FF2B5EF4-FFF2-40B4-BE49-F238E27FC236}">
                <ns2:creationId id="{02648D0E-B097-49C4-AA80-DEF8A7117922}"/>
              </a:ext>
            </a:extLst>
          </p:cNvPr>
          <p:cNvSpPr>
            <a:spLocks noGrp="1"/>
          </p:cNvSpPr>
          <p:nvPr/>
        </p:nvSpPr>
        <p:spPr>
          <a:xfrm>
            <a:off x="685800" y="4171950"/>
            <a:ext cx="10820400" cy="447675"/>
          </a:xfrm>
          <a:prstGeom prst="rect">
            <a:avLst/>
          </a:prstGeom>
          <a:noFill/>
          <a:ln w="0">
            <a:noFill/>
          </a:ln>
        </p:spPr>
        <p:txBody>
          <a:bodyPr wrap="square" lIns="0" tIns="0" rIns="0" bIns="0">
            <a:noAutofit/>
          </a:bodyPr>
          <a:lstStyle/>
          <a:p>
            <a:pPr>
              <a:defRPr sz="2325" b="1">
                <a:solidFill>
                  <a:srgbClr val="08786F"/>
                </a:solidFill>
                <a:latin typeface="Noto Sans KR"/>
                <a:ea typeface="Noto Sans KR"/>
                <a:cs typeface="Noto Sans KR"/>
              </a:defRPr>
            </a:pPr>
            <a:r>
              <a:rPr u="sng">
                <a:hlinkClick r:id="rIdLink7"/>
              </a:rPr>
              <a:t>예제 코드와 데이터 ZIP ↗</a:t>
            </a:r>
          </a:p>
        </p:txBody>
      </p:sp>
      <p:sp>
        <p:nvSpPr>
          <p:cNvPr id="10" name="">
            <a:extLst>
              <a:ext uri="{FF2B5EF4-FFF2-40B4-BE49-F238E27FC236}">
                <ns2:creationId id="{74CC376B-632F-4AFF-B862-9C67C9F5B7E7}"/>
              </a:ext>
            </a:extLst>
          </p:cNvPr>
          <p:cNvSpPr>
            <a:spLocks noGrp="1"/>
          </p:cNvSpPr>
          <p:nvPr/>
        </p:nvSpPr>
        <p:spPr>
          <a:xfrm>
            <a:off x="685800" y="4629150"/>
            <a:ext cx="10820400" cy="257175"/>
          </a:xfrm>
          <a:prstGeom prst="rect">
            <a:avLst/>
          </a:prstGeom>
          <a:noFill/>
          <a:ln w="0">
            <a:noFill/>
          </a:ln>
        </p:spPr>
        <p:txBody>
          <a:bodyPr wrap="square" lIns="0" tIns="0" rIns="0" bIns="0">
            <a:noAutofit/>
          </a:bodyPr>
          <a:lstStyle/>
          <a:p>
            <a:pPr>
              <a:defRPr sz="1425" b="0">
                <a:solidFill>
                  <a:srgbClr val="52636B"/>
                </a:solidFill>
                <a:latin typeface="Noto Sans KR"/>
                <a:ea typeface="Noto Sans KR"/>
                <a:cs typeface="Noto Sans KR"/>
              </a:defRPr>
            </a:pPr>
            <a:r>
              <a:t>zeusk302-png.github.io</a:t>
            </a:r>
          </a:p>
        </p:txBody>
      </p:sp>
      <p:sp>
        <p:nvSpPr>
          <p:cNvPr id="11" name="">
            <a:extLst>
              <a:ext uri="{FF2B5EF4-FFF2-40B4-BE49-F238E27FC236}">
                <ns2:creationId id="{7A32909D-E697-4CF3-834D-7199C0BF7B4F}"/>
              </a:ext>
            </a:extLst>
          </p:cNvPr>
          <p:cNvSpPr>
            <a:spLocks noGrp="1"/>
          </p:cNvSpPr>
          <p:nvPr/>
        </p:nvSpPr>
        <p:spPr>
          <a:xfrm>
            <a:off x="685800" y="4933950"/>
            <a:ext cx="10820400" cy="447675"/>
          </a:xfrm>
          <a:prstGeom prst="rect">
            <a:avLst/>
          </a:prstGeom>
          <a:noFill/>
          <a:ln w="0">
            <a:noFill/>
          </a:ln>
        </p:spPr>
        <p:txBody>
          <a:bodyPr wrap="square" lIns="0" tIns="0" rIns="0" bIns="0">
            <a:noAutofit/>
          </a:bodyPr>
          <a:lstStyle/>
          <a:p>
            <a:pPr>
              <a:defRPr sz="2325" b="1">
                <a:solidFill>
                  <a:srgbClr val="08786F"/>
                </a:solidFill>
                <a:latin typeface="Noto Sans KR"/>
                <a:ea typeface="Noto Sans KR"/>
                <a:cs typeface="Noto Sans KR"/>
              </a:defRPr>
            </a:pPr>
            <a:r>
              <a:rPr u="sng">
                <a:hlinkClick r:id="rIdLink8"/>
              </a:rPr>
              <a:t>날짜별 자료 다운로드 ↗</a:t>
            </a:r>
          </a:p>
        </p:txBody>
      </p:sp>
      <p:sp>
        <p:nvSpPr>
          <p:cNvPr id="12" name="">
            <a:extLst>
              <a:ext uri="{FF2B5EF4-FFF2-40B4-BE49-F238E27FC236}">
                <ns2:creationId id="{870E2904-9F38-4ED6-9116-A0E177E6EF25}"/>
              </a:ext>
            </a:extLst>
          </p:cNvPr>
          <p:cNvSpPr>
            <a:spLocks noGrp="1"/>
          </p:cNvSpPr>
          <p:nvPr/>
        </p:nvSpPr>
        <p:spPr>
          <a:xfrm>
            <a:off x="685800" y="5391150"/>
            <a:ext cx="10820400" cy="257175"/>
          </a:xfrm>
          <a:prstGeom prst="rect">
            <a:avLst/>
          </a:prstGeom>
          <a:noFill/>
          <a:ln w="0">
            <a:noFill/>
          </a:ln>
        </p:spPr>
        <p:txBody>
          <a:bodyPr wrap="square" lIns="0" tIns="0" rIns="0" bIns="0">
            <a:noAutofit/>
          </a:bodyPr>
          <a:lstStyle/>
          <a:p>
            <a:pPr>
              <a:defRPr sz="1425" b="0">
                <a:solidFill>
                  <a:srgbClr val="52636B"/>
                </a:solidFill>
                <a:latin typeface="Noto Sans KR"/>
                <a:ea typeface="Noto Sans KR"/>
                <a:cs typeface="Noto Sans KR"/>
              </a:defRPr>
            </a:pPr>
            <a:r>
              <a:t>zeusk302-png.github.io</a:t>
            </a:r>
          </a:p>
        </p:txBody>
      </p:sp>
      <p:sp>
        <p:nvSpPr>
          <p:cNvPr id="13" name="">
            <a:extLst>
              <a:ext uri="{FF2B5EF4-FFF2-40B4-BE49-F238E27FC236}">
                <ns2:creationId id="{CCFCD95C-228F-46A2-AF33-401B5446DC70}"/>
              </a:ext>
            </a:extLst>
          </p:cNvPr>
          <p:cNvSpPr>
            <a:spLocks noGrp="1"/>
          </p:cNvSpPr>
          <p:nvPr/>
        </p:nvSpPr>
        <p:spPr>
          <a:xfrm>
            <a:off x="685800" y="6172200"/>
            <a:ext cx="10820400" cy="9525"/>
          </a:xfrm>
          <a:prstGeom prst="rect">
            <a:avLst/>
          </a:prstGeom>
          <a:solidFill>
            <a:srgbClr val="D5DEDD"/>
          </a:solidFill>
          <a:ln w="0">
            <a:noFill/>
          </a:ln>
        </p:spPr>
      </p:sp>
      <p:sp>
        <p:nvSpPr>
          <p:cNvPr id="14" name="">
            <a:extLst>
              <a:ext uri="{FF2B5EF4-FFF2-40B4-BE49-F238E27FC236}">
                <ns2:creationId id="{A8FC296B-4DA3-43F6-A598-6BB4A820AB01}"/>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5" name="">
            <a:extLst>
              <a:ext uri="{FF2B5EF4-FFF2-40B4-BE49-F238E27FC236}">
                <ns2:creationId id="{5D0255EC-BBD0-4273-972E-E04F641E4B55}"/>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6" name="">
            <a:extLst>
              <a:ext uri="{FF2B5EF4-FFF2-40B4-BE49-F238E27FC236}">
                <ns2:creationId id="{702C09CA-DAA3-47BC-A78F-6715BE121D9D}"/>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7" name="">
            <a:extLst>
              <a:ext uri="{FF2B5EF4-FFF2-40B4-BE49-F238E27FC236}">
                <ns2:creationId id="{4680BD0F-73E5-4BB1-9236-C9CC0A5A7298}"/>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10/30   103</a:t>
            </a:r>
          </a:p>
        </p:txBody>
      </p:sp>
    </p:spTree>
    <p:extLst>
      <p:ext uri="{BB962C8B-B14F-4D97-AF65-F5344CB8AC3E}">
        <ns4:creationId val="1828958869"/>
      </p:ext>
    </p:extLst>
  </p:cSld>
</p:sld>
</file>

<file path=ppt/slides/slide104.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4" name="">
            <a:extLst>
              <a:ext uri="{FF2B5EF4-FFF2-40B4-BE49-F238E27FC236}">
                <ns2:creationId id="{63A6E261-DADD-45CE-83AD-9C339C823DBA}"/>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10/30 수업</a:t>
            </a:r>
          </a:p>
        </p:txBody>
      </p:sp>
      <p:sp>
        <p:nvSpPr>
          <p:cNvPr id="2" name="">
            <a:extLst>
              <a:ext uri="{FF2B5EF4-FFF2-40B4-BE49-F238E27FC236}">
                <ns2:creationId id="{A5722B51-1E2B-4093-BE62-B869CEDB94D4}"/>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공식 문서와 참고 자료</a:t>
            </a:r>
          </a:p>
        </p:txBody>
      </p:sp>
      <p:sp>
        <p:nvSpPr>
          <p:cNvPr id="3" name="">
            <a:extLst>
              <a:ext uri="{FF2B5EF4-FFF2-40B4-BE49-F238E27FC236}">
                <ns2:creationId id="{C26EA786-F5CD-4CE5-9CE2-01A81190BAA9}"/>
              </a:ext>
            </a:extLst>
          </p:cNvPr>
          <p:cNvSpPr>
            <a:spLocks noGrp="1"/>
          </p:cNvSpPr>
          <p:nvPr/>
        </p:nvSpPr>
        <p:spPr>
          <a:xfrm>
            <a:off x="685800" y="1885950"/>
            <a:ext cx="10820400" cy="447675"/>
          </a:xfrm>
          <a:prstGeom prst="rect">
            <a:avLst/>
          </a:prstGeom>
          <a:noFill/>
          <a:ln w="0">
            <a:noFill/>
          </a:ln>
        </p:spPr>
        <p:txBody>
          <a:bodyPr wrap="square" lIns="0" tIns="0" rIns="0" bIns="0">
            <a:noAutofit/>
          </a:bodyPr>
          <a:lstStyle/>
          <a:p>
            <a:pPr>
              <a:defRPr sz="2325" b="1">
                <a:solidFill>
                  <a:srgbClr val="08786F"/>
                </a:solidFill>
                <a:latin typeface="Noto Sans KR"/>
                <a:ea typeface="Noto Sans KR"/>
                <a:cs typeface="Noto Sans KR"/>
              </a:defRPr>
            </a:pPr>
            <a:r>
              <a:rPr u="sng">
                <a:hlinkClick r:id="rIdLink4"/>
              </a:rPr>
              <a:t>Python 리스트와 반복 ↗</a:t>
            </a:r>
          </a:p>
        </p:txBody>
      </p:sp>
      <p:sp>
        <p:nvSpPr>
          <p:cNvPr id="4" name="">
            <a:extLst>
              <a:ext uri="{FF2B5EF4-FFF2-40B4-BE49-F238E27FC236}">
                <ns2:creationId id="{39B9D514-BA06-48C2-AB2B-47292DF7054F}"/>
              </a:ext>
            </a:extLst>
          </p:cNvPr>
          <p:cNvSpPr>
            <a:spLocks noGrp="1"/>
          </p:cNvSpPr>
          <p:nvPr/>
        </p:nvSpPr>
        <p:spPr>
          <a:xfrm>
            <a:off x="685800" y="2343150"/>
            <a:ext cx="10820400" cy="257175"/>
          </a:xfrm>
          <a:prstGeom prst="rect">
            <a:avLst/>
          </a:prstGeom>
          <a:noFill/>
          <a:ln w="0">
            <a:noFill/>
          </a:ln>
        </p:spPr>
        <p:txBody>
          <a:bodyPr wrap="square" lIns="0" tIns="0" rIns="0" bIns="0">
            <a:noAutofit/>
          </a:bodyPr>
          <a:lstStyle/>
          <a:p>
            <a:pPr>
              <a:defRPr sz="1425" b="0">
                <a:solidFill>
                  <a:srgbClr val="52636B"/>
                </a:solidFill>
                <a:latin typeface="Noto Sans KR"/>
                <a:ea typeface="Noto Sans KR"/>
                <a:cs typeface="Noto Sans KR"/>
              </a:defRPr>
            </a:pPr>
            <a:r>
              <a:t>docs.python.org</a:t>
            </a:r>
          </a:p>
        </p:txBody>
      </p:sp>
      <p:sp>
        <p:nvSpPr>
          <p:cNvPr id="5" name="">
            <a:extLst>
              <a:ext uri="{FF2B5EF4-FFF2-40B4-BE49-F238E27FC236}">
                <ns2:creationId id="{026CC90F-EA67-42EF-B7B2-94FE128D784B}"/>
              </a:ext>
            </a:extLst>
          </p:cNvPr>
          <p:cNvSpPr>
            <a:spLocks noGrp="1"/>
          </p:cNvSpPr>
          <p:nvPr/>
        </p:nvSpPr>
        <p:spPr>
          <a:xfrm>
            <a:off x="685800" y="2647950"/>
            <a:ext cx="10820400" cy="447675"/>
          </a:xfrm>
          <a:prstGeom prst="rect">
            <a:avLst/>
          </a:prstGeom>
          <a:noFill/>
          <a:ln w="0">
            <a:noFill/>
          </a:ln>
        </p:spPr>
        <p:txBody>
          <a:bodyPr wrap="square" lIns="0" tIns="0" rIns="0" bIns="0">
            <a:noAutofit/>
          </a:bodyPr>
          <a:lstStyle/>
          <a:p>
            <a:pPr>
              <a:defRPr sz="2325" b="1">
                <a:solidFill>
                  <a:srgbClr val="08786F"/>
                </a:solidFill>
                <a:latin typeface="Noto Sans KR"/>
                <a:ea typeface="Noto Sans KR"/>
                <a:cs typeface="Noto Sans KR"/>
              </a:defRPr>
            </a:pPr>
            <a:r>
              <a:rPr u="sng">
                <a:hlinkClick r:id="rIdLink5"/>
              </a:rPr>
              <a:t>Python JSON 읽기 ↗</a:t>
            </a:r>
          </a:p>
        </p:txBody>
      </p:sp>
      <p:sp>
        <p:nvSpPr>
          <p:cNvPr id="6" name="">
            <a:extLst>
              <a:ext uri="{FF2B5EF4-FFF2-40B4-BE49-F238E27FC236}">
                <ns2:creationId id="{7D96393E-CA32-4E35-AC46-24EDDF1E12D5}"/>
              </a:ext>
            </a:extLst>
          </p:cNvPr>
          <p:cNvSpPr>
            <a:spLocks noGrp="1"/>
          </p:cNvSpPr>
          <p:nvPr/>
        </p:nvSpPr>
        <p:spPr>
          <a:xfrm>
            <a:off x="685800" y="3105150"/>
            <a:ext cx="10820400" cy="257175"/>
          </a:xfrm>
          <a:prstGeom prst="rect">
            <a:avLst/>
          </a:prstGeom>
          <a:noFill/>
          <a:ln w="0">
            <a:noFill/>
          </a:ln>
        </p:spPr>
        <p:txBody>
          <a:bodyPr wrap="square" lIns="0" tIns="0" rIns="0" bIns="0">
            <a:noAutofit/>
          </a:bodyPr>
          <a:lstStyle/>
          <a:p>
            <a:pPr>
              <a:defRPr sz="1425" b="0">
                <a:solidFill>
                  <a:srgbClr val="52636B"/>
                </a:solidFill>
                <a:latin typeface="Noto Sans KR"/>
                <a:ea typeface="Noto Sans KR"/>
                <a:cs typeface="Noto Sans KR"/>
              </a:defRPr>
            </a:pPr>
            <a:r>
              <a:t>docs.python.org</a:t>
            </a:r>
          </a:p>
        </p:txBody>
      </p:sp>
      <p:sp>
        <p:nvSpPr>
          <p:cNvPr id="7" name="">
            <a:extLst>
              <a:ext uri="{FF2B5EF4-FFF2-40B4-BE49-F238E27FC236}">
                <ns2:creationId id="{D6FA307E-F6CD-4320-8D07-7CB15A522A18}"/>
              </a:ext>
            </a:extLst>
          </p:cNvPr>
          <p:cNvSpPr>
            <a:spLocks noGrp="1"/>
          </p:cNvSpPr>
          <p:nvPr/>
        </p:nvSpPr>
        <p:spPr>
          <a:xfrm>
            <a:off x="685800" y="3409950"/>
            <a:ext cx="10820400" cy="447675"/>
          </a:xfrm>
          <a:prstGeom prst="rect">
            <a:avLst/>
          </a:prstGeom>
          <a:noFill/>
          <a:ln w="0">
            <a:noFill/>
          </a:ln>
        </p:spPr>
        <p:txBody>
          <a:bodyPr wrap="square" lIns="0" tIns="0" rIns="0" bIns="0">
            <a:noAutofit/>
          </a:bodyPr>
          <a:lstStyle/>
          <a:p>
            <a:pPr>
              <a:defRPr sz="2325" b="1">
                <a:solidFill>
                  <a:srgbClr val="08786F"/>
                </a:solidFill>
                <a:latin typeface="Noto Sans KR"/>
                <a:ea typeface="Noto Sans KR"/>
                <a:cs typeface="Noto Sans KR"/>
              </a:defRPr>
            </a:pPr>
            <a:r>
              <a:rPr u="sng">
                <a:hlinkClick r:id="rIdLink6"/>
              </a:rPr>
              <a:t>Python CSV 읽기 ↗</a:t>
            </a:r>
          </a:p>
        </p:txBody>
      </p:sp>
      <p:sp>
        <p:nvSpPr>
          <p:cNvPr id="8" name="">
            <a:extLst>
              <a:ext uri="{FF2B5EF4-FFF2-40B4-BE49-F238E27FC236}">
                <ns2:creationId id="{141CD747-E8C9-4537-A691-440D8C4846E3}"/>
              </a:ext>
            </a:extLst>
          </p:cNvPr>
          <p:cNvSpPr>
            <a:spLocks noGrp="1"/>
          </p:cNvSpPr>
          <p:nvPr/>
        </p:nvSpPr>
        <p:spPr>
          <a:xfrm>
            <a:off x="685800" y="3867150"/>
            <a:ext cx="10820400" cy="257175"/>
          </a:xfrm>
          <a:prstGeom prst="rect">
            <a:avLst/>
          </a:prstGeom>
          <a:noFill/>
          <a:ln w="0">
            <a:noFill/>
          </a:ln>
        </p:spPr>
        <p:txBody>
          <a:bodyPr wrap="square" lIns="0" tIns="0" rIns="0" bIns="0">
            <a:noAutofit/>
          </a:bodyPr>
          <a:lstStyle/>
          <a:p>
            <a:pPr>
              <a:defRPr sz="1425" b="0">
                <a:solidFill>
                  <a:srgbClr val="52636B"/>
                </a:solidFill>
                <a:latin typeface="Noto Sans KR"/>
                <a:ea typeface="Noto Sans KR"/>
                <a:cs typeface="Noto Sans KR"/>
              </a:defRPr>
            </a:pPr>
            <a:r>
              <a:t>docs.python.org</a:t>
            </a:r>
          </a:p>
        </p:txBody>
      </p:sp>
      <p:sp>
        <p:nvSpPr>
          <p:cNvPr id="9" name="">
            <a:extLst>
              <a:ext uri="{FF2B5EF4-FFF2-40B4-BE49-F238E27FC236}">
                <ns2:creationId id="{90BAEA50-E4A8-45EA-840F-236E1AE667A8}"/>
              </a:ext>
            </a:extLst>
          </p:cNvPr>
          <p:cNvSpPr>
            <a:spLocks noGrp="1"/>
          </p:cNvSpPr>
          <p:nvPr/>
        </p:nvSpPr>
        <p:spPr>
          <a:xfrm>
            <a:off x="685800" y="6172200"/>
            <a:ext cx="10820400" cy="9525"/>
          </a:xfrm>
          <a:prstGeom prst="rect">
            <a:avLst/>
          </a:prstGeom>
          <a:solidFill>
            <a:srgbClr val="D5DEDD"/>
          </a:solidFill>
          <a:ln w="0">
            <a:noFill/>
          </a:ln>
        </p:spPr>
      </p:sp>
      <p:sp>
        <p:nvSpPr>
          <p:cNvPr id="10" name="">
            <a:extLst>
              <a:ext uri="{FF2B5EF4-FFF2-40B4-BE49-F238E27FC236}">
                <ns2:creationId id="{8F1FAD10-0609-4384-8468-CCB6953FFBFE}"/>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1" name="">
            <a:extLst>
              <a:ext uri="{FF2B5EF4-FFF2-40B4-BE49-F238E27FC236}">
                <ns2:creationId id="{C9D0EC73-830A-4E67-9DB9-3345940BC20B}"/>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2" name="">
            <a:extLst>
              <a:ext uri="{FF2B5EF4-FFF2-40B4-BE49-F238E27FC236}">
                <ns2:creationId id="{89AB3902-6D0A-4BC8-BCEE-72549857F3CC}"/>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3" name="">
            <a:extLst>
              <a:ext uri="{FF2B5EF4-FFF2-40B4-BE49-F238E27FC236}">
                <ns2:creationId id="{7F6BBEB1-5FE1-4D0D-915F-A67B93ABF0AC}"/>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10/30   104</a:t>
            </a:r>
          </a:p>
        </p:txBody>
      </p:sp>
    </p:spTree>
    <p:extLst>
      <p:ext uri="{BB962C8B-B14F-4D97-AF65-F5344CB8AC3E}">
        <ns4:creationId val="30246069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2026-10-05T04:52:07.2080000Z</dcterms:created>
  <dcterms:modified xsi:type="dcterms:W3CDTF">2026-10-05T04:52:07.2080000Z</dcterms:modified>
</coreProperties>
</file>