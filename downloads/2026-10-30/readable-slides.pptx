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</Types>
</file>

<file path=_rels/.rels><?xml version='1.0' encoding='utf-8'?>
<ns0:Relationships xmlns:ns0="http://schemas.openxmlformats.org/package/2006/relationships"><ns0:Relationship Type="http://schemas.openxmlformats.org/package/2006/relationships/metadata/core-properties" Target="/docProps/core.xml" Id="R742181adf1b9418b" /><ns0:Relationship Type="http://schemas.openxmlformats.org/officeDocument/2006/relationships/extended-properties" Target="/docProps/app.xml" Id="R34d979ee33ab4b59" /><ns0:Relationship Type="http://schemas.openxmlformats.org/officeDocument/2006/relationships/officeDocument" Target="/ppt/presentation.xml" Id="R37c887a61df240a9" /></ns0:Relationships>
</file>

<file path=ppt/presentation.xml><?xml version="1.0" encoding="utf-8"?>
<ns0:presentation xmlns:ns0="http://schemas.openxmlformats.org/presentationml/2006/main" xmlns:ns1="http://schemas.openxmlformats.org/officeDocument/2006/relationships">
  <ns0:sldMasterIdLst>
    <ns0:sldMasterId id="2147483648" ns1:id="Rf5de3d4533d2484c"/>
  </ns0:sldMasterIdLst>
  <ns0:sldIdLst>
    <ns0:sldId id="256" ns1:id="R0d2b5b04b0fb469d"/>
    <ns0:sldId id="257" ns1:id="R65891167b6b84cda"/>
    <ns0:sldId id="258" ns1:id="Re4eebb4337e24451"/>
    <ns0:sldId id="259" ns1:id="R43f5a05f9ff245e5"/>
    <ns0:sldId id="260" ns1:id="Rac9c4b327f13442f"/>
    <ns0:sldId id="261" ns1:id="Rbb90438b718543f3"/>
    <ns0:sldId id="262" ns1:id="Ra82e378efdb54c43"/>
    <ns0:sldId id="263" ns1:id="R3d6940547ecc4d57"/>
    <ns0:sldId id="264" ns1:id="R111c0a2965f04044"/>
    <ns0:sldId id="265" ns1:id="R1220d3c538894c79"/>
    <ns0:sldId id="266" ns1:id="R37bc969ea7b1495c"/>
    <ns0:sldId id="267" ns1:id="R4d3d48884fd246a2"/>
    <ns0:sldId id="268" ns1:id="R66cb442d90544f38"/>
    <ns0:sldId id="269" ns1:id="R2afe27ad623c4687"/>
    <ns0:sldId id="270" ns1:id="R4333dc7896894847"/>
    <ns0:sldId id="271" ns1:id="R4dc45379ae724c0b"/>
    <ns0:sldId id="272" ns1:id="Rc60160a05dc64258"/>
    <ns0:sldId id="273" ns1:id="R638494c007074d79"/>
    <ns0:sldId id="274" ns1:id="R76d59ad1582e4401"/>
    <ns0:sldId id="275" ns1:id="R07365ed447ad4a7f"/>
    <ns0:sldId id="276" ns1:id="R813d1e6f2d5e44b7"/>
    <ns0:sldId id="277" ns1:id="Rd8890d2161724f76"/>
    <ns0:sldId id="278" ns1:id="Rfedc2eca55764e10"/>
    <ns0:sldId id="279" ns1:id="R35f77e56fda7480a"/>
    <ns0:sldId id="280" ns1:id="R4595471d676e4f25"/>
    <ns0:sldId id="281" ns1:id="R4e78d777bfda4daf"/>
    <ns0:sldId id="282" ns1:id="R9a85dffbd9284643"/>
    <ns0:sldId id="283" ns1:id="Rccd9dcd108ab4082"/>
    <ns0:sldId id="284" ns1:id="R65c628fc3cd04cf1"/>
    <ns0:sldId id="285" ns1:id="R705e4d24998444ff"/>
    <ns0:sldId id="286" ns1:id="R32a973d677a649bb"/>
    <ns0:sldId id="287" ns1:id="R8fdada9454fe4e0a"/>
    <ns0:sldId id="288" ns1:id="Rab6f728b85424054"/>
    <ns0:sldId id="289" ns1:id="Rb3fe8f78ae1a436f"/>
    <ns0:sldId id="290" ns1:id="R22f5b993311f424b"/>
    <ns0:sldId id="291" ns1:id="R69a35b1490ab47dc"/>
    <ns0:sldId id="292" ns1:id="R65cee7bcabd640f3"/>
    <ns0:sldId id="293" ns1:id="R40bddacb2a144e8d"/>
    <ns0:sldId id="294" ns1:id="R926ff7771db44883"/>
    <ns0:sldId id="295" ns1:id="R265b03269062435c"/>
    <ns0:sldId id="296" ns1:id="Re0bd034bdca74f9b"/>
    <ns0:sldId id="297" ns1:id="R8fe75aa85b3e4e6d"/>
    <ns0:sldId id="298" ns1:id="R0567e9aef83c4499"/>
    <ns0:sldId id="299" ns1:id="R4127658020224811"/>
    <ns0:sldId id="300" ns1:id="R96686bccb0f144e3"/>
    <ns0:sldId id="301" ns1:id="R4d854525bc4a484c"/>
    <ns0:sldId id="302" ns1:id="R6fa0905727b64388"/>
    <ns0:sldId id="303" ns1:id="R7495c8ff723f4dfb"/>
    <ns0:sldId id="304" ns1:id="R48d6836d90a8442d"/>
    <ns0:sldId id="305" ns1:id="R59eff2dbedb2407d"/>
    <ns0:sldId id="306" ns1:id="R7edb078be4074d16"/>
    <ns0:sldId id="307" ns1:id="Rc61a65443599431c"/>
    <ns0:sldId id="308" ns1:id="R89388ae3d95b402a"/>
    <ns0:sldId id="309" ns1:id="Rfc30b985aed546ba"/>
    <ns0:sldId id="310" ns1:id="R059f720e4f334f5d"/>
    <ns0:sldId id="311" ns1:id="R288ec4809e9548f8"/>
    <ns0:sldId id="312" ns1:id="Re9174ce05330499e"/>
    <ns0:sldId id="313" ns1:id="R34583256cfe3486f"/>
    <ns0:sldId id="314" ns1:id="Rd57f067eeb894138"/>
    <ns0:sldId id="315" ns1:id="Ra5515f6c67ba4e6d"/>
    <ns0:sldId id="316" ns1:id="R4c9983e5f2374360"/>
    <ns0:sldId id="317" ns1:id="R38244a6e0feb482a"/>
    <ns0:sldId id="318" ns1:id="R44231f7f58014d9a"/>
    <ns0:sldId id="319" ns1:id="R2ff52f5c8a0f4768"/>
    <ns0:sldId id="320" ns1:id="R7264243d7d0e455b"/>
    <ns0:sldId id="321" ns1:id="R586a7ec806f1447b"/>
    <ns0:sldId id="322" ns1:id="Re9c8941b33c54407"/>
    <ns0:sldId id="323" ns1:id="R6698b93a2db94a16"/>
    <ns0:sldId id="324" ns1:id="R9cc0fb6439634d2d"/>
    <ns0:sldId id="325" ns1:id="R10e799e6871d47fa"/>
    <ns0:sldId id="326" ns1:id="R8b907d5f34ff4198"/>
    <ns0:sldId id="327" ns1:id="Rd58e9a8742eb4a78"/>
    <ns0:sldId id="328" ns1:id="R1f9ce7b40a054b96"/>
    <ns0:sldId id="329" ns1:id="Rdb2e051af2864ec6"/>
    <ns0:sldId id="330" ns1:id="R8cb03ee27dbb4e37"/>
  </ns0:sldIdLst>
  <ns0:sldSz cx="12192000" cy="6858000"/>
  <ns0:notesSz cx="6858000" cy="9144000"/>
</ns0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<?xml version='1.0' encoding='utf-8'?>
<ns0:Relationships xmlns:ns0="http://schemas.openxmlformats.org/package/2006/relationships"><ns0:Relationship Type="http://schemas.openxmlformats.org/officeDocument/2006/relationships/theme" Target="/ppt/theme/theme1.xml" Id="Rcdac4a8015d74423" /><ns0:Relationship Type="http://schemas.openxmlformats.org/officeDocument/2006/relationships/slideMaster" Target="/ppt/slideMasters/slideMaster1.xml" Id="Rf5de3d4533d2484c" /><ns0:Relationship Type="http://schemas.openxmlformats.org/officeDocument/2006/relationships/presProps" Target="/ppt/presProps.xml" Id="R260ddab2640f454c" /><ns0:Relationship Type="http://schemas.openxmlformats.org/officeDocument/2006/relationships/tableStyles" Target="/ppt/tableStyles.xml" Id="Rd7cb781b827b490b" /><ns0:Relationship Type="http://schemas.openxmlformats.org/officeDocument/2006/relationships/slide" Target="/ppt/slides/slide1.xml" Id="R0d2b5b04b0fb469d" /><ns0:Relationship Type="http://schemas.openxmlformats.org/officeDocument/2006/relationships/slide" Target="/ppt/slides/slide2.xml" Id="R65891167b6b84cda" /><ns0:Relationship Type="http://schemas.openxmlformats.org/officeDocument/2006/relationships/slide" Target="/ppt/slides/slide3.xml" Id="Re4eebb4337e24451" /><ns0:Relationship Type="http://schemas.openxmlformats.org/officeDocument/2006/relationships/slide" Target="/ppt/slides/slide4.xml" Id="R43f5a05f9ff245e5" /><ns0:Relationship Type="http://schemas.openxmlformats.org/officeDocument/2006/relationships/slide" Target="/ppt/slides/slide5.xml" Id="Rac9c4b327f13442f" /><ns0:Relationship Type="http://schemas.openxmlformats.org/officeDocument/2006/relationships/slide" Target="/ppt/slides/slide6.xml" Id="Rbb90438b718543f3" /><ns0:Relationship Type="http://schemas.openxmlformats.org/officeDocument/2006/relationships/slide" Target="/ppt/slides/slide7.xml" Id="Ra82e378efdb54c43" /><ns0:Relationship Type="http://schemas.openxmlformats.org/officeDocument/2006/relationships/slide" Target="/ppt/slides/slide8.xml" Id="R3d6940547ecc4d57" /><ns0:Relationship Type="http://schemas.openxmlformats.org/officeDocument/2006/relationships/slide" Target="/ppt/slides/slide9.xml" Id="R111c0a2965f04044" /><ns0:Relationship Type="http://schemas.openxmlformats.org/officeDocument/2006/relationships/slide" Target="/ppt/slides/slide10.xml" Id="R1220d3c538894c79" /><ns0:Relationship Type="http://schemas.openxmlformats.org/officeDocument/2006/relationships/slide" Target="/ppt/slides/slide11.xml" Id="R37bc969ea7b1495c" /><ns0:Relationship Type="http://schemas.openxmlformats.org/officeDocument/2006/relationships/slide" Target="/ppt/slides/slide12.xml" Id="R4d3d48884fd246a2" /><ns0:Relationship Type="http://schemas.openxmlformats.org/officeDocument/2006/relationships/slide" Target="/ppt/slides/slide13.xml" Id="R66cb442d90544f38" /><ns0:Relationship Type="http://schemas.openxmlformats.org/officeDocument/2006/relationships/slide" Target="/ppt/slides/slide14.xml" Id="R2afe27ad623c4687" /><ns0:Relationship Type="http://schemas.openxmlformats.org/officeDocument/2006/relationships/slide" Target="/ppt/slides/slide15.xml" Id="R4333dc7896894847" /><ns0:Relationship Type="http://schemas.openxmlformats.org/officeDocument/2006/relationships/slide" Target="/ppt/slides/slide16.xml" Id="R4dc45379ae724c0b" /><ns0:Relationship Type="http://schemas.openxmlformats.org/officeDocument/2006/relationships/slide" Target="/ppt/slides/slide17.xml" Id="Rc60160a05dc64258" /><ns0:Relationship Type="http://schemas.openxmlformats.org/officeDocument/2006/relationships/slide" Target="/ppt/slides/slide18.xml" Id="R638494c007074d79" /><ns0:Relationship Type="http://schemas.openxmlformats.org/officeDocument/2006/relationships/slide" Target="/ppt/slides/slide19.xml" Id="R76d59ad1582e4401" /><ns0:Relationship Type="http://schemas.openxmlformats.org/officeDocument/2006/relationships/slide" Target="/ppt/slides/slide20.xml" Id="R07365ed447ad4a7f" /><ns0:Relationship Type="http://schemas.openxmlformats.org/officeDocument/2006/relationships/slide" Target="/ppt/slides/slide21.xml" Id="R813d1e6f2d5e44b7" /><ns0:Relationship Type="http://schemas.openxmlformats.org/officeDocument/2006/relationships/slide" Target="/ppt/slides/slide22.xml" Id="Rd8890d2161724f76" /><ns0:Relationship Type="http://schemas.openxmlformats.org/officeDocument/2006/relationships/slide" Target="/ppt/slides/slide23.xml" Id="Rfedc2eca55764e10" /><ns0:Relationship Type="http://schemas.openxmlformats.org/officeDocument/2006/relationships/slide" Target="/ppt/slides/slide24.xml" Id="R35f77e56fda7480a" /><ns0:Relationship Type="http://schemas.openxmlformats.org/officeDocument/2006/relationships/slide" Target="/ppt/slides/slide25.xml" Id="R4595471d676e4f25" /><ns0:Relationship Type="http://schemas.openxmlformats.org/officeDocument/2006/relationships/slide" Target="/ppt/slides/slide26.xml" Id="R4e78d777bfda4daf" /><ns0:Relationship Type="http://schemas.openxmlformats.org/officeDocument/2006/relationships/slide" Target="/ppt/slides/slide27.xml" Id="R9a85dffbd9284643" /><ns0:Relationship Type="http://schemas.openxmlformats.org/officeDocument/2006/relationships/slide" Target="/ppt/slides/slide28.xml" Id="Rccd9dcd108ab4082" /><ns0:Relationship Type="http://schemas.openxmlformats.org/officeDocument/2006/relationships/slide" Target="/ppt/slides/slide29.xml" Id="R65c628fc3cd04cf1" /><ns0:Relationship Type="http://schemas.openxmlformats.org/officeDocument/2006/relationships/slide" Target="/ppt/slides/slide30.xml" Id="R705e4d24998444ff" /><ns0:Relationship Type="http://schemas.openxmlformats.org/officeDocument/2006/relationships/slide" Target="/ppt/slides/slide31.xml" Id="R32a973d677a649bb" /><ns0:Relationship Type="http://schemas.openxmlformats.org/officeDocument/2006/relationships/slide" Target="/ppt/slides/slide32.xml" Id="R8fdada9454fe4e0a" /><ns0:Relationship Type="http://schemas.openxmlformats.org/officeDocument/2006/relationships/slide" Target="/ppt/slides/slide33.xml" Id="Rab6f728b85424054" /><ns0:Relationship Type="http://schemas.openxmlformats.org/officeDocument/2006/relationships/slide" Target="/ppt/slides/slide34.xml" Id="Rb3fe8f78ae1a436f" /><ns0:Relationship Type="http://schemas.openxmlformats.org/officeDocument/2006/relationships/slide" Target="/ppt/slides/slide35.xml" Id="R22f5b993311f424b" /><ns0:Relationship Type="http://schemas.openxmlformats.org/officeDocument/2006/relationships/slide" Target="/ppt/slides/slide36.xml" Id="R69a35b1490ab47dc" /><ns0:Relationship Type="http://schemas.openxmlformats.org/officeDocument/2006/relationships/slide" Target="/ppt/slides/slide37.xml" Id="R65cee7bcabd640f3" /><ns0:Relationship Type="http://schemas.openxmlformats.org/officeDocument/2006/relationships/slide" Target="/ppt/slides/slide38.xml" Id="R40bddacb2a144e8d" /><ns0:Relationship Type="http://schemas.openxmlformats.org/officeDocument/2006/relationships/slide" Target="/ppt/slides/slide39.xml" Id="R926ff7771db44883" /><ns0:Relationship Type="http://schemas.openxmlformats.org/officeDocument/2006/relationships/slide" Target="/ppt/slides/slide40.xml" Id="R265b03269062435c" /><ns0:Relationship Type="http://schemas.openxmlformats.org/officeDocument/2006/relationships/slide" Target="/ppt/slides/slide41.xml" Id="Re0bd034bdca74f9b" /><ns0:Relationship Type="http://schemas.openxmlformats.org/officeDocument/2006/relationships/slide" Target="/ppt/slides/slide42.xml" Id="R8fe75aa85b3e4e6d" /><ns0:Relationship Type="http://schemas.openxmlformats.org/officeDocument/2006/relationships/slide" Target="/ppt/slides/slide43.xml" Id="R0567e9aef83c4499" /><ns0:Relationship Type="http://schemas.openxmlformats.org/officeDocument/2006/relationships/slide" Target="/ppt/slides/slide44.xml" Id="R4127658020224811" /><ns0:Relationship Type="http://schemas.openxmlformats.org/officeDocument/2006/relationships/slide" Target="/ppt/slides/slide45.xml" Id="R96686bccb0f144e3" /><ns0:Relationship Type="http://schemas.openxmlformats.org/officeDocument/2006/relationships/slide" Target="/ppt/slides/slide46.xml" Id="R4d854525bc4a484c" /><ns0:Relationship Type="http://schemas.openxmlformats.org/officeDocument/2006/relationships/slide" Target="/ppt/slides/slide47.xml" Id="R6fa0905727b64388" /><ns0:Relationship Type="http://schemas.openxmlformats.org/officeDocument/2006/relationships/slide" Target="/ppt/slides/slide48.xml" Id="R7495c8ff723f4dfb" /><ns0:Relationship Type="http://schemas.openxmlformats.org/officeDocument/2006/relationships/slide" Target="/ppt/slides/slide49.xml" Id="R48d6836d90a8442d" /><ns0:Relationship Type="http://schemas.openxmlformats.org/officeDocument/2006/relationships/slide" Target="/ppt/slides/slide50.xml" Id="R59eff2dbedb2407d" /><ns0:Relationship Type="http://schemas.openxmlformats.org/officeDocument/2006/relationships/slide" Target="/ppt/slides/slide51.xml" Id="R7edb078be4074d16" /><ns0:Relationship Type="http://schemas.openxmlformats.org/officeDocument/2006/relationships/slide" Target="/ppt/slides/slide52.xml" Id="Rc61a65443599431c" /><ns0:Relationship Type="http://schemas.openxmlformats.org/officeDocument/2006/relationships/slide" Target="/ppt/slides/slide53.xml" Id="R89388ae3d95b402a" /><ns0:Relationship Type="http://schemas.openxmlformats.org/officeDocument/2006/relationships/slide" Target="/ppt/slides/slide54.xml" Id="Rfc30b985aed546ba" /><ns0:Relationship Type="http://schemas.openxmlformats.org/officeDocument/2006/relationships/slide" Target="/ppt/slides/slide55.xml" Id="R059f720e4f334f5d" /><ns0:Relationship Type="http://schemas.openxmlformats.org/officeDocument/2006/relationships/slide" Target="/ppt/slides/slide56.xml" Id="R288ec4809e9548f8" /><ns0:Relationship Type="http://schemas.openxmlformats.org/officeDocument/2006/relationships/slide" Target="/ppt/slides/slide57.xml" Id="Re9174ce05330499e" /><ns0:Relationship Type="http://schemas.openxmlformats.org/officeDocument/2006/relationships/slide" Target="/ppt/slides/slide58.xml" Id="R34583256cfe3486f" /><ns0:Relationship Type="http://schemas.openxmlformats.org/officeDocument/2006/relationships/slide" Target="/ppt/slides/slide59.xml" Id="Rd57f067eeb894138" /><ns0:Relationship Type="http://schemas.openxmlformats.org/officeDocument/2006/relationships/slide" Target="/ppt/slides/slide60.xml" Id="Ra5515f6c67ba4e6d" /><ns0:Relationship Type="http://schemas.openxmlformats.org/officeDocument/2006/relationships/slide" Target="/ppt/slides/slide61.xml" Id="R4c9983e5f2374360" /><ns0:Relationship Type="http://schemas.openxmlformats.org/officeDocument/2006/relationships/slide" Target="/ppt/slides/slide62.xml" Id="R38244a6e0feb482a" /><ns0:Relationship Type="http://schemas.openxmlformats.org/officeDocument/2006/relationships/slide" Target="/ppt/slides/slide63.xml" Id="R44231f7f58014d9a" /><ns0:Relationship Type="http://schemas.openxmlformats.org/officeDocument/2006/relationships/slide" Target="/ppt/slides/slide64.xml" Id="R2ff52f5c8a0f4768" /><ns0:Relationship Type="http://schemas.openxmlformats.org/officeDocument/2006/relationships/slide" Target="/ppt/slides/slide65.xml" Id="R7264243d7d0e455b" /><ns0:Relationship Type="http://schemas.openxmlformats.org/officeDocument/2006/relationships/slide" Target="/ppt/slides/slide66.xml" Id="R586a7ec806f1447b" /><ns0:Relationship Type="http://schemas.openxmlformats.org/officeDocument/2006/relationships/slide" Target="/ppt/slides/slide67.xml" Id="Re9c8941b33c54407" /><ns0:Relationship Type="http://schemas.openxmlformats.org/officeDocument/2006/relationships/slide" Target="/ppt/slides/slide68.xml" Id="R6698b93a2db94a16" /><ns0:Relationship Type="http://schemas.openxmlformats.org/officeDocument/2006/relationships/slide" Target="/ppt/slides/slide69.xml" Id="R9cc0fb6439634d2d" /><ns0:Relationship Type="http://schemas.openxmlformats.org/officeDocument/2006/relationships/slide" Target="/ppt/slides/slide70.xml" Id="R10e799e6871d47fa" /><ns0:Relationship Type="http://schemas.openxmlformats.org/officeDocument/2006/relationships/slide" Target="/ppt/slides/slide71.xml" Id="R8b907d5f34ff4198" /><ns0:Relationship Type="http://schemas.openxmlformats.org/officeDocument/2006/relationships/slide" Target="/ppt/slides/slide72.xml" Id="Rd58e9a8742eb4a78" /><ns0:Relationship Type="http://schemas.openxmlformats.org/officeDocument/2006/relationships/slide" Target="/ppt/slides/slide73.xml" Id="R1f9ce7b40a054b96" /><ns0:Relationship Type="http://schemas.openxmlformats.org/officeDocument/2006/relationships/slide" Target="/ppt/slides/slide74.xml" Id="Rdb2e051af2864ec6" /><ns0:Relationship Type="http://schemas.openxmlformats.org/officeDocument/2006/relationships/slide" Target="/ppt/slides/slide75.xml" Id="R8cb03ee27dbb4e37" /></ns0:Relationships>
</file>

<file path=ppt/slideLayouts/_rels/slideLayout1.xml.rels><?xml version='1.0' encoding='utf-8'?>
<ns0:Relationships xmlns:ns0="http://schemas.openxmlformats.org/package/2006/relationships"><ns0:Relationship Type="http://schemas.openxmlformats.org/officeDocument/2006/relationships/slideMaster" Target="/ppt/slideMasters/slideMaster1.xml" Id="R0b21df4b09bb4112" /></ns0: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<?xml version='1.0' encoding='utf-8'?>
<ns0:Relationships xmlns:ns0="http://schemas.openxmlformats.org/package/2006/relationships"><ns0:Relationship Type="http://schemas.openxmlformats.org/officeDocument/2006/relationships/theme" Target="/ppt/slideMasters/theme/theme2.xml" Id="R44c7514ba14d4097" /><ns0:Relationship Type="http://schemas.openxmlformats.org/officeDocument/2006/relationships/slideLayout" Target="/ppt/slideLayouts/slideLayout1.xml" Id="Re0e4ff0f85cb4d4c" /></ns0: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e0e4ff0f85cb4d4c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33e8b56d903747ee" /><ns0:Relationship Type="http://schemas.openxmlformats.org/officeDocument/2006/relationships/image" Target="/ppt/media/image.png" Id="R259adc1c14354877" /></ns0:Relationships>
</file>

<file path=ppt/slides/_rels/slide2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18a5070bc98247c5" /><ns0:Relationship Type="http://schemas.openxmlformats.org/officeDocument/2006/relationships/image" Target="/ppt/media/image2.png" Id="Rbc939e8e1b5d437f" /></ns0:Relationships>
</file>

<file path=ppt/slides/_rels/slide3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97ea4509ad484070" /><ns0:Relationship Type="http://schemas.openxmlformats.org/officeDocument/2006/relationships/image" Target="../media/image2.png" Id="Re4b2500f792f438d" /></ns0:Relationships>
</file>

<file path=ppt/slides/_rels/slide4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363b9c771d194f06" /><ns0:Relationship Type="http://schemas.openxmlformats.org/officeDocument/2006/relationships/image" Target="../media/image2.png" Id="Ra45ba05a6f4f4c76" /></ns0:Relationships>
</file>

<file path=ppt/slides/_rels/slide5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245664626b044fe1" /><ns0:Relationship Type="http://schemas.openxmlformats.org/officeDocument/2006/relationships/image" Target="../media/image2.png" Id="Rbe66172c249e4453" /></ns0:Relationships>
</file>

<file path=ppt/slides/_rels/slide6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bff574349d484539" /><ns0:Relationship Type="http://schemas.openxmlformats.org/officeDocument/2006/relationships/image" Target="../media/image.png" Id="R8d84efa8b07e40e0" /></ns0:Relationships>
</file>

<file path=ppt/slides/_rels/slide7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eb9bc243a1b943c6" /><ns0:Relationship Type="http://schemas.openxmlformats.org/officeDocument/2006/relationships/image" Target="../media/image2.png" Id="R69b63bb80be74fb8" /></ns0:Relationships>
</file>

<file path=ppt/slides/_rels/slide8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c53313495ff3409f" /><ns0:Relationship Type="http://schemas.openxmlformats.org/officeDocument/2006/relationships/image" Target="../media/image2.png" Id="R8fe10f5b9b7442ee" /></ns0:Relationships>
</file>

<file path=ppt/slides/_rels/slide9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1fd0aefb45844e97" /><ns0:Relationship Type="http://schemas.openxmlformats.org/officeDocument/2006/relationships/image" Target="../media/image2.png" Id="R9ad769ad3f63402b" /></ns0:Relationships>
</file>

<file path=ppt/slides/_rels/slide10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fdf599b2a852444d" /><ns0:Relationship Type="http://schemas.openxmlformats.org/officeDocument/2006/relationships/image" Target="../media/image2.png" Id="R590dc5f5e3c0477b" /></ns0:Relationships>
</file>

<file path=ppt/slides/_rels/slide11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60e73257220b4258" /><ns0:Relationship Type="http://schemas.openxmlformats.org/officeDocument/2006/relationships/image" Target="../media/image2.png" Id="R429e98b5f4f64d53" /></ns0:Relationships>
</file>

<file path=ppt/slides/_rels/slide12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4db96faa720a4c2c" /><ns0:Relationship Type="http://schemas.openxmlformats.org/officeDocument/2006/relationships/image" Target="../media/image.png" Id="R8662f05471c0491d" /></ns0:Relationships>
</file>

<file path=ppt/slides/_rels/slide13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7dce9ffd93d74e0e" /><ns0:Relationship Type="http://schemas.openxmlformats.org/officeDocument/2006/relationships/image" Target="../media/image2.png" Id="R7b16789c0d454073" /></ns0:Relationships>
</file>

<file path=ppt/slides/_rels/slide14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5819527155184c2e" /><ns0:Relationship Type="http://schemas.openxmlformats.org/officeDocument/2006/relationships/image" Target="../media/image.png" Id="Refec3a57b2254f8a" /></ns0:Relationships>
</file>

<file path=ppt/slides/_rels/slide15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344ad8136a4644f5" /><ns0:Relationship Type="http://schemas.openxmlformats.org/officeDocument/2006/relationships/image" Target="../media/image2.png" Id="Rfdff9abbf9c14421" /></ns0:Relationships>
</file>

<file path=ppt/slides/_rels/slide16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c58f3a40461b4ced" /><ns0:Relationship Type="http://schemas.openxmlformats.org/officeDocument/2006/relationships/image" Target="../media/image2.png" Id="R4ef2d342c0014ce1" /></ns0:Relationships>
</file>

<file path=ppt/slides/_rels/slide17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2ee70b9c5696487e" /><ns0:Relationship Type="http://schemas.openxmlformats.org/officeDocument/2006/relationships/image" Target="../media/image.png" Id="R4729d235296a46e7" /></ns0:Relationships>
</file>

<file path=ppt/slides/_rels/slide18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f8628270261d45fc" /><ns0:Relationship Type="http://schemas.openxmlformats.org/officeDocument/2006/relationships/image" Target="../media/image2.png" Id="R324e8853125840ef" /></ns0:Relationships>
</file>

<file path=ppt/slides/_rels/slide19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436553fc2b2748a8" /><ns0:Relationship Type="http://schemas.openxmlformats.org/officeDocument/2006/relationships/image" Target="../media/image2.png" Id="R968990ce2d9945e2" /></ns0:Relationships>
</file>

<file path=ppt/slides/_rels/slide20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532af83111364246" /><ns0:Relationship Type="http://schemas.openxmlformats.org/officeDocument/2006/relationships/image" Target="../media/image2.png" Id="R6a641580d30e4235" /></ns0:Relationships>
</file>

<file path=ppt/slides/_rels/slide21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5affcd4f9d8a41ee" /><ns0:Relationship Type="http://schemas.openxmlformats.org/officeDocument/2006/relationships/image" Target="../media/image2.png" Id="R16b494cc3ce942b9" /></ns0:Relationships>
</file>

<file path=ppt/slides/_rels/slide22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935acc89dceb4ca2" /><ns0:Relationship Type="http://schemas.openxmlformats.org/officeDocument/2006/relationships/image" Target="../media/image2.png" Id="Ra7b74e0d0a314d2e" /></ns0:Relationships>
</file>

<file path=ppt/slides/_rels/slide23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ace75acf4bee41c1" /><ns0:Relationship Type="http://schemas.openxmlformats.org/officeDocument/2006/relationships/image" Target="../media/image.png" Id="R65c8c67e4be745f1" /></ns0:Relationships>
</file>

<file path=ppt/slides/_rels/slide24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cc84a7b6657c4fd5" /><ns0:Relationship Type="http://schemas.openxmlformats.org/officeDocument/2006/relationships/image" Target="../media/image2.png" Id="Rc311acb3bcb842ec" /></ns0:Relationships>
</file>

<file path=ppt/slides/_rels/slide25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11dba0c1543f4212" /><ns0:Relationship Type="http://schemas.openxmlformats.org/officeDocument/2006/relationships/image" Target="../media/image2.png" Id="R9d85c46a6c37418e" /></ns0:Relationships>
</file>

<file path=ppt/slides/_rels/slide26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30c3724766a04508" /><ns0:Relationship Type="http://schemas.openxmlformats.org/officeDocument/2006/relationships/image" Target="../media/image2.png" Id="R10676ae7573f412e" /></ns0:Relationships>
</file>

<file path=ppt/slides/_rels/slide27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3a8c22c2947046bc" /><ns0:Relationship Type="http://schemas.openxmlformats.org/officeDocument/2006/relationships/image" Target="../media/image.png" Id="R3c754a26daf24c39" /></ns0:Relationships>
</file>

<file path=ppt/slides/_rels/slide28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127e5d33d1344d8b" /><ns0:Relationship Type="http://schemas.openxmlformats.org/officeDocument/2006/relationships/image" Target="../media/image2.png" Id="Rc1e17692892b40c1" /></ns0:Relationships>
</file>

<file path=ppt/slides/_rels/slide29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956791e17ee74853" /><ns0:Relationship Type="http://schemas.openxmlformats.org/officeDocument/2006/relationships/image" Target="../media/image.png" Id="Rc1981033bcd841e7" /></ns0:Relationships>
</file>

<file path=ppt/slides/_rels/slide30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d3c52597c7ea44c6" /><ns0:Relationship Type="http://schemas.openxmlformats.org/officeDocument/2006/relationships/image" Target="../media/image2.png" Id="R367324af81684ea8" /></ns0:Relationships>
</file>

<file path=ppt/slides/_rels/slide31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3cde6690b63f4c04" /><ns0:Relationship Type="http://schemas.openxmlformats.org/officeDocument/2006/relationships/image" Target="../media/image2.png" Id="Rffbeabfc2955455d" /></ns0:Relationships>
</file>

<file path=ppt/slides/_rels/slide32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4a617907b9674110" /><ns0:Relationship Type="http://schemas.openxmlformats.org/officeDocument/2006/relationships/image" Target="../media/image2.png" Id="R64c130271d9b4447" /></ns0:Relationships>
</file>

<file path=ppt/slides/_rels/slide33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5f1d5f13a5404ff0" /><ns0:Relationship Type="http://schemas.openxmlformats.org/officeDocument/2006/relationships/image" Target="../media/image2.png" Id="Rf5eab6137f2e48b0" /></ns0:Relationships>
</file>

<file path=ppt/slides/_rels/slide34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470599b17d984656" /><ns0:Relationship Type="http://schemas.openxmlformats.org/officeDocument/2006/relationships/image" Target="../media/image2.png" Id="R0a64109467d7449f" /></ns0:Relationships>
</file>

<file path=ppt/slides/_rels/slide35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a3246943b855446d" /><ns0:Relationship Type="http://schemas.openxmlformats.org/officeDocument/2006/relationships/image" Target="../media/image2.png" Id="R114bcefca1524e2f" /></ns0:Relationships>
</file>

<file path=ppt/slides/_rels/slide36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40cb89f9fdff4c98" /><ns0:Relationship Type="http://schemas.openxmlformats.org/officeDocument/2006/relationships/image" Target="../media/image.png" Id="R1d74d6cad3784bbb" /></ns0:Relationships>
</file>

<file path=ppt/slides/_rels/slide37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a1c2267608ca4968" /><ns0:Relationship Type="http://schemas.openxmlformats.org/officeDocument/2006/relationships/image" Target="../media/image2.png" Id="R08adcc69a03d4675" /></ns0:Relationships>
</file>

<file path=ppt/slides/_rels/slide38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46cb9bb02600407c" /><ns0:Relationship Type="http://schemas.openxmlformats.org/officeDocument/2006/relationships/image" Target="../media/image.png" Id="Radd8edae6c1a4e03" /></ns0:Relationships>
</file>

<file path=ppt/slides/_rels/slide39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3e9ac6ea227446f1" /><ns0:Relationship Type="http://schemas.openxmlformats.org/officeDocument/2006/relationships/image" Target="../media/image2.png" Id="R9440a2df76be49f4" /></ns0:Relationships>
</file>

<file path=ppt/slides/_rels/slide40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3470f1611d4142c7" /><ns0:Relationship Type="http://schemas.openxmlformats.org/officeDocument/2006/relationships/image" Target="../media/image.png" Id="R01efedd66dfc445a" /></ns0:Relationships>
</file>

<file path=ppt/slides/_rels/slide41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cdaab32302a14b84" /><ns0:Relationship Type="http://schemas.openxmlformats.org/officeDocument/2006/relationships/image" Target="../media/image2.png" Id="R65a1d56f72534cf8" /></ns0:Relationships>
</file>

<file path=ppt/slides/_rels/slide42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d2bc53e57b6f4e63" /><ns0:Relationship Type="http://schemas.openxmlformats.org/officeDocument/2006/relationships/image" Target="../media/image2.png" Id="Rda3bc80c865c4c9b" /></ns0:Relationships>
</file>

<file path=ppt/slides/_rels/slide43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b2c12e3d199a4126" /><ns0:Relationship Type="http://schemas.openxmlformats.org/officeDocument/2006/relationships/image" Target="../media/image2.png" Id="R7f2f32368a0b4e5e" /></ns0:Relationships>
</file>

<file path=ppt/slides/_rels/slide44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5f983cf05e4a4dcd" /><ns0:Relationship Type="http://schemas.openxmlformats.org/officeDocument/2006/relationships/image" Target="../media/image2.png" Id="R0fa95da8eecf40ff" /></ns0:Relationships>
</file>

<file path=ppt/slides/_rels/slide45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23c630edb71f4d90" /><ns0:Relationship Type="http://schemas.openxmlformats.org/officeDocument/2006/relationships/image" Target="../media/image2.png" Id="R320803f02b4e497d" /></ns0:Relationships>
</file>

<file path=ppt/slides/_rels/slide46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f6842f0882124723" /><ns0:Relationship Type="http://schemas.openxmlformats.org/officeDocument/2006/relationships/image" Target="../media/image2.png" Id="Rfa892fb769144320" /></ns0:Relationships>
</file>

<file path=ppt/slides/_rels/slide47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e904bfc28e8b4242" /><ns0:Relationship Type="http://schemas.openxmlformats.org/officeDocument/2006/relationships/image" Target="../media/image2.png" Id="R8f6da5a7bb804678" /></ns0:Relationships>
</file>

<file path=ppt/slides/_rels/slide48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922f9a10eb03482b" /><ns0:Relationship Type="http://schemas.openxmlformats.org/officeDocument/2006/relationships/image" Target="../media/image.png" Id="R58a0dceb109d47f0" /></ns0:Relationships>
</file>

<file path=ppt/slides/_rels/slide49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f36df28104df416c" /><ns0:Relationship Type="http://schemas.openxmlformats.org/officeDocument/2006/relationships/image" Target="../media/image2.png" Id="Rdfd28c64bbae47fb" /></ns0:Relationships>
</file>

<file path=ppt/slides/_rels/slide50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2e85c5c1c0474b49" /><ns0:Relationship Type="http://schemas.openxmlformats.org/officeDocument/2006/relationships/image" Target="../media/image2.png" Id="R6a5896b18b40401c" /></ns0:Relationships>
</file>

<file path=ppt/slides/_rels/slide51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babea0dbe5534110" /><ns0:Relationship Type="http://schemas.openxmlformats.org/officeDocument/2006/relationships/image" Target="../media/image.png" Id="R2d486e99c41c4a2a" /></ns0:Relationships>
</file>

<file path=ppt/slides/_rels/slide52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dc14fb71f73442c8" /><ns0:Relationship Type="http://schemas.openxmlformats.org/officeDocument/2006/relationships/image" Target="../media/image.png" Id="Rc684da4344d34b50" /></ns0:Relationships>
</file>

<file path=ppt/slides/_rels/slide53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84d56652c8db440d" /><ns0:Relationship Type="http://schemas.openxmlformats.org/officeDocument/2006/relationships/image" Target="../media/image2.png" Id="R8c67ce63bcbe4abd" /></ns0:Relationships>
</file>

<file path=ppt/slides/_rels/slide54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2acf2e2c4ba9464e" /><ns0:Relationship Type="http://schemas.openxmlformats.org/officeDocument/2006/relationships/image" Target="../media/image2.png" Id="R193103f2d9fb469f" /></ns0:Relationships>
</file>

<file path=ppt/slides/_rels/slide55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fdcdb034389f4333" /><ns0:Relationship Type="http://schemas.openxmlformats.org/officeDocument/2006/relationships/image" Target="../media/image2.png" Id="R9fe9a1d953514cec" /></ns0:Relationships>
</file>

<file path=ppt/slides/_rels/slide56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c03f4d7c3c2f4c40" /><ns0:Relationship Type="http://schemas.openxmlformats.org/officeDocument/2006/relationships/image" Target="../media/image2.png" Id="R89067c14402b4376" /></ns0:Relationships>
</file>

<file path=ppt/slides/_rels/slide57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1c29d838b96f4342" /><ns0:Relationship Type="http://schemas.openxmlformats.org/officeDocument/2006/relationships/image" Target="../media/image2.png" Id="R31f65483f5fc44ec" /></ns0:Relationships>
</file>

<file path=ppt/slides/_rels/slide58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a8e5739ff6ec4f72" /><ns0:Relationship Type="http://schemas.openxmlformats.org/officeDocument/2006/relationships/image" Target="../media/image2.png" Id="R9cacca3ef8a24caf" /></ns0:Relationships>
</file>

<file path=ppt/slides/_rels/slide59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0cc8cad111b04c8d" /><ns0:Relationship Type="http://schemas.openxmlformats.org/officeDocument/2006/relationships/image" Target="../media/image2.png" Id="R40e338731ad144b9" /></ns0:Relationships>
</file>

<file path=ppt/slides/_rels/slide60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98aa08d464ce4b3e" /><ns0:Relationship Type="http://schemas.openxmlformats.org/officeDocument/2006/relationships/image" Target="../media/image.png" Id="R5f3519d1f6624563" /></ns0:Relationships>
</file>

<file path=ppt/slides/_rels/slide61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1875308b5ea84153" /><ns0:Relationship Type="http://schemas.openxmlformats.org/officeDocument/2006/relationships/image" Target="../media/image2.png" Id="R72dc6535f63d4da4" /></ns0:Relationships>
</file>

<file path=ppt/slides/_rels/slide62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6b30fd3b2d254c78" /><ns0:Relationship Type="http://schemas.openxmlformats.org/officeDocument/2006/relationships/image" Target="../media/image.png" Id="Rdcc2a15af1874cba" /></ns0:Relationships>
</file>

<file path=ppt/slides/_rels/slide63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760f0bd661ef4117" /><ns0:Relationship Type="http://schemas.openxmlformats.org/officeDocument/2006/relationships/image" Target="../media/image2.png" Id="R0f82f66ae2484b15" /></ns0:Relationships>
</file>

<file path=ppt/slides/_rels/slide64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608158c65c3845ab" /><ns0:Relationship Type="http://schemas.openxmlformats.org/officeDocument/2006/relationships/image" Target="../media/image.png" Id="R06770e73cc954887" /></ns0:Relationships>
</file>

<file path=ppt/slides/_rels/slide65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c816560351994e5e" /><ns0:Relationship Type="http://schemas.openxmlformats.org/officeDocument/2006/relationships/image" Target="../media/image2.png" Id="Rb661dbb6dec84408" /></ns0:Relationships>
</file>

<file path=ppt/slides/_rels/slide66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7ffbeb30d31143a0" /><ns0:Relationship Type="http://schemas.openxmlformats.org/officeDocument/2006/relationships/image" Target="../media/image2.png" Id="R534fb4c228df41b4" /></ns0:Relationships>
</file>

<file path=ppt/slides/_rels/slide67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84c3541257564fdb" /><ns0:Relationship Type="http://schemas.openxmlformats.org/officeDocument/2006/relationships/image" Target="../media/image2.png" Id="R3a6e0044d10b467f" /></ns0:Relationships>
</file>

<file path=ppt/slides/_rels/slide68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51792917a2a24968" /><ns0:Relationship Type="http://schemas.openxmlformats.org/officeDocument/2006/relationships/image" Target="../media/image.png" Id="R9f01b088e59f417c" /></ns0:Relationships>
</file>

<file path=ppt/slides/_rels/slide69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1ed2321c4bcd4794" /><ns0:Relationship Type="http://schemas.openxmlformats.org/officeDocument/2006/relationships/image" Target="../media/image2.png" Id="Rca7d8c9e1a374e87" /></ns0:Relationships>
</file>

<file path=ppt/slides/_rels/slide70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1516360ac4bf4e4b" /><ns0:Relationship Type="http://schemas.openxmlformats.org/officeDocument/2006/relationships/image" Target="../media/image.png" Id="R42b92ac671b84a94" /></ns0:Relationships>
</file>

<file path=ppt/slides/_rels/slide71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ac00cf05f41748d3" /><ns0:Relationship Type="http://schemas.openxmlformats.org/officeDocument/2006/relationships/image" Target="../media/image.png" Id="Rd07eee52caa74bcd" /></ns0:Relationships>
</file>

<file path=ppt/slides/_rels/slide72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f6d095bf32e54a9d" /><ns0:Relationship Type="http://schemas.openxmlformats.org/officeDocument/2006/relationships/image" Target="../media/image2.png" Id="Rdf1166959749480e" /></ns0:Relationships>
</file>

<file path=ppt/slides/_rels/slide73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4ee8858f1930434a" /><ns0:Relationship Type="http://schemas.openxmlformats.org/officeDocument/2006/relationships/image" Target="../media/image2.png" Id="Re0d899baf85144cd" /></ns0:Relationships>
</file>

<file path=ppt/slides/_rels/slide74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bcd8749f3ab84c33" /><ns0:Relationship Type="http://schemas.openxmlformats.org/officeDocument/2006/relationships/image" Target="../media/image2.png" Id="Rd4adb1603665460c" /></ns0:Relationships>
</file>

<file path=ppt/slides/_rels/slide75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231935afa4d6442b" /><ns0:Relationship Type="http://schemas.openxmlformats.org/officeDocument/2006/relationships/image" Target="../media/image2.png" Id="R8f737b15c7f44b08" /><ns0:Relationship Id="rIdLink1" Type="http://schemas.openxmlformats.org/officeDocument/2006/relationships/hyperlink" Target="https://docs.python.org/3/tutorial/introduction.html#lists" TargetMode="External" /><ns0:Relationship Id="rIdLink2" Type="http://schemas.openxmlformats.org/officeDocument/2006/relationships/hyperlink" Target="https://docs.python.org/3/tutorial/introduction.html#lists" TargetMode="External" /></ns0:Relationships>
</file>

<file path=ppt/slides/slide1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102733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9" name=""/>
          <p:cNvPicPr>
            <a:picLocks noChangeAspect="1"/>
          </p:cNvPicPr>
          <p:nvPr/>
        </p:nvPicPr>
        <p:blipFill>
          <a:blip r:embed="R259adc1c14354877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B4249B04-96B8-4A9E-A67E-17AD337823B4}"/>
              </a:ext>
            </a:extLst>
          </p:cNvPr>
          <p:cNvSpPr>
            <a:spLocks noGrp="1"/>
          </p:cNvSpPr>
          <p:nvPr/>
        </p:nvSpPr>
        <p:spPr>
          <a:xfrm>
            <a:off x="685800" y="685800"/>
            <a:ext cx="8096250" cy="4191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75" b="1">
                <a:solidFill>
                  <a:srgbClr val="ABDDD0"/>
                </a:solidFill>
                <a:latin typeface="Noto Sans KR"/>
                <a:ea typeface="Noto Sans KR"/>
                <a:cs typeface="Noto Sans KR"/>
              </a:defRPr>
            </a:pPr>
            <a:r>
              <a:t>피지컬AI 직무훈련</a:t>
            </a:r>
          </a:p>
        </p:txBody>
      </p:sp>
      <p:sp>
        <p:nvSpPr>
          <p:cNvPr id="3" name="">
            <a:extLst>
              <a:ext uri="{FF2B5EF4-FFF2-40B4-BE49-F238E27FC236}">
                <ns3:creationId id="{119F6934-8F24-4BD0-963F-EA87427AA033}"/>
              </a:ext>
            </a:extLst>
          </p:cNvPr>
          <p:cNvSpPr>
            <a:spLocks noGrp="1"/>
          </p:cNvSpPr>
          <p:nvPr/>
        </p:nvSpPr>
        <p:spPr>
          <a:xfrm>
            <a:off x="685800" y="1752600"/>
            <a:ext cx="8191500" cy="19526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48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프로젝트 기획</a:t>
            </a:r>
          </a:p>
        </p:txBody>
      </p:sp>
      <p:sp>
        <p:nvSpPr>
          <p:cNvPr id="4" name="">
            <a:extLst>
              <a:ext uri="{FF2B5EF4-FFF2-40B4-BE49-F238E27FC236}">
                <ns3:creationId id="{B9E9B4A7-744E-4B17-B79A-728ADC08AB12}"/>
              </a:ext>
            </a:extLst>
          </p:cNvPr>
          <p:cNvSpPr>
            <a:spLocks noGrp="1"/>
          </p:cNvSpPr>
          <p:nvPr/>
        </p:nvSpPr>
        <p:spPr>
          <a:xfrm>
            <a:off x="685800" y="4171950"/>
            <a:ext cx="8572500" cy="41719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17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2026년 10월 30일</a:t>
            </a:r>
          </a:p>
        </p:txBody>
      </p:sp>
      <p:sp>
        <p:nvSpPr>
          <p:cNvPr id="5" name="">
            <a:extLst>
              <a:ext uri="{FF2B5EF4-FFF2-40B4-BE49-F238E27FC236}">
                <ns3:creationId id="{D545743D-E9CB-4FB9-9DBE-F42B458BB015}"/>
              </a:ext>
            </a:extLst>
          </p:cNvPr>
          <p:cNvSpPr>
            <a:spLocks noGrp="1"/>
          </p:cNvSpPr>
          <p:nvPr/>
        </p:nvSpPr>
        <p:spPr>
          <a:xfrm>
            <a:off x="685800" y="4655820"/>
            <a:ext cx="8572500" cy="41719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17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대여·반납 기록을 찾는 작은 프로그램</a:t>
            </a:r>
          </a:p>
        </p:txBody>
      </p:sp>
      <p:sp>
        <p:nvSpPr>
          <p:cNvPr id="6" name="">
            <a:extLst>
              <a:ext uri="{FF2B5EF4-FFF2-40B4-BE49-F238E27FC236}">
                <ns3:creationId id="{B6506FB2-641A-456B-9E2E-B48FD70DC62E}"/>
              </a:ext>
            </a:extLst>
          </p:cNvPr>
          <p:cNvSpPr>
            <a:spLocks noGrp="1"/>
          </p:cNvSpPr>
          <p:nvPr/>
        </p:nvSpPr>
        <p:spPr>
          <a:xfrm>
            <a:off x="685800" y="5139690"/>
            <a:ext cx="8572500" cy="41719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17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사용자 문제부터 시험과 작업 계획까지</a:t>
            </a:r>
          </a:p>
        </p:txBody>
      </p:sp>
      <p:sp>
        <p:nvSpPr>
          <p:cNvPr id="7" name="">
            <a:extLst>
              <a:ext uri="{FF2B5EF4-FFF2-40B4-BE49-F238E27FC236}">
                <ns3:creationId id="{D0AF50D6-1B7D-42C9-A309-11E6EC4C82F5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B3C5CC"/>
                </a:solidFill>
                <a:latin typeface="Noto Sans KR"/>
                <a:ea typeface="Noto Sans KR"/>
                <a:cs typeface="Noto Sans KR"/>
              </a:defRPr>
            </a:pPr>
            <a:r>
              <a:t>10/30   프로젝트 기획</a:t>
            </a:r>
          </a:p>
        </p:txBody>
      </p:sp>
      <p:sp>
        <p:nvSpPr>
          <p:cNvPr id="8" name="">
            <a:extLst>
              <a:ext uri="{FF2B5EF4-FFF2-40B4-BE49-F238E27FC236}">
                <ns3:creationId id="{6563DEE8-B20B-4A81-A613-4D28D412092D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B3C5CC"/>
                </a:solidFill>
                <a:latin typeface="Consolas"/>
                <a:ea typeface="Consolas"/>
                <a:cs typeface="Consolas"/>
              </a:defRPr>
            </a:pPr>
            <a:r>
              <a:t>001</a:t>
            </a:r>
          </a:p>
        </p:txBody>
      </p:sp>
    </p:spTree>
    <p:extLst>
      <p:ext uri="{BB962C8B-B14F-4D97-AF65-F5344CB8AC3E}">
        <ns4:creationId val="1362645438"/>
      </p:ext>
    </p:extLst>
  </p:cSld>
</p:sld>
</file>

<file path=ppt/slides/slide2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1" name=""/>
          <p:cNvPicPr>
            <a:picLocks noChangeAspect="1"/>
          </p:cNvPicPr>
          <p:nvPr/>
        </p:nvPicPr>
        <p:blipFill>
          <a:blip r:embed="Rbc939e8e1b5d437f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EE386094-038E-418D-BC4F-A838E32EEEB3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9589225A-9EC2-4B19-983F-98BAFD98CF44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오늘 만들 기획서</a:t>
            </a:r>
          </a:p>
        </p:txBody>
      </p:sp>
      <p:sp>
        <p:nvSpPr>
          <p:cNvPr id="4" name="">
            <a:extLst>
              <a:ext uri="{FF2B5EF4-FFF2-40B4-BE49-F238E27FC236}">
                <ns3:creationId id="{43D9B125-B49A-4406-B83B-891FF5518397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E1791FD8-4DA9-492A-B52E-0CB87B5C9E33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실습실 담당자가 마감 때 미확인 대여를 찾는 상황을 다룹니다.</a:t>
            </a:r>
          </a:p>
        </p:txBody>
      </p:sp>
      <p:sp>
        <p:nvSpPr>
          <p:cNvPr id="6" name="">
            <a:extLst>
              <a:ext uri="{FF2B5EF4-FFF2-40B4-BE49-F238E27FC236}">
                <ns3:creationId id="{0FC5B5F5-1D6D-4F45-BD05-4F1CCE1E89F4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누구의 어떤 불편을 해결할지, 사용할 기록과 기능을 정합니다.</a:t>
            </a:r>
          </a:p>
        </p:txBody>
      </p:sp>
      <p:sp>
        <p:nvSpPr>
          <p:cNvPr id="7" name="">
            <a:extLst>
              <a:ext uri="{FF2B5EF4-FFF2-40B4-BE49-F238E27FC236}">
                <ns3:creationId id="{F93DF5EC-47A8-4B6A-9111-6F57E2E03CF0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입력과 기대 결과로 시험 방법을 쓰고, 필요한 작업을 나눕니다.</a:t>
            </a:r>
          </a:p>
        </p:txBody>
      </p:sp>
      <p:sp>
        <p:nvSpPr>
          <p:cNvPr id="8" name="">
            <a:extLst>
              <a:ext uri="{FF2B5EF4-FFF2-40B4-BE49-F238E27FC236}">
                <ns3:creationId id="{C779D7D1-E345-41E8-BA75-2BEECFDF6BD0}"/>
              </a:ext>
            </a:extLst>
          </p:cNvPr>
          <p:cNvSpPr>
            <a:spLocks noGrp="1"/>
          </p:cNvSpPr>
          <p:nvPr/>
        </p:nvSpPr>
        <p:spPr>
          <a:xfrm>
            <a:off x="685800" y="361188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오늘 자료는 가상 사례입니다. 실제 제품과 현장 효과는 이후에 확인합니다.</a:t>
            </a:r>
          </a:p>
        </p:txBody>
      </p:sp>
      <p:sp>
        <p:nvSpPr>
          <p:cNvPr id="9" name="">
            <a:extLst>
              <a:ext uri="{FF2B5EF4-FFF2-40B4-BE49-F238E27FC236}">
                <ns3:creationId id="{2EB25EFC-2673-4888-A92B-45341C58696C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10/30   프로젝트 기획</a:t>
            </a:r>
          </a:p>
        </p:txBody>
      </p:sp>
      <p:sp>
        <p:nvSpPr>
          <p:cNvPr id="10" name="">
            <a:extLst>
              <a:ext uri="{FF2B5EF4-FFF2-40B4-BE49-F238E27FC236}">
                <ns3:creationId id="{D8BADC49-C9C0-4BF7-8687-DD39787A42B8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002</a:t>
            </a:r>
          </a:p>
        </p:txBody>
      </p:sp>
    </p:spTree>
    <p:extLst>
      <p:ext uri="{BB962C8B-B14F-4D97-AF65-F5344CB8AC3E}">
        <ns4:creationId val="1713143898"/>
      </p:ext>
    </p:extLst>
  </p:cSld>
</p:sld>
</file>

<file path=ppt/slides/slide3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9" name=""/>
          <p:cNvPicPr>
            <a:picLocks noChangeAspect="1"/>
          </p:cNvPicPr>
          <p:nvPr/>
        </p:nvPicPr>
        <p:blipFill>
          <a:blip r:embed="Re4b2500f792f438d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46029B0E-BFF2-4936-BD12-305B9873BA0B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자료 읽기</a:t>
            </a:r>
          </a:p>
        </p:txBody>
      </p:sp>
      <p:sp>
        <p:nvSpPr>
          <p:cNvPr id="3" name="">
            <a:extLst>
              <a:ext uri="{FF2B5EF4-FFF2-40B4-BE49-F238E27FC236}">
                <ns3:creationId id="{CAB13C29-40EA-4A1D-9F85-40941A366616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오늘의 수업 시간</a:t>
            </a:r>
          </a:p>
        </p:txBody>
      </p:sp>
      <p:sp>
        <p:nvSpPr>
          <p:cNvPr id="4" name="">
            <a:extLst>
              <a:ext uri="{FF2B5EF4-FFF2-40B4-BE49-F238E27FC236}">
                <ns3:creationId id="{FDCE186F-835A-4BEE-9F23-E8FE9E128682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graphicFrame>
        <p:nvGraphicFramePr>
          <p:cNvPr id="13" name=""/>
          <p:cNvGraphicFramePr/>
          <p:nvPr/>
        </p:nvGraphicFramePr>
        <p:xfrm>
          <a:off x="685800" y="1943100"/>
          <a:ext cx="10820400" cy="3633788"/>
        </p:xfrm>
        <a:graphic>
          <a:graphicData uri="http://schemas.openxmlformats.org/drawingml/2006/table">
            <a:tbl>
              <a:tblPr firstRow="1" bandRow="0"/>
              <a:tblGrid>
                <a:gridCol w="2329473"/>
                <a:gridCol w="3777628"/>
                <a:gridCol w="4713299"/>
              </a:tblGrid>
              <a:tr h="519113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1875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교시</a:t>
                      </a:r>
                    </a:p>
                  </a:txBody>
                  <a:tcPr marL="142875" marR="142875" marT="85725" marB="85725" anchor="ctr">
                    <a:solidFill>
                      <a:srgbClr val="102733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1875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시간</a:t>
                      </a:r>
                    </a:p>
                  </a:txBody>
                  <a:tcPr marL="142875" marR="142875" marT="85725" marB="85725" anchor="ctr">
                    <a:solidFill>
                      <a:srgbClr val="102733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1875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완성할 내용</a:t>
                      </a:r>
                    </a:p>
                  </a:txBody>
                  <a:tcPr marL="142875" marR="142875" marT="85725" marB="85725" anchor="ctr">
                    <a:solidFill>
                      <a:srgbClr val="102733"/>
                    </a:solidFill>
                  </a:tcPr>
                </a:tc>
              </a:tr>
              <a:tr h="519113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187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187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10:00~10:50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187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사용자·문제·근거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</a:tr>
              <a:tr h="519113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187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187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11:00~11:50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187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후보·범위·요구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</a:tr>
              <a:tr h="519113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187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187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13:00~13:50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187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데이터·화면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</a:tr>
              <a:tr h="519113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187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187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14:00~14:50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187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시험·위험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</a:tr>
              <a:tr h="519113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187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5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187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15:00~15:50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187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작업·비용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</a:tr>
              <a:tr h="519113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187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6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187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16:00~16:50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187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통합·발표·수정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</a:tr>
            </a:tbl>
          </a:graphicData>
        </a:graphic>
      </p:graphicFrame>
      <p:sp>
        <p:nvSpPr>
          <p:cNvPr id="6" name="">
            <a:extLst>
              <a:ext uri="{FF2B5EF4-FFF2-40B4-BE49-F238E27FC236}">
                <ns3:creationId id="{53F42D56-2588-4545-90A1-41970D9F5661}"/>
              </a:ext>
            </a:extLst>
          </p:cNvPr>
          <p:cNvSpPr>
            <a:spLocks noGrp="1"/>
          </p:cNvSpPr>
          <p:nvPr/>
        </p:nvSpPr>
        <p:spPr>
          <a:xfrm>
            <a:off x="685800" y="5729288"/>
            <a:ext cx="10820400" cy="4762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75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수업 사이 10분 휴식 · 중식 11:50~13:00 · 16:50~17:00 저장과 정리</a:t>
            </a:r>
          </a:p>
        </p:txBody>
      </p:sp>
      <p:sp>
        <p:nvSpPr>
          <p:cNvPr id="7" name="">
            <a:extLst>
              <a:ext uri="{FF2B5EF4-FFF2-40B4-BE49-F238E27FC236}">
                <ns3:creationId id="{EE503C10-69FF-4CD2-9018-278557758192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10/30   프로젝트 기획</a:t>
            </a:r>
          </a:p>
        </p:txBody>
      </p:sp>
      <p:sp>
        <p:nvSpPr>
          <p:cNvPr id="8" name="">
            <a:extLst>
              <a:ext uri="{FF2B5EF4-FFF2-40B4-BE49-F238E27FC236}">
                <ns3:creationId id="{AD5E8166-A9C7-4416-81AA-224E421B271B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003</a:t>
            </a:r>
          </a:p>
        </p:txBody>
      </p:sp>
    </p:spTree>
    <p:extLst>
      <p:ext uri="{BB962C8B-B14F-4D97-AF65-F5344CB8AC3E}">
        <ns4:creationId val="1943405704"/>
      </p:ext>
    </p:extLst>
  </p:cSld>
</p:sld>
</file>

<file path=ppt/slides/slide4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5" name=""/>
          <p:cNvPicPr>
            <a:picLocks noChangeAspect="1"/>
          </p:cNvPicPr>
          <p:nvPr/>
        </p:nvPicPr>
        <p:blipFill>
          <a:blip r:embed="Ra45ba05a6f4f4c76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9A2736DD-28B2-4A26-AEBD-26B4E7E1BA2C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비교</a:t>
            </a:r>
          </a:p>
        </p:txBody>
      </p:sp>
      <p:sp>
        <p:nvSpPr>
          <p:cNvPr id="3" name="">
            <a:extLst>
              <a:ext uri="{FF2B5EF4-FFF2-40B4-BE49-F238E27FC236}">
                <ns3:creationId id="{2051FEA4-7D86-49C1-A2E4-F52A2C09FA46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준비한 자료와 나의 작업 파일</a:t>
            </a:r>
          </a:p>
        </p:txBody>
      </p:sp>
      <p:sp>
        <p:nvSpPr>
          <p:cNvPr id="4" name="">
            <a:extLst>
              <a:ext uri="{FF2B5EF4-FFF2-40B4-BE49-F238E27FC236}">
                <ns3:creationId id="{681A4572-3069-4AD5-9AD1-38BECA119449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F31BCB2E-5DA3-4514-817A-BE7533F72DB0}"/>
              </a:ext>
            </a:extLst>
          </p:cNvPr>
          <p:cNvSpPr>
            <a:spLocks noGrp="1"/>
          </p:cNvSpPr>
          <p:nvPr/>
        </p:nvSpPr>
        <p:spPr>
          <a:xfrm>
            <a:off x="685800" y="2009775"/>
            <a:ext cx="5048250" cy="4762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25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읽을 자료</a:t>
            </a:r>
          </a:p>
        </p:txBody>
      </p:sp>
      <p:sp>
        <p:nvSpPr>
          <p:cNvPr id="6" name="">
            <a:extLst>
              <a:ext uri="{FF2B5EF4-FFF2-40B4-BE49-F238E27FC236}">
                <ns3:creationId id="{B56CB820-21D2-4337-B1A5-A4953D1E6530}"/>
              </a:ext>
            </a:extLst>
          </p:cNvPr>
          <p:cNvSpPr>
            <a:spLocks noGrp="1"/>
          </p:cNvSpPr>
          <p:nvPr/>
        </p:nvSpPr>
        <p:spPr>
          <a:xfrm>
            <a:off x="6448425" y="2009775"/>
            <a:ext cx="5048250" cy="4762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25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내가 남길 파일</a:t>
            </a:r>
          </a:p>
        </p:txBody>
      </p:sp>
      <p:sp>
        <p:nvSpPr>
          <p:cNvPr id="7" name="">
            <a:extLst>
              <a:ext uri="{FF2B5EF4-FFF2-40B4-BE49-F238E27FC236}">
                <ns3:creationId id="{8C18F2A6-9DDC-4A16-B43E-B62D4FD8634E}"/>
              </a:ext>
            </a:extLst>
          </p:cNvPr>
          <p:cNvSpPr>
            <a:spLocks noGrp="1"/>
          </p:cNvSpPr>
          <p:nvPr/>
        </p:nvSpPr>
        <p:spPr>
          <a:xfrm>
            <a:off x="685800" y="2676525"/>
            <a:ext cx="5048250" cy="7715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25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날짜별 실습 ZIP을 일반 폴더에 모두 풉니다.</a:t>
            </a:r>
          </a:p>
        </p:txBody>
      </p:sp>
      <p:sp>
        <p:nvSpPr>
          <p:cNvPr id="8" name="">
            <a:extLst>
              <a:ext uri="{FF2B5EF4-FFF2-40B4-BE49-F238E27FC236}">
                <ns3:creationId id="{28881C4F-D0BE-4B26-A4D7-C9D5CEB887DF}"/>
              </a:ext>
            </a:extLst>
          </p:cNvPr>
          <p:cNvSpPr>
            <a:spLocks noGrp="1"/>
          </p:cNvSpPr>
          <p:nvPr/>
        </p:nvSpPr>
        <p:spPr>
          <a:xfrm>
            <a:off x="685800" y="3514725"/>
            <a:ext cx="5048250" cy="7715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25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course/data: 가상 기록과 조건입니다.</a:t>
            </a:r>
          </a:p>
        </p:txBody>
      </p:sp>
      <p:sp>
        <p:nvSpPr>
          <p:cNvPr id="9" name="">
            <a:extLst>
              <a:ext uri="{FF2B5EF4-FFF2-40B4-BE49-F238E27FC236}">
                <ns3:creationId id="{DC4C97A9-4194-45D6-BC13-5B7E9FEA5555}"/>
              </a:ext>
            </a:extLst>
          </p:cNvPr>
          <p:cNvSpPr>
            <a:spLocks noGrp="1"/>
          </p:cNvSpPr>
          <p:nvPr/>
        </p:nvSpPr>
        <p:spPr>
          <a:xfrm>
            <a:off x="685800" y="4352925"/>
            <a:ext cx="5048250" cy="4286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25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course/code: 완성 코드입니다.</a:t>
            </a:r>
          </a:p>
        </p:txBody>
      </p:sp>
      <p:sp>
        <p:nvSpPr>
          <p:cNvPr id="10" name="">
            <a:extLst>
              <a:ext uri="{FF2B5EF4-FFF2-40B4-BE49-F238E27FC236}">
                <ns3:creationId id="{A3076E48-6261-4568-9FAF-D32D29FB306B}"/>
              </a:ext>
            </a:extLst>
          </p:cNvPr>
          <p:cNvSpPr>
            <a:spLocks noGrp="1"/>
          </p:cNvSpPr>
          <p:nvPr/>
        </p:nvSpPr>
        <p:spPr>
          <a:xfrm>
            <a:off x="6448425" y="2676525"/>
            <a:ext cx="5048250" cy="7715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25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course/work: 나의 작성·수정 파일입니다.</a:t>
            </a:r>
          </a:p>
        </p:txBody>
      </p:sp>
      <p:sp>
        <p:nvSpPr>
          <p:cNvPr id="11" name="">
            <a:extLst>
              <a:ext uri="{FF2B5EF4-FFF2-40B4-BE49-F238E27FC236}">
                <ns3:creationId id="{59024B69-BC72-4D71-9F60-73ED488D0E7B}"/>
              </a:ext>
            </a:extLst>
          </p:cNvPr>
          <p:cNvSpPr>
            <a:spLocks noGrp="1"/>
          </p:cNvSpPr>
          <p:nvPr/>
        </p:nvSpPr>
        <p:spPr>
          <a:xfrm>
            <a:off x="6448425" y="3514725"/>
            <a:ext cx="5048250" cy="7715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25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project-charter.md를 편집기로 엽니다.</a:t>
            </a:r>
          </a:p>
        </p:txBody>
      </p:sp>
      <p:sp>
        <p:nvSpPr>
          <p:cNvPr id="12" name="">
            <a:extLst>
              <a:ext uri="{FF2B5EF4-FFF2-40B4-BE49-F238E27FC236}">
                <ns3:creationId id="{51A90AFC-5047-4CBF-A56F-1EE949BE25AC}"/>
              </a:ext>
            </a:extLst>
          </p:cNvPr>
          <p:cNvSpPr>
            <a:spLocks noGrp="1"/>
          </p:cNvSpPr>
          <p:nvPr/>
        </p:nvSpPr>
        <p:spPr>
          <a:xfrm>
            <a:off x="6448425" y="4352925"/>
            <a:ext cx="5048250" cy="7715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25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Ctrl+S로 저장합니다. 저장과 실행은 다른 행동입니다.</a:t>
            </a:r>
          </a:p>
        </p:txBody>
      </p:sp>
      <p:sp>
        <p:nvSpPr>
          <p:cNvPr id="13" name="">
            <a:extLst>
              <a:ext uri="{FF2B5EF4-FFF2-40B4-BE49-F238E27FC236}">
                <ns3:creationId id="{604565FD-2C3F-4AC7-A372-8B9C001E9562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10/30   프로젝트 기획</a:t>
            </a:r>
          </a:p>
        </p:txBody>
      </p:sp>
      <p:sp>
        <p:nvSpPr>
          <p:cNvPr id="14" name="">
            <a:extLst>
              <a:ext uri="{FF2B5EF4-FFF2-40B4-BE49-F238E27FC236}">
                <ns3:creationId id="{C6018DA0-D1C2-42A5-B8A4-D0253D49A312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004</a:t>
            </a:r>
          </a:p>
        </p:txBody>
      </p:sp>
    </p:spTree>
    <p:extLst>
      <p:ext uri="{BB962C8B-B14F-4D97-AF65-F5344CB8AC3E}">
        <ns4:creationId val="2103674320"/>
      </p:ext>
    </p:extLst>
  </p:cSld>
</p:sld>
</file>

<file path=ppt/slides/slide5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2" name=""/>
          <p:cNvPicPr>
            <a:picLocks noChangeAspect="1"/>
          </p:cNvPicPr>
          <p:nvPr/>
        </p:nvPicPr>
        <p:blipFill>
          <a:blip r:embed="Rbe66172c249e4453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F11E0A4F-FCD6-49E5-B5AA-277C6DFBB6D2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94D6C2FE-163C-4965-BC9E-D58E9D55283F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파일 이름과 실행 위치</a:t>
            </a:r>
          </a:p>
        </p:txBody>
      </p:sp>
      <p:sp>
        <p:nvSpPr>
          <p:cNvPr id="4" name="">
            <a:extLst>
              <a:ext uri="{FF2B5EF4-FFF2-40B4-BE49-F238E27FC236}">
                <ns3:creationId id="{78AA696C-5954-4F5D-B553-FE53219C05DA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38855368-3142-457B-AA9C-606DC5C9B10C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폴더는 파일을 모은 곳입니다. 경로는 그 파일까지 가는 주소입니다.</a:t>
            </a:r>
          </a:p>
        </p:txBody>
      </p:sp>
      <p:sp>
        <p:nvSpPr>
          <p:cNvPr id="6" name="">
            <a:extLst>
              <a:ext uri="{FF2B5EF4-FFF2-40B4-BE49-F238E27FC236}">
                <ns3:creationId id="{BA648CE8-CDAF-4C8D-8A42-048897F7C37E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.md는 글을 담은 파일, .csv는 표 형태의 기록, .py는 Python 코드입니다.</a:t>
            </a:r>
          </a:p>
        </p:txBody>
      </p:sp>
      <p:sp>
        <p:nvSpPr>
          <p:cNvPr id="7" name="">
            <a:extLst>
              <a:ext uri="{FF2B5EF4-FFF2-40B4-BE49-F238E27FC236}">
                <ns3:creationId id="{5F20B5B9-6535-4966-A298-4A55C6B4805E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파일 탐색기에서 course를 연 뒤 주소 표시줄에 powershell을 입력합니다.</a:t>
            </a:r>
          </a:p>
        </p:txBody>
      </p:sp>
      <p:sp>
        <p:nvSpPr>
          <p:cNvPr id="8" name="">
            <a:extLst>
              <a:ext uri="{FF2B5EF4-FFF2-40B4-BE49-F238E27FC236}">
                <ns3:creationId id="{44996C41-E5A9-4B2F-8C21-64D3D1FD7383}"/>
              </a:ext>
            </a:extLst>
          </p:cNvPr>
          <p:cNvSpPr>
            <a:spLocks noGrp="1"/>
          </p:cNvSpPr>
          <p:nvPr/>
        </p:nvSpPr>
        <p:spPr>
          <a:xfrm>
            <a:off x="685800" y="3611880"/>
            <a:ext cx="10820400" cy="81724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명령 창의 현재 위치가 course인지 확인합니다. code·data·work가 보여야 합니다.</a:t>
            </a:r>
          </a:p>
        </p:txBody>
      </p:sp>
      <p:sp>
        <p:nvSpPr>
          <p:cNvPr id="9" name="">
            <a:extLst>
              <a:ext uri="{FF2B5EF4-FFF2-40B4-BE49-F238E27FC236}">
                <ns3:creationId id="{20781127-DFE0-45BE-9A49-21D933B806C2}"/>
              </a:ext>
            </a:extLst>
          </p:cNvPr>
          <p:cNvSpPr>
            <a:spLocks noGrp="1"/>
          </p:cNvSpPr>
          <p:nvPr/>
        </p:nvSpPr>
        <p:spPr>
          <a:xfrm>
            <a:off x="685800" y="44958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Python이 준비되지 않았다면 제공된 결과와 계산표로 개념을 확인합니다.</a:t>
            </a:r>
          </a:p>
        </p:txBody>
      </p:sp>
      <p:sp>
        <p:nvSpPr>
          <p:cNvPr id="10" name="">
            <a:extLst>
              <a:ext uri="{FF2B5EF4-FFF2-40B4-BE49-F238E27FC236}">
                <ns3:creationId id="{C17B36A6-F76C-4522-9C27-F4B271D5883E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10/30   프로젝트 기획</a:t>
            </a:r>
          </a:p>
        </p:txBody>
      </p:sp>
      <p:sp>
        <p:nvSpPr>
          <p:cNvPr id="11" name="">
            <a:extLst>
              <a:ext uri="{FF2B5EF4-FFF2-40B4-BE49-F238E27FC236}">
                <ns3:creationId id="{41216D75-4FD0-4309-BFE9-0AE3407C508B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005</a:t>
            </a:r>
          </a:p>
        </p:txBody>
      </p:sp>
    </p:spTree>
    <p:extLst>
      <p:ext uri="{BB962C8B-B14F-4D97-AF65-F5344CB8AC3E}">
        <ns4:creationId val="1990939887"/>
      </p:ext>
    </p:extLst>
  </p:cSld>
</p:sld>
</file>

<file path=ppt/slides/slide6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102733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9" name=""/>
          <p:cNvPicPr>
            <a:picLocks noChangeAspect="1"/>
          </p:cNvPicPr>
          <p:nvPr/>
        </p:nvPicPr>
        <p:blipFill>
          <a:blip r:embed="R8d84efa8b07e40e0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4E43A2EA-71DE-48AA-9E67-4AB4F3F85FE6}"/>
              </a:ext>
            </a:extLst>
          </p:cNvPr>
          <p:cNvSpPr>
            <a:spLocks noGrp="1"/>
          </p:cNvSpPr>
          <p:nvPr/>
        </p:nvSpPr>
        <p:spPr>
          <a:xfrm>
            <a:off x="685800" y="685800"/>
            <a:ext cx="8572500" cy="4476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100" b="1">
                <a:solidFill>
                  <a:srgbClr val="ABDDD0"/>
                </a:solidFill>
                <a:latin typeface="Noto Sans KR"/>
                <a:ea typeface="Noto Sans KR"/>
                <a:cs typeface="Noto Sans KR"/>
              </a:defRPr>
            </a:pPr>
            <a:r>
              <a:t>01   교시</a:t>
            </a:r>
          </a:p>
        </p:txBody>
      </p:sp>
      <p:sp>
        <p:nvSpPr>
          <p:cNvPr id="3" name="">
            <a:extLst>
              <a:ext uri="{FF2B5EF4-FFF2-40B4-BE49-F238E27FC236}">
                <ns3:creationId id="{218B2D9A-E257-4E86-914D-23569D6CFE56}"/>
              </a:ext>
            </a:extLst>
          </p:cNvPr>
          <p:cNvSpPr>
            <a:spLocks noGrp="1"/>
          </p:cNvSpPr>
          <p:nvPr/>
        </p:nvSpPr>
        <p:spPr>
          <a:xfrm>
            <a:off x="685800" y="1638300"/>
            <a:ext cx="8524875" cy="16573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4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사용자·문제·근거</a:t>
            </a:r>
          </a:p>
        </p:txBody>
      </p:sp>
      <p:sp>
        <p:nvSpPr>
          <p:cNvPr id="4" name="">
            <a:extLst>
              <a:ext uri="{FF2B5EF4-FFF2-40B4-BE49-F238E27FC236}">
                <ns3:creationId id="{5A6E6B44-8612-4FAE-9546-5D110056E6F6}"/>
              </a:ext>
            </a:extLst>
          </p:cNvPr>
          <p:cNvSpPr>
            <a:spLocks noGrp="1"/>
          </p:cNvSpPr>
          <p:nvPr/>
        </p:nvSpPr>
        <p:spPr>
          <a:xfrm>
            <a:off x="685800" y="3724275"/>
            <a:ext cx="8001000" cy="4286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250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10:00~10:50 · 50분</a:t>
            </a:r>
          </a:p>
        </p:txBody>
      </p:sp>
      <p:sp>
        <p:nvSpPr>
          <p:cNvPr id="5" name="">
            <a:extLst>
              <a:ext uri="{FF2B5EF4-FFF2-40B4-BE49-F238E27FC236}">
                <ns3:creationId id="{AE7A6671-AD04-4E53-BEC4-D60E76F43E7B}"/>
              </a:ext>
            </a:extLst>
          </p:cNvPr>
          <p:cNvSpPr>
            <a:spLocks noGrp="1"/>
          </p:cNvSpPr>
          <p:nvPr/>
        </p:nvSpPr>
        <p:spPr>
          <a:xfrm>
            <a:off x="685800" y="4219575"/>
            <a:ext cx="8001000" cy="4286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250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A01~A03</a:t>
            </a:r>
          </a:p>
        </p:txBody>
      </p:sp>
      <p:sp>
        <p:nvSpPr>
          <p:cNvPr id="6" name="">
            <a:extLst>
              <a:ext uri="{FF2B5EF4-FFF2-40B4-BE49-F238E27FC236}">
                <ns3:creationId id="{2B023119-8BBC-4F32-AC6B-E42E232DE6BE}"/>
              </a:ext>
            </a:extLst>
          </p:cNvPr>
          <p:cNvSpPr>
            <a:spLocks noGrp="1"/>
          </p:cNvSpPr>
          <p:nvPr/>
        </p:nvSpPr>
        <p:spPr>
          <a:xfrm>
            <a:off x="685800" y="4714875"/>
            <a:ext cx="8001000" cy="4286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250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완성할 것: 문제 문장과 근거 표</a:t>
            </a:r>
          </a:p>
        </p:txBody>
      </p:sp>
      <p:sp>
        <p:nvSpPr>
          <p:cNvPr id="7" name="">
            <a:extLst>
              <a:ext uri="{FF2B5EF4-FFF2-40B4-BE49-F238E27FC236}">
                <ns3:creationId id="{B8D5949A-80D0-4D19-A796-7CC22ACC51F9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B3C5CC"/>
                </a:solidFill>
                <a:latin typeface="Noto Sans KR"/>
                <a:ea typeface="Noto Sans KR"/>
                <a:cs typeface="Noto Sans KR"/>
              </a:defRPr>
            </a:pPr>
            <a:r>
              <a:t>10/30   프로젝트 기획</a:t>
            </a:r>
          </a:p>
        </p:txBody>
      </p:sp>
      <p:sp>
        <p:nvSpPr>
          <p:cNvPr id="8" name="">
            <a:extLst>
              <a:ext uri="{FF2B5EF4-FFF2-40B4-BE49-F238E27FC236}">
                <ns3:creationId id="{C2C888B4-A772-4E63-8BF4-F652275AD773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B3C5CC"/>
                </a:solidFill>
                <a:latin typeface="Consolas"/>
                <a:ea typeface="Consolas"/>
                <a:cs typeface="Consolas"/>
              </a:defRPr>
            </a:pPr>
            <a:r>
              <a:t>006</a:t>
            </a:r>
          </a:p>
        </p:txBody>
      </p:sp>
    </p:spTree>
    <p:extLst>
      <p:ext uri="{BB962C8B-B14F-4D97-AF65-F5344CB8AC3E}">
        <ns4:creationId val="920768889"/>
      </p:ext>
    </p:extLst>
  </p:cSld>
</p:sld>
</file>

<file path=ppt/slides/slide7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3" name=""/>
          <p:cNvPicPr>
            <a:picLocks noChangeAspect="1"/>
          </p:cNvPicPr>
          <p:nvPr/>
        </p:nvPicPr>
        <p:blipFill>
          <a:blip r:embed="R69b63bb80be74fb8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0D7C8A7B-7807-4ED8-80C9-ECF14A96EDCA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1교시   비교</a:t>
            </a:r>
          </a:p>
        </p:txBody>
      </p:sp>
      <p:sp>
        <p:nvSpPr>
          <p:cNvPr id="3" name="">
            <a:extLst>
              <a:ext uri="{FF2B5EF4-FFF2-40B4-BE49-F238E27FC236}">
                <ns3:creationId id="{9205C0AF-A074-48BA-B78F-8435B27C25FF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프로젝트의 문제와 기능</a:t>
            </a:r>
          </a:p>
        </p:txBody>
      </p:sp>
      <p:sp>
        <p:nvSpPr>
          <p:cNvPr id="4" name="">
            <a:extLst>
              <a:ext uri="{FF2B5EF4-FFF2-40B4-BE49-F238E27FC236}">
                <ns3:creationId id="{A6EF5259-A112-4A98-89D0-31BE015A6ED4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17CF1959-CDAE-43D1-9E78-BE0FED165DDF}"/>
              </a:ext>
            </a:extLst>
          </p:cNvPr>
          <p:cNvSpPr>
            <a:spLocks noGrp="1"/>
          </p:cNvSpPr>
          <p:nvPr/>
        </p:nvSpPr>
        <p:spPr>
          <a:xfrm>
            <a:off x="685800" y="2009775"/>
            <a:ext cx="5048250" cy="4762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25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문제</a:t>
            </a:r>
          </a:p>
        </p:txBody>
      </p:sp>
      <p:sp>
        <p:nvSpPr>
          <p:cNvPr id="6" name="">
            <a:extLst>
              <a:ext uri="{FF2B5EF4-FFF2-40B4-BE49-F238E27FC236}">
                <ns3:creationId id="{CA404B95-13FF-4779-AC16-85FABB099422}"/>
              </a:ext>
            </a:extLst>
          </p:cNvPr>
          <p:cNvSpPr>
            <a:spLocks noGrp="1"/>
          </p:cNvSpPr>
          <p:nvPr/>
        </p:nvSpPr>
        <p:spPr>
          <a:xfrm>
            <a:off x="6448425" y="2009775"/>
            <a:ext cx="5048250" cy="4762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25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기능 후보</a:t>
            </a:r>
          </a:p>
        </p:txBody>
      </p:sp>
      <p:sp>
        <p:nvSpPr>
          <p:cNvPr id="7" name="">
            <a:extLst>
              <a:ext uri="{FF2B5EF4-FFF2-40B4-BE49-F238E27FC236}">
                <ns3:creationId id="{174F94F5-DBF7-49B7-9BA4-6EA015F8CF55}"/>
              </a:ext>
            </a:extLst>
          </p:cNvPr>
          <p:cNvSpPr>
            <a:spLocks noGrp="1"/>
          </p:cNvSpPr>
          <p:nvPr/>
        </p:nvSpPr>
        <p:spPr>
          <a:xfrm>
            <a:off x="685800" y="2676525"/>
            <a:ext cx="5048250" cy="7715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25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마감 담당자가 미확인 기록을 찾으려고 전체 장부를 다시 읽습니다.</a:t>
            </a:r>
          </a:p>
        </p:txBody>
      </p:sp>
      <p:sp>
        <p:nvSpPr>
          <p:cNvPr id="8" name="">
            <a:extLst>
              <a:ext uri="{FF2B5EF4-FFF2-40B4-BE49-F238E27FC236}">
                <ns3:creationId id="{568B4700-E3F4-4F8C-A25F-6C39E237F02B}"/>
              </a:ext>
            </a:extLst>
          </p:cNvPr>
          <p:cNvSpPr>
            <a:spLocks noGrp="1"/>
          </p:cNvSpPr>
          <p:nvPr/>
        </p:nvSpPr>
        <p:spPr>
          <a:xfrm>
            <a:off x="685800" y="3514725"/>
            <a:ext cx="5048250" cy="7715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25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누가, 언제, 어떤 일에서 어려움을 겪는지가 드러납니다.</a:t>
            </a:r>
          </a:p>
        </p:txBody>
      </p:sp>
      <p:sp>
        <p:nvSpPr>
          <p:cNvPr id="9" name="">
            <a:extLst>
              <a:ext uri="{FF2B5EF4-FFF2-40B4-BE49-F238E27FC236}">
                <ns3:creationId id="{664F187F-8D45-44AA-8618-FDBCC403967A}"/>
              </a:ext>
            </a:extLst>
          </p:cNvPr>
          <p:cNvSpPr>
            <a:spLocks noGrp="1"/>
          </p:cNvSpPr>
          <p:nvPr/>
        </p:nvSpPr>
        <p:spPr>
          <a:xfrm>
            <a:off x="6448425" y="2676525"/>
            <a:ext cx="5048250" cy="7715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25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미확인 대여만 모아 보여 주는 목록입니다.</a:t>
            </a:r>
          </a:p>
        </p:txBody>
      </p:sp>
      <p:sp>
        <p:nvSpPr>
          <p:cNvPr id="10" name="">
            <a:extLst>
              <a:ext uri="{FF2B5EF4-FFF2-40B4-BE49-F238E27FC236}">
                <ns3:creationId id="{D6311B2A-285E-4690-9D6D-34E818F9C5F1}"/>
              </a:ext>
            </a:extLst>
          </p:cNvPr>
          <p:cNvSpPr>
            <a:spLocks noGrp="1"/>
          </p:cNvSpPr>
          <p:nvPr/>
        </p:nvSpPr>
        <p:spPr>
          <a:xfrm>
            <a:off x="6448425" y="3514725"/>
            <a:ext cx="5048250" cy="7715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25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목록은 문제를 줄이기 위해 선택한 방법입니다.</a:t>
            </a:r>
          </a:p>
        </p:txBody>
      </p:sp>
      <p:sp>
        <p:nvSpPr>
          <p:cNvPr id="11" name="">
            <a:extLst>
              <a:ext uri="{FF2B5EF4-FFF2-40B4-BE49-F238E27FC236}">
                <ns3:creationId id="{8E91A893-686C-40D9-A6E7-AF76F3AC7F7F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10/30   프로젝트 기획</a:t>
            </a:r>
          </a:p>
        </p:txBody>
      </p:sp>
      <p:sp>
        <p:nvSpPr>
          <p:cNvPr id="12" name="">
            <a:extLst>
              <a:ext uri="{FF2B5EF4-FFF2-40B4-BE49-F238E27FC236}">
                <ns3:creationId id="{B1446481-4124-4443-A852-0808F2FD45BC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007</a:t>
            </a:r>
          </a:p>
        </p:txBody>
      </p:sp>
    </p:spTree>
    <p:extLst>
      <p:ext uri="{BB962C8B-B14F-4D97-AF65-F5344CB8AC3E}">
        <ns4:creationId val="1912209506"/>
      </p:ext>
    </p:extLst>
  </p:cSld>
</p:sld>
</file>

<file path=ppt/slides/slide8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9" name=""/>
          <p:cNvPicPr>
            <a:picLocks noChangeAspect="1"/>
          </p:cNvPicPr>
          <p:nvPr/>
        </p:nvPicPr>
        <p:blipFill>
          <a:blip r:embed="R8fe10f5b9b7442ee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C61B8FD0-8672-478D-808A-0851EEB1D3F7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1교시   자료 읽기</a:t>
            </a:r>
          </a:p>
        </p:txBody>
      </p:sp>
      <p:sp>
        <p:nvSpPr>
          <p:cNvPr id="3" name="">
            <a:extLst>
              <a:ext uri="{FF2B5EF4-FFF2-40B4-BE49-F238E27FC236}">
                <ns3:creationId id="{C4A10E17-4A12-4081-A810-93F26C587445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사용자와 참여자의 역할</a:t>
            </a:r>
          </a:p>
        </p:txBody>
      </p:sp>
      <p:sp>
        <p:nvSpPr>
          <p:cNvPr id="4" name="">
            <a:extLst>
              <a:ext uri="{FF2B5EF4-FFF2-40B4-BE49-F238E27FC236}">
                <ns3:creationId id="{36A66AF2-6F98-4E1D-A784-CA6CDB3B9B2C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graphicFrame>
        <p:nvGraphicFramePr>
          <p:cNvPr id="13" name=""/>
          <p:cNvGraphicFramePr/>
          <p:nvPr/>
        </p:nvGraphicFramePr>
        <p:xfrm>
          <a:off x="685800" y="1943100"/>
          <a:ext cx="10820400" cy="2166366"/>
        </p:xfrm>
        <a:graphic>
          <a:graphicData uri="http://schemas.openxmlformats.org/drawingml/2006/table">
            <a:tbl>
              <a:tblPr firstRow="1" bandRow="0"/>
              <a:tblGrid>
                <a:gridCol w="2930394"/>
                <a:gridCol w="3655115"/>
                <a:gridCol w="4234892"/>
              </a:tblGrid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역할</a:t>
                      </a:r>
                    </a:p>
                  </a:txBody>
                  <a:tcPr marL="142875" marR="142875" marT="85725" marB="85725" anchor="ctr">
                    <a:solidFill>
                      <a:srgbClr val="102733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하는 일</a:t>
                      </a:r>
                    </a:p>
                  </a:txBody>
                  <a:tcPr marL="142875" marR="142875" marT="85725" marB="85725" anchor="ctr">
                    <a:solidFill>
                      <a:srgbClr val="102733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필요한 정보</a:t>
                      </a:r>
                    </a:p>
                  </a:txBody>
                  <a:tcPr marL="142875" marR="142875" marT="85725" marB="85725" anchor="ctr">
                    <a:solidFill>
                      <a:srgbClr val="102733"/>
                    </a:solidFill>
                  </a:tcPr>
                </a:tc>
              </a:tr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마감 담당자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미확인 기록 검색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대여 ID와 상태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</a:tr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학생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대여·반납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자신의 처리 결과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</a:tr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시설 담당자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설치 조건 확인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장소·장비·운영 조건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">
            <a:extLst>
              <a:ext uri="{FF2B5EF4-FFF2-40B4-BE49-F238E27FC236}">
                <ns3:creationId id="{BBE2F8B3-8589-4AE5-8064-ED8950DB8DFD}"/>
              </a:ext>
            </a:extLst>
          </p:cNvPr>
          <p:cNvSpPr>
            <a:spLocks noGrp="1"/>
          </p:cNvSpPr>
          <p:nvPr/>
        </p:nvSpPr>
        <p:spPr>
          <a:xfrm>
            <a:off x="685800" y="4261866"/>
            <a:ext cx="10820400" cy="4762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75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첫 버전의 직접 사용자는 마감 담당자로 정한 가상 기획입니다.</a:t>
            </a:r>
          </a:p>
        </p:txBody>
      </p:sp>
      <p:sp>
        <p:nvSpPr>
          <p:cNvPr id="7" name="">
            <a:extLst>
              <a:ext uri="{FF2B5EF4-FFF2-40B4-BE49-F238E27FC236}">
                <ns3:creationId id="{8F38CAA4-3147-4FD2-94C2-155D955DB0C6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10/30   프로젝트 기획</a:t>
            </a:r>
          </a:p>
        </p:txBody>
      </p:sp>
      <p:sp>
        <p:nvSpPr>
          <p:cNvPr id="8" name="">
            <a:extLst>
              <a:ext uri="{FF2B5EF4-FFF2-40B4-BE49-F238E27FC236}">
                <ns3:creationId id="{737D04DB-3082-4FEB-8D8E-43CFF18BFCC1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008</a:t>
            </a:r>
          </a:p>
        </p:txBody>
      </p:sp>
    </p:spTree>
    <p:extLst>
      <p:ext uri="{BB962C8B-B14F-4D97-AF65-F5344CB8AC3E}">
        <ns4:creationId val="577474762"/>
      </p:ext>
    </p:extLst>
  </p:cSld>
</p:sld>
</file>

<file path=ppt/slides/slide9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9" name=""/>
          <p:cNvPicPr>
            <a:picLocks noChangeAspect="1"/>
          </p:cNvPicPr>
          <p:nvPr/>
        </p:nvPicPr>
        <p:blipFill>
          <a:blip r:embed="R9ad769ad3f63402b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CD6195B1-6667-4687-A99E-916B7B35DC97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1교시   자료 읽기</a:t>
            </a:r>
          </a:p>
        </p:txBody>
      </p:sp>
      <p:sp>
        <p:nvSpPr>
          <p:cNvPr id="3" name="">
            <a:extLst>
              <a:ext uri="{FF2B5EF4-FFF2-40B4-BE49-F238E27FC236}">
                <ns3:creationId id="{DF039361-BA23-4CE1-9B73-6549FBF1FB5B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가상 근거에서 확인할 사실</a:t>
            </a:r>
          </a:p>
        </p:txBody>
      </p:sp>
      <p:sp>
        <p:nvSpPr>
          <p:cNvPr id="4" name="">
            <a:extLst>
              <a:ext uri="{FF2B5EF4-FFF2-40B4-BE49-F238E27FC236}">
                <ns3:creationId id="{C35F78BC-545A-4F27-9724-7898BD660417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graphicFrame>
        <p:nvGraphicFramePr>
          <p:cNvPr id="13" name=""/>
          <p:cNvGraphicFramePr/>
          <p:nvPr/>
        </p:nvGraphicFramePr>
        <p:xfrm>
          <a:off x="685800" y="1943100"/>
          <a:ext cx="10820400" cy="1624774"/>
        </p:xfrm>
        <a:graphic>
          <a:graphicData uri="http://schemas.openxmlformats.org/drawingml/2006/table">
            <a:tbl>
              <a:tblPr firstRow="1" bandRow="0"/>
              <a:tblGrid>
                <a:gridCol w="1692262"/>
                <a:gridCol w="5304989"/>
                <a:gridCol w="3823149"/>
              </a:tblGrid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ID</a:t>
                      </a:r>
                    </a:p>
                  </a:txBody>
                  <a:tcPr marL="142875" marR="142875" marT="85725" marB="85725" anchor="ctr">
                    <a:solidFill>
                      <a:srgbClr val="102733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제공된 내용</a:t>
                      </a:r>
                    </a:p>
                  </a:txBody>
                  <a:tcPr marL="142875" marR="142875" marT="85725" marB="85725" anchor="ctr">
                    <a:solidFill>
                      <a:srgbClr val="102733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지금 알 수 있는 것</a:t>
                      </a:r>
                    </a:p>
                  </a:txBody>
                  <a:tcPr marL="142875" marR="142875" marT="85725" marB="85725" anchor="ctr">
                    <a:solidFill>
                      <a:srgbClr val="102733"/>
                    </a:solidFill>
                  </a:tcPr>
                </a:tc>
              </a:tr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E01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대여 20건 중 지연 4건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이 표본의 지연 비율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</a:tr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E02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미확인 목록이 필요하다는 문장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목록 요구의 근거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</a:tr>
            </a:tbl>
          </a:graphicData>
        </a:graphic>
      </p:graphicFrame>
      <p:sp>
        <p:nvSpPr>
          <p:cNvPr id="6" name="">
            <a:extLst>
              <a:ext uri="{FF2B5EF4-FFF2-40B4-BE49-F238E27FC236}">
                <ns3:creationId id="{B8E14F15-142D-4586-A6A0-ED2EB566624D}"/>
              </a:ext>
            </a:extLst>
          </p:cNvPr>
          <p:cNvSpPr>
            <a:spLocks noGrp="1"/>
          </p:cNvSpPr>
          <p:nvPr/>
        </p:nvSpPr>
        <p:spPr>
          <a:xfrm>
            <a:off x="685800" y="3720275"/>
            <a:ext cx="10820400" cy="4762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75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4 ÷ 20 × 100 = 20% · 이 표본만으로 전체 기관의 지연율을 말할 수 없습니다.</a:t>
            </a:r>
          </a:p>
        </p:txBody>
      </p:sp>
      <p:sp>
        <p:nvSpPr>
          <p:cNvPr id="7" name="">
            <a:extLst>
              <a:ext uri="{FF2B5EF4-FFF2-40B4-BE49-F238E27FC236}">
                <ns3:creationId id="{16903462-D448-4163-B5F5-F9B21BAF4B4E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10/30   프로젝트 기획</a:t>
            </a:r>
          </a:p>
        </p:txBody>
      </p:sp>
      <p:sp>
        <p:nvSpPr>
          <p:cNvPr id="8" name="">
            <a:extLst>
              <a:ext uri="{FF2B5EF4-FFF2-40B4-BE49-F238E27FC236}">
                <ns3:creationId id="{14A621BD-8885-4335-829E-66DD7C8BD801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009</a:t>
            </a:r>
          </a:p>
        </p:txBody>
      </p:sp>
    </p:spTree>
    <p:extLst>
      <p:ext uri="{BB962C8B-B14F-4D97-AF65-F5344CB8AC3E}">
        <ns4:creationId val="318748290"/>
      </p:ext>
    </p:extLst>
  </p:cSld>
</p:sld>
</file>

<file path=ppt/slides/slide10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8" name=""/>
          <p:cNvPicPr>
            <a:picLocks noChangeAspect="1"/>
          </p:cNvPicPr>
          <p:nvPr/>
        </p:nvPicPr>
        <p:blipFill>
          <a:blip r:embed="R590dc5f5e3c0477b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2A6AFA7B-0894-4A51-AE3D-6DB0FFDECCF4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1교시   자료 읽기</a:t>
            </a:r>
          </a:p>
        </p:txBody>
      </p:sp>
      <p:sp>
        <p:nvSpPr>
          <p:cNvPr id="3" name="">
            <a:extLst>
              <a:ext uri="{FF2B5EF4-FFF2-40B4-BE49-F238E27FC236}">
                <ns3:creationId id="{9B949A62-E521-4477-A08F-40A4554015C4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관찰·해석·가설의 구별</a:t>
            </a:r>
          </a:p>
        </p:txBody>
      </p:sp>
      <p:sp>
        <p:nvSpPr>
          <p:cNvPr id="4" name="">
            <a:extLst>
              <a:ext uri="{FF2B5EF4-FFF2-40B4-BE49-F238E27FC236}">
                <ns3:creationId id="{5A6B53CF-E415-4F9D-822C-AC1E8ACDDBAF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graphicFrame>
        <p:nvGraphicFramePr>
          <p:cNvPr id="12" name=""/>
          <p:cNvGraphicFramePr/>
          <p:nvPr/>
        </p:nvGraphicFramePr>
        <p:xfrm>
          <a:off x="685800" y="1943100"/>
          <a:ext cx="10820400" cy="2166366"/>
        </p:xfrm>
        <a:graphic>
          <a:graphicData uri="http://schemas.openxmlformats.org/drawingml/2006/table">
            <a:tbl>
              <a:tblPr firstRow="1" bandRow="0"/>
              <a:tblGrid>
                <a:gridCol w="2351026"/>
                <a:gridCol w="8469374"/>
              </a:tblGrid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구분</a:t>
                      </a:r>
                    </a:p>
                  </a:txBody>
                  <a:tcPr marL="142875" marR="142875" marT="85725" marB="85725" anchor="ctr">
                    <a:solidFill>
                      <a:srgbClr val="102733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완성 문장</a:t>
                      </a:r>
                    </a:p>
                  </a:txBody>
                  <a:tcPr marL="142875" marR="142875" marT="85725" marB="85725" anchor="ctr">
                    <a:solidFill>
                      <a:srgbClr val="102733"/>
                    </a:solidFill>
                  </a:tcPr>
                </a:tc>
              </a:tr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관찰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가상 기록 20건 중 4건의 기록이 늦었습니다.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</a:tr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해석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현재 기록 확인에 어려움이 있을 수 있습니다.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</a:tr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가설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미확인 목록을 만들면 찾는 시간이 줄어들 것입니다.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">
            <a:extLst>
              <a:ext uri="{FF2B5EF4-FFF2-40B4-BE49-F238E27FC236}">
                <ns3:creationId id="{9CB5ECF5-C0FA-4F16-956F-25A7E72157D9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10/30   프로젝트 기획</a:t>
            </a:r>
          </a:p>
        </p:txBody>
      </p:sp>
      <p:sp>
        <p:nvSpPr>
          <p:cNvPr id="7" name="">
            <a:extLst>
              <a:ext uri="{FF2B5EF4-FFF2-40B4-BE49-F238E27FC236}">
                <ns3:creationId id="{25CD8606-DB14-4629-B075-B6D139B983FE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010</a:t>
            </a:r>
          </a:p>
        </p:txBody>
      </p:sp>
    </p:spTree>
    <p:extLst>
      <p:ext uri="{BB962C8B-B14F-4D97-AF65-F5344CB8AC3E}">
        <ns4:creationId val="1557562583"/>
      </p:ext>
    </p:extLst>
  </p:cSld>
</p:sld>
</file>

<file path=ppt/slides/slide11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2" name=""/>
          <p:cNvPicPr>
            <a:picLocks noChangeAspect="1"/>
          </p:cNvPicPr>
          <p:nvPr/>
        </p:nvPicPr>
        <p:blipFill>
          <a:blip r:embed="R429e98b5f4f64d53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0AF169A6-9299-4EA0-A7F5-209645C22189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1교시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7626B85C-5919-4082-ACD5-787D37AD8987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효과를 확인하는 방법</a:t>
            </a:r>
          </a:p>
        </p:txBody>
      </p:sp>
      <p:sp>
        <p:nvSpPr>
          <p:cNvPr id="4" name="">
            <a:extLst>
              <a:ext uri="{FF2B5EF4-FFF2-40B4-BE49-F238E27FC236}">
                <ns3:creationId id="{DE7493DD-31FD-44D6-81DF-5ABD6EC5DA78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CB488908-17EE-4476-9A8F-897AD5E8122D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기획서 작성은 오늘 확인할 결과물입니다.</a:t>
            </a:r>
          </a:p>
        </p:txBody>
      </p:sp>
      <p:sp>
        <p:nvSpPr>
          <p:cNvPr id="6" name="">
            <a:extLst>
              <a:ext uri="{FF2B5EF4-FFF2-40B4-BE49-F238E27FC236}">
                <ns3:creationId id="{B3C75270-0C7C-4F26-AE94-3A79155A3CE1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찾는 시간 감소는 구현 후 현장에서 측정할 효과입니다.</a:t>
            </a:r>
          </a:p>
        </p:txBody>
      </p:sp>
      <p:sp>
        <p:nvSpPr>
          <p:cNvPr id="7" name="">
            <a:extLst>
              <a:ext uri="{FF2B5EF4-FFF2-40B4-BE49-F238E27FC236}">
                <ns3:creationId id="{7121CF3A-8D70-4D39-93C6-279D68E2A8FC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현재 절차의 소요 시간을 먼저 기록하고, 같은 조건에서 개선 후와 비교합니다.</a:t>
            </a:r>
          </a:p>
        </p:txBody>
      </p:sp>
      <p:sp>
        <p:nvSpPr>
          <p:cNvPr id="8" name="">
            <a:extLst>
              <a:ext uri="{FF2B5EF4-FFF2-40B4-BE49-F238E27FC236}">
                <ns3:creationId id="{28FD1AA8-0ED0-4CD0-BB40-24164FFC28CB}"/>
              </a:ext>
            </a:extLst>
          </p:cNvPr>
          <p:cNvSpPr>
            <a:spLocks noGrp="1"/>
          </p:cNvSpPr>
          <p:nvPr/>
        </p:nvSpPr>
        <p:spPr>
          <a:xfrm>
            <a:off x="685800" y="361188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지연 원인이 입력 습관인지 장비 부족인지 이 기록만으로 알 수 없습니다.</a:t>
            </a:r>
          </a:p>
        </p:txBody>
      </p:sp>
      <p:sp>
        <p:nvSpPr>
          <p:cNvPr id="9" name="">
            <a:extLst>
              <a:ext uri="{FF2B5EF4-FFF2-40B4-BE49-F238E27FC236}">
                <ns3:creationId id="{D0C99115-EC2F-47B7-8A8D-B8FD56DA73C0}"/>
              </a:ext>
            </a:extLst>
          </p:cNvPr>
          <p:cNvSpPr>
            <a:spLocks noGrp="1"/>
          </p:cNvSpPr>
          <p:nvPr/>
        </p:nvSpPr>
        <p:spPr>
          <a:xfrm>
            <a:off x="685800" y="413004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인터뷰에서 현재 검색 순서, 지연 원인, 꼭 필요한 필드를 물어봅니다.</a:t>
            </a:r>
          </a:p>
        </p:txBody>
      </p:sp>
      <p:sp>
        <p:nvSpPr>
          <p:cNvPr id="10" name="">
            <a:extLst>
              <a:ext uri="{FF2B5EF4-FFF2-40B4-BE49-F238E27FC236}">
                <ns3:creationId id="{4EEF1C61-FFA1-4EB1-92A9-DDFF8B8EF252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10/30   프로젝트 기획</a:t>
            </a:r>
          </a:p>
        </p:txBody>
      </p:sp>
      <p:sp>
        <p:nvSpPr>
          <p:cNvPr id="11" name="">
            <a:extLst>
              <a:ext uri="{FF2B5EF4-FFF2-40B4-BE49-F238E27FC236}">
                <ns3:creationId id="{98F78087-1ED1-40AC-9403-C83EA936B65C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011</a:t>
            </a:r>
          </a:p>
        </p:txBody>
      </p:sp>
    </p:spTree>
    <p:extLst>
      <p:ext uri="{BB962C8B-B14F-4D97-AF65-F5344CB8AC3E}">
        <ns4:creationId val="153077390"/>
      </p:ext>
    </p:extLst>
  </p:cSld>
</p:sld>
</file>

<file path=ppt/slides/slide12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102733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7" name=""/>
          <p:cNvPicPr>
            <a:picLocks noChangeAspect="1"/>
          </p:cNvPicPr>
          <p:nvPr/>
        </p:nvPicPr>
        <p:blipFill>
          <a:blip r:embed="R8662f05471c0491d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2A735894-670C-4933-BB41-039F6B4DF554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925050" cy="6858000"/>
          </a:xfrm>
          <a:prstGeom prst="rect">
            <a:avLst/>
          </a:prstGeom>
          <a:solidFill>
            <a:srgbClr val="102733"/>
          </a:solidFill>
          <a:ln w="0">
            <a:noFill/>
          </a:ln>
        </p:spPr>
      </p:sp>
      <p:sp>
        <p:nvSpPr>
          <p:cNvPr id="3" name="">
            <a:extLst>
              <a:ext uri="{FF2B5EF4-FFF2-40B4-BE49-F238E27FC236}">
                <ns3:creationId id="{1FA86F49-EE4E-486A-AB94-791A40EA4B50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ABDDD0"/>
                </a:solidFill>
                <a:latin typeface="Noto Sans KR"/>
                <a:ea typeface="Noto Sans KR"/>
                <a:cs typeface="Noto Sans KR"/>
              </a:defRPr>
            </a:pPr>
            <a:r>
              <a:t>1교시   직접 해 보기</a:t>
            </a:r>
          </a:p>
        </p:txBody>
      </p:sp>
      <p:sp>
        <p:nvSpPr>
          <p:cNvPr id="4" name="">
            <a:extLst>
              <a:ext uri="{FF2B5EF4-FFF2-40B4-BE49-F238E27FC236}">
                <ns3:creationId id="{585B2979-A1A4-4AE1-9BC8-D3261A7E1EC7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직접 작성 · 실습실의 문제 문장</a:t>
            </a:r>
          </a:p>
        </p:txBody>
      </p:sp>
      <p:sp>
        <p:nvSpPr>
          <p:cNvPr id="5" name="">
            <a:extLst>
              <a:ext uri="{FF2B5EF4-FFF2-40B4-BE49-F238E27FC236}">
                <ns3:creationId id="{47B246A4-EF84-40AC-BCAA-110E3FEDE74C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38505B"/>
          </a:solidFill>
          <a:ln w="0">
            <a:noFill/>
          </a:ln>
        </p:spPr>
      </p:sp>
      <p:sp>
        <p:nvSpPr>
          <p:cNvPr id="6" name="">
            <a:extLst>
              <a:ext uri="{FF2B5EF4-FFF2-40B4-BE49-F238E27FC236}">
                <ns3:creationId id="{EC8915FE-DB98-41DF-81C3-D3A40C12C494}"/>
              </a:ext>
            </a:extLst>
          </p:cNvPr>
          <p:cNvSpPr>
            <a:spLocks noGrp="1"/>
          </p:cNvSpPr>
          <p:nvPr/>
        </p:nvSpPr>
        <p:spPr>
          <a:xfrm>
            <a:off x="685800" y="2085975"/>
            <a:ext cx="409575" cy="86106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01</a:t>
            </a:r>
          </a:p>
        </p:txBody>
      </p:sp>
      <p:sp>
        <p:nvSpPr>
          <p:cNvPr id="7" name="">
            <a:extLst>
              <a:ext uri="{FF2B5EF4-FFF2-40B4-BE49-F238E27FC236}">
                <ns3:creationId id="{4717B0FC-143C-4DE6-BACD-67AB9A54B8BD}"/>
              </a:ext>
            </a:extLst>
          </p:cNvPr>
          <p:cNvSpPr>
            <a:spLocks noGrp="1"/>
          </p:cNvSpPr>
          <p:nvPr/>
        </p:nvSpPr>
        <p:spPr>
          <a:xfrm>
            <a:off x="1209675" y="2085975"/>
            <a:ext cx="8001000" cy="7943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work/A01_worksheet.md에 직접 사용자와 사용 상황을 적습니다.</a:t>
            </a:r>
          </a:p>
        </p:txBody>
      </p:sp>
      <p:sp>
        <p:nvSpPr>
          <p:cNvPr id="8" name="">
            <a:extLst>
              <a:ext uri="{FF2B5EF4-FFF2-40B4-BE49-F238E27FC236}">
                <ns3:creationId id="{C78F78AF-144F-43F3-AE06-7455E2B242F7}"/>
              </a:ext>
            </a:extLst>
          </p:cNvPr>
          <p:cNvSpPr>
            <a:spLocks noGrp="1"/>
          </p:cNvSpPr>
          <p:nvPr/>
        </p:nvSpPr>
        <p:spPr>
          <a:xfrm>
            <a:off x="685800" y="2947035"/>
            <a:ext cx="409575" cy="50673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02</a:t>
            </a:r>
          </a:p>
        </p:txBody>
      </p:sp>
      <p:sp>
        <p:nvSpPr>
          <p:cNvPr id="9" name="">
            <a:extLst>
              <a:ext uri="{FF2B5EF4-FFF2-40B4-BE49-F238E27FC236}">
                <ns3:creationId id="{07626046-2E61-4247-AF22-18E4628EFC43}"/>
              </a:ext>
            </a:extLst>
          </p:cNvPr>
          <p:cNvSpPr>
            <a:spLocks noGrp="1"/>
          </p:cNvSpPr>
          <p:nvPr/>
        </p:nvSpPr>
        <p:spPr>
          <a:xfrm>
            <a:off x="1209675" y="2947035"/>
            <a:ext cx="80010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E01·E02를 근거로 관찰 사실과 해석을 나눠 씁니다.</a:t>
            </a:r>
          </a:p>
        </p:txBody>
      </p:sp>
      <p:sp>
        <p:nvSpPr>
          <p:cNvPr id="10" name="">
            <a:extLst>
              <a:ext uri="{FF2B5EF4-FFF2-40B4-BE49-F238E27FC236}">
                <ns3:creationId id="{989A2625-5B69-4662-84E9-A5536FEDB69A}"/>
              </a:ext>
            </a:extLst>
          </p:cNvPr>
          <p:cNvSpPr>
            <a:spLocks noGrp="1"/>
          </p:cNvSpPr>
          <p:nvPr/>
        </p:nvSpPr>
        <p:spPr>
          <a:xfrm>
            <a:off x="685800" y="3453765"/>
            <a:ext cx="409575" cy="86106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03</a:t>
            </a:r>
          </a:p>
        </p:txBody>
      </p:sp>
      <p:sp>
        <p:nvSpPr>
          <p:cNvPr id="11" name="">
            <a:extLst>
              <a:ext uri="{FF2B5EF4-FFF2-40B4-BE49-F238E27FC236}">
                <ns3:creationId id="{D8107F45-0FDB-4DF6-89DC-8FE2BB253761}"/>
              </a:ext>
            </a:extLst>
          </p:cNvPr>
          <p:cNvSpPr>
            <a:spLocks noGrp="1"/>
          </p:cNvSpPr>
          <p:nvPr/>
        </p:nvSpPr>
        <p:spPr>
          <a:xfrm>
            <a:off x="1209675" y="3453765"/>
            <a:ext cx="8001000" cy="7943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만들 기능 후보와 아직 시험하지 않은 가설을 각각 한 문장으로 적습니다.</a:t>
            </a:r>
          </a:p>
        </p:txBody>
      </p:sp>
      <p:sp>
        <p:nvSpPr>
          <p:cNvPr id="12" name="">
            <a:extLst>
              <a:ext uri="{FF2B5EF4-FFF2-40B4-BE49-F238E27FC236}">
                <ns3:creationId id="{EAC1B482-4493-465C-BC69-0981A01030B8}"/>
              </a:ext>
            </a:extLst>
          </p:cNvPr>
          <p:cNvSpPr>
            <a:spLocks noGrp="1"/>
          </p:cNvSpPr>
          <p:nvPr/>
        </p:nvSpPr>
        <p:spPr>
          <a:xfrm>
            <a:off x="685800" y="4314825"/>
            <a:ext cx="409575" cy="50673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04</a:t>
            </a:r>
          </a:p>
        </p:txBody>
      </p:sp>
      <p:sp>
        <p:nvSpPr>
          <p:cNvPr id="13" name="">
            <a:extLst>
              <a:ext uri="{FF2B5EF4-FFF2-40B4-BE49-F238E27FC236}">
                <ns3:creationId id="{56A4657F-B684-4D83-9855-DD00522381C7}"/>
              </a:ext>
            </a:extLst>
          </p:cNvPr>
          <p:cNvSpPr>
            <a:spLocks noGrp="1"/>
          </p:cNvSpPr>
          <p:nvPr/>
        </p:nvSpPr>
        <p:spPr>
          <a:xfrm>
            <a:off x="1209675" y="4314825"/>
            <a:ext cx="80010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기획서가 완료됐을 때 알 수 있는 것과 모르는 것을 적습니다.</a:t>
            </a:r>
          </a:p>
        </p:txBody>
      </p:sp>
      <p:sp>
        <p:nvSpPr>
          <p:cNvPr id="14" name="">
            <a:extLst>
              <a:ext uri="{FF2B5EF4-FFF2-40B4-BE49-F238E27FC236}">
                <ns3:creationId id="{C0943F98-48B4-4774-ACE4-C57D5FE6634F}"/>
              </a:ext>
            </a:extLst>
          </p:cNvPr>
          <p:cNvSpPr>
            <a:spLocks noGrp="1"/>
          </p:cNvSpPr>
          <p:nvPr/>
        </p:nvSpPr>
        <p:spPr>
          <a:xfrm>
            <a:off x="685800" y="5915025"/>
            <a:ext cx="10382250" cy="4000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950" b="1">
                <a:solidFill>
                  <a:srgbClr val="ABDDD0"/>
                </a:solidFill>
                <a:latin typeface="Noto Sans KR"/>
                <a:ea typeface="Noto Sans KR"/>
                <a:cs typeface="Noto Sans KR"/>
              </a:defRPr>
            </a:pPr>
            <a:r>
              <a:t>작성 7분 · 두 문장의 차이를 설명하고 서로 비교 5분</a:t>
            </a:r>
          </a:p>
        </p:txBody>
      </p:sp>
      <p:sp>
        <p:nvSpPr>
          <p:cNvPr id="15" name="">
            <a:extLst>
              <a:ext uri="{FF2B5EF4-FFF2-40B4-BE49-F238E27FC236}">
                <ns3:creationId id="{4E296B60-92C0-4F2A-BCA1-76F43CDC851C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B3C5CC"/>
                </a:solidFill>
                <a:latin typeface="Noto Sans KR"/>
                <a:ea typeface="Noto Sans KR"/>
                <a:cs typeface="Noto Sans KR"/>
              </a:defRPr>
            </a:pPr>
            <a:r>
              <a:t>10/30   프로젝트 기획</a:t>
            </a:r>
          </a:p>
        </p:txBody>
      </p:sp>
      <p:sp>
        <p:nvSpPr>
          <p:cNvPr id="16" name="">
            <a:extLst>
              <a:ext uri="{FF2B5EF4-FFF2-40B4-BE49-F238E27FC236}">
                <ns3:creationId id="{C986EDDE-9DA4-4AF1-AB41-0D7643AF2801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B3C5CC"/>
                </a:solidFill>
                <a:latin typeface="Consolas"/>
                <a:ea typeface="Consolas"/>
                <a:cs typeface="Consolas"/>
              </a:defRPr>
            </a:pPr>
            <a:r>
              <a:t>012</a:t>
            </a:r>
          </a:p>
        </p:txBody>
      </p:sp>
    </p:spTree>
    <p:extLst>
      <p:ext uri="{BB962C8B-B14F-4D97-AF65-F5344CB8AC3E}">
        <ns4:creationId val="1652831597"/>
      </p:ext>
    </p:extLst>
  </p:cSld>
</p:sld>
</file>

<file path=ppt/slides/slide13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2" name=""/>
          <p:cNvPicPr>
            <a:picLocks noChangeAspect="1"/>
          </p:cNvPicPr>
          <p:nvPr/>
        </p:nvPicPr>
        <p:blipFill>
          <a:blip r:embed="R7b16789c0d454073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715FD18E-E8E3-474F-9EE5-B417881EF6B2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1교시   풀이와 확인</a:t>
            </a:r>
          </a:p>
        </p:txBody>
      </p:sp>
      <p:sp>
        <p:nvSpPr>
          <p:cNvPr id="3" name="">
            <a:extLst>
              <a:ext uri="{FF2B5EF4-FFF2-40B4-BE49-F238E27FC236}">
                <ns3:creationId id="{231E14F3-4CAE-4DDB-8B0C-CA2A64F85F75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실습실 문제 문장 · 완성 예</a:t>
            </a:r>
          </a:p>
        </p:txBody>
      </p:sp>
      <p:sp>
        <p:nvSpPr>
          <p:cNvPr id="4" name="">
            <a:extLst>
              <a:ext uri="{FF2B5EF4-FFF2-40B4-BE49-F238E27FC236}">
                <ns3:creationId id="{41A36959-FF45-4B96-94B6-C2AC08E87E49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F8A5153E-0CB6-49B5-8668-9FFB447FCFB5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사용자: 마감 전에 미확인 대여를 찾는 담당자입니다.</a:t>
            </a:r>
          </a:p>
        </p:txBody>
      </p:sp>
      <p:sp>
        <p:nvSpPr>
          <p:cNvPr id="6" name="">
            <a:extLst>
              <a:ext uri="{FF2B5EF4-FFF2-40B4-BE49-F238E27FC236}">
                <ns3:creationId id="{D7279E5F-80AC-4B05-A513-A7EBDABCC652}"/>
              </a:ext>
            </a:extLst>
          </p:cNvPr>
          <p:cNvSpPr>
            <a:spLocks noGrp="1"/>
          </p:cNvSpPr>
          <p:nvPr/>
        </p:nvSpPr>
        <p:spPr>
          <a:xfrm>
            <a:off x="685800" y="2564130"/>
            <a:ext cx="108204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문제: 미확인 기록을 찾으려고 전체 장부를 여러 번 확인합니다.</a:t>
            </a:r>
          </a:p>
        </p:txBody>
      </p:sp>
      <p:sp>
        <p:nvSpPr>
          <p:cNvPr id="7" name="">
            <a:extLst>
              <a:ext uri="{FF2B5EF4-FFF2-40B4-BE49-F238E27FC236}">
                <ns3:creationId id="{67FF3772-3F97-4812-99FB-3E98C61A50CF}"/>
              </a:ext>
            </a:extLst>
          </p:cNvPr>
          <p:cNvSpPr>
            <a:spLocks noGrp="1"/>
          </p:cNvSpPr>
          <p:nvPr/>
        </p:nvSpPr>
        <p:spPr>
          <a:xfrm>
            <a:off x="685800" y="3070860"/>
            <a:ext cx="108204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기능 후보: 미확인 대여만 모은 목록을 보여 줍니다.</a:t>
            </a:r>
          </a:p>
        </p:txBody>
      </p:sp>
      <p:sp>
        <p:nvSpPr>
          <p:cNvPr id="8" name="">
            <a:extLst>
              <a:ext uri="{FF2B5EF4-FFF2-40B4-BE49-F238E27FC236}">
                <ns3:creationId id="{E7E17917-F603-438A-87C9-ECD7443D3740}"/>
              </a:ext>
            </a:extLst>
          </p:cNvPr>
          <p:cNvSpPr>
            <a:spLocks noGrp="1"/>
          </p:cNvSpPr>
          <p:nvPr/>
        </p:nvSpPr>
        <p:spPr>
          <a:xfrm>
            <a:off x="685800" y="3577590"/>
            <a:ext cx="108204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가설: 목록을 쓰면 찾는 시간이 줄어들 것입니다.</a:t>
            </a:r>
          </a:p>
        </p:txBody>
      </p:sp>
      <p:sp>
        <p:nvSpPr>
          <p:cNvPr id="9" name="">
            <a:extLst>
              <a:ext uri="{FF2B5EF4-FFF2-40B4-BE49-F238E27FC236}">
                <ns3:creationId id="{6AD6B1F0-391E-46EC-B0F0-EF72543758B7}"/>
              </a:ext>
            </a:extLst>
          </p:cNvPr>
          <p:cNvSpPr>
            <a:spLocks noGrp="1"/>
          </p:cNvSpPr>
          <p:nvPr/>
        </p:nvSpPr>
        <p:spPr>
          <a:xfrm>
            <a:off x="685800" y="4084320"/>
            <a:ext cx="108204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지금 확인한 것은 가상 자료의 4건입니다. 원인과 개선 효과는 아직 모릅니다.</a:t>
            </a:r>
          </a:p>
        </p:txBody>
      </p:sp>
      <p:sp>
        <p:nvSpPr>
          <p:cNvPr id="10" name="">
            <a:extLst>
              <a:ext uri="{FF2B5EF4-FFF2-40B4-BE49-F238E27FC236}">
                <ns3:creationId id="{51E55B72-C526-4903-9605-739D49CA1BEF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10/30   프로젝트 기획</a:t>
            </a:r>
          </a:p>
        </p:txBody>
      </p:sp>
      <p:sp>
        <p:nvSpPr>
          <p:cNvPr id="11" name="">
            <a:extLst>
              <a:ext uri="{FF2B5EF4-FFF2-40B4-BE49-F238E27FC236}">
                <ns3:creationId id="{1D07B8E6-188D-41AE-A149-C6181817616E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013</a:t>
            </a:r>
          </a:p>
        </p:txBody>
      </p:sp>
    </p:spTree>
    <p:extLst>
      <p:ext uri="{BB962C8B-B14F-4D97-AF65-F5344CB8AC3E}">
        <ns4:creationId val="361530364"/>
      </p:ext>
    </p:extLst>
  </p:cSld>
</p:sld>
</file>

<file path=ppt/slides/slide14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102733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7" name=""/>
          <p:cNvPicPr>
            <a:picLocks noChangeAspect="1"/>
          </p:cNvPicPr>
          <p:nvPr/>
        </p:nvPicPr>
        <p:blipFill>
          <a:blip r:embed="Refec3a57b2254f8a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A2381DCB-A966-4989-93B7-EB983A43DF73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925050" cy="6858000"/>
          </a:xfrm>
          <a:prstGeom prst="rect">
            <a:avLst/>
          </a:prstGeom>
          <a:solidFill>
            <a:srgbClr val="102733"/>
          </a:solidFill>
          <a:ln w="0">
            <a:noFill/>
          </a:ln>
        </p:spPr>
      </p:sp>
      <p:sp>
        <p:nvSpPr>
          <p:cNvPr id="3" name="">
            <a:extLst>
              <a:ext uri="{FF2B5EF4-FFF2-40B4-BE49-F238E27FC236}">
                <ns3:creationId id="{2ED4CBF6-4939-462D-BFD9-4D3CCA57EB75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ABDDD0"/>
                </a:solidFill>
                <a:latin typeface="Noto Sans KR"/>
                <a:ea typeface="Noto Sans KR"/>
                <a:cs typeface="Noto Sans KR"/>
              </a:defRPr>
            </a:pPr>
            <a:r>
              <a:t>1교시   직접 해 보기</a:t>
            </a:r>
          </a:p>
        </p:txBody>
      </p:sp>
      <p:sp>
        <p:nvSpPr>
          <p:cNvPr id="4" name="">
            <a:extLst>
              <a:ext uri="{FF2B5EF4-FFF2-40B4-BE49-F238E27FC236}">
                <ns3:creationId id="{61586201-0661-442F-965A-A807C3C5A774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새 상황 · 식당의 재고 확인</a:t>
            </a:r>
          </a:p>
        </p:txBody>
      </p:sp>
      <p:sp>
        <p:nvSpPr>
          <p:cNvPr id="5" name="">
            <a:extLst>
              <a:ext uri="{FF2B5EF4-FFF2-40B4-BE49-F238E27FC236}">
                <ns3:creationId id="{93877132-EE55-476E-822C-5BE1C5EFD473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38505B"/>
          </a:solidFill>
          <a:ln w="0">
            <a:noFill/>
          </a:ln>
        </p:spPr>
      </p:sp>
      <p:sp>
        <p:nvSpPr>
          <p:cNvPr id="6" name="">
            <a:extLst>
              <a:ext uri="{FF2B5EF4-FFF2-40B4-BE49-F238E27FC236}">
                <ns3:creationId id="{1A855C50-6C6D-4025-AE1C-8F629F4635CA}"/>
              </a:ext>
            </a:extLst>
          </p:cNvPr>
          <p:cNvSpPr>
            <a:spLocks noGrp="1"/>
          </p:cNvSpPr>
          <p:nvPr/>
        </p:nvSpPr>
        <p:spPr>
          <a:xfrm>
            <a:off x="685800" y="2085975"/>
            <a:ext cx="409575" cy="50673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01</a:t>
            </a:r>
          </a:p>
        </p:txBody>
      </p:sp>
      <p:sp>
        <p:nvSpPr>
          <p:cNvPr id="7" name="">
            <a:extLst>
              <a:ext uri="{FF2B5EF4-FFF2-40B4-BE49-F238E27FC236}">
                <ns3:creationId id="{B5B561A8-9984-4151-BAAF-75C1AA4EEEDA}"/>
              </a:ext>
            </a:extLst>
          </p:cNvPr>
          <p:cNvSpPr>
            <a:spLocks noGrp="1"/>
          </p:cNvSpPr>
          <p:nvPr/>
        </p:nvSpPr>
        <p:spPr>
          <a:xfrm>
            <a:off x="1209675" y="2085975"/>
            <a:ext cx="80010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재고 담당자가 품절 항목을 늦게 확인하는 상황입니다.</a:t>
            </a:r>
          </a:p>
        </p:txBody>
      </p:sp>
      <p:sp>
        <p:nvSpPr>
          <p:cNvPr id="8" name="">
            <a:extLst>
              <a:ext uri="{FF2B5EF4-FFF2-40B4-BE49-F238E27FC236}">
                <ns3:creationId id="{255B897F-F01C-47CD-B5DC-FFA9CBFEFD08}"/>
              </a:ext>
            </a:extLst>
          </p:cNvPr>
          <p:cNvSpPr>
            <a:spLocks noGrp="1"/>
          </p:cNvSpPr>
          <p:nvPr/>
        </p:nvSpPr>
        <p:spPr>
          <a:xfrm>
            <a:off x="685800" y="2592705"/>
            <a:ext cx="409575" cy="50673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02</a:t>
            </a:r>
          </a:p>
        </p:txBody>
      </p:sp>
      <p:sp>
        <p:nvSpPr>
          <p:cNvPr id="9" name="">
            <a:extLst>
              <a:ext uri="{FF2B5EF4-FFF2-40B4-BE49-F238E27FC236}">
                <ns3:creationId id="{BDD5FBBE-351E-4651-B49B-16C643112F8E}"/>
              </a:ext>
            </a:extLst>
          </p:cNvPr>
          <p:cNvSpPr>
            <a:spLocks noGrp="1"/>
          </p:cNvSpPr>
          <p:nvPr/>
        </p:nvSpPr>
        <p:spPr>
          <a:xfrm>
            <a:off x="1209675" y="2592705"/>
            <a:ext cx="80010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사용자, 사용 상황, 불편, 기능 후보를 네 문장으로 적습니다.</a:t>
            </a:r>
          </a:p>
        </p:txBody>
      </p:sp>
      <p:sp>
        <p:nvSpPr>
          <p:cNvPr id="10" name="">
            <a:extLst>
              <a:ext uri="{FF2B5EF4-FFF2-40B4-BE49-F238E27FC236}">
                <ns3:creationId id="{D039FB87-645B-4D73-B1B9-2D6FF1E0CEBD}"/>
              </a:ext>
            </a:extLst>
          </p:cNvPr>
          <p:cNvSpPr>
            <a:spLocks noGrp="1"/>
          </p:cNvSpPr>
          <p:nvPr/>
        </p:nvSpPr>
        <p:spPr>
          <a:xfrm>
            <a:off x="685800" y="3099435"/>
            <a:ext cx="409575" cy="50673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03</a:t>
            </a:r>
          </a:p>
        </p:txBody>
      </p:sp>
      <p:sp>
        <p:nvSpPr>
          <p:cNvPr id="11" name="">
            <a:extLst>
              <a:ext uri="{FF2B5EF4-FFF2-40B4-BE49-F238E27FC236}">
                <ns3:creationId id="{81DED397-47B3-4B91-88C0-EE9B87702AA2}"/>
              </a:ext>
            </a:extLst>
          </p:cNvPr>
          <p:cNvSpPr>
            <a:spLocks noGrp="1"/>
          </p:cNvSpPr>
          <p:nvPr/>
        </p:nvSpPr>
        <p:spPr>
          <a:xfrm>
            <a:off x="1209675" y="3099435"/>
            <a:ext cx="80010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확인 시간이 줄어든다는 가설을 어떻게 시험할지 적습니다.</a:t>
            </a:r>
          </a:p>
        </p:txBody>
      </p:sp>
      <p:sp>
        <p:nvSpPr>
          <p:cNvPr id="12" name="">
            <a:extLst>
              <a:ext uri="{FF2B5EF4-FFF2-40B4-BE49-F238E27FC236}">
                <ns3:creationId id="{875C5269-AA9A-48AE-BD71-8AED4BA70475}"/>
              </a:ext>
            </a:extLst>
          </p:cNvPr>
          <p:cNvSpPr>
            <a:spLocks noGrp="1"/>
          </p:cNvSpPr>
          <p:nvPr/>
        </p:nvSpPr>
        <p:spPr>
          <a:xfrm>
            <a:off x="685800" y="3606165"/>
            <a:ext cx="409575" cy="86106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04</a:t>
            </a:r>
          </a:p>
        </p:txBody>
      </p:sp>
      <p:sp>
        <p:nvSpPr>
          <p:cNvPr id="13" name="">
            <a:extLst>
              <a:ext uri="{FF2B5EF4-FFF2-40B4-BE49-F238E27FC236}">
                <ns3:creationId id="{7A7F09E0-B631-41C1-9B39-70CBABA87361}"/>
              </a:ext>
            </a:extLst>
          </p:cNvPr>
          <p:cNvSpPr>
            <a:spLocks noGrp="1"/>
          </p:cNvSpPr>
          <p:nvPr/>
        </p:nvSpPr>
        <p:spPr>
          <a:xfrm>
            <a:off x="1209675" y="3606165"/>
            <a:ext cx="8001000" cy="7943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사용자를 주문 담당자로 바꾸면 필요한 정보가 어떻게 달라질까요?</a:t>
            </a:r>
          </a:p>
        </p:txBody>
      </p:sp>
      <p:sp>
        <p:nvSpPr>
          <p:cNvPr id="14" name="">
            <a:extLst>
              <a:ext uri="{FF2B5EF4-FFF2-40B4-BE49-F238E27FC236}">
                <ns3:creationId id="{05A286E8-C261-4BB1-A130-CC3FF7D5A259}"/>
              </a:ext>
            </a:extLst>
          </p:cNvPr>
          <p:cNvSpPr>
            <a:spLocks noGrp="1"/>
          </p:cNvSpPr>
          <p:nvPr/>
        </p:nvSpPr>
        <p:spPr>
          <a:xfrm>
            <a:off x="685800" y="5915025"/>
            <a:ext cx="10382250" cy="4000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950" b="1">
                <a:solidFill>
                  <a:srgbClr val="ABDDD0"/>
                </a:solidFill>
                <a:latin typeface="Noto Sans KR"/>
                <a:ea typeface="Noto Sans KR"/>
                <a:cs typeface="Noto Sans KR"/>
              </a:defRPr>
            </a:pPr>
            <a:r>
              <a:t>개인 작성 6분 · 서로 질문 4분</a:t>
            </a:r>
          </a:p>
        </p:txBody>
      </p:sp>
      <p:sp>
        <p:nvSpPr>
          <p:cNvPr id="15" name="">
            <a:extLst>
              <a:ext uri="{FF2B5EF4-FFF2-40B4-BE49-F238E27FC236}">
                <ns3:creationId id="{EE378ED0-190E-47BF-8114-BA10D1A8D790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B3C5CC"/>
                </a:solidFill>
                <a:latin typeface="Noto Sans KR"/>
                <a:ea typeface="Noto Sans KR"/>
                <a:cs typeface="Noto Sans KR"/>
              </a:defRPr>
            </a:pPr>
            <a:r>
              <a:t>10/30   프로젝트 기획</a:t>
            </a:r>
          </a:p>
        </p:txBody>
      </p:sp>
      <p:sp>
        <p:nvSpPr>
          <p:cNvPr id="16" name="">
            <a:extLst>
              <a:ext uri="{FF2B5EF4-FFF2-40B4-BE49-F238E27FC236}">
                <ns3:creationId id="{F4996F8E-F8E0-4436-AE32-97A84009C5E6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B3C5CC"/>
                </a:solidFill>
                <a:latin typeface="Consolas"/>
                <a:ea typeface="Consolas"/>
                <a:cs typeface="Consolas"/>
              </a:defRPr>
            </a:pPr>
            <a:r>
              <a:t>014</a:t>
            </a:r>
          </a:p>
        </p:txBody>
      </p:sp>
    </p:spTree>
    <p:extLst>
      <p:ext uri="{BB962C8B-B14F-4D97-AF65-F5344CB8AC3E}">
        <ns4:creationId val="951886238"/>
      </p:ext>
    </p:extLst>
  </p:cSld>
</p:sld>
</file>

<file path=ppt/slides/slide15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2" name=""/>
          <p:cNvPicPr>
            <a:picLocks noChangeAspect="1"/>
          </p:cNvPicPr>
          <p:nvPr/>
        </p:nvPicPr>
        <p:blipFill>
          <a:blip r:embed="Rfdff9abbf9c14421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716F6739-5F42-459B-A902-FEB91FBBD731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1교시   풀이와 확인</a:t>
            </a:r>
          </a:p>
        </p:txBody>
      </p:sp>
      <p:sp>
        <p:nvSpPr>
          <p:cNvPr id="3" name="">
            <a:extLst>
              <a:ext uri="{FF2B5EF4-FFF2-40B4-BE49-F238E27FC236}">
                <ns3:creationId id="{588C8F31-531A-4E15-A271-9790BE0D42F0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식당의 재고 확인 · 풀이</a:t>
            </a:r>
          </a:p>
        </p:txBody>
      </p:sp>
      <p:sp>
        <p:nvSpPr>
          <p:cNvPr id="4" name="">
            <a:extLst>
              <a:ext uri="{FF2B5EF4-FFF2-40B4-BE49-F238E27FC236}">
                <ns3:creationId id="{1749058C-1703-4CF7-9816-956FDB1F5A2B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85C187BD-65E6-4639-9B7B-F9D6C323DA81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사용자는 재고 담당자이며, 문제는 품절 확인이 늦는 상황입니다.</a:t>
            </a:r>
          </a:p>
        </p:txBody>
      </p:sp>
      <p:sp>
        <p:nvSpPr>
          <p:cNvPr id="6" name="">
            <a:extLst>
              <a:ext uri="{FF2B5EF4-FFF2-40B4-BE49-F238E27FC236}">
                <ns3:creationId id="{348F7D78-8B8E-4AD5-A70F-9047F3CD26A4}"/>
              </a:ext>
            </a:extLst>
          </p:cNvPr>
          <p:cNvSpPr>
            <a:spLocks noGrp="1"/>
          </p:cNvSpPr>
          <p:nvPr/>
        </p:nvSpPr>
        <p:spPr>
          <a:xfrm>
            <a:off x="685800" y="2564130"/>
            <a:ext cx="108204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부족한 항목 목록은 기능 후보입니다. 목록을 만든 효과는 아직 모릅니다.</a:t>
            </a:r>
          </a:p>
        </p:txBody>
      </p:sp>
      <p:sp>
        <p:nvSpPr>
          <p:cNvPr id="7" name="">
            <a:extLst>
              <a:ext uri="{FF2B5EF4-FFF2-40B4-BE49-F238E27FC236}">
                <ns3:creationId id="{3E4F50DD-1942-4092-AF3D-DB00D1CFD5EE}"/>
              </a:ext>
            </a:extLst>
          </p:cNvPr>
          <p:cNvSpPr>
            <a:spLocks noGrp="1"/>
          </p:cNvSpPr>
          <p:nvPr/>
        </p:nvSpPr>
        <p:spPr>
          <a:xfrm>
            <a:off x="685800" y="3070860"/>
            <a:ext cx="108204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현재와 개선 후의 확인 시간을 같은 조건에서 재는 시험을 제안할 수 있습니다.</a:t>
            </a:r>
          </a:p>
        </p:txBody>
      </p:sp>
      <p:sp>
        <p:nvSpPr>
          <p:cNvPr id="8" name="">
            <a:extLst>
              <a:ext uri="{FF2B5EF4-FFF2-40B4-BE49-F238E27FC236}">
                <ns3:creationId id="{37E76F0E-C6EB-475D-91A6-262BAEBB6447}"/>
              </a:ext>
            </a:extLst>
          </p:cNvPr>
          <p:cNvSpPr>
            <a:spLocks noGrp="1"/>
          </p:cNvSpPr>
          <p:nvPr/>
        </p:nvSpPr>
        <p:spPr>
          <a:xfrm>
            <a:off x="685800" y="3577590"/>
            <a:ext cx="108204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주문 담당자는 품절 여부와 대체 메뉴를 먼저 알아야 할 수 있습니다.</a:t>
            </a:r>
          </a:p>
        </p:txBody>
      </p:sp>
      <p:sp>
        <p:nvSpPr>
          <p:cNvPr id="9" name="">
            <a:extLst>
              <a:ext uri="{FF2B5EF4-FFF2-40B4-BE49-F238E27FC236}">
                <ns3:creationId id="{87BE9D65-8123-4E44-A132-16E23F083AC0}"/>
              </a:ext>
            </a:extLst>
          </p:cNvPr>
          <p:cNvSpPr>
            <a:spLocks noGrp="1"/>
          </p:cNvSpPr>
          <p:nvPr/>
        </p:nvSpPr>
        <p:spPr>
          <a:xfrm>
            <a:off x="685800" y="4084320"/>
            <a:ext cx="108204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“AI를 사용하지 않는다”만으로는 어떤 불편인지 설명할 수 없습니다.</a:t>
            </a:r>
          </a:p>
        </p:txBody>
      </p:sp>
      <p:sp>
        <p:nvSpPr>
          <p:cNvPr id="10" name="">
            <a:extLst>
              <a:ext uri="{FF2B5EF4-FFF2-40B4-BE49-F238E27FC236}">
                <ns3:creationId id="{206352A8-82B6-4D7E-B99F-F891154CFB04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10/30   프로젝트 기획</a:t>
            </a:r>
          </a:p>
        </p:txBody>
      </p:sp>
      <p:sp>
        <p:nvSpPr>
          <p:cNvPr id="11" name="">
            <a:extLst>
              <a:ext uri="{FF2B5EF4-FFF2-40B4-BE49-F238E27FC236}">
                <ns3:creationId id="{7E43F7AC-E3DF-4B23-B88E-7CAF3CB4E847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015</a:t>
            </a:r>
          </a:p>
        </p:txBody>
      </p:sp>
    </p:spTree>
    <p:extLst>
      <p:ext uri="{BB962C8B-B14F-4D97-AF65-F5344CB8AC3E}">
        <ns4:creationId val="1119769822"/>
      </p:ext>
    </p:extLst>
  </p:cSld>
</p:sld>
</file>

<file path=ppt/slides/slide16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1" name=""/>
          <p:cNvPicPr>
            <a:picLocks noChangeAspect="1"/>
          </p:cNvPicPr>
          <p:nvPr/>
        </p:nvPicPr>
        <p:blipFill>
          <a:blip r:embed="R4ef2d342c0014ce1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1817765F-8DEA-4E3F-9EEC-6C0C899670FC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1교시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30D46159-873C-4A4E-9854-728D79E00047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1교시 확인과 저장</a:t>
            </a:r>
          </a:p>
        </p:txBody>
      </p:sp>
      <p:sp>
        <p:nvSpPr>
          <p:cNvPr id="4" name="">
            <a:extLst>
              <a:ext uri="{FF2B5EF4-FFF2-40B4-BE49-F238E27FC236}">
                <ns3:creationId id="{A656D8A9-8B85-4993-85D7-D9AE1162BC5F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62CB8108-13BE-4396-8C60-BBDC47909061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관찰 사실 하나와 아직 확인하지 않은 가설 하나를 말해 보세요.</a:t>
            </a:r>
          </a:p>
        </p:txBody>
      </p:sp>
      <p:sp>
        <p:nvSpPr>
          <p:cNvPr id="6" name="">
            <a:extLst>
              <a:ext uri="{FF2B5EF4-FFF2-40B4-BE49-F238E27FC236}">
                <ns3:creationId id="{41B319A1-2A11-4A73-85AC-6ABEE3AB8206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81724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work에서 A01·A02·A03으로 시작하는 .md 작성 파일에 근거 ID와 확인할 질문을 남깁니다.</a:t>
            </a:r>
          </a:p>
        </p:txBody>
      </p:sp>
      <p:sp>
        <p:nvSpPr>
          <p:cNvPr id="7" name="">
            <a:extLst>
              <a:ext uri="{FF2B5EF4-FFF2-40B4-BE49-F238E27FC236}">
                <ns3:creationId id="{E498581B-5E2F-4334-A499-8598F758781D}"/>
              </a:ext>
            </a:extLst>
          </p:cNvPr>
          <p:cNvSpPr>
            <a:spLocks noGrp="1"/>
          </p:cNvSpPr>
          <p:nvPr/>
        </p:nvSpPr>
        <p:spPr>
          <a:xfrm>
            <a:off x="685800" y="345948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질문에 답을 모르면 누구에게 어떤 자료를 요청할지 씁니다.</a:t>
            </a:r>
          </a:p>
        </p:txBody>
      </p:sp>
      <p:sp>
        <p:nvSpPr>
          <p:cNvPr id="8" name="">
            <a:extLst>
              <a:ext uri="{FF2B5EF4-FFF2-40B4-BE49-F238E27FC236}">
                <ns3:creationId id="{EC44B749-7246-437A-8220-D5C3389D40F1}"/>
              </a:ext>
            </a:extLst>
          </p:cNvPr>
          <p:cNvSpPr>
            <a:spLocks noGrp="1"/>
          </p:cNvSpPr>
          <p:nvPr/>
        </p:nvSpPr>
        <p:spPr>
          <a:xfrm>
            <a:off x="685800" y="397764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저장 후 파일을 다시 열어 작성한 내용이 남았는지 확인합니다.</a:t>
            </a:r>
          </a:p>
        </p:txBody>
      </p:sp>
      <p:sp>
        <p:nvSpPr>
          <p:cNvPr id="9" name="">
            <a:extLst>
              <a:ext uri="{FF2B5EF4-FFF2-40B4-BE49-F238E27FC236}">
                <ns3:creationId id="{B085305F-222E-4608-B2B9-AB263B89C813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10/30   프로젝트 기획</a:t>
            </a:r>
          </a:p>
        </p:txBody>
      </p:sp>
      <p:sp>
        <p:nvSpPr>
          <p:cNvPr id="10" name="">
            <a:extLst>
              <a:ext uri="{FF2B5EF4-FFF2-40B4-BE49-F238E27FC236}">
                <ns3:creationId id="{146BBD40-9AE2-4071-85DA-462834D5900F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016</a:t>
            </a:r>
          </a:p>
        </p:txBody>
      </p:sp>
    </p:spTree>
    <p:extLst>
      <p:ext uri="{BB962C8B-B14F-4D97-AF65-F5344CB8AC3E}">
        <ns4:creationId val="732614953"/>
      </p:ext>
    </p:extLst>
  </p:cSld>
</p:sld>
</file>

<file path=ppt/slides/slide17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102733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9" name=""/>
          <p:cNvPicPr>
            <a:picLocks noChangeAspect="1"/>
          </p:cNvPicPr>
          <p:nvPr/>
        </p:nvPicPr>
        <p:blipFill>
          <a:blip r:embed="R4729d235296a46e7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18DAC595-F6DA-468F-B433-28B44618E3FC}"/>
              </a:ext>
            </a:extLst>
          </p:cNvPr>
          <p:cNvSpPr>
            <a:spLocks noGrp="1"/>
          </p:cNvSpPr>
          <p:nvPr/>
        </p:nvSpPr>
        <p:spPr>
          <a:xfrm>
            <a:off x="685800" y="685800"/>
            <a:ext cx="8572500" cy="4476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100" b="1">
                <a:solidFill>
                  <a:srgbClr val="ABDDD0"/>
                </a:solidFill>
                <a:latin typeface="Noto Sans KR"/>
                <a:ea typeface="Noto Sans KR"/>
                <a:cs typeface="Noto Sans KR"/>
              </a:defRPr>
            </a:pPr>
            <a:r>
              <a:t>02   교시</a:t>
            </a:r>
          </a:p>
        </p:txBody>
      </p:sp>
      <p:sp>
        <p:nvSpPr>
          <p:cNvPr id="3" name="">
            <a:extLst>
              <a:ext uri="{FF2B5EF4-FFF2-40B4-BE49-F238E27FC236}">
                <ns3:creationId id="{99446C10-AA4B-4CC5-A8C8-A6C67E1CC081}"/>
              </a:ext>
            </a:extLst>
          </p:cNvPr>
          <p:cNvSpPr>
            <a:spLocks noGrp="1"/>
          </p:cNvSpPr>
          <p:nvPr/>
        </p:nvSpPr>
        <p:spPr>
          <a:xfrm>
            <a:off x="685800" y="1638300"/>
            <a:ext cx="8524875" cy="16573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4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후보 비교·범위·요구</a:t>
            </a:r>
          </a:p>
        </p:txBody>
      </p:sp>
      <p:sp>
        <p:nvSpPr>
          <p:cNvPr id="4" name="">
            <a:extLst>
              <a:ext uri="{FF2B5EF4-FFF2-40B4-BE49-F238E27FC236}">
                <ns3:creationId id="{5779CEE0-D06D-432B-BC9F-C49843BD8055}"/>
              </a:ext>
            </a:extLst>
          </p:cNvPr>
          <p:cNvSpPr>
            <a:spLocks noGrp="1"/>
          </p:cNvSpPr>
          <p:nvPr/>
        </p:nvSpPr>
        <p:spPr>
          <a:xfrm>
            <a:off x="685800" y="3724275"/>
            <a:ext cx="8001000" cy="4286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250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11:00~11:50 · 50분</a:t>
            </a:r>
          </a:p>
        </p:txBody>
      </p:sp>
      <p:sp>
        <p:nvSpPr>
          <p:cNvPr id="5" name="">
            <a:extLst>
              <a:ext uri="{FF2B5EF4-FFF2-40B4-BE49-F238E27FC236}">
                <ns3:creationId id="{3C3BBF7F-2DAF-4227-B4A8-998D15DDCC81}"/>
              </a:ext>
            </a:extLst>
          </p:cNvPr>
          <p:cNvSpPr>
            <a:spLocks noGrp="1"/>
          </p:cNvSpPr>
          <p:nvPr/>
        </p:nvSpPr>
        <p:spPr>
          <a:xfrm>
            <a:off x="685800" y="4219575"/>
            <a:ext cx="8001000" cy="4286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250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A04~A06</a:t>
            </a:r>
          </a:p>
        </p:txBody>
      </p:sp>
      <p:sp>
        <p:nvSpPr>
          <p:cNvPr id="6" name="">
            <a:extLst>
              <a:ext uri="{FF2B5EF4-FFF2-40B4-BE49-F238E27FC236}">
                <ns3:creationId id="{F03363D0-C2B9-4982-870D-6BB1366BA6EE}"/>
              </a:ext>
            </a:extLst>
          </p:cNvPr>
          <p:cNvSpPr>
            <a:spLocks noGrp="1"/>
          </p:cNvSpPr>
          <p:nvPr/>
        </p:nvSpPr>
        <p:spPr>
          <a:xfrm>
            <a:off x="685800" y="4714875"/>
            <a:ext cx="8001000" cy="4286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250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완성할 것: 후보 선택과 네 가지 요구</a:t>
            </a:r>
          </a:p>
        </p:txBody>
      </p:sp>
      <p:sp>
        <p:nvSpPr>
          <p:cNvPr id="7" name="">
            <a:extLst>
              <a:ext uri="{FF2B5EF4-FFF2-40B4-BE49-F238E27FC236}">
                <ns3:creationId id="{4ABAFE14-8318-4EA5-AD26-F3E492F8BA1F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B3C5CC"/>
                </a:solidFill>
                <a:latin typeface="Noto Sans KR"/>
                <a:ea typeface="Noto Sans KR"/>
                <a:cs typeface="Noto Sans KR"/>
              </a:defRPr>
            </a:pPr>
            <a:r>
              <a:t>10/30   프로젝트 기획</a:t>
            </a:r>
          </a:p>
        </p:txBody>
      </p:sp>
      <p:sp>
        <p:nvSpPr>
          <p:cNvPr id="8" name="">
            <a:extLst>
              <a:ext uri="{FF2B5EF4-FFF2-40B4-BE49-F238E27FC236}">
                <ns3:creationId id="{631A6F93-F03D-4CBB-A517-45A792B49F36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B3C5CC"/>
                </a:solidFill>
                <a:latin typeface="Consolas"/>
                <a:ea typeface="Consolas"/>
                <a:cs typeface="Consolas"/>
              </a:defRPr>
            </a:pPr>
            <a:r>
              <a:t>017</a:t>
            </a:r>
          </a:p>
        </p:txBody>
      </p:sp>
    </p:spTree>
    <p:extLst>
      <p:ext uri="{BB962C8B-B14F-4D97-AF65-F5344CB8AC3E}">
        <ns4:creationId val="448751947"/>
      </p:ext>
    </p:extLst>
  </p:cSld>
</p:sld>
</file>

<file path=ppt/slides/slide18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9" name=""/>
          <p:cNvPicPr>
            <a:picLocks noChangeAspect="1"/>
          </p:cNvPicPr>
          <p:nvPr/>
        </p:nvPicPr>
        <p:blipFill>
          <a:blip r:embed="R324e8853125840ef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46D23CF2-4CD8-4CCC-83C3-78BDEE66BA63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2교시   자료 읽기</a:t>
            </a:r>
          </a:p>
        </p:txBody>
      </p:sp>
      <p:sp>
        <p:nvSpPr>
          <p:cNvPr id="3" name="">
            <a:extLst>
              <a:ext uri="{FF2B5EF4-FFF2-40B4-BE49-F238E27FC236}">
                <ns3:creationId id="{A73B46BF-1056-42BE-9CCF-C31E16910F14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같은 기준으로 후보 비교</a:t>
            </a:r>
          </a:p>
        </p:txBody>
      </p:sp>
      <p:sp>
        <p:nvSpPr>
          <p:cNvPr id="4" name="">
            <a:extLst>
              <a:ext uri="{FF2B5EF4-FFF2-40B4-BE49-F238E27FC236}">
                <ns3:creationId id="{855B2F63-A1E7-4AF1-8500-7BD1444E2CDB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graphicFrame>
        <p:nvGraphicFramePr>
          <p:cNvPr id="13" name=""/>
          <p:cNvGraphicFramePr/>
          <p:nvPr/>
        </p:nvGraphicFramePr>
        <p:xfrm>
          <a:off x="685800" y="1943100"/>
          <a:ext cx="10820400" cy="2166366"/>
        </p:xfrm>
        <a:graphic>
          <a:graphicData uri="http://schemas.openxmlformats.org/drawingml/2006/table">
            <a:tbl>
              <a:tblPr firstRow="1" bandRow="0"/>
              <a:tblGrid>
                <a:gridCol w="3950912"/>
                <a:gridCol w="2973804"/>
                <a:gridCol w="3895684"/>
              </a:tblGrid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기준</a:t>
                      </a:r>
                    </a:p>
                  </a:txBody>
                  <a:tcPr marL="142875" marR="142875" marT="85725" marB="85725" anchor="ctr">
                    <a:solidFill>
                      <a:srgbClr val="102733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가중치</a:t>
                      </a:r>
                    </a:p>
                  </a:txBody>
                  <a:tcPr marL="142875" marR="142875" marT="85725" marB="85725" anchor="ctr">
                    <a:solidFill>
                      <a:srgbClr val="102733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후보 A 점수</a:t>
                      </a:r>
                    </a:p>
                  </a:txBody>
                  <a:tcPr marL="142875" marR="142875" marT="85725" marB="85725" anchor="ctr">
                    <a:solidFill>
                      <a:srgbClr val="102733"/>
                    </a:solidFill>
                  </a:tcPr>
                </a:tc>
              </a:tr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필요성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0.40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5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</a:tr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실현 가능성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0.35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</a:tr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시험 가능성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0.25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5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">
            <a:extLst>
              <a:ext uri="{FF2B5EF4-FFF2-40B4-BE49-F238E27FC236}">
                <ns3:creationId id="{13E27D99-6AD7-4DC4-9559-3E06B0A3A274}"/>
              </a:ext>
            </a:extLst>
          </p:cNvPr>
          <p:cNvSpPr>
            <a:spLocks noGrp="1"/>
          </p:cNvSpPr>
          <p:nvPr/>
        </p:nvSpPr>
        <p:spPr>
          <a:xfrm>
            <a:off x="685800" y="4261866"/>
            <a:ext cx="10820400" cy="4762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75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교육용 가정 점수 · 가중치의 합은 1.00입니다.</a:t>
            </a:r>
          </a:p>
        </p:txBody>
      </p:sp>
      <p:sp>
        <p:nvSpPr>
          <p:cNvPr id="7" name="">
            <a:extLst>
              <a:ext uri="{FF2B5EF4-FFF2-40B4-BE49-F238E27FC236}">
                <ns3:creationId id="{EBF18A99-EA46-4BC4-BEA6-5D4B70D1EB31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10/30   프로젝트 기획</a:t>
            </a:r>
          </a:p>
        </p:txBody>
      </p:sp>
      <p:sp>
        <p:nvSpPr>
          <p:cNvPr id="8" name="">
            <a:extLst>
              <a:ext uri="{FF2B5EF4-FFF2-40B4-BE49-F238E27FC236}">
                <ns3:creationId id="{A79D4E38-22F7-4264-99C8-8391B919C2AC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018</a:t>
            </a:r>
          </a:p>
        </p:txBody>
      </p:sp>
    </p:spTree>
    <p:extLst>
      <p:ext uri="{BB962C8B-B14F-4D97-AF65-F5344CB8AC3E}">
        <ns4:creationId val="1877851837"/>
      </p:ext>
    </p:extLst>
  </p:cSld>
</p:sld>
</file>

<file path=ppt/slides/slide19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2" name=""/>
          <p:cNvPicPr>
            <a:picLocks noChangeAspect="1"/>
          </p:cNvPicPr>
          <p:nvPr/>
        </p:nvPicPr>
        <p:blipFill>
          <a:blip r:embed="R968990ce2d9945e2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51C4E9AA-26D6-4157-8399-F8FC097BF247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2교시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66AE5D5E-1CFF-4B1C-A4FE-D1F94D7D0694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가중 점수의 계산</a:t>
            </a:r>
          </a:p>
        </p:txBody>
      </p:sp>
      <p:sp>
        <p:nvSpPr>
          <p:cNvPr id="4" name="">
            <a:extLst>
              <a:ext uri="{FF2B5EF4-FFF2-40B4-BE49-F238E27FC236}">
                <ns3:creationId id="{B97F97BC-3E2C-461A-ADFA-7A55FC1A73C2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7F29C42F-B8FC-4978-BF1A-DDBD568D2924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가중치는 기준의 중요도를 숫자로 표현한 값입니다.</a:t>
            </a:r>
          </a:p>
        </p:txBody>
      </p:sp>
      <p:sp>
        <p:nvSpPr>
          <p:cNvPr id="6" name="">
            <a:extLst>
              <a:ext uri="{FF2B5EF4-FFF2-40B4-BE49-F238E27FC236}">
                <ns3:creationId id="{0B23B07A-5AE5-48D9-AC0F-E7F335E8AD66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후보 A는 5×0.40 + 4×0.35 + 5×0.25로 계산합니다.</a:t>
            </a:r>
          </a:p>
        </p:txBody>
      </p:sp>
      <p:sp>
        <p:nvSpPr>
          <p:cNvPr id="7" name="">
            <a:extLst>
              <a:ext uri="{FF2B5EF4-FFF2-40B4-BE49-F238E27FC236}">
                <ns3:creationId id="{B8AABE26-8844-4D77-A45B-EB708384B8E8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각 항은 2.00, 1.40, 1.25이며 합계는 4.65점입니다.</a:t>
            </a:r>
          </a:p>
        </p:txBody>
      </p:sp>
      <p:sp>
        <p:nvSpPr>
          <p:cNvPr id="8" name="">
            <a:extLst>
              <a:ext uri="{FF2B5EF4-FFF2-40B4-BE49-F238E27FC236}">
                <ns3:creationId id="{812764F7-405C-4859-B649-54F9127CDDB2}"/>
              </a:ext>
            </a:extLst>
          </p:cNvPr>
          <p:cNvSpPr>
            <a:spLocks noGrp="1"/>
          </p:cNvSpPr>
          <p:nvPr/>
        </p:nvSpPr>
        <p:spPr>
          <a:xfrm>
            <a:off x="685800" y="361188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왜 그 점수를 줬는지 근거를 적어야 다른 사람이 검토할 수 있습니다.</a:t>
            </a:r>
          </a:p>
        </p:txBody>
      </p:sp>
      <p:sp>
        <p:nvSpPr>
          <p:cNvPr id="9" name="">
            <a:extLst>
              <a:ext uri="{FF2B5EF4-FFF2-40B4-BE49-F238E27FC236}">
                <ns3:creationId id="{13D302F9-8188-4817-A1FF-6891BE09A0C5}"/>
              </a:ext>
            </a:extLst>
          </p:cNvPr>
          <p:cNvSpPr>
            <a:spLocks noGrp="1"/>
          </p:cNvSpPr>
          <p:nvPr/>
        </p:nvSpPr>
        <p:spPr>
          <a:xfrm>
            <a:off x="685800" y="413004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4.65는 비교 점수입니다. 성공 확률이나 현장 효과를 뜻하지 않습니다.</a:t>
            </a:r>
          </a:p>
        </p:txBody>
      </p:sp>
      <p:sp>
        <p:nvSpPr>
          <p:cNvPr id="10" name="">
            <a:extLst>
              <a:ext uri="{FF2B5EF4-FFF2-40B4-BE49-F238E27FC236}">
                <ns3:creationId id="{6534EA88-C273-4F8F-AB81-40F5D9884CAE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10/30   프로젝트 기획</a:t>
            </a:r>
          </a:p>
        </p:txBody>
      </p:sp>
      <p:sp>
        <p:nvSpPr>
          <p:cNvPr id="11" name="">
            <a:extLst>
              <a:ext uri="{FF2B5EF4-FFF2-40B4-BE49-F238E27FC236}">
                <ns3:creationId id="{22BD8DF3-2B44-4614-8BB5-B3629DDA85AF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019</a:t>
            </a:r>
          </a:p>
        </p:txBody>
      </p:sp>
    </p:spTree>
    <p:extLst>
      <p:ext uri="{BB962C8B-B14F-4D97-AF65-F5344CB8AC3E}">
        <ns4:creationId val="882802307"/>
      </p:ext>
    </p:extLst>
  </p:cSld>
</p:sld>
</file>

<file path=ppt/slides/slide20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20" name=""/>
          <p:cNvPicPr>
            <a:picLocks noChangeAspect="1"/>
          </p:cNvPicPr>
          <p:nvPr/>
        </p:nvPicPr>
        <p:blipFill>
          <a:blip r:embed="R6a641580d30e4235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930DBB21-3AC5-448D-9C45-70327DB07AA0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2교시   코드와 실행</a:t>
            </a:r>
          </a:p>
        </p:txBody>
      </p:sp>
      <p:sp>
        <p:nvSpPr>
          <p:cNvPr id="3" name="">
            <a:extLst>
              <a:ext uri="{FF2B5EF4-FFF2-40B4-BE49-F238E27FC236}">
                <ns3:creationId id="{04E2E00D-F972-411E-8651-8FEC1EF6A921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가중 점수 · 짧은 완성 코드</a:t>
            </a:r>
          </a:p>
        </p:txBody>
      </p:sp>
      <p:sp>
        <p:nvSpPr>
          <p:cNvPr id="4" name="">
            <a:extLst>
              <a:ext uri="{FF2B5EF4-FFF2-40B4-BE49-F238E27FC236}">
                <ns3:creationId id="{BFDF2AD9-C4CC-4B68-896A-56565F64EB13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96D294E3-5B20-4977-B100-75F23972C104}"/>
              </a:ext>
            </a:extLst>
          </p:cNvPr>
          <p:cNvSpPr>
            <a:spLocks noGrp="1"/>
          </p:cNvSpPr>
          <p:nvPr/>
        </p:nvSpPr>
        <p:spPr>
          <a:xfrm>
            <a:off x="685800" y="1924050"/>
            <a:ext cx="10820400" cy="2143125"/>
          </a:xfrm>
          <a:prstGeom prst="rect">
            <a:avLst/>
          </a:prstGeom>
          <a:solidFill>
            <a:srgbClr val="102733"/>
          </a:solidFill>
          <a:ln w="0">
            <a:noFill/>
          </a:ln>
        </p:spPr>
      </p:sp>
      <p:sp>
        <p:nvSpPr>
          <p:cNvPr id="6" name="">
            <a:extLst>
              <a:ext uri="{FF2B5EF4-FFF2-40B4-BE49-F238E27FC236}">
                <ns3:creationId id="{EE5F28CC-5DF5-4863-85C9-7D100D26D3CA}"/>
              </a:ext>
            </a:extLst>
          </p:cNvPr>
          <p:cNvSpPr>
            <a:spLocks noGrp="1"/>
          </p:cNvSpPr>
          <p:nvPr/>
        </p:nvSpPr>
        <p:spPr>
          <a:xfrm>
            <a:off x="838200" y="2076450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01</a:t>
            </a:r>
          </a:p>
        </p:txBody>
      </p:sp>
      <p:sp>
        <p:nvSpPr>
          <p:cNvPr id="7" name="">
            <a:extLst>
              <a:ext uri="{FF2B5EF4-FFF2-40B4-BE49-F238E27FC236}">
                <ns3:creationId id="{71C765AD-494E-4E57-89A1-981333AE7A1C}"/>
              </a:ext>
            </a:extLst>
          </p:cNvPr>
          <p:cNvSpPr>
            <a:spLocks noGrp="1"/>
          </p:cNvSpPr>
          <p:nvPr/>
        </p:nvSpPr>
        <p:spPr>
          <a:xfrm>
            <a:off x="1257300" y="2047875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weights = [0.40, 0.35, 0.25]</a:t>
            </a:r>
          </a:p>
        </p:txBody>
      </p:sp>
      <p:sp>
        <p:nvSpPr>
          <p:cNvPr id="8" name="">
            <a:extLst>
              <a:ext uri="{FF2B5EF4-FFF2-40B4-BE49-F238E27FC236}">
                <ns3:creationId id="{798D1454-B339-4C1A-B82B-7AC82A1F6C6E}"/>
              </a:ext>
            </a:extLst>
          </p:cNvPr>
          <p:cNvSpPr>
            <a:spLocks noGrp="1"/>
          </p:cNvSpPr>
          <p:nvPr/>
        </p:nvSpPr>
        <p:spPr>
          <a:xfrm>
            <a:off x="838200" y="2386013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02</a:t>
            </a:r>
          </a:p>
        </p:txBody>
      </p:sp>
      <p:sp>
        <p:nvSpPr>
          <p:cNvPr id="9" name="">
            <a:extLst>
              <a:ext uri="{FF2B5EF4-FFF2-40B4-BE49-F238E27FC236}">
                <ns3:creationId id="{F183F10D-F831-4205-8752-E41747B75B10}"/>
              </a:ext>
            </a:extLst>
          </p:cNvPr>
          <p:cNvSpPr>
            <a:spLocks noGrp="1"/>
          </p:cNvSpPr>
          <p:nvPr/>
        </p:nvSpPr>
        <p:spPr>
          <a:xfrm>
            <a:off x="1257300" y="2357438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scores = [5, 4, 5]</a:t>
            </a:r>
          </a:p>
        </p:txBody>
      </p:sp>
      <p:sp>
        <p:nvSpPr>
          <p:cNvPr id="10" name="">
            <a:extLst>
              <a:ext uri="{FF2B5EF4-FFF2-40B4-BE49-F238E27FC236}">
                <ns3:creationId id="{1D8EFB9C-FEAB-4D03-BD71-DE6A67BB790D}"/>
              </a:ext>
            </a:extLst>
          </p:cNvPr>
          <p:cNvSpPr>
            <a:spLocks noGrp="1"/>
          </p:cNvSpPr>
          <p:nvPr/>
        </p:nvSpPr>
        <p:spPr>
          <a:xfrm>
            <a:off x="838200" y="2695575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03</a:t>
            </a:r>
          </a:p>
        </p:txBody>
      </p:sp>
      <p:sp>
        <p:nvSpPr>
          <p:cNvPr id="11" name="">
            <a:extLst>
              <a:ext uri="{FF2B5EF4-FFF2-40B4-BE49-F238E27FC236}">
                <ns3:creationId id="{99B478EC-683C-4B3D-B16D-026019AEE9BE}"/>
              </a:ext>
            </a:extLst>
          </p:cNvPr>
          <p:cNvSpPr>
            <a:spLocks noGrp="1"/>
          </p:cNvSpPr>
          <p:nvPr/>
        </p:nvSpPr>
        <p:spPr>
          <a:xfrm>
            <a:off x="1257300" y="2667000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total = 0</a:t>
            </a:r>
          </a:p>
        </p:txBody>
      </p:sp>
      <p:sp>
        <p:nvSpPr>
          <p:cNvPr id="12" name="">
            <a:extLst>
              <a:ext uri="{FF2B5EF4-FFF2-40B4-BE49-F238E27FC236}">
                <ns3:creationId id="{4EC02E6A-EBEF-4A2A-BF4F-D21DCE372CBD}"/>
              </a:ext>
            </a:extLst>
          </p:cNvPr>
          <p:cNvSpPr>
            <a:spLocks noGrp="1"/>
          </p:cNvSpPr>
          <p:nvPr/>
        </p:nvSpPr>
        <p:spPr>
          <a:xfrm>
            <a:off x="838200" y="3005138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04</a:t>
            </a:r>
          </a:p>
        </p:txBody>
      </p:sp>
      <p:sp>
        <p:nvSpPr>
          <p:cNvPr id="13" name="">
            <a:extLst>
              <a:ext uri="{FF2B5EF4-FFF2-40B4-BE49-F238E27FC236}">
                <ns3:creationId id="{2611B1A6-CA57-482B-855B-77ECB0F9CEE6}"/>
              </a:ext>
            </a:extLst>
          </p:cNvPr>
          <p:cNvSpPr>
            <a:spLocks noGrp="1"/>
          </p:cNvSpPr>
          <p:nvPr/>
        </p:nvSpPr>
        <p:spPr>
          <a:xfrm>
            <a:off x="1257300" y="2976563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for index in range(3):</a:t>
            </a:r>
          </a:p>
        </p:txBody>
      </p:sp>
      <p:sp>
        <p:nvSpPr>
          <p:cNvPr id="14" name="">
            <a:extLst>
              <a:ext uri="{FF2B5EF4-FFF2-40B4-BE49-F238E27FC236}">
                <ns3:creationId id="{62A17343-BEA5-45E4-A6DE-5882EA42A247}"/>
              </a:ext>
            </a:extLst>
          </p:cNvPr>
          <p:cNvSpPr>
            <a:spLocks noGrp="1"/>
          </p:cNvSpPr>
          <p:nvPr/>
        </p:nvSpPr>
        <p:spPr>
          <a:xfrm>
            <a:off x="838200" y="3314700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05</a:t>
            </a:r>
          </a:p>
        </p:txBody>
      </p:sp>
      <p:sp>
        <p:nvSpPr>
          <p:cNvPr id="15" name="">
            <a:extLst>
              <a:ext uri="{FF2B5EF4-FFF2-40B4-BE49-F238E27FC236}">
                <ns3:creationId id="{A025CA27-9235-4E1E-A234-887B6C52F0E2}"/>
              </a:ext>
            </a:extLst>
          </p:cNvPr>
          <p:cNvSpPr>
            <a:spLocks noGrp="1"/>
          </p:cNvSpPr>
          <p:nvPr/>
        </p:nvSpPr>
        <p:spPr>
          <a:xfrm>
            <a:off x="1257300" y="3286125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    total = total + weights[index] * scores[index]</a:t>
            </a:r>
          </a:p>
        </p:txBody>
      </p:sp>
      <p:sp>
        <p:nvSpPr>
          <p:cNvPr id="16" name="">
            <a:extLst>
              <a:ext uri="{FF2B5EF4-FFF2-40B4-BE49-F238E27FC236}">
                <ns3:creationId id="{CD537711-D939-47DA-ADCA-7A518C28773F}"/>
              </a:ext>
            </a:extLst>
          </p:cNvPr>
          <p:cNvSpPr>
            <a:spLocks noGrp="1"/>
          </p:cNvSpPr>
          <p:nvPr/>
        </p:nvSpPr>
        <p:spPr>
          <a:xfrm>
            <a:off x="838200" y="3624263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06</a:t>
            </a:r>
          </a:p>
        </p:txBody>
      </p:sp>
      <p:sp>
        <p:nvSpPr>
          <p:cNvPr id="17" name="">
            <a:extLst>
              <a:ext uri="{FF2B5EF4-FFF2-40B4-BE49-F238E27FC236}">
                <ns3:creationId id="{D9503827-BCD6-47B9-92FE-039A1AAAEF39}"/>
              </a:ext>
            </a:extLst>
          </p:cNvPr>
          <p:cNvSpPr>
            <a:spLocks noGrp="1"/>
          </p:cNvSpPr>
          <p:nvPr/>
        </p:nvSpPr>
        <p:spPr>
          <a:xfrm>
            <a:off x="1257300" y="3595688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print(round(total, 2))</a:t>
            </a:r>
          </a:p>
        </p:txBody>
      </p:sp>
      <p:sp>
        <p:nvSpPr>
          <p:cNvPr id="18" name="">
            <a:extLst>
              <a:ext uri="{FF2B5EF4-FFF2-40B4-BE49-F238E27FC236}">
                <ns3:creationId id="{32D574F9-3D50-4D64-B2AA-CF777DBBDC4E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10/30   프로젝트 기획</a:t>
            </a:r>
          </a:p>
        </p:txBody>
      </p:sp>
      <p:sp>
        <p:nvSpPr>
          <p:cNvPr id="19" name="">
            <a:extLst>
              <a:ext uri="{FF2B5EF4-FFF2-40B4-BE49-F238E27FC236}">
                <ns3:creationId id="{7BCA4A54-C74A-4774-8153-D5FA9EE5AABE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020</a:t>
            </a:r>
          </a:p>
        </p:txBody>
      </p:sp>
    </p:spTree>
    <p:extLst>
      <p:ext uri="{BB962C8B-B14F-4D97-AF65-F5344CB8AC3E}">
        <ns4:creationId val="1796246879"/>
      </p:ext>
    </p:extLst>
  </p:cSld>
</p:sld>
</file>

<file path=ppt/slides/slide21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8" name=""/>
          <p:cNvPicPr>
            <a:picLocks noChangeAspect="1"/>
          </p:cNvPicPr>
          <p:nvPr/>
        </p:nvPicPr>
        <p:blipFill>
          <a:blip r:embed="R16b494cc3ce942b9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D2C15B2C-3AF5-43A0-A72F-D52759E3D387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2교시   자료 읽기</a:t>
            </a:r>
          </a:p>
        </p:txBody>
      </p:sp>
      <p:sp>
        <p:nvSpPr>
          <p:cNvPr id="3" name="">
            <a:extLst>
              <a:ext uri="{FF2B5EF4-FFF2-40B4-BE49-F238E27FC236}">
                <ns3:creationId id="{BEFAF977-BDA0-4CE9-B76C-02F0A25BDA49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코드 줄과 기호의 뜻</a:t>
            </a:r>
          </a:p>
        </p:txBody>
      </p:sp>
      <p:sp>
        <p:nvSpPr>
          <p:cNvPr id="4" name="">
            <a:extLst>
              <a:ext uri="{FF2B5EF4-FFF2-40B4-BE49-F238E27FC236}">
                <ns3:creationId id="{1CD91A06-7022-49F2-955C-5ED9069D32A0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graphicFrame>
        <p:nvGraphicFramePr>
          <p:cNvPr id="12" name=""/>
          <p:cNvGraphicFramePr/>
          <p:nvPr/>
        </p:nvGraphicFramePr>
        <p:xfrm>
          <a:off x="685800" y="1943100"/>
          <a:ext cx="10820400" cy="3249549"/>
        </p:xfrm>
        <a:graphic>
          <a:graphicData uri="http://schemas.openxmlformats.org/drawingml/2006/table">
            <a:tbl>
              <a:tblPr firstRow="1" bandRow="0"/>
              <a:tblGrid>
                <a:gridCol w="3595146"/>
                <a:gridCol w="7225254"/>
              </a:tblGrid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줄·기호</a:t>
                      </a:r>
                    </a:p>
                  </a:txBody>
                  <a:tcPr marL="142875" marR="142875" marT="85725" marB="85725" anchor="ctr">
                    <a:solidFill>
                      <a:srgbClr val="102733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이 예제에서 하는 일</a:t>
                      </a:r>
                    </a:p>
                  </a:txBody>
                  <a:tcPr marL="142875" marR="142875" marT="85725" marB="85725" anchor="ctr">
                    <a:solidFill>
                      <a:srgbClr val="102733"/>
                    </a:solidFill>
                  </a:tcPr>
                </a:tc>
              </a:tr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1~2행 / [ ]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가중치와 점수를 순서대로 담습니다.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</a:tr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3행 / =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합계 이름 total에 0을 저장합니다.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</a:tr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4행 / :와 들여쓰기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0·1·2 순서로 아래 계산을 반복합니다.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</a:tr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5행 / *와 +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같은 번호의 값을 곱하고 합계에 더합니다.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</a:tr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6행 / ( )와 ,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합계를 소수 둘째 자리로 반올림해 출력합니다.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">
            <a:extLst>
              <a:ext uri="{FF2B5EF4-FFF2-40B4-BE49-F238E27FC236}">
                <ns3:creationId id="{AF9EA39F-B02A-44DC-BC49-D517B5482849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10/30   프로젝트 기획</a:t>
            </a:r>
          </a:p>
        </p:txBody>
      </p:sp>
      <p:sp>
        <p:nvSpPr>
          <p:cNvPr id="7" name="">
            <a:extLst>
              <a:ext uri="{FF2B5EF4-FFF2-40B4-BE49-F238E27FC236}">
                <ns3:creationId id="{306E77B1-C1DC-4900-AB5A-AB8F35F84107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021</a:t>
            </a:r>
          </a:p>
        </p:txBody>
      </p:sp>
    </p:spTree>
    <p:extLst>
      <p:ext uri="{BB962C8B-B14F-4D97-AF65-F5344CB8AC3E}">
        <ns4:creationId val="1586573569"/>
      </p:ext>
    </p:extLst>
  </p:cSld>
</p:sld>
</file>

<file path=ppt/slides/slide22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3" name=""/>
          <p:cNvPicPr>
            <a:picLocks noChangeAspect="1"/>
          </p:cNvPicPr>
          <p:nvPr/>
        </p:nvPicPr>
        <p:blipFill>
          <a:blip r:embed="Ra7b74e0d0a314d2e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6F5B9EA2-F4E1-4982-B735-17453482B971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2교시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4D4FFFF8-5C04-4351-AF77-39C52BDEEDF3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코드 저장과 실행</a:t>
            </a:r>
          </a:p>
        </p:txBody>
      </p:sp>
      <p:sp>
        <p:nvSpPr>
          <p:cNvPr id="4" name="">
            <a:extLst>
              <a:ext uri="{FF2B5EF4-FFF2-40B4-BE49-F238E27FC236}">
                <ns3:creationId id="{D9C2C0DF-9DB4-4F5F-A3C0-C2428B6FF4AC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AD08E71C-2A61-48E0-ABCB-A11E2607EAF8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work에 option_trace.py라는 새 텍스트 파일을 만듭니다.</a:t>
            </a:r>
          </a:p>
        </p:txBody>
      </p:sp>
      <p:sp>
        <p:nvSpPr>
          <p:cNvPr id="6" name="">
            <a:extLst>
              <a:ext uri="{FF2B5EF4-FFF2-40B4-BE49-F238E27FC236}">
                <ns3:creationId id="{929A893B-74EE-4723-AD5A-6E7B00909D38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‘가중 점수 · 짧은 완성 코드’의 6줄을 입력하고 Ctrl+S로 저장합니다.</a:t>
            </a:r>
          </a:p>
        </p:txBody>
      </p:sp>
      <p:sp>
        <p:nvSpPr>
          <p:cNvPr id="7" name="">
            <a:extLst>
              <a:ext uri="{FF2B5EF4-FFF2-40B4-BE49-F238E27FC236}">
                <ns3:creationId id="{DA370C82-73D8-499A-8B19-74A8BF6424DD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.py.txt가 되지 않았는지 파일 탐색기의 확장명 표시로 확인합니다.</a:t>
            </a:r>
          </a:p>
        </p:txBody>
      </p:sp>
      <p:sp>
        <p:nvSpPr>
          <p:cNvPr id="8" name="">
            <a:extLst>
              <a:ext uri="{FF2B5EF4-FFF2-40B4-BE49-F238E27FC236}">
                <ns3:creationId id="{41885589-C98A-4ADE-A1F6-1CE94A261467}"/>
              </a:ext>
            </a:extLst>
          </p:cNvPr>
          <p:cNvSpPr>
            <a:spLocks noGrp="1"/>
          </p:cNvSpPr>
          <p:nvPr/>
        </p:nvSpPr>
        <p:spPr>
          <a:xfrm>
            <a:off x="685800" y="361188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course 위치의 PowerShell에서 다음 명령을 입력합니다.</a:t>
            </a:r>
          </a:p>
        </p:txBody>
      </p:sp>
      <p:sp>
        <p:nvSpPr>
          <p:cNvPr id="9" name="">
            <a:extLst>
              <a:ext uri="{FF2B5EF4-FFF2-40B4-BE49-F238E27FC236}">
                <ns3:creationId id="{E04D9705-A63E-4A91-B157-07BA0C45AB3A}"/>
              </a:ext>
            </a:extLst>
          </p:cNvPr>
          <p:cNvSpPr>
            <a:spLocks noGrp="1"/>
          </p:cNvSpPr>
          <p:nvPr/>
        </p:nvSpPr>
        <p:spPr>
          <a:xfrm>
            <a:off x="685800" y="413004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python -X utf8 work/option_trace.py</a:t>
            </a:r>
          </a:p>
        </p:txBody>
      </p:sp>
      <p:sp>
        <p:nvSpPr>
          <p:cNvPr id="10" name="">
            <a:extLst>
              <a:ext uri="{FF2B5EF4-FFF2-40B4-BE49-F238E27FC236}">
                <ns3:creationId id="{6D4D7A5F-89CF-41F1-920F-29E66BC8CD3E}"/>
              </a:ext>
            </a:extLst>
          </p:cNvPr>
          <p:cNvSpPr>
            <a:spLocks noGrp="1"/>
          </p:cNvSpPr>
          <p:nvPr/>
        </p:nvSpPr>
        <p:spPr>
          <a:xfrm>
            <a:off x="685800" y="5857875"/>
            <a:ext cx="10820400" cy="4762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75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출력: 4.65 · 출력은 코드 파일의 내용과 다른 실행 결과입니다.</a:t>
            </a:r>
          </a:p>
        </p:txBody>
      </p:sp>
      <p:sp>
        <p:nvSpPr>
          <p:cNvPr id="11" name="">
            <a:extLst>
              <a:ext uri="{FF2B5EF4-FFF2-40B4-BE49-F238E27FC236}">
                <ns3:creationId id="{8A7B3152-3CFB-496F-9662-D60877874EB5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10/30   프로젝트 기획</a:t>
            </a:r>
          </a:p>
        </p:txBody>
      </p:sp>
      <p:sp>
        <p:nvSpPr>
          <p:cNvPr id="12" name="">
            <a:extLst>
              <a:ext uri="{FF2B5EF4-FFF2-40B4-BE49-F238E27FC236}">
                <ns3:creationId id="{5D830390-4D60-456D-9031-C9618650970C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022</a:t>
            </a:r>
          </a:p>
        </p:txBody>
      </p:sp>
    </p:spTree>
    <p:extLst>
      <p:ext uri="{BB962C8B-B14F-4D97-AF65-F5344CB8AC3E}">
        <ns4:creationId val="637444128"/>
      </p:ext>
    </p:extLst>
  </p:cSld>
</p:sld>
</file>

<file path=ppt/slides/slide23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102733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7" name=""/>
          <p:cNvPicPr>
            <a:picLocks noChangeAspect="1"/>
          </p:cNvPicPr>
          <p:nvPr/>
        </p:nvPicPr>
        <p:blipFill>
          <a:blip r:embed="R65c8c67e4be745f1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74591B2E-7F15-4462-A977-368F1EE518DD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925050" cy="6858000"/>
          </a:xfrm>
          <a:prstGeom prst="rect">
            <a:avLst/>
          </a:prstGeom>
          <a:solidFill>
            <a:srgbClr val="102733"/>
          </a:solidFill>
          <a:ln w="0">
            <a:noFill/>
          </a:ln>
        </p:spPr>
      </p:sp>
      <p:sp>
        <p:nvSpPr>
          <p:cNvPr id="3" name="">
            <a:extLst>
              <a:ext uri="{FF2B5EF4-FFF2-40B4-BE49-F238E27FC236}">
                <ns3:creationId id="{7B3A34EA-5566-48FD-8BC3-62C8D715922D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ABDDD0"/>
                </a:solidFill>
                <a:latin typeface="Noto Sans KR"/>
                <a:ea typeface="Noto Sans KR"/>
                <a:cs typeface="Noto Sans KR"/>
              </a:defRPr>
            </a:pPr>
            <a:r>
              <a:t>2교시   직접 해 보기</a:t>
            </a:r>
          </a:p>
        </p:txBody>
      </p:sp>
      <p:sp>
        <p:nvSpPr>
          <p:cNvPr id="4" name="">
            <a:extLst>
              <a:ext uri="{FF2B5EF4-FFF2-40B4-BE49-F238E27FC236}">
                <ns3:creationId id="{9680D102-F077-4120-953A-E4F4A5B592F0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수정 전 예상과 실행 결과</a:t>
            </a:r>
          </a:p>
        </p:txBody>
      </p:sp>
      <p:sp>
        <p:nvSpPr>
          <p:cNvPr id="5" name="">
            <a:extLst>
              <a:ext uri="{FF2B5EF4-FFF2-40B4-BE49-F238E27FC236}">
                <ns3:creationId id="{4B3DE3C2-F3F0-49F8-8A03-D7455752188B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38505B"/>
          </a:solidFill>
          <a:ln w="0">
            <a:noFill/>
          </a:ln>
        </p:spPr>
      </p:sp>
      <p:sp>
        <p:nvSpPr>
          <p:cNvPr id="6" name="">
            <a:extLst>
              <a:ext uri="{FF2B5EF4-FFF2-40B4-BE49-F238E27FC236}">
                <ns3:creationId id="{1C3B818B-C2B0-4E99-8300-8E1778D4C05C}"/>
              </a:ext>
            </a:extLst>
          </p:cNvPr>
          <p:cNvSpPr>
            <a:spLocks noGrp="1"/>
          </p:cNvSpPr>
          <p:nvPr/>
        </p:nvSpPr>
        <p:spPr>
          <a:xfrm>
            <a:off x="685800" y="2085975"/>
            <a:ext cx="409575" cy="86106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01</a:t>
            </a:r>
          </a:p>
        </p:txBody>
      </p:sp>
      <p:sp>
        <p:nvSpPr>
          <p:cNvPr id="7" name="">
            <a:extLst>
              <a:ext uri="{FF2B5EF4-FFF2-40B4-BE49-F238E27FC236}">
                <ns3:creationId id="{302835AB-0C41-4C96-9AB8-A7719DEC7501}"/>
              </a:ext>
            </a:extLst>
          </p:cNvPr>
          <p:cNvSpPr>
            <a:spLocks noGrp="1"/>
          </p:cNvSpPr>
          <p:nvPr/>
        </p:nvSpPr>
        <p:spPr>
          <a:xfrm>
            <a:off x="1209675" y="2085975"/>
            <a:ext cx="8001000" cy="7943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scores를 [4, 5, 3]으로 바꾸기 전에 곱셈 세 항과 합계를 씁니다.</a:t>
            </a:r>
          </a:p>
        </p:txBody>
      </p:sp>
      <p:sp>
        <p:nvSpPr>
          <p:cNvPr id="8" name="">
            <a:extLst>
              <a:ext uri="{FF2B5EF4-FFF2-40B4-BE49-F238E27FC236}">
                <ns3:creationId id="{CAE2D10F-2092-4A75-82F7-966FC174C740}"/>
              </a:ext>
            </a:extLst>
          </p:cNvPr>
          <p:cNvSpPr>
            <a:spLocks noGrp="1"/>
          </p:cNvSpPr>
          <p:nvPr/>
        </p:nvSpPr>
        <p:spPr>
          <a:xfrm>
            <a:off x="685800" y="2947035"/>
            <a:ext cx="409575" cy="50673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02</a:t>
            </a:r>
          </a:p>
        </p:txBody>
      </p:sp>
      <p:sp>
        <p:nvSpPr>
          <p:cNvPr id="9" name="">
            <a:extLst>
              <a:ext uri="{FF2B5EF4-FFF2-40B4-BE49-F238E27FC236}">
                <ns3:creationId id="{D7D5E9FA-62A5-4C6D-9035-5CE703DFF059}"/>
              </a:ext>
            </a:extLst>
          </p:cNvPr>
          <p:cNvSpPr>
            <a:spLocks noGrp="1"/>
          </p:cNvSpPr>
          <p:nvPr/>
        </p:nvSpPr>
        <p:spPr>
          <a:xfrm>
            <a:off x="1209675" y="2947035"/>
            <a:ext cx="80010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저장하고 같은 work/option_trace.py를 다시 실행합니다.</a:t>
            </a:r>
          </a:p>
        </p:txBody>
      </p:sp>
      <p:sp>
        <p:nvSpPr>
          <p:cNvPr id="10" name="">
            <a:extLst>
              <a:ext uri="{FF2B5EF4-FFF2-40B4-BE49-F238E27FC236}">
                <ns3:creationId id="{995BE169-731F-482E-A0EE-49A0400D780C}"/>
              </a:ext>
            </a:extLst>
          </p:cNvPr>
          <p:cNvSpPr>
            <a:spLocks noGrp="1"/>
          </p:cNvSpPr>
          <p:nvPr/>
        </p:nvSpPr>
        <p:spPr>
          <a:xfrm>
            <a:off x="685800" y="3453765"/>
            <a:ext cx="409575" cy="50673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03</a:t>
            </a:r>
          </a:p>
        </p:txBody>
      </p:sp>
      <p:sp>
        <p:nvSpPr>
          <p:cNvPr id="11" name="">
            <a:extLst>
              <a:ext uri="{FF2B5EF4-FFF2-40B4-BE49-F238E27FC236}">
                <ns3:creationId id="{3C268164-3733-462F-87A9-B026EFB333AF}"/>
              </a:ext>
            </a:extLst>
          </p:cNvPr>
          <p:cNvSpPr>
            <a:spLocks noGrp="1"/>
          </p:cNvSpPr>
          <p:nvPr/>
        </p:nvSpPr>
        <p:spPr>
          <a:xfrm>
            <a:off x="1209675" y="3453765"/>
            <a:ext cx="80010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예상과 실제 결과가 같은지 비교하고 이유를 설명합니다.</a:t>
            </a:r>
          </a:p>
        </p:txBody>
      </p:sp>
      <p:sp>
        <p:nvSpPr>
          <p:cNvPr id="12" name="">
            <a:extLst>
              <a:ext uri="{FF2B5EF4-FFF2-40B4-BE49-F238E27FC236}">
                <ns3:creationId id="{FB111BFC-59DC-4B8E-9F40-CD2D028BCAF9}"/>
              </a:ext>
            </a:extLst>
          </p:cNvPr>
          <p:cNvSpPr>
            <a:spLocks noGrp="1"/>
          </p:cNvSpPr>
          <p:nvPr/>
        </p:nvSpPr>
        <p:spPr>
          <a:xfrm>
            <a:off x="685800" y="3960495"/>
            <a:ext cx="409575" cy="86106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04</a:t>
            </a:r>
          </a:p>
        </p:txBody>
      </p:sp>
      <p:sp>
        <p:nvSpPr>
          <p:cNvPr id="13" name="">
            <a:extLst>
              <a:ext uri="{FF2B5EF4-FFF2-40B4-BE49-F238E27FC236}">
                <ns3:creationId id="{46DEB5FE-536E-4B04-A208-6BC2D2D90EC5}"/>
              </a:ext>
            </a:extLst>
          </p:cNvPr>
          <p:cNvSpPr>
            <a:spLocks noGrp="1"/>
          </p:cNvSpPr>
          <p:nvPr/>
        </p:nvSpPr>
        <p:spPr>
          <a:xfrm>
            <a:off x="1209675" y="3960495"/>
            <a:ext cx="8001000" cy="7943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다른 팀과 같은 점수를 줬어도 판단 근거가 같은지 확인합니다.</a:t>
            </a:r>
          </a:p>
        </p:txBody>
      </p:sp>
      <p:sp>
        <p:nvSpPr>
          <p:cNvPr id="14" name="">
            <a:extLst>
              <a:ext uri="{FF2B5EF4-FFF2-40B4-BE49-F238E27FC236}">
                <ns3:creationId id="{9C0491B2-3E6A-410E-819C-2D58FC240D0C}"/>
              </a:ext>
            </a:extLst>
          </p:cNvPr>
          <p:cNvSpPr>
            <a:spLocks noGrp="1"/>
          </p:cNvSpPr>
          <p:nvPr/>
        </p:nvSpPr>
        <p:spPr>
          <a:xfrm>
            <a:off x="685800" y="5915025"/>
            <a:ext cx="10382250" cy="4000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950" b="1">
                <a:solidFill>
                  <a:srgbClr val="ABDDD0"/>
                </a:solidFill>
                <a:latin typeface="Noto Sans KR"/>
                <a:ea typeface="Noto Sans KR"/>
                <a:cs typeface="Noto Sans KR"/>
              </a:defRPr>
            </a:pPr>
            <a:r>
              <a:t>계산·수정·실행 7분 · 결과와 점수 근거 비교 5분</a:t>
            </a:r>
          </a:p>
        </p:txBody>
      </p:sp>
      <p:sp>
        <p:nvSpPr>
          <p:cNvPr id="15" name="">
            <a:extLst>
              <a:ext uri="{FF2B5EF4-FFF2-40B4-BE49-F238E27FC236}">
                <ns3:creationId id="{B5BB22EB-AD28-4902-8A76-BB31FF8D810C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B3C5CC"/>
                </a:solidFill>
                <a:latin typeface="Noto Sans KR"/>
                <a:ea typeface="Noto Sans KR"/>
                <a:cs typeface="Noto Sans KR"/>
              </a:defRPr>
            </a:pPr>
            <a:r>
              <a:t>10/30   프로젝트 기획</a:t>
            </a:r>
          </a:p>
        </p:txBody>
      </p:sp>
      <p:sp>
        <p:nvSpPr>
          <p:cNvPr id="16" name="">
            <a:extLst>
              <a:ext uri="{FF2B5EF4-FFF2-40B4-BE49-F238E27FC236}">
                <ns3:creationId id="{FF82DB75-227F-44C3-BD8D-2B9EE2909205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B3C5CC"/>
                </a:solidFill>
                <a:latin typeface="Consolas"/>
                <a:ea typeface="Consolas"/>
                <a:cs typeface="Consolas"/>
              </a:defRPr>
            </a:pPr>
            <a:r>
              <a:t>023</a:t>
            </a:r>
          </a:p>
        </p:txBody>
      </p:sp>
    </p:spTree>
    <p:extLst>
      <p:ext uri="{BB962C8B-B14F-4D97-AF65-F5344CB8AC3E}">
        <ns4:creationId val="1854895146"/>
      </p:ext>
    </p:extLst>
  </p:cSld>
</p:sld>
</file>

<file path=ppt/slides/slide24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2" name=""/>
          <p:cNvPicPr>
            <a:picLocks noChangeAspect="1"/>
          </p:cNvPicPr>
          <p:nvPr/>
        </p:nvPicPr>
        <p:blipFill>
          <a:blip r:embed="Rc311acb3bcb842ec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6F2F4979-1A08-4AC8-B846-359B9ADDAA53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2교시   풀이와 확인</a:t>
            </a:r>
          </a:p>
        </p:txBody>
      </p:sp>
      <p:sp>
        <p:nvSpPr>
          <p:cNvPr id="3" name="">
            <a:extLst>
              <a:ext uri="{FF2B5EF4-FFF2-40B4-BE49-F238E27FC236}">
                <ns3:creationId id="{88C836E6-C48B-446A-B045-AB805D6AD805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후보 D · 계산 풀이</a:t>
            </a:r>
          </a:p>
        </p:txBody>
      </p:sp>
      <p:sp>
        <p:nvSpPr>
          <p:cNvPr id="4" name="">
            <a:extLst>
              <a:ext uri="{FF2B5EF4-FFF2-40B4-BE49-F238E27FC236}">
                <ns3:creationId id="{7FBDBAAF-4D64-4000-8C20-C52192C623CD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D471A6EA-6CC6-49FC-A4B5-3E7B00B00A59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4×0.40 = 1.60, 5×0.35 = 1.75, 3×0.25 = 0.75입니다.</a:t>
            </a:r>
          </a:p>
        </p:txBody>
      </p:sp>
      <p:sp>
        <p:nvSpPr>
          <p:cNvPr id="6" name="">
            <a:extLst>
              <a:ext uri="{FF2B5EF4-FFF2-40B4-BE49-F238E27FC236}">
                <ns3:creationId id="{031FA51E-1A50-4BB1-A7FF-AB6CE7215DF9}"/>
              </a:ext>
            </a:extLst>
          </p:cNvPr>
          <p:cNvSpPr>
            <a:spLocks noGrp="1"/>
          </p:cNvSpPr>
          <p:nvPr/>
        </p:nvSpPr>
        <p:spPr>
          <a:xfrm>
            <a:off x="685800" y="2564130"/>
            <a:ext cx="108204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합계는 4.10점입니다. 출력에서 마지막 0이 생략되어 4.1로 보일 수 있습니다.</a:t>
            </a:r>
          </a:p>
        </p:txBody>
      </p:sp>
      <p:sp>
        <p:nvSpPr>
          <p:cNvPr id="7" name="">
            <a:extLst>
              <a:ext uri="{FF2B5EF4-FFF2-40B4-BE49-F238E27FC236}">
                <ns3:creationId id="{8AC564DA-7F3B-4018-BD81-40C82DF9A618}"/>
              </a:ext>
            </a:extLst>
          </p:cNvPr>
          <p:cNvSpPr>
            <a:spLocks noGrp="1"/>
          </p:cNvSpPr>
          <p:nvPr/>
        </p:nvSpPr>
        <p:spPr>
          <a:xfrm>
            <a:off x="685800" y="3070860"/>
            <a:ext cx="108204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scores를 [3, 4, 4]로 바꾸면 1.20 + 1.40 + 1.00 = 3.60입니다.</a:t>
            </a:r>
          </a:p>
        </p:txBody>
      </p:sp>
      <p:sp>
        <p:nvSpPr>
          <p:cNvPr id="8" name="">
            <a:extLst>
              <a:ext uri="{FF2B5EF4-FFF2-40B4-BE49-F238E27FC236}">
                <ns3:creationId id="{BD940596-4CE3-4B01-92F5-FD62BB891142}"/>
              </a:ext>
            </a:extLst>
          </p:cNvPr>
          <p:cNvSpPr>
            <a:spLocks noGrp="1"/>
          </p:cNvSpPr>
          <p:nvPr/>
        </p:nvSpPr>
        <p:spPr>
          <a:xfrm>
            <a:off x="685800" y="3577590"/>
            <a:ext cx="108204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값을 고쳐도 결과가 같다면 저장 여부와 실행한 파일의 경로를 확인합니다.</a:t>
            </a:r>
          </a:p>
        </p:txBody>
      </p:sp>
      <p:sp>
        <p:nvSpPr>
          <p:cNvPr id="9" name="">
            <a:extLst>
              <a:ext uri="{FF2B5EF4-FFF2-40B4-BE49-F238E27FC236}">
                <ns3:creationId id="{59DA8D04-571E-4C57-BEA3-8F24B2D766C0}"/>
              </a:ext>
            </a:extLst>
          </p:cNvPr>
          <p:cNvSpPr>
            <a:spLocks noGrp="1"/>
          </p:cNvSpPr>
          <p:nvPr/>
        </p:nvSpPr>
        <p:spPr>
          <a:xfrm>
            <a:off x="685800" y="4084320"/>
            <a:ext cx="108204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기준이나 가중치가 달라지면 후보 비교도 다시 해야 합니다.</a:t>
            </a:r>
          </a:p>
        </p:txBody>
      </p:sp>
      <p:sp>
        <p:nvSpPr>
          <p:cNvPr id="10" name="">
            <a:extLst>
              <a:ext uri="{FF2B5EF4-FFF2-40B4-BE49-F238E27FC236}">
                <ns3:creationId id="{C8A45486-A3BA-448F-8263-63A0A876DD61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10/30   프로젝트 기획</a:t>
            </a:r>
          </a:p>
        </p:txBody>
      </p:sp>
      <p:sp>
        <p:nvSpPr>
          <p:cNvPr id="11" name="">
            <a:extLst>
              <a:ext uri="{FF2B5EF4-FFF2-40B4-BE49-F238E27FC236}">
                <ns3:creationId id="{9CCD9382-BAC0-42EF-9A2A-F5DB99D005AA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024</a:t>
            </a:r>
          </a:p>
        </p:txBody>
      </p:sp>
    </p:spTree>
    <p:extLst>
      <p:ext uri="{BB962C8B-B14F-4D97-AF65-F5344CB8AC3E}">
        <ns4:creationId val="1074121494"/>
      </p:ext>
    </p:extLst>
  </p:cSld>
</p:sld>
</file>

<file path=ppt/slides/slide25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5" name=""/>
          <p:cNvPicPr>
            <a:picLocks noChangeAspect="1"/>
          </p:cNvPicPr>
          <p:nvPr/>
        </p:nvPicPr>
        <p:blipFill>
          <a:blip r:embed="R9d85c46a6c37418e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0BD83129-09B4-43C9-8846-21FDA376E9CB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2교시   비교</a:t>
            </a:r>
          </a:p>
        </p:txBody>
      </p:sp>
      <p:sp>
        <p:nvSpPr>
          <p:cNvPr id="3" name="">
            <a:extLst>
              <a:ext uri="{FF2B5EF4-FFF2-40B4-BE49-F238E27FC236}">
                <ns3:creationId id="{2263171B-8FE0-4B56-ACE4-6D1CF0D60230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첫 버전의 포함·제외 범위</a:t>
            </a:r>
          </a:p>
        </p:txBody>
      </p:sp>
      <p:sp>
        <p:nvSpPr>
          <p:cNvPr id="4" name="">
            <a:extLst>
              <a:ext uri="{FF2B5EF4-FFF2-40B4-BE49-F238E27FC236}">
                <ns3:creationId id="{09901245-5939-4F5A-8265-734F4A9291BB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5AF943FF-A793-482D-8227-15EE2CC7310F}"/>
              </a:ext>
            </a:extLst>
          </p:cNvPr>
          <p:cNvSpPr>
            <a:spLocks noGrp="1"/>
          </p:cNvSpPr>
          <p:nvPr/>
        </p:nvSpPr>
        <p:spPr>
          <a:xfrm>
            <a:off x="685800" y="2009775"/>
            <a:ext cx="5048250" cy="4762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25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이번에 만들 기능</a:t>
            </a:r>
          </a:p>
        </p:txBody>
      </p:sp>
      <p:sp>
        <p:nvSpPr>
          <p:cNvPr id="6" name="">
            <a:extLst>
              <a:ext uri="{FF2B5EF4-FFF2-40B4-BE49-F238E27FC236}">
                <ns3:creationId id="{E6F46932-6E77-42BE-8FF0-11E18C8BF41F}"/>
              </a:ext>
            </a:extLst>
          </p:cNvPr>
          <p:cNvSpPr>
            <a:spLocks noGrp="1"/>
          </p:cNvSpPr>
          <p:nvPr/>
        </p:nvSpPr>
        <p:spPr>
          <a:xfrm>
            <a:off x="6448425" y="2009775"/>
            <a:ext cx="5048250" cy="4762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25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이번에 제외할 기능</a:t>
            </a:r>
          </a:p>
        </p:txBody>
      </p:sp>
      <p:sp>
        <p:nvSpPr>
          <p:cNvPr id="7" name="">
            <a:extLst>
              <a:ext uri="{FF2B5EF4-FFF2-40B4-BE49-F238E27FC236}">
                <ns3:creationId id="{B601D818-5818-4E63-A0C0-7BB394467AB2}"/>
              </a:ext>
            </a:extLst>
          </p:cNvPr>
          <p:cNvSpPr>
            <a:spLocks noGrp="1"/>
          </p:cNvSpPr>
          <p:nvPr/>
        </p:nvSpPr>
        <p:spPr>
          <a:xfrm>
            <a:off x="685800" y="2676525"/>
            <a:ext cx="5048250" cy="4286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25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CSV 읽기와 값 검사</a:t>
            </a:r>
          </a:p>
        </p:txBody>
      </p:sp>
      <p:sp>
        <p:nvSpPr>
          <p:cNvPr id="8" name="">
            <a:extLst>
              <a:ext uri="{FF2B5EF4-FFF2-40B4-BE49-F238E27FC236}">
                <ns3:creationId id="{05D82B13-78AD-4713-8E62-680EBA1C84D4}"/>
              </a:ext>
            </a:extLst>
          </p:cNvPr>
          <p:cNvSpPr>
            <a:spLocks noGrp="1"/>
          </p:cNvSpPr>
          <p:nvPr/>
        </p:nvSpPr>
        <p:spPr>
          <a:xfrm>
            <a:off x="685800" y="3171825"/>
            <a:ext cx="5048250" cy="4286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25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미확인 대여 목록</a:t>
            </a:r>
          </a:p>
        </p:txBody>
      </p:sp>
      <p:sp>
        <p:nvSpPr>
          <p:cNvPr id="9" name="">
            <a:extLst>
              <a:ext uri="{FF2B5EF4-FFF2-40B4-BE49-F238E27FC236}">
                <ns3:creationId id="{8175B72A-1B8E-4896-8830-D52894FBFED7}"/>
              </a:ext>
            </a:extLst>
          </p:cNvPr>
          <p:cNvSpPr>
            <a:spLocks noGrp="1"/>
          </p:cNvSpPr>
          <p:nvPr/>
        </p:nvSpPr>
        <p:spPr>
          <a:xfrm>
            <a:off x="685800" y="3667125"/>
            <a:ext cx="5048250" cy="4286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25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누락과 중복의 이유 표시</a:t>
            </a:r>
          </a:p>
        </p:txBody>
      </p:sp>
      <p:sp>
        <p:nvSpPr>
          <p:cNvPr id="10" name="">
            <a:extLst>
              <a:ext uri="{FF2B5EF4-FFF2-40B4-BE49-F238E27FC236}">
                <ns3:creationId id="{21C41CC9-F217-4A13-92CC-BE29842B3E1A}"/>
              </a:ext>
            </a:extLst>
          </p:cNvPr>
          <p:cNvSpPr>
            <a:spLocks noGrp="1"/>
          </p:cNvSpPr>
          <p:nvPr/>
        </p:nvSpPr>
        <p:spPr>
          <a:xfrm>
            <a:off x="6448425" y="2676525"/>
            <a:ext cx="5048250" cy="4286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25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실시간 카메라 인식</a:t>
            </a:r>
          </a:p>
        </p:txBody>
      </p:sp>
      <p:sp>
        <p:nvSpPr>
          <p:cNvPr id="11" name="">
            <a:extLst>
              <a:ext uri="{FF2B5EF4-FFF2-40B4-BE49-F238E27FC236}">
                <ns3:creationId id="{281176A7-55C6-4A63-9F9D-F99594C1115D}"/>
              </a:ext>
            </a:extLst>
          </p:cNvPr>
          <p:cNvSpPr>
            <a:spLocks noGrp="1"/>
          </p:cNvSpPr>
          <p:nvPr/>
        </p:nvSpPr>
        <p:spPr>
          <a:xfrm>
            <a:off x="6448425" y="3171825"/>
            <a:ext cx="5048250" cy="4286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25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자동 잠금장치 제어</a:t>
            </a:r>
          </a:p>
        </p:txBody>
      </p:sp>
      <p:sp>
        <p:nvSpPr>
          <p:cNvPr id="12" name="">
            <a:extLst>
              <a:ext uri="{FF2B5EF4-FFF2-40B4-BE49-F238E27FC236}">
                <ns3:creationId id="{71CD7ED9-E830-408E-8811-441FC26497E4}"/>
              </a:ext>
            </a:extLst>
          </p:cNvPr>
          <p:cNvSpPr>
            <a:spLocks noGrp="1"/>
          </p:cNvSpPr>
          <p:nvPr/>
        </p:nvSpPr>
        <p:spPr>
          <a:xfrm>
            <a:off x="6448425" y="3667125"/>
            <a:ext cx="5048250" cy="4286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25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외부 메시지 발송</a:t>
            </a:r>
          </a:p>
        </p:txBody>
      </p:sp>
      <p:sp>
        <p:nvSpPr>
          <p:cNvPr id="13" name="">
            <a:extLst>
              <a:ext uri="{FF2B5EF4-FFF2-40B4-BE49-F238E27FC236}">
                <ns3:creationId id="{33C4307A-1663-424E-B4EC-CEE2296EC721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10/30   프로젝트 기획</a:t>
            </a:r>
          </a:p>
        </p:txBody>
      </p:sp>
      <p:sp>
        <p:nvSpPr>
          <p:cNvPr id="14" name="">
            <a:extLst>
              <a:ext uri="{FF2B5EF4-FFF2-40B4-BE49-F238E27FC236}">
                <ns3:creationId id="{B562746B-D5E3-4693-AA2F-7FCD916A40C8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025</a:t>
            </a:r>
          </a:p>
        </p:txBody>
      </p:sp>
    </p:spTree>
    <p:extLst>
      <p:ext uri="{BB962C8B-B14F-4D97-AF65-F5344CB8AC3E}">
        <ns4:creationId val="551061788"/>
      </p:ext>
    </p:extLst>
  </p:cSld>
</p:sld>
</file>

<file path=ppt/slides/slide26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8" name=""/>
          <p:cNvPicPr>
            <a:picLocks noChangeAspect="1"/>
          </p:cNvPicPr>
          <p:nvPr/>
        </p:nvPicPr>
        <p:blipFill>
          <a:blip r:embed="R10676ae7573f412e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5A0639AE-0C64-42A2-9515-6E494A340634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2교시   자료 읽기</a:t>
            </a:r>
          </a:p>
        </p:txBody>
      </p:sp>
      <p:sp>
        <p:nvSpPr>
          <p:cNvPr id="3" name="">
            <a:extLst>
              <a:ext uri="{FF2B5EF4-FFF2-40B4-BE49-F238E27FC236}">
                <ns3:creationId id="{3479EB9E-F06E-47DB-B0A9-D5F06D144B47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관찰 가능한 요구 · R01~R04</a:t>
            </a:r>
          </a:p>
        </p:txBody>
      </p:sp>
      <p:sp>
        <p:nvSpPr>
          <p:cNvPr id="4" name="">
            <a:extLst>
              <a:ext uri="{FF2B5EF4-FFF2-40B4-BE49-F238E27FC236}">
                <ns3:creationId id="{3013530A-873A-4470-A959-70A3F6090FF8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graphicFrame>
        <p:nvGraphicFramePr>
          <p:cNvPr id="12" name=""/>
          <p:cNvGraphicFramePr/>
          <p:nvPr/>
        </p:nvGraphicFramePr>
        <p:xfrm>
          <a:off x="685800" y="1943100"/>
          <a:ext cx="10820400" cy="2707958"/>
        </p:xfrm>
        <a:graphic>
          <a:graphicData uri="http://schemas.openxmlformats.org/drawingml/2006/table">
            <a:tbl>
              <a:tblPr firstRow="1" bandRow="0"/>
              <a:tblGrid>
                <a:gridCol w="1829026"/>
                <a:gridCol w="4218611"/>
                <a:gridCol w="4772764"/>
              </a:tblGrid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ID</a:t>
                      </a:r>
                    </a:p>
                  </a:txBody>
                  <a:tcPr marL="142875" marR="142875" marT="85725" marB="85725" anchor="ctr">
                    <a:solidFill>
                      <a:srgbClr val="102733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시험에 쓸 입력·조건</a:t>
                      </a:r>
                    </a:p>
                  </a:txBody>
                  <a:tcPr marL="142875" marR="142875" marT="85725" marB="85725" anchor="ctr">
                    <a:solidFill>
                      <a:srgbClr val="102733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나와야 할 결과</a:t>
                      </a:r>
                    </a:p>
                  </a:txBody>
                  <a:tcPr marL="142875" marR="142875" marT="85725" marB="85725" anchor="ctr">
                    <a:solidFill>
                      <a:srgbClr val="102733"/>
                    </a:solidFill>
                  </a:tcPr>
                </a:tc>
              </a:tr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R01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정상 샘플 3건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대여 ID가 보이는 3행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</a:tr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R02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updated_at 빈칸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review와 누락 이유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</a:tr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R03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loan_id 중복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reject와 중복 이유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</a:tr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R04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파일 읽기 전후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원문 파일 바이트가 같음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</a:tr>
            </a:tbl>
          </a:graphicData>
        </a:graphic>
      </p:graphicFrame>
      <p:sp>
        <p:nvSpPr>
          <p:cNvPr id="6" name="">
            <a:extLst>
              <a:ext uri="{FF2B5EF4-FFF2-40B4-BE49-F238E27FC236}">
                <ns3:creationId id="{BF1EB36E-5C92-4300-9AF8-2AE8F103FA21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10/30   프로젝트 기획</a:t>
            </a:r>
          </a:p>
        </p:txBody>
      </p:sp>
      <p:sp>
        <p:nvSpPr>
          <p:cNvPr id="7" name="">
            <a:extLst>
              <a:ext uri="{FF2B5EF4-FFF2-40B4-BE49-F238E27FC236}">
                <ns3:creationId id="{53D6C498-7A2F-4499-91D9-ACED370CBF9A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026</a:t>
            </a:r>
          </a:p>
        </p:txBody>
      </p:sp>
    </p:spTree>
    <p:extLst>
      <p:ext uri="{BB962C8B-B14F-4D97-AF65-F5344CB8AC3E}">
        <ns4:creationId val="976798645"/>
      </p:ext>
    </p:extLst>
  </p:cSld>
</p:sld>
</file>

<file path=ppt/slides/slide27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102733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7" name=""/>
          <p:cNvPicPr>
            <a:picLocks noChangeAspect="1"/>
          </p:cNvPicPr>
          <p:nvPr/>
        </p:nvPicPr>
        <p:blipFill>
          <a:blip r:embed="R3c754a26daf24c39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3FCFA418-23BD-499C-A09B-E4B8327FC6FF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925050" cy="6858000"/>
          </a:xfrm>
          <a:prstGeom prst="rect">
            <a:avLst/>
          </a:prstGeom>
          <a:solidFill>
            <a:srgbClr val="102733"/>
          </a:solidFill>
          <a:ln w="0">
            <a:noFill/>
          </a:ln>
        </p:spPr>
      </p:sp>
      <p:sp>
        <p:nvSpPr>
          <p:cNvPr id="3" name="">
            <a:extLst>
              <a:ext uri="{FF2B5EF4-FFF2-40B4-BE49-F238E27FC236}">
                <ns3:creationId id="{3278BCB2-B82C-456C-A8AC-5AC15912B773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ABDDD0"/>
                </a:solidFill>
                <a:latin typeface="Noto Sans KR"/>
                <a:ea typeface="Noto Sans KR"/>
                <a:cs typeface="Noto Sans KR"/>
              </a:defRPr>
            </a:pPr>
            <a:r>
              <a:t>2교시   직접 해 보기</a:t>
            </a:r>
          </a:p>
        </p:txBody>
      </p:sp>
      <p:sp>
        <p:nvSpPr>
          <p:cNvPr id="4" name="">
            <a:extLst>
              <a:ext uri="{FF2B5EF4-FFF2-40B4-BE49-F238E27FC236}">
                <ns3:creationId id="{AF5707C6-1B0A-4320-ADEC-3DB242E343AB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요구 문장 작성</a:t>
            </a:r>
          </a:p>
        </p:txBody>
      </p:sp>
      <p:sp>
        <p:nvSpPr>
          <p:cNvPr id="5" name="">
            <a:extLst>
              <a:ext uri="{FF2B5EF4-FFF2-40B4-BE49-F238E27FC236}">
                <ns3:creationId id="{A813C97A-9D77-443C-9AEA-F1A7062B7E67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38505B"/>
          </a:solidFill>
          <a:ln w="0">
            <a:noFill/>
          </a:ln>
        </p:spPr>
      </p:sp>
      <p:sp>
        <p:nvSpPr>
          <p:cNvPr id="6" name="">
            <a:extLst>
              <a:ext uri="{FF2B5EF4-FFF2-40B4-BE49-F238E27FC236}">
                <ns3:creationId id="{71D55F9E-CDE0-45EA-93A1-BBC299CC6304}"/>
              </a:ext>
            </a:extLst>
          </p:cNvPr>
          <p:cNvSpPr>
            <a:spLocks noGrp="1"/>
          </p:cNvSpPr>
          <p:nvPr/>
        </p:nvSpPr>
        <p:spPr>
          <a:xfrm>
            <a:off x="685800" y="2085975"/>
            <a:ext cx="409575" cy="86106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01</a:t>
            </a:r>
          </a:p>
        </p:txBody>
      </p:sp>
      <p:sp>
        <p:nvSpPr>
          <p:cNvPr id="7" name="">
            <a:extLst>
              <a:ext uri="{FF2B5EF4-FFF2-40B4-BE49-F238E27FC236}">
                <ns3:creationId id="{806C1AA9-EEB4-465C-8F12-721428B84226}"/>
              </a:ext>
            </a:extLst>
          </p:cNvPr>
          <p:cNvSpPr>
            <a:spLocks noGrp="1"/>
          </p:cNvSpPr>
          <p:nvPr/>
        </p:nvSpPr>
        <p:spPr>
          <a:xfrm>
            <a:off x="1209675" y="2085975"/>
            <a:ext cx="8001000" cy="7943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“빠르고 편한 목록”을 입력과 기대 결과가 보이는 문장으로 바꿉니다.</a:t>
            </a:r>
          </a:p>
        </p:txBody>
      </p:sp>
      <p:sp>
        <p:nvSpPr>
          <p:cNvPr id="8" name="">
            <a:extLst>
              <a:ext uri="{FF2B5EF4-FFF2-40B4-BE49-F238E27FC236}">
                <ns3:creationId id="{A9B9C6DC-5310-444C-ABF3-7BD47836F2AA}"/>
              </a:ext>
            </a:extLst>
          </p:cNvPr>
          <p:cNvSpPr>
            <a:spLocks noGrp="1"/>
          </p:cNvSpPr>
          <p:nvPr/>
        </p:nvSpPr>
        <p:spPr>
          <a:xfrm>
            <a:off x="685800" y="2947035"/>
            <a:ext cx="409575" cy="50673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02</a:t>
            </a:r>
          </a:p>
        </p:txBody>
      </p:sp>
      <p:sp>
        <p:nvSpPr>
          <p:cNvPr id="9" name="">
            <a:extLst>
              <a:ext uri="{FF2B5EF4-FFF2-40B4-BE49-F238E27FC236}">
                <ns3:creationId id="{83D7FEC3-A0E7-4D44-AC14-EAFF9C071B8E}"/>
              </a:ext>
            </a:extLst>
          </p:cNvPr>
          <p:cNvSpPr>
            <a:spLocks noGrp="1"/>
          </p:cNvSpPr>
          <p:nvPr/>
        </p:nvSpPr>
        <p:spPr>
          <a:xfrm>
            <a:off x="1209675" y="2947035"/>
            <a:ext cx="80010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R02에 쓸 누락 입력과 화면에 표시할 이유를 정합니다.</a:t>
            </a:r>
          </a:p>
        </p:txBody>
      </p:sp>
      <p:sp>
        <p:nvSpPr>
          <p:cNvPr id="10" name="">
            <a:extLst>
              <a:ext uri="{FF2B5EF4-FFF2-40B4-BE49-F238E27FC236}">
                <ns3:creationId id="{1E23CFA4-E854-4580-B26A-BF4AB6582341}"/>
              </a:ext>
            </a:extLst>
          </p:cNvPr>
          <p:cNvSpPr>
            <a:spLocks noGrp="1"/>
          </p:cNvSpPr>
          <p:nvPr/>
        </p:nvSpPr>
        <p:spPr>
          <a:xfrm>
            <a:off x="685800" y="3453765"/>
            <a:ext cx="409575" cy="86106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03</a:t>
            </a:r>
          </a:p>
        </p:txBody>
      </p:sp>
      <p:sp>
        <p:nvSpPr>
          <p:cNvPr id="11" name="">
            <a:extLst>
              <a:ext uri="{FF2B5EF4-FFF2-40B4-BE49-F238E27FC236}">
                <ns3:creationId id="{1A6B1E8B-0BED-4260-9794-46F47FD7FD38}"/>
              </a:ext>
            </a:extLst>
          </p:cNvPr>
          <p:cNvSpPr>
            <a:spLocks noGrp="1"/>
          </p:cNvSpPr>
          <p:nvPr/>
        </p:nvSpPr>
        <p:spPr>
          <a:xfrm>
            <a:off x="1209675" y="3453765"/>
            <a:ext cx="8001000" cy="7943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카메라 추가 요청을 포함할지 미룰지, 데이터와 시험의 영향을 씁니다.</a:t>
            </a:r>
          </a:p>
        </p:txBody>
      </p:sp>
      <p:sp>
        <p:nvSpPr>
          <p:cNvPr id="12" name="">
            <a:extLst>
              <a:ext uri="{FF2B5EF4-FFF2-40B4-BE49-F238E27FC236}">
                <ns3:creationId id="{A0D51C27-2573-4D13-B5DA-D37E0F54933F}"/>
              </a:ext>
            </a:extLst>
          </p:cNvPr>
          <p:cNvSpPr>
            <a:spLocks noGrp="1"/>
          </p:cNvSpPr>
          <p:nvPr/>
        </p:nvSpPr>
        <p:spPr>
          <a:xfrm>
            <a:off x="685800" y="4314825"/>
            <a:ext cx="409575" cy="86106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04</a:t>
            </a:r>
          </a:p>
        </p:txBody>
      </p:sp>
      <p:sp>
        <p:nvSpPr>
          <p:cNvPr id="13" name="">
            <a:extLst>
              <a:ext uri="{FF2B5EF4-FFF2-40B4-BE49-F238E27FC236}">
                <ns3:creationId id="{F45FC55B-F14F-424C-970E-90015908B30B}"/>
              </a:ext>
            </a:extLst>
          </p:cNvPr>
          <p:cNvSpPr>
            <a:spLocks noGrp="1"/>
          </p:cNvSpPr>
          <p:nvPr/>
        </p:nvSpPr>
        <p:spPr>
          <a:xfrm>
            <a:off x="1209675" y="4314825"/>
            <a:ext cx="8001000" cy="7943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work에서 A05·A06으로 시작하는 .md 작성 파일에 포함·제외와 요구 ID를 남깁니다.</a:t>
            </a:r>
          </a:p>
        </p:txBody>
      </p:sp>
      <p:sp>
        <p:nvSpPr>
          <p:cNvPr id="14" name="">
            <a:extLst>
              <a:ext uri="{FF2B5EF4-FFF2-40B4-BE49-F238E27FC236}">
                <ns3:creationId id="{9FD566A9-B46E-475A-A726-1DDF3ED1C2CE}"/>
              </a:ext>
            </a:extLst>
          </p:cNvPr>
          <p:cNvSpPr>
            <a:spLocks noGrp="1"/>
          </p:cNvSpPr>
          <p:nvPr/>
        </p:nvSpPr>
        <p:spPr>
          <a:xfrm>
            <a:off x="685800" y="5915025"/>
            <a:ext cx="10382250" cy="4000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950" b="1">
                <a:solidFill>
                  <a:srgbClr val="ABDDD0"/>
                </a:solidFill>
                <a:latin typeface="Noto Sans KR"/>
                <a:ea typeface="Noto Sans KR"/>
                <a:cs typeface="Noto Sans KR"/>
              </a:defRPr>
            </a:pPr>
            <a:r>
              <a:t>범위·요구 작성 7분 · 다른 사람이 시험할 수 있는지 비교 5분</a:t>
            </a:r>
          </a:p>
        </p:txBody>
      </p:sp>
      <p:sp>
        <p:nvSpPr>
          <p:cNvPr id="15" name="">
            <a:extLst>
              <a:ext uri="{FF2B5EF4-FFF2-40B4-BE49-F238E27FC236}">
                <ns3:creationId id="{4F4F4E07-5551-4652-BE24-FFF15459B27B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B3C5CC"/>
                </a:solidFill>
                <a:latin typeface="Noto Sans KR"/>
                <a:ea typeface="Noto Sans KR"/>
                <a:cs typeface="Noto Sans KR"/>
              </a:defRPr>
            </a:pPr>
            <a:r>
              <a:t>10/30   프로젝트 기획</a:t>
            </a:r>
          </a:p>
        </p:txBody>
      </p:sp>
      <p:sp>
        <p:nvSpPr>
          <p:cNvPr id="16" name="">
            <a:extLst>
              <a:ext uri="{FF2B5EF4-FFF2-40B4-BE49-F238E27FC236}">
                <ns3:creationId id="{B4C5BCC3-AC5A-4F04-9664-FA126BD943A2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B3C5CC"/>
                </a:solidFill>
                <a:latin typeface="Consolas"/>
                <a:ea typeface="Consolas"/>
                <a:cs typeface="Consolas"/>
              </a:defRPr>
            </a:pPr>
            <a:r>
              <a:t>027</a:t>
            </a:r>
          </a:p>
        </p:txBody>
      </p:sp>
    </p:spTree>
    <p:extLst>
      <p:ext uri="{BB962C8B-B14F-4D97-AF65-F5344CB8AC3E}">
        <ns4:creationId val="1693096699"/>
      </p:ext>
    </p:extLst>
  </p:cSld>
</p:sld>
</file>

<file path=ppt/slides/slide28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1" name=""/>
          <p:cNvPicPr>
            <a:picLocks noChangeAspect="1"/>
          </p:cNvPicPr>
          <p:nvPr/>
        </p:nvPicPr>
        <p:blipFill>
          <a:blip r:embed="Rc1e17692892b40c1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BF122F78-334E-4D91-8346-13C6DA3FFAA3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2교시   풀이와 확인</a:t>
            </a:r>
          </a:p>
        </p:txBody>
      </p:sp>
      <p:sp>
        <p:nvSpPr>
          <p:cNvPr id="3" name="">
            <a:extLst>
              <a:ext uri="{FF2B5EF4-FFF2-40B4-BE49-F238E27FC236}">
                <ns3:creationId id="{1345705A-F658-496C-B4A2-2EBCC57D2C0A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범위와 요구 · 풀이</a:t>
            </a:r>
          </a:p>
        </p:txBody>
      </p:sp>
      <p:sp>
        <p:nvSpPr>
          <p:cNvPr id="4" name="">
            <a:extLst>
              <a:ext uri="{FF2B5EF4-FFF2-40B4-BE49-F238E27FC236}">
                <ns3:creationId id="{DEC0820F-4C43-4233-BB4F-4DD2DE6425CC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6B85D1BA-4BB1-46A3-B2AD-C7E113D44C27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“정상 CSV 3건을 읽으면 대여 ID가 보이는 3행을 표시한다”는 시험 가능합니다.</a:t>
            </a:r>
          </a:p>
        </p:txBody>
      </p:sp>
      <p:sp>
        <p:nvSpPr>
          <p:cNvPr id="6" name="">
            <a:extLst>
              <a:ext uri="{FF2B5EF4-FFF2-40B4-BE49-F238E27FC236}">
                <ns3:creationId id="{FE5C0BC6-3DF3-4CE4-B220-6DC732182F7B}"/>
              </a:ext>
            </a:extLst>
          </p:cNvPr>
          <p:cNvSpPr>
            <a:spLocks noGrp="1"/>
          </p:cNvSpPr>
          <p:nvPr/>
        </p:nvSpPr>
        <p:spPr>
          <a:xfrm>
            <a:off x="685800" y="2564130"/>
            <a:ext cx="10820400" cy="7943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“updated_at이 비어 있으면 review와 갱신 시각 누락 이유를 보인다”도 가능합니다.</a:t>
            </a:r>
          </a:p>
        </p:txBody>
      </p:sp>
      <p:sp>
        <p:nvSpPr>
          <p:cNvPr id="7" name="">
            <a:extLst>
              <a:ext uri="{FF2B5EF4-FFF2-40B4-BE49-F238E27FC236}">
                <ns3:creationId id="{BD8E050F-D656-4474-9B01-5CA9D8453E16}"/>
              </a:ext>
            </a:extLst>
          </p:cNvPr>
          <p:cNvSpPr>
            <a:spLocks noGrp="1"/>
          </p:cNvSpPr>
          <p:nvPr/>
        </p:nvSpPr>
        <p:spPr>
          <a:xfrm>
            <a:off x="685800" y="3425190"/>
            <a:ext cx="108204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카메라는 영상 입력·실물 조건·오류 처리·추가 시험이 필요합니다.</a:t>
            </a:r>
          </a:p>
        </p:txBody>
      </p:sp>
      <p:sp>
        <p:nvSpPr>
          <p:cNvPr id="8" name="">
            <a:extLst>
              <a:ext uri="{FF2B5EF4-FFF2-40B4-BE49-F238E27FC236}">
                <ns3:creationId id="{F035B0EF-C0E1-46E0-B3A5-7F27D01C0913}"/>
              </a:ext>
            </a:extLst>
          </p:cNvPr>
          <p:cNvSpPr>
            <a:spLocks noGrp="1"/>
          </p:cNvSpPr>
          <p:nvPr/>
        </p:nvSpPr>
        <p:spPr>
          <a:xfrm>
            <a:off x="685800" y="3931920"/>
            <a:ext cx="108204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첫 버전에서 보류하면 제외 범위와 보류 이유를 함께 남깁니다.</a:t>
            </a:r>
          </a:p>
        </p:txBody>
      </p:sp>
      <p:sp>
        <p:nvSpPr>
          <p:cNvPr id="9" name="">
            <a:extLst>
              <a:ext uri="{FF2B5EF4-FFF2-40B4-BE49-F238E27FC236}">
                <ns3:creationId id="{74A252DD-DC9E-4B06-B6DA-237D604D6241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10/30   프로젝트 기획</a:t>
            </a:r>
          </a:p>
        </p:txBody>
      </p:sp>
      <p:sp>
        <p:nvSpPr>
          <p:cNvPr id="10" name="">
            <a:extLst>
              <a:ext uri="{FF2B5EF4-FFF2-40B4-BE49-F238E27FC236}">
                <ns3:creationId id="{EDB1530A-6893-4DF6-BB66-8730B677C3E3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028</a:t>
            </a:r>
          </a:p>
        </p:txBody>
      </p:sp>
    </p:spTree>
    <p:extLst>
      <p:ext uri="{BB962C8B-B14F-4D97-AF65-F5344CB8AC3E}">
        <ns4:creationId val="796878818"/>
      </p:ext>
    </p:extLst>
  </p:cSld>
</p:sld>
</file>

<file path=ppt/slides/slide29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102733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9" name=""/>
          <p:cNvPicPr>
            <a:picLocks noChangeAspect="1"/>
          </p:cNvPicPr>
          <p:nvPr/>
        </p:nvPicPr>
        <p:blipFill>
          <a:blip r:embed="Rc1981033bcd841e7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90F9AC20-6D83-489C-BFBD-7DC047374066}"/>
              </a:ext>
            </a:extLst>
          </p:cNvPr>
          <p:cNvSpPr>
            <a:spLocks noGrp="1"/>
          </p:cNvSpPr>
          <p:nvPr/>
        </p:nvSpPr>
        <p:spPr>
          <a:xfrm>
            <a:off x="685800" y="685800"/>
            <a:ext cx="8572500" cy="4476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100" b="1">
                <a:solidFill>
                  <a:srgbClr val="ABDDD0"/>
                </a:solidFill>
                <a:latin typeface="Noto Sans KR"/>
                <a:ea typeface="Noto Sans KR"/>
                <a:cs typeface="Noto Sans KR"/>
              </a:defRPr>
            </a:pPr>
            <a:r>
              <a:t>03   교시</a:t>
            </a:r>
          </a:p>
        </p:txBody>
      </p:sp>
      <p:sp>
        <p:nvSpPr>
          <p:cNvPr id="3" name="">
            <a:extLst>
              <a:ext uri="{FF2B5EF4-FFF2-40B4-BE49-F238E27FC236}">
                <ns3:creationId id="{6AFD0BCE-DA15-4994-9824-B40CC1F82524}"/>
              </a:ext>
            </a:extLst>
          </p:cNvPr>
          <p:cNvSpPr>
            <a:spLocks noGrp="1"/>
          </p:cNvSpPr>
          <p:nvPr/>
        </p:nvSpPr>
        <p:spPr>
          <a:xfrm>
            <a:off x="685800" y="1638300"/>
            <a:ext cx="8524875" cy="16573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4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데이터·처리·화면</a:t>
            </a:r>
          </a:p>
        </p:txBody>
      </p:sp>
      <p:sp>
        <p:nvSpPr>
          <p:cNvPr id="4" name="">
            <a:extLst>
              <a:ext uri="{FF2B5EF4-FFF2-40B4-BE49-F238E27FC236}">
                <ns3:creationId id="{0B737DC0-E8AE-4220-B194-F6CE82D85F53}"/>
              </a:ext>
            </a:extLst>
          </p:cNvPr>
          <p:cNvSpPr>
            <a:spLocks noGrp="1"/>
          </p:cNvSpPr>
          <p:nvPr/>
        </p:nvSpPr>
        <p:spPr>
          <a:xfrm>
            <a:off x="685800" y="3724275"/>
            <a:ext cx="8001000" cy="4286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250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13:00~13:50 · 50분</a:t>
            </a:r>
          </a:p>
        </p:txBody>
      </p:sp>
      <p:sp>
        <p:nvSpPr>
          <p:cNvPr id="5" name="">
            <a:extLst>
              <a:ext uri="{FF2B5EF4-FFF2-40B4-BE49-F238E27FC236}">
                <ns3:creationId id="{272566C2-FBF9-459A-944F-6FE4BFA0783C}"/>
              </a:ext>
            </a:extLst>
          </p:cNvPr>
          <p:cNvSpPr>
            <a:spLocks noGrp="1"/>
          </p:cNvSpPr>
          <p:nvPr/>
        </p:nvSpPr>
        <p:spPr>
          <a:xfrm>
            <a:off x="685800" y="4219575"/>
            <a:ext cx="8001000" cy="4286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250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A07~A09</a:t>
            </a:r>
          </a:p>
        </p:txBody>
      </p:sp>
      <p:sp>
        <p:nvSpPr>
          <p:cNvPr id="6" name="">
            <a:extLst>
              <a:ext uri="{FF2B5EF4-FFF2-40B4-BE49-F238E27FC236}">
                <ns3:creationId id="{BB14F380-0E04-4959-B5E1-76F7BDF3D45C}"/>
              </a:ext>
            </a:extLst>
          </p:cNvPr>
          <p:cNvSpPr>
            <a:spLocks noGrp="1"/>
          </p:cNvSpPr>
          <p:nvPr/>
        </p:nvSpPr>
        <p:spPr>
          <a:xfrm>
            <a:off x="685800" y="4714875"/>
            <a:ext cx="8001000" cy="4286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250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완성할 것: 데이터 규칙과 세 상태 화면</a:t>
            </a:r>
          </a:p>
        </p:txBody>
      </p:sp>
      <p:sp>
        <p:nvSpPr>
          <p:cNvPr id="7" name="">
            <a:extLst>
              <a:ext uri="{FF2B5EF4-FFF2-40B4-BE49-F238E27FC236}">
                <ns3:creationId id="{486E9A7F-F17B-4FEF-B125-713822D95A6F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B3C5CC"/>
                </a:solidFill>
                <a:latin typeface="Noto Sans KR"/>
                <a:ea typeface="Noto Sans KR"/>
                <a:cs typeface="Noto Sans KR"/>
              </a:defRPr>
            </a:pPr>
            <a:r>
              <a:t>10/30   프로젝트 기획</a:t>
            </a:r>
          </a:p>
        </p:txBody>
      </p:sp>
      <p:sp>
        <p:nvSpPr>
          <p:cNvPr id="8" name="">
            <a:extLst>
              <a:ext uri="{FF2B5EF4-FFF2-40B4-BE49-F238E27FC236}">
                <ns3:creationId id="{480D1483-EF8F-4F31-BA3F-A4E7BD003C83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B3C5CC"/>
                </a:solidFill>
                <a:latin typeface="Consolas"/>
                <a:ea typeface="Consolas"/>
                <a:cs typeface="Consolas"/>
              </a:defRPr>
            </a:pPr>
            <a:r>
              <a:t>029</a:t>
            </a:r>
          </a:p>
        </p:txBody>
      </p:sp>
    </p:spTree>
    <p:extLst>
      <p:ext uri="{BB962C8B-B14F-4D97-AF65-F5344CB8AC3E}">
        <ns4:creationId val="1840418635"/>
      </p:ext>
    </p:extLst>
  </p:cSld>
</p:sld>
</file>

<file path=ppt/slides/slide30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9" name=""/>
          <p:cNvPicPr>
            <a:picLocks noChangeAspect="1"/>
          </p:cNvPicPr>
          <p:nvPr/>
        </p:nvPicPr>
        <p:blipFill>
          <a:blip r:embed="R367324af81684ea8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933155A7-A144-4CF3-B58C-003629282133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3교시   자료 읽기</a:t>
            </a:r>
          </a:p>
        </p:txBody>
      </p:sp>
      <p:sp>
        <p:nvSpPr>
          <p:cNvPr id="3" name="">
            <a:extLst>
              <a:ext uri="{FF2B5EF4-FFF2-40B4-BE49-F238E27FC236}">
                <ns3:creationId id="{CDE9CF57-2B3E-40B0-BA68-B13BCBDE87EA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실제 제공된 가상 대여 기록</a:t>
            </a:r>
          </a:p>
        </p:txBody>
      </p:sp>
      <p:sp>
        <p:nvSpPr>
          <p:cNvPr id="4" name="">
            <a:extLst>
              <a:ext uri="{FF2B5EF4-FFF2-40B4-BE49-F238E27FC236}">
                <ns3:creationId id="{9DD605C8-A0A9-453D-AA01-FE46D6BB273A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graphicFrame>
        <p:nvGraphicFramePr>
          <p:cNvPr id="13" name=""/>
          <p:cNvGraphicFramePr/>
          <p:nvPr/>
        </p:nvGraphicFramePr>
        <p:xfrm>
          <a:off x="685800" y="1943100"/>
          <a:ext cx="10820400" cy="2166366"/>
        </p:xfrm>
        <a:graphic>
          <a:graphicData uri="http://schemas.openxmlformats.org/drawingml/2006/table">
            <a:tbl>
              <a:tblPr firstRow="1" bandRow="0"/>
              <a:tblGrid>
                <a:gridCol w="2311786"/>
                <a:gridCol w="2311786"/>
                <a:gridCol w="3186851"/>
                <a:gridCol w="3009976"/>
              </a:tblGrid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loan_id</a:t>
                      </a:r>
                    </a:p>
                  </a:txBody>
                  <a:tcPr marL="142875" marR="142875" marT="85725" marB="85725" anchor="ctr">
                    <a:solidFill>
                      <a:srgbClr val="102733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item_id</a:t>
                      </a:r>
                    </a:p>
                  </a:txBody>
                  <a:tcPr marL="142875" marR="142875" marT="85725" marB="85725" anchor="ctr">
                    <a:solidFill>
                      <a:srgbClr val="102733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status</a:t>
                      </a:r>
                    </a:p>
                  </a:txBody>
                  <a:tcPr marL="142875" marR="142875" marT="85725" marB="85725" anchor="ctr">
                    <a:solidFill>
                      <a:srgbClr val="102733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updated_at</a:t>
                      </a:r>
                    </a:p>
                  </a:txBody>
                  <a:tcPr marL="142875" marR="142875" marT="85725" marB="85725" anchor="ctr">
                    <a:solidFill>
                      <a:srgbClr val="102733"/>
                    </a:solidFill>
                  </a:tcPr>
                </a:tc>
              </a:tr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L001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I01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returned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10:00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</a:tr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L002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I02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checked_out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10:05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</a:tr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L003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I03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unknown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10:10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">
            <a:extLst>
              <a:ext uri="{FF2B5EF4-FFF2-40B4-BE49-F238E27FC236}">
                <ns3:creationId id="{BC5E4BE4-5F0B-4158-AFF0-DE91DE77B3EC}"/>
              </a:ext>
            </a:extLst>
          </p:cNvPr>
          <p:cNvSpPr>
            <a:spLocks noGrp="1"/>
          </p:cNvSpPr>
          <p:nvPr/>
        </p:nvSpPr>
        <p:spPr>
          <a:xfrm>
            <a:off x="685800" y="4261866"/>
            <a:ext cx="10820400" cy="4762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75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data/loans_sample.csv · 날짜는 2026-10-30 · 화면 표에서는 시각만 표시했습니다.</a:t>
            </a:r>
          </a:p>
        </p:txBody>
      </p:sp>
      <p:sp>
        <p:nvSpPr>
          <p:cNvPr id="7" name="">
            <a:extLst>
              <a:ext uri="{FF2B5EF4-FFF2-40B4-BE49-F238E27FC236}">
                <ns3:creationId id="{A355E571-2D4C-4C23-9AA3-EB63F7C35756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10/30   프로젝트 기획</a:t>
            </a:r>
          </a:p>
        </p:txBody>
      </p:sp>
      <p:sp>
        <p:nvSpPr>
          <p:cNvPr id="8" name="">
            <a:extLst>
              <a:ext uri="{FF2B5EF4-FFF2-40B4-BE49-F238E27FC236}">
                <ns3:creationId id="{52A5DAC8-B948-4C99-8F87-657B16921F37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030</a:t>
            </a:r>
          </a:p>
        </p:txBody>
      </p:sp>
    </p:spTree>
    <p:extLst>
      <p:ext uri="{BB962C8B-B14F-4D97-AF65-F5344CB8AC3E}">
        <ns4:creationId val="679766740"/>
      </p:ext>
    </p:extLst>
  </p:cSld>
</p:sld>
</file>

<file path=ppt/slides/slide31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3" name=""/>
          <p:cNvPicPr>
            <a:picLocks noChangeAspect="1"/>
          </p:cNvPicPr>
          <p:nvPr/>
        </p:nvPicPr>
        <p:blipFill>
          <a:blip r:embed="Rffbeabfc2955455d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E856C5D1-7F18-4E26-BCA9-00D3E3C2141A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3교시   비교</a:t>
            </a:r>
          </a:p>
        </p:txBody>
      </p:sp>
      <p:sp>
        <p:nvSpPr>
          <p:cNvPr id="3" name="">
            <a:extLst>
              <a:ext uri="{FF2B5EF4-FFF2-40B4-BE49-F238E27FC236}">
                <ns3:creationId id="{70537043-BDF1-4BC2-800D-71538C47495B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대여 ID와 물품 ID</a:t>
            </a:r>
          </a:p>
        </p:txBody>
      </p:sp>
      <p:sp>
        <p:nvSpPr>
          <p:cNvPr id="4" name="">
            <a:extLst>
              <a:ext uri="{FF2B5EF4-FFF2-40B4-BE49-F238E27FC236}">
                <ns3:creationId id="{2AACC013-E988-4B4B-A38E-AB6AF484BF9E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E3226B7D-18B3-4F90-80DD-A9C23F22E121}"/>
              </a:ext>
            </a:extLst>
          </p:cNvPr>
          <p:cNvSpPr>
            <a:spLocks noGrp="1"/>
          </p:cNvSpPr>
          <p:nvPr/>
        </p:nvSpPr>
        <p:spPr>
          <a:xfrm>
            <a:off x="685800" y="2009775"/>
            <a:ext cx="5048250" cy="4762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25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loan_id</a:t>
            </a:r>
          </a:p>
        </p:txBody>
      </p:sp>
      <p:sp>
        <p:nvSpPr>
          <p:cNvPr id="6" name="">
            <a:extLst>
              <a:ext uri="{FF2B5EF4-FFF2-40B4-BE49-F238E27FC236}">
                <ns3:creationId id="{DA399913-1AB5-444A-A71F-4219C1920C45}"/>
              </a:ext>
            </a:extLst>
          </p:cNvPr>
          <p:cNvSpPr>
            <a:spLocks noGrp="1"/>
          </p:cNvSpPr>
          <p:nvPr/>
        </p:nvSpPr>
        <p:spPr>
          <a:xfrm>
            <a:off x="6448425" y="2009775"/>
            <a:ext cx="5048250" cy="4762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25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item_id</a:t>
            </a:r>
          </a:p>
        </p:txBody>
      </p:sp>
      <p:sp>
        <p:nvSpPr>
          <p:cNvPr id="7" name="">
            <a:extLst>
              <a:ext uri="{FF2B5EF4-FFF2-40B4-BE49-F238E27FC236}">
                <ns3:creationId id="{D1A10904-3D3F-4432-AE3A-73D6E07B0AE4}"/>
              </a:ext>
            </a:extLst>
          </p:cNvPr>
          <p:cNvSpPr>
            <a:spLocks noGrp="1"/>
          </p:cNvSpPr>
          <p:nvPr/>
        </p:nvSpPr>
        <p:spPr>
          <a:xfrm>
            <a:off x="685800" y="2676525"/>
            <a:ext cx="5048250" cy="4286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25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대여 한 건을 구별하는 키입니다.</a:t>
            </a:r>
          </a:p>
        </p:txBody>
      </p:sp>
      <p:sp>
        <p:nvSpPr>
          <p:cNvPr id="8" name="">
            <a:extLst>
              <a:ext uri="{FF2B5EF4-FFF2-40B4-BE49-F238E27FC236}">
                <ns3:creationId id="{2AD22025-345A-41A1-9D1C-4A726EC7287F}"/>
              </a:ext>
            </a:extLst>
          </p:cNvPr>
          <p:cNvSpPr>
            <a:spLocks noGrp="1"/>
          </p:cNvSpPr>
          <p:nvPr/>
        </p:nvSpPr>
        <p:spPr>
          <a:xfrm>
            <a:off x="685800" y="3171825"/>
            <a:ext cx="5048250" cy="7715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25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한 파일에서 같은 대여 ID가 두 번 나오면 충돌입니다.</a:t>
            </a:r>
          </a:p>
        </p:txBody>
      </p:sp>
      <p:sp>
        <p:nvSpPr>
          <p:cNvPr id="9" name="">
            <a:extLst>
              <a:ext uri="{FF2B5EF4-FFF2-40B4-BE49-F238E27FC236}">
                <ns3:creationId id="{0D0FF229-397D-4747-A131-AAFD5F1A5F5E}"/>
              </a:ext>
            </a:extLst>
          </p:cNvPr>
          <p:cNvSpPr>
            <a:spLocks noGrp="1"/>
          </p:cNvSpPr>
          <p:nvPr/>
        </p:nvSpPr>
        <p:spPr>
          <a:xfrm>
            <a:off x="6448425" y="2676525"/>
            <a:ext cx="5048250" cy="4286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25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물품을 구별하는 식별자입니다.</a:t>
            </a:r>
          </a:p>
        </p:txBody>
      </p:sp>
      <p:sp>
        <p:nvSpPr>
          <p:cNvPr id="10" name="">
            <a:extLst>
              <a:ext uri="{FF2B5EF4-FFF2-40B4-BE49-F238E27FC236}">
                <ns3:creationId id="{EF5DEE98-B1B7-4C06-9D2C-E115A220FC8E}"/>
              </a:ext>
            </a:extLst>
          </p:cNvPr>
          <p:cNvSpPr>
            <a:spLocks noGrp="1"/>
          </p:cNvSpPr>
          <p:nvPr/>
        </p:nvSpPr>
        <p:spPr>
          <a:xfrm>
            <a:off x="6448425" y="3171825"/>
            <a:ext cx="5048250" cy="11144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25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같은 물품을 여러 번 대여하면 다른 loan_id에 같은 item_id가 나올 수 있습니다.</a:t>
            </a:r>
          </a:p>
        </p:txBody>
      </p:sp>
      <p:sp>
        <p:nvSpPr>
          <p:cNvPr id="11" name="">
            <a:extLst>
              <a:ext uri="{FF2B5EF4-FFF2-40B4-BE49-F238E27FC236}">
                <ns3:creationId id="{B5302660-99E6-4565-9862-0E03140E2CC6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10/30   프로젝트 기획</a:t>
            </a:r>
          </a:p>
        </p:txBody>
      </p:sp>
      <p:sp>
        <p:nvSpPr>
          <p:cNvPr id="12" name="">
            <a:extLst>
              <a:ext uri="{FF2B5EF4-FFF2-40B4-BE49-F238E27FC236}">
                <ns3:creationId id="{284B44B9-F5EC-4178-9B7E-B21E6CA8E72B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031</a:t>
            </a:r>
          </a:p>
        </p:txBody>
      </p:sp>
    </p:spTree>
    <p:extLst>
      <p:ext uri="{BB962C8B-B14F-4D97-AF65-F5344CB8AC3E}">
        <ns4:creationId val="356531360"/>
      </p:ext>
    </p:extLst>
  </p:cSld>
</p:sld>
</file>

<file path=ppt/slides/slide32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8" name=""/>
          <p:cNvPicPr>
            <a:picLocks noChangeAspect="1"/>
          </p:cNvPicPr>
          <p:nvPr/>
        </p:nvPicPr>
        <p:blipFill>
          <a:blip r:embed="R64c130271d9b4447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B3BFC9A8-1745-4C4A-9F27-59370D5D66E9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3교시   자료 읽기</a:t>
            </a:r>
          </a:p>
        </p:txBody>
      </p:sp>
      <p:sp>
        <p:nvSpPr>
          <p:cNvPr id="3" name="">
            <a:extLst>
              <a:ext uri="{FF2B5EF4-FFF2-40B4-BE49-F238E27FC236}">
                <ns3:creationId id="{B0E20EED-F25F-4746-AEC3-D451F599367F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데이터 규칙 · 완성 예</a:t>
            </a:r>
          </a:p>
        </p:txBody>
      </p:sp>
      <p:sp>
        <p:nvSpPr>
          <p:cNvPr id="4" name="">
            <a:extLst>
              <a:ext uri="{FF2B5EF4-FFF2-40B4-BE49-F238E27FC236}">
                <ns3:creationId id="{CAC3E26D-3C97-401F-9FF8-263943F3E956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graphicFrame>
        <p:nvGraphicFramePr>
          <p:cNvPr id="12" name=""/>
          <p:cNvGraphicFramePr/>
          <p:nvPr/>
        </p:nvGraphicFramePr>
        <p:xfrm>
          <a:off x="685800" y="1943100"/>
          <a:ext cx="10820400" cy="2707958"/>
        </p:xfrm>
        <a:graphic>
          <a:graphicData uri="http://schemas.openxmlformats.org/drawingml/2006/table">
            <a:tbl>
              <a:tblPr firstRow="1" bandRow="0"/>
              <a:tblGrid>
                <a:gridCol w="2483622"/>
                <a:gridCol w="3226149"/>
                <a:gridCol w="5110629"/>
              </a:tblGrid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항목</a:t>
                      </a:r>
                    </a:p>
                  </a:txBody>
                  <a:tcPr marL="142875" marR="142875" marT="85725" marB="85725" anchor="ctr">
                    <a:solidFill>
                      <a:srgbClr val="102733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뜻</a:t>
                      </a:r>
                    </a:p>
                  </a:txBody>
                  <a:tcPr marL="142875" marR="142875" marT="85725" marB="85725" anchor="ctr">
                    <a:solidFill>
                      <a:srgbClr val="102733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검사할 규칙</a:t>
                      </a:r>
                    </a:p>
                  </a:txBody>
                  <a:tcPr marL="142875" marR="142875" marT="85725" marB="85725" anchor="ctr">
                    <a:solidFill>
                      <a:srgbClr val="102733"/>
                    </a:solidFill>
                  </a:tcPr>
                </a:tc>
              </a:tr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loan_id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대여 기록의 식별자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빈칸·중복 금지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</a:tr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item_id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물품의 식별자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빈칸 금지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</a:tr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status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기록된 대여 상태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checked_out·returned·unknown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</a:tr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updated_at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기록 갱신 시각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누락이면 검토 필요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</a:tr>
            </a:tbl>
          </a:graphicData>
        </a:graphic>
      </p:graphicFrame>
      <p:sp>
        <p:nvSpPr>
          <p:cNvPr id="6" name="">
            <a:extLst>
              <a:ext uri="{FF2B5EF4-FFF2-40B4-BE49-F238E27FC236}">
                <ns3:creationId id="{B9B06F6C-1C62-484A-B5BC-9421F78AA120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10/30   프로젝트 기획</a:t>
            </a:r>
          </a:p>
        </p:txBody>
      </p:sp>
      <p:sp>
        <p:nvSpPr>
          <p:cNvPr id="7" name="">
            <a:extLst>
              <a:ext uri="{FF2B5EF4-FFF2-40B4-BE49-F238E27FC236}">
                <ns3:creationId id="{80247A7F-ACE5-4D97-A123-8A788548F0DD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032</a:t>
            </a:r>
          </a:p>
        </p:txBody>
      </p:sp>
    </p:spTree>
    <p:extLst>
      <p:ext uri="{BB962C8B-B14F-4D97-AF65-F5344CB8AC3E}">
        <ns4:creationId val="145724266"/>
      </p:ext>
    </p:extLst>
  </p:cSld>
</p:sld>
</file>

<file path=ppt/slides/slide33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2" name=""/>
          <p:cNvPicPr>
            <a:picLocks noChangeAspect="1"/>
          </p:cNvPicPr>
          <p:nvPr/>
        </p:nvPicPr>
        <p:blipFill>
          <a:blip r:embed="Rf5eab6137f2e48b0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D38FBE6E-7151-42ED-8EFA-5F7407ED85BB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3교시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D93D9104-9960-4304-9EEF-C7391B091159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기록된 상태와 처리 결과</a:t>
            </a:r>
          </a:p>
        </p:txBody>
      </p:sp>
      <p:sp>
        <p:nvSpPr>
          <p:cNvPr id="4" name="">
            <a:extLst>
              <a:ext uri="{FF2B5EF4-FFF2-40B4-BE49-F238E27FC236}">
                <ns3:creationId id="{70F4020A-41C9-4ACA-8BC5-FFACB70B513B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951CDBF1-A55A-4036-A02C-879E021B8F10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status의 returned는 원문에 기록된 반납 상태입니다.</a:t>
            </a:r>
          </a:p>
        </p:txBody>
      </p:sp>
      <p:sp>
        <p:nvSpPr>
          <p:cNvPr id="6" name="">
            <a:extLst>
              <a:ext uri="{FF2B5EF4-FFF2-40B4-BE49-F238E27FC236}">
                <ns3:creationId id="{3B53AF0B-9AE0-40DE-BCCF-8C739BF93EF4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review는 기록을 더 확인해야 한다는 처리 결과입니다.</a:t>
            </a:r>
          </a:p>
        </p:txBody>
      </p:sp>
      <p:sp>
        <p:nvSpPr>
          <p:cNvPr id="7" name="">
            <a:extLst>
              <a:ext uri="{FF2B5EF4-FFF2-40B4-BE49-F238E27FC236}">
                <ns3:creationId id="{55EA78A9-DB18-4DE8-9A0C-3222AFE188C9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reject는 규칙을 위반한 파일을 거절한다는 처리 결과입니다.</a:t>
            </a:r>
          </a:p>
        </p:txBody>
      </p:sp>
      <p:sp>
        <p:nvSpPr>
          <p:cNvPr id="8" name="">
            <a:extLst>
              <a:ext uri="{FF2B5EF4-FFF2-40B4-BE49-F238E27FC236}">
                <ns3:creationId id="{BE017BE3-949F-49C5-8C66-F43908217DD1}"/>
              </a:ext>
            </a:extLst>
          </p:cNvPr>
          <p:cNvSpPr>
            <a:spLocks noGrp="1"/>
          </p:cNvSpPr>
          <p:nvPr/>
        </p:nvSpPr>
        <p:spPr>
          <a:xfrm>
            <a:off x="685800" y="361188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updated_at이 비었다고 지금 시각을 새로 넣으면 원래 기록을 왜곡합니다.</a:t>
            </a:r>
          </a:p>
        </p:txBody>
      </p:sp>
      <p:sp>
        <p:nvSpPr>
          <p:cNvPr id="9" name="">
            <a:extLst>
              <a:ext uri="{FF2B5EF4-FFF2-40B4-BE49-F238E27FC236}">
                <ns3:creationId id="{3A50B67C-D61C-43C7-BA02-2E8BE29BEAC9}"/>
              </a:ext>
            </a:extLst>
          </p:cNvPr>
          <p:cNvSpPr>
            <a:spLocks noGrp="1"/>
          </p:cNvSpPr>
          <p:nvPr/>
        </p:nvSpPr>
        <p:spPr>
          <a:xfrm>
            <a:off x="685800" y="413004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갱신 시각만 보고 실제 반납 시각이나 반납 여부를 추측하지 않습니다.</a:t>
            </a:r>
          </a:p>
        </p:txBody>
      </p:sp>
      <p:sp>
        <p:nvSpPr>
          <p:cNvPr id="10" name="">
            <a:extLst>
              <a:ext uri="{FF2B5EF4-FFF2-40B4-BE49-F238E27FC236}">
                <ns3:creationId id="{9D57F04B-6C08-44D1-B3F3-61E63A1A8DFD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10/30   프로젝트 기획</a:t>
            </a:r>
          </a:p>
        </p:txBody>
      </p:sp>
      <p:sp>
        <p:nvSpPr>
          <p:cNvPr id="11" name="">
            <a:extLst>
              <a:ext uri="{FF2B5EF4-FFF2-40B4-BE49-F238E27FC236}">
                <ns3:creationId id="{D0342A42-DFC0-4C7A-8559-4FDBF9AEAD4D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033</a:t>
            </a:r>
          </a:p>
        </p:txBody>
      </p:sp>
    </p:spTree>
    <p:extLst>
      <p:ext uri="{BB962C8B-B14F-4D97-AF65-F5344CB8AC3E}">
        <ns4:creationId val="1691540721"/>
      </p:ext>
    </p:extLst>
  </p:cSld>
</p:sld>
</file>

<file path=ppt/slides/slide34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9" name=""/>
          <p:cNvPicPr>
            <a:picLocks noChangeAspect="1"/>
          </p:cNvPicPr>
          <p:nvPr/>
        </p:nvPicPr>
        <p:blipFill>
          <a:blip r:embed="R0a64109467d7449f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BCDDFE6B-1630-4BB3-A4A0-CA17DA8BF87F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3교시   자료 읽기</a:t>
            </a:r>
          </a:p>
        </p:txBody>
      </p:sp>
      <p:sp>
        <p:nvSpPr>
          <p:cNvPr id="3" name="">
            <a:extLst>
              <a:ext uri="{FF2B5EF4-FFF2-40B4-BE49-F238E27FC236}">
                <ns3:creationId id="{1BCE3260-0CB2-416D-AE91-51FBE086C6DC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입력·처리·출력의 연결</a:t>
            </a:r>
          </a:p>
        </p:txBody>
      </p:sp>
      <p:sp>
        <p:nvSpPr>
          <p:cNvPr id="4" name="">
            <a:extLst>
              <a:ext uri="{FF2B5EF4-FFF2-40B4-BE49-F238E27FC236}">
                <ns3:creationId id="{5011553C-F796-4918-ADC0-7AA05358B5E6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graphicFrame>
        <p:nvGraphicFramePr>
          <p:cNvPr id="13" name=""/>
          <p:cNvGraphicFramePr/>
          <p:nvPr/>
        </p:nvGraphicFramePr>
        <p:xfrm>
          <a:off x="685800" y="1943100"/>
          <a:ext cx="10820400" cy="2166366"/>
        </p:xfrm>
        <a:graphic>
          <a:graphicData uri="http://schemas.openxmlformats.org/drawingml/2006/table">
            <a:tbl>
              <a:tblPr firstRow="1" bandRow="0"/>
              <a:tblGrid>
                <a:gridCol w="1757509"/>
                <a:gridCol w="4610533"/>
                <a:gridCol w="4452357"/>
              </a:tblGrid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순서</a:t>
                      </a:r>
                    </a:p>
                  </a:txBody>
                  <a:tcPr marL="142875" marR="142875" marT="85725" marB="85725" anchor="ctr">
                    <a:solidFill>
                      <a:srgbClr val="102733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하는 일</a:t>
                      </a:r>
                    </a:p>
                  </a:txBody>
                  <a:tcPr marL="142875" marR="142875" marT="85725" marB="85725" anchor="ctr">
                    <a:solidFill>
                      <a:srgbClr val="102733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실패하면 보여 줄 내용</a:t>
                      </a:r>
                    </a:p>
                  </a:txBody>
                  <a:tcPr marL="142875" marR="142875" marT="85725" marB="85725" anchor="ctr">
                    <a:solidFill>
                      <a:srgbClr val="102733"/>
                    </a:solidFill>
                  </a:tcPr>
                </a:tc>
              </a:tr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CSV를 표로 읽기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읽기 실패와 원문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</a:tr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키·허용값·누락 검사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중복 거절 또는 검토 이유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</a:tr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정상·검토·실패 화면 표시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현재 처리 상태와 이유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">
            <a:extLst>
              <a:ext uri="{FF2B5EF4-FFF2-40B4-BE49-F238E27FC236}">
                <ns3:creationId id="{242A70AA-34CE-4381-BDA6-0070DD72DCA2}"/>
              </a:ext>
            </a:extLst>
          </p:cNvPr>
          <p:cNvSpPr>
            <a:spLocks noGrp="1"/>
          </p:cNvSpPr>
          <p:nvPr/>
        </p:nvSpPr>
        <p:spPr>
          <a:xfrm>
            <a:off x="685800" y="4261866"/>
            <a:ext cx="10820400" cy="4762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75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값이 규칙에 맞는지 검사하는 일과 CSV 형식을 읽는 일은 서로 다릅니다.</a:t>
            </a:r>
          </a:p>
        </p:txBody>
      </p:sp>
      <p:sp>
        <p:nvSpPr>
          <p:cNvPr id="7" name="">
            <a:extLst>
              <a:ext uri="{FF2B5EF4-FFF2-40B4-BE49-F238E27FC236}">
                <ns3:creationId id="{D25B8401-7EC7-41AF-B877-EE9DF48E8815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10/30   프로젝트 기획</a:t>
            </a:r>
          </a:p>
        </p:txBody>
      </p:sp>
      <p:sp>
        <p:nvSpPr>
          <p:cNvPr id="8" name="">
            <a:extLst>
              <a:ext uri="{FF2B5EF4-FFF2-40B4-BE49-F238E27FC236}">
                <ns3:creationId id="{D1B5E874-8E75-4BD2-8D6D-29563DB9FBBD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034</a:t>
            </a:r>
          </a:p>
        </p:txBody>
      </p:sp>
    </p:spTree>
    <p:extLst>
      <p:ext uri="{BB962C8B-B14F-4D97-AF65-F5344CB8AC3E}">
        <ns4:creationId val="39816156"/>
      </p:ext>
    </p:extLst>
  </p:cSld>
</p:sld>
</file>

<file path=ppt/slides/slide35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8" name=""/>
          <p:cNvPicPr>
            <a:picLocks noChangeAspect="1"/>
          </p:cNvPicPr>
          <p:nvPr/>
        </p:nvPicPr>
        <p:blipFill>
          <a:blip r:embed="R114bcefca1524e2f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914ED6C1-B149-4D63-A43C-7A217BEB207F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3교시   자료 읽기</a:t>
            </a:r>
          </a:p>
        </p:txBody>
      </p:sp>
      <p:sp>
        <p:nvSpPr>
          <p:cNvPr id="3" name="">
            <a:extLst>
              <a:ext uri="{FF2B5EF4-FFF2-40B4-BE49-F238E27FC236}">
                <ns3:creationId id="{3EE7ADAC-820B-4FB1-AE99-5FC0B83A808F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정상·검토·실패 화면</a:t>
            </a:r>
          </a:p>
        </p:txBody>
      </p:sp>
      <p:sp>
        <p:nvSpPr>
          <p:cNvPr id="4" name="">
            <a:extLst>
              <a:ext uri="{FF2B5EF4-FFF2-40B4-BE49-F238E27FC236}">
                <ns3:creationId id="{A837D30A-90C6-4284-B4E0-465300C016FA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graphicFrame>
        <p:nvGraphicFramePr>
          <p:cNvPr id="12" name=""/>
          <p:cNvGraphicFramePr/>
          <p:nvPr/>
        </p:nvGraphicFramePr>
        <p:xfrm>
          <a:off x="685800" y="1943100"/>
          <a:ext cx="10820400" cy="2707958"/>
        </p:xfrm>
        <a:graphic>
          <a:graphicData uri="http://schemas.openxmlformats.org/drawingml/2006/table">
            <a:tbl>
              <a:tblPr firstRow="1" bandRow="0"/>
              <a:tblGrid>
                <a:gridCol w="3496837"/>
                <a:gridCol w="4585474"/>
                <a:gridCol w="2738089"/>
              </a:tblGrid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입력 조건</a:t>
                      </a:r>
                    </a:p>
                  </a:txBody>
                  <a:tcPr marL="142875" marR="142875" marT="85725" marB="85725" anchor="ctr">
                    <a:solidFill>
                      <a:srgbClr val="102733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보여 줄 결과</a:t>
                      </a:r>
                    </a:p>
                  </a:txBody>
                  <a:tcPr marL="142875" marR="142875" marT="85725" marB="85725" anchor="ctr">
                    <a:solidFill>
                      <a:srgbClr val="102733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원문 처리</a:t>
                      </a:r>
                    </a:p>
                  </a:txBody>
                  <a:tcPr marL="142875" marR="142875" marT="85725" marB="85725" anchor="ctr">
                    <a:solidFill>
                      <a:srgbClr val="102733"/>
                    </a:solidFill>
                  </a:tcPr>
                </a:tc>
              </a:tr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정상 3건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대여 ID와 상태의 3행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보존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</a:tr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갱신 시각 없음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review와 누락 이유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보존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</a:tr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대여 키 중복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reject와 중복 이유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보존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</a:tr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CSV 형식 오류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읽기 실패와 오류 이유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보존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</a:tr>
            </a:tbl>
          </a:graphicData>
        </a:graphic>
      </p:graphicFrame>
      <p:sp>
        <p:nvSpPr>
          <p:cNvPr id="6" name="">
            <a:extLst>
              <a:ext uri="{FF2B5EF4-FFF2-40B4-BE49-F238E27FC236}">
                <ns3:creationId id="{AC141D22-C590-44A2-B50B-41651A8F45B0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10/30   프로젝트 기획</a:t>
            </a:r>
          </a:p>
        </p:txBody>
      </p:sp>
      <p:sp>
        <p:nvSpPr>
          <p:cNvPr id="7" name="">
            <a:extLst>
              <a:ext uri="{FF2B5EF4-FFF2-40B4-BE49-F238E27FC236}">
                <ns3:creationId id="{E4C4A750-545B-433C-B868-2EA5DA15469B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035</a:t>
            </a:r>
          </a:p>
        </p:txBody>
      </p:sp>
    </p:spTree>
    <p:extLst>
      <p:ext uri="{BB962C8B-B14F-4D97-AF65-F5344CB8AC3E}">
        <ns4:creationId val="997253307"/>
      </p:ext>
    </p:extLst>
  </p:cSld>
</p:sld>
</file>

<file path=ppt/slides/slide36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102733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7" name=""/>
          <p:cNvPicPr>
            <a:picLocks noChangeAspect="1"/>
          </p:cNvPicPr>
          <p:nvPr/>
        </p:nvPicPr>
        <p:blipFill>
          <a:blip r:embed="R1d74d6cad3784bbb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86348FC7-BBB0-44E3-929E-9A1722973F8D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925050" cy="6858000"/>
          </a:xfrm>
          <a:prstGeom prst="rect">
            <a:avLst/>
          </a:prstGeom>
          <a:solidFill>
            <a:srgbClr val="102733"/>
          </a:solidFill>
          <a:ln w="0">
            <a:noFill/>
          </a:ln>
        </p:spPr>
      </p:sp>
      <p:sp>
        <p:nvSpPr>
          <p:cNvPr id="3" name="">
            <a:extLst>
              <a:ext uri="{FF2B5EF4-FFF2-40B4-BE49-F238E27FC236}">
                <ns3:creationId id="{176A5928-4CDA-4609-80E6-FE38CF494798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ABDDD0"/>
                </a:solidFill>
                <a:latin typeface="Noto Sans KR"/>
                <a:ea typeface="Noto Sans KR"/>
                <a:cs typeface="Noto Sans KR"/>
              </a:defRPr>
            </a:pPr>
            <a:r>
              <a:t>3교시   직접 해 보기</a:t>
            </a:r>
          </a:p>
        </p:txBody>
      </p:sp>
      <p:sp>
        <p:nvSpPr>
          <p:cNvPr id="4" name="">
            <a:extLst>
              <a:ext uri="{FF2B5EF4-FFF2-40B4-BE49-F238E27FC236}">
                <ns3:creationId id="{205A6EFA-E996-47F6-8DD1-05ABAB002698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키 충돌과 누락 처리</a:t>
            </a:r>
          </a:p>
        </p:txBody>
      </p:sp>
      <p:sp>
        <p:nvSpPr>
          <p:cNvPr id="5" name="">
            <a:extLst>
              <a:ext uri="{FF2B5EF4-FFF2-40B4-BE49-F238E27FC236}">
                <ns3:creationId id="{1C521B70-0DFA-4F0E-A986-AFD25A9A5389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38505B"/>
          </a:solidFill>
          <a:ln w="0">
            <a:noFill/>
          </a:ln>
        </p:spPr>
      </p:sp>
      <p:sp>
        <p:nvSpPr>
          <p:cNvPr id="6" name="">
            <a:extLst>
              <a:ext uri="{FF2B5EF4-FFF2-40B4-BE49-F238E27FC236}">
                <ns3:creationId id="{6720FA87-4265-40DB-A87C-6F3A596FCBAF}"/>
              </a:ext>
            </a:extLst>
          </p:cNvPr>
          <p:cNvSpPr>
            <a:spLocks noGrp="1"/>
          </p:cNvSpPr>
          <p:nvPr/>
        </p:nvSpPr>
        <p:spPr>
          <a:xfrm>
            <a:off x="685800" y="2085975"/>
            <a:ext cx="409575" cy="86106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01</a:t>
            </a:r>
          </a:p>
        </p:txBody>
      </p:sp>
      <p:sp>
        <p:nvSpPr>
          <p:cNvPr id="7" name="">
            <a:extLst>
              <a:ext uri="{FF2B5EF4-FFF2-40B4-BE49-F238E27FC236}">
                <ns3:creationId id="{7757A7D0-A63B-45CF-A7B8-523F883204B9}"/>
              </a:ext>
            </a:extLst>
          </p:cNvPr>
          <p:cNvSpPr>
            <a:spLocks noGrp="1"/>
          </p:cNvSpPr>
          <p:nvPr/>
        </p:nvSpPr>
        <p:spPr>
          <a:xfrm>
            <a:off x="1209675" y="2085975"/>
            <a:ext cx="8001000" cy="7943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L10/I02, L11/I02, L10/I03의 세 기록에서 충돌한 두 행을 찾습니다.</a:t>
            </a:r>
          </a:p>
        </p:txBody>
      </p:sp>
      <p:sp>
        <p:nvSpPr>
          <p:cNvPr id="8" name="">
            <a:extLst>
              <a:ext uri="{FF2B5EF4-FFF2-40B4-BE49-F238E27FC236}">
                <ns3:creationId id="{9D9F685F-909D-4C16-93F2-A68611B5168A}"/>
              </a:ext>
            </a:extLst>
          </p:cNvPr>
          <p:cNvSpPr>
            <a:spLocks noGrp="1"/>
          </p:cNvSpPr>
          <p:nvPr/>
        </p:nvSpPr>
        <p:spPr>
          <a:xfrm>
            <a:off x="685800" y="2947035"/>
            <a:ext cx="409575" cy="50673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02</a:t>
            </a:r>
          </a:p>
        </p:txBody>
      </p:sp>
      <p:sp>
        <p:nvSpPr>
          <p:cNvPr id="9" name="">
            <a:extLst>
              <a:ext uri="{FF2B5EF4-FFF2-40B4-BE49-F238E27FC236}">
                <ns3:creationId id="{F554790F-F85C-4A64-80FE-871859089A5C}"/>
              </a:ext>
            </a:extLst>
          </p:cNvPr>
          <p:cNvSpPr>
            <a:spLocks noGrp="1"/>
          </p:cNvSpPr>
          <p:nvPr/>
        </p:nvSpPr>
        <p:spPr>
          <a:xfrm>
            <a:off x="1209675" y="2947035"/>
            <a:ext cx="80010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두 번째 행의 item_id=I02를 이유로 거절할지 설명합니다.</a:t>
            </a:r>
          </a:p>
        </p:txBody>
      </p:sp>
      <p:sp>
        <p:nvSpPr>
          <p:cNvPr id="10" name="">
            <a:extLst>
              <a:ext uri="{FF2B5EF4-FFF2-40B4-BE49-F238E27FC236}">
                <ns3:creationId id="{0C6CD5BA-0D22-44EE-87A5-FA7AE2E87B54}"/>
              </a:ext>
            </a:extLst>
          </p:cNvPr>
          <p:cNvSpPr>
            <a:spLocks noGrp="1"/>
          </p:cNvSpPr>
          <p:nvPr/>
        </p:nvSpPr>
        <p:spPr>
          <a:xfrm>
            <a:off x="685800" y="3453765"/>
            <a:ext cx="409575" cy="86106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03</a:t>
            </a:r>
          </a:p>
        </p:txBody>
      </p:sp>
      <p:sp>
        <p:nvSpPr>
          <p:cNvPr id="11" name="">
            <a:extLst>
              <a:ext uri="{FF2B5EF4-FFF2-40B4-BE49-F238E27FC236}">
                <ns3:creationId id="{5CFF7AE2-CB8A-41E6-B695-4DFDADD168F2}"/>
              </a:ext>
            </a:extLst>
          </p:cNvPr>
          <p:cNvSpPr>
            <a:spLocks noGrp="1"/>
          </p:cNvSpPr>
          <p:nvPr/>
        </p:nvSpPr>
        <p:spPr>
          <a:xfrm>
            <a:off x="1209675" y="3453765"/>
            <a:ext cx="8001000" cy="7943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updated_at이 빈 기록은 status와 화면 표시를 어떻게 할지 씁니다.</a:t>
            </a:r>
          </a:p>
        </p:txBody>
      </p:sp>
      <p:sp>
        <p:nvSpPr>
          <p:cNvPr id="12" name="">
            <a:extLst>
              <a:ext uri="{FF2B5EF4-FFF2-40B4-BE49-F238E27FC236}">
                <ns3:creationId id="{20502D3A-3E89-4FF1-9E97-1960B5265E49}"/>
              </a:ext>
            </a:extLst>
          </p:cNvPr>
          <p:cNvSpPr>
            <a:spLocks noGrp="1"/>
          </p:cNvSpPr>
          <p:nvPr/>
        </p:nvSpPr>
        <p:spPr>
          <a:xfrm>
            <a:off x="685800" y="4314825"/>
            <a:ext cx="409575" cy="86106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04</a:t>
            </a:r>
          </a:p>
        </p:txBody>
      </p:sp>
      <p:sp>
        <p:nvSpPr>
          <p:cNvPr id="13" name="">
            <a:extLst>
              <a:ext uri="{FF2B5EF4-FFF2-40B4-BE49-F238E27FC236}">
                <ns3:creationId id="{028D7393-C71B-4BD4-A97E-4638B0B49DB7}"/>
              </a:ext>
            </a:extLst>
          </p:cNvPr>
          <p:cNvSpPr>
            <a:spLocks noGrp="1"/>
          </p:cNvSpPr>
          <p:nvPr/>
        </p:nvSpPr>
        <p:spPr>
          <a:xfrm>
            <a:off x="1209675" y="4314825"/>
            <a:ext cx="8001000" cy="7943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work에서 A07·A08으로 시작하는 .md 작성 파일에 정상·검토·실패 조건을 적습니다.</a:t>
            </a:r>
          </a:p>
        </p:txBody>
      </p:sp>
      <p:sp>
        <p:nvSpPr>
          <p:cNvPr id="14" name="">
            <a:extLst>
              <a:ext uri="{FF2B5EF4-FFF2-40B4-BE49-F238E27FC236}">
                <ns3:creationId id="{F10EC24A-DE72-4DC2-A16B-4EED262BA27F}"/>
              </a:ext>
            </a:extLst>
          </p:cNvPr>
          <p:cNvSpPr>
            <a:spLocks noGrp="1"/>
          </p:cNvSpPr>
          <p:nvPr/>
        </p:nvSpPr>
        <p:spPr>
          <a:xfrm>
            <a:off x="685800" y="5915025"/>
            <a:ext cx="10382250" cy="4000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950" b="1">
                <a:solidFill>
                  <a:srgbClr val="ABDDD0"/>
                </a:solidFill>
                <a:latin typeface="Noto Sans KR"/>
                <a:ea typeface="Noto Sans KR"/>
                <a:cs typeface="Noto Sans KR"/>
              </a:defRPr>
            </a:pPr>
            <a:r>
              <a:t>개인 판정 6분 · 처리 이유 비교 4분</a:t>
            </a:r>
          </a:p>
        </p:txBody>
      </p:sp>
      <p:sp>
        <p:nvSpPr>
          <p:cNvPr id="15" name="">
            <a:extLst>
              <a:ext uri="{FF2B5EF4-FFF2-40B4-BE49-F238E27FC236}">
                <ns3:creationId id="{50B8084D-23FB-4CF3-B916-ACF27B612EEE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B3C5CC"/>
                </a:solidFill>
                <a:latin typeface="Noto Sans KR"/>
                <a:ea typeface="Noto Sans KR"/>
                <a:cs typeface="Noto Sans KR"/>
              </a:defRPr>
            </a:pPr>
            <a:r>
              <a:t>10/30   프로젝트 기획</a:t>
            </a:r>
          </a:p>
        </p:txBody>
      </p:sp>
      <p:sp>
        <p:nvSpPr>
          <p:cNvPr id="16" name="">
            <a:extLst>
              <a:ext uri="{FF2B5EF4-FFF2-40B4-BE49-F238E27FC236}">
                <ns3:creationId id="{C207E03B-343A-4298-8A3E-5E77B850EF02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B3C5CC"/>
                </a:solidFill>
                <a:latin typeface="Consolas"/>
                <a:ea typeface="Consolas"/>
                <a:cs typeface="Consolas"/>
              </a:defRPr>
            </a:pPr>
            <a:r>
              <a:t>036</a:t>
            </a:r>
          </a:p>
        </p:txBody>
      </p:sp>
    </p:spTree>
    <p:extLst>
      <p:ext uri="{BB962C8B-B14F-4D97-AF65-F5344CB8AC3E}">
        <ns4:creationId val="1318683374"/>
      </p:ext>
    </p:extLst>
  </p:cSld>
</p:sld>
</file>

<file path=ppt/slides/slide37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2" name=""/>
          <p:cNvPicPr>
            <a:picLocks noChangeAspect="1"/>
          </p:cNvPicPr>
          <p:nvPr/>
        </p:nvPicPr>
        <p:blipFill>
          <a:blip r:embed="R08adcc69a03d4675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A3F1868D-82DA-4717-86AA-A561D9232A3C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3교시   풀이와 확인</a:t>
            </a:r>
          </a:p>
        </p:txBody>
      </p:sp>
      <p:sp>
        <p:nvSpPr>
          <p:cNvPr id="3" name="">
            <a:extLst>
              <a:ext uri="{FF2B5EF4-FFF2-40B4-BE49-F238E27FC236}">
                <ns3:creationId id="{F5FDF9E0-6706-4BB5-A09A-9800681DD9A3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키 충돌과 누락 · 풀이</a:t>
            </a:r>
          </a:p>
        </p:txBody>
      </p:sp>
      <p:sp>
        <p:nvSpPr>
          <p:cNvPr id="4" name="">
            <a:extLst>
              <a:ext uri="{FF2B5EF4-FFF2-40B4-BE49-F238E27FC236}">
                <ns3:creationId id="{FE4BB665-3E70-451E-988E-20C44D95A1BC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4D753D87-E80F-4DDA-8247-F4C54BEC4AD4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첫째와 셋째 행의 loan_id=L10이 중복입니다.</a:t>
            </a:r>
          </a:p>
        </p:txBody>
      </p:sp>
      <p:sp>
        <p:nvSpPr>
          <p:cNvPr id="6" name="">
            <a:extLst>
              <a:ext uri="{FF2B5EF4-FFF2-40B4-BE49-F238E27FC236}">
                <ns3:creationId id="{D04C9FD1-A6F3-4999-90F1-B8C4AAECF6CF}"/>
              </a:ext>
            </a:extLst>
          </p:cNvPr>
          <p:cNvSpPr>
            <a:spLocks noGrp="1"/>
          </p:cNvSpPr>
          <p:nvPr/>
        </p:nvSpPr>
        <p:spPr>
          <a:xfrm>
            <a:off x="685800" y="2564130"/>
            <a:ext cx="108204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첫째와 둘째의 같은 물품 I02는 별도 대여 기록일 수 있습니다.</a:t>
            </a:r>
          </a:p>
        </p:txBody>
      </p:sp>
      <p:sp>
        <p:nvSpPr>
          <p:cNvPr id="7" name="">
            <a:extLst>
              <a:ext uri="{FF2B5EF4-FFF2-40B4-BE49-F238E27FC236}">
                <ns3:creationId id="{B70E8BB5-8D77-4E8B-8604-7704D1D6C759}"/>
              </a:ext>
            </a:extLst>
          </p:cNvPr>
          <p:cNvSpPr>
            <a:spLocks noGrp="1"/>
          </p:cNvSpPr>
          <p:nvPr/>
        </p:nvSpPr>
        <p:spPr>
          <a:xfrm>
            <a:off x="685800" y="3070860"/>
            <a:ext cx="108204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누락된 갱신 시각은 그대로 두고 review와 누락 이유를 표시합니다.</a:t>
            </a:r>
          </a:p>
        </p:txBody>
      </p:sp>
      <p:sp>
        <p:nvSpPr>
          <p:cNvPr id="8" name="">
            <a:extLst>
              <a:ext uri="{FF2B5EF4-FFF2-40B4-BE49-F238E27FC236}">
                <ns3:creationId id="{9C4536FA-23A6-4882-93B5-C16282E25FA4}"/>
              </a:ext>
            </a:extLst>
          </p:cNvPr>
          <p:cNvSpPr>
            <a:spLocks noGrp="1"/>
          </p:cNvSpPr>
          <p:nvPr/>
        </p:nvSpPr>
        <p:spPr>
          <a:xfrm>
            <a:off x="685800" y="3577590"/>
            <a:ext cx="108204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원문 status를 returned로 바꾸거나 현재 시각을 자동으로 넣지 않습니다.</a:t>
            </a:r>
          </a:p>
        </p:txBody>
      </p:sp>
      <p:sp>
        <p:nvSpPr>
          <p:cNvPr id="9" name="">
            <a:extLst>
              <a:ext uri="{FF2B5EF4-FFF2-40B4-BE49-F238E27FC236}">
                <ns3:creationId id="{8541E07F-10CA-4412-A49B-C935AADBE922}"/>
              </a:ext>
            </a:extLst>
          </p:cNvPr>
          <p:cNvSpPr>
            <a:spLocks noGrp="1"/>
          </p:cNvSpPr>
          <p:nvPr/>
        </p:nvSpPr>
        <p:spPr>
          <a:xfrm>
            <a:off x="685800" y="4084320"/>
            <a:ext cx="108204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키를 물품 ID로 잘못 정하면 정상적인 반복 대여를 오류로 처리할 수 있습니다.</a:t>
            </a:r>
          </a:p>
        </p:txBody>
      </p:sp>
      <p:sp>
        <p:nvSpPr>
          <p:cNvPr id="10" name="">
            <a:extLst>
              <a:ext uri="{FF2B5EF4-FFF2-40B4-BE49-F238E27FC236}">
                <ns3:creationId id="{00FC985A-25E9-4574-AE10-30563E77E345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10/30   프로젝트 기획</a:t>
            </a:r>
          </a:p>
        </p:txBody>
      </p:sp>
      <p:sp>
        <p:nvSpPr>
          <p:cNvPr id="11" name="">
            <a:extLst>
              <a:ext uri="{FF2B5EF4-FFF2-40B4-BE49-F238E27FC236}">
                <ns3:creationId id="{30F3D768-85BE-42A6-8B09-BFFB59974BB1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037</a:t>
            </a:r>
          </a:p>
        </p:txBody>
      </p:sp>
    </p:spTree>
    <p:extLst>
      <p:ext uri="{BB962C8B-B14F-4D97-AF65-F5344CB8AC3E}">
        <ns4:creationId val="274740682"/>
      </p:ext>
    </p:extLst>
  </p:cSld>
</p:sld>
</file>

<file path=ppt/slides/slide38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102733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7" name=""/>
          <p:cNvPicPr>
            <a:picLocks noChangeAspect="1"/>
          </p:cNvPicPr>
          <p:nvPr/>
        </p:nvPicPr>
        <p:blipFill>
          <a:blip r:embed="Radd8edae6c1a4e03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2AE96F6D-B266-45C1-91BB-A3AF495D4B7B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925050" cy="6858000"/>
          </a:xfrm>
          <a:prstGeom prst="rect">
            <a:avLst/>
          </a:prstGeom>
          <a:solidFill>
            <a:srgbClr val="102733"/>
          </a:solidFill>
          <a:ln w="0">
            <a:noFill/>
          </a:ln>
        </p:spPr>
      </p:sp>
      <p:sp>
        <p:nvSpPr>
          <p:cNvPr id="3" name="">
            <a:extLst>
              <a:ext uri="{FF2B5EF4-FFF2-40B4-BE49-F238E27FC236}">
                <ns3:creationId id="{D07420CF-CD2C-45C2-B106-09EB9D56DF38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ABDDD0"/>
                </a:solidFill>
                <a:latin typeface="Noto Sans KR"/>
                <a:ea typeface="Noto Sans KR"/>
                <a:cs typeface="Noto Sans KR"/>
              </a:defRPr>
            </a:pPr>
            <a:r>
              <a:t>3교시   직접 해 보기</a:t>
            </a:r>
          </a:p>
        </p:txBody>
      </p:sp>
      <p:sp>
        <p:nvSpPr>
          <p:cNvPr id="4" name="">
            <a:extLst>
              <a:ext uri="{FF2B5EF4-FFF2-40B4-BE49-F238E27FC236}">
                <ns3:creationId id="{7B7314BC-3BC3-425B-A791-045AA4253E5B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세 상태 화면의 종이 시안</a:t>
            </a:r>
          </a:p>
        </p:txBody>
      </p:sp>
      <p:sp>
        <p:nvSpPr>
          <p:cNvPr id="5" name="">
            <a:extLst>
              <a:ext uri="{FF2B5EF4-FFF2-40B4-BE49-F238E27FC236}">
                <ns3:creationId id="{C77E79D5-644A-462C-9E84-7DEB7CC7FC2C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38505B"/>
          </a:solidFill>
          <a:ln w="0">
            <a:noFill/>
          </a:ln>
        </p:spPr>
      </p:sp>
      <p:sp>
        <p:nvSpPr>
          <p:cNvPr id="6" name="">
            <a:extLst>
              <a:ext uri="{FF2B5EF4-FFF2-40B4-BE49-F238E27FC236}">
                <ns3:creationId id="{0CE5CDFB-F1AC-4690-B1AC-7D029B52F2BA}"/>
              </a:ext>
            </a:extLst>
          </p:cNvPr>
          <p:cNvSpPr>
            <a:spLocks noGrp="1"/>
          </p:cNvSpPr>
          <p:nvPr/>
        </p:nvSpPr>
        <p:spPr>
          <a:xfrm>
            <a:off x="685800" y="2085975"/>
            <a:ext cx="409575" cy="50673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01</a:t>
            </a:r>
          </a:p>
        </p:txBody>
      </p:sp>
      <p:sp>
        <p:nvSpPr>
          <p:cNvPr id="7" name="">
            <a:extLst>
              <a:ext uri="{FF2B5EF4-FFF2-40B4-BE49-F238E27FC236}">
                <ns3:creationId id="{61CC1975-1634-45C0-9169-8964D1873B46}"/>
              </a:ext>
            </a:extLst>
          </p:cNvPr>
          <p:cNvSpPr>
            <a:spLocks noGrp="1"/>
          </p:cNvSpPr>
          <p:nvPr/>
        </p:nvSpPr>
        <p:spPr>
          <a:xfrm>
            <a:off x="1209675" y="2085975"/>
            <a:ext cx="80010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종이를 정상·검토·실패의 세 화면으로 나눕니다.</a:t>
            </a:r>
          </a:p>
        </p:txBody>
      </p:sp>
      <p:sp>
        <p:nvSpPr>
          <p:cNvPr id="8" name="">
            <a:extLst>
              <a:ext uri="{FF2B5EF4-FFF2-40B4-BE49-F238E27FC236}">
                <ns3:creationId id="{933E0D38-6B02-40E1-9160-DBA4B3259D55}"/>
              </a:ext>
            </a:extLst>
          </p:cNvPr>
          <p:cNvSpPr>
            <a:spLocks noGrp="1"/>
          </p:cNvSpPr>
          <p:nvPr/>
        </p:nvSpPr>
        <p:spPr>
          <a:xfrm>
            <a:off x="685800" y="2592705"/>
            <a:ext cx="409575" cy="50673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02</a:t>
            </a:r>
          </a:p>
        </p:txBody>
      </p:sp>
      <p:sp>
        <p:nvSpPr>
          <p:cNvPr id="9" name="">
            <a:extLst>
              <a:ext uri="{FF2B5EF4-FFF2-40B4-BE49-F238E27FC236}">
                <ns3:creationId id="{8E3FF9F7-B821-4F70-B2CD-6717AFE12DC8}"/>
              </a:ext>
            </a:extLst>
          </p:cNvPr>
          <p:cNvSpPr>
            <a:spLocks noGrp="1"/>
          </p:cNvSpPr>
          <p:nvPr/>
        </p:nvSpPr>
        <p:spPr>
          <a:xfrm>
            <a:off x="1209675" y="2592705"/>
            <a:ext cx="80010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정상 화면에 대여 ID·물품 ID·원문 상태를 배치합니다.</a:t>
            </a:r>
          </a:p>
        </p:txBody>
      </p:sp>
      <p:sp>
        <p:nvSpPr>
          <p:cNvPr id="10" name="">
            <a:extLst>
              <a:ext uri="{FF2B5EF4-FFF2-40B4-BE49-F238E27FC236}">
                <ns3:creationId id="{E9F4B649-E27F-4917-9622-1A505598715D}"/>
              </a:ext>
            </a:extLst>
          </p:cNvPr>
          <p:cNvSpPr>
            <a:spLocks noGrp="1"/>
          </p:cNvSpPr>
          <p:nvPr/>
        </p:nvSpPr>
        <p:spPr>
          <a:xfrm>
            <a:off x="685800" y="3099435"/>
            <a:ext cx="409575" cy="86106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03</a:t>
            </a:r>
          </a:p>
        </p:txBody>
      </p:sp>
      <p:sp>
        <p:nvSpPr>
          <p:cNvPr id="11" name="">
            <a:extLst>
              <a:ext uri="{FF2B5EF4-FFF2-40B4-BE49-F238E27FC236}">
                <ns3:creationId id="{2D15A326-5B07-4C79-9F9B-75DC10DDF338}"/>
              </a:ext>
            </a:extLst>
          </p:cNvPr>
          <p:cNvSpPr>
            <a:spLocks noGrp="1"/>
          </p:cNvSpPr>
          <p:nvPr/>
        </p:nvSpPr>
        <p:spPr>
          <a:xfrm>
            <a:off x="1209675" y="3099435"/>
            <a:ext cx="8001000" cy="7943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검토 화면에는 원문과 누락 이유, 실패 화면에는 중복 이유를 씁니다.</a:t>
            </a:r>
          </a:p>
        </p:txBody>
      </p:sp>
      <p:sp>
        <p:nvSpPr>
          <p:cNvPr id="12" name="">
            <a:extLst>
              <a:ext uri="{FF2B5EF4-FFF2-40B4-BE49-F238E27FC236}">
                <ns3:creationId id="{54134C81-8181-4946-A457-F508A04693E6}"/>
              </a:ext>
            </a:extLst>
          </p:cNvPr>
          <p:cNvSpPr>
            <a:spLocks noGrp="1"/>
          </p:cNvSpPr>
          <p:nvPr/>
        </p:nvSpPr>
        <p:spPr>
          <a:xfrm>
            <a:off x="685800" y="3960495"/>
            <a:ext cx="409575" cy="86106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04</a:t>
            </a:r>
          </a:p>
        </p:txBody>
      </p:sp>
      <p:sp>
        <p:nvSpPr>
          <p:cNvPr id="13" name="">
            <a:extLst>
              <a:ext uri="{FF2B5EF4-FFF2-40B4-BE49-F238E27FC236}">
                <ns3:creationId id="{71091791-58FB-4D5D-BD2A-8D814C4A766D}"/>
              </a:ext>
            </a:extLst>
          </p:cNvPr>
          <p:cNvSpPr>
            <a:spLocks noGrp="1"/>
          </p:cNvSpPr>
          <p:nvPr/>
        </p:nvSpPr>
        <p:spPr>
          <a:xfrm>
            <a:off x="1209675" y="3960495"/>
            <a:ext cx="8001000" cy="7943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화면에 표시할 값이 실제 CSV 필드에서 나온 것인지 확인합니다.</a:t>
            </a:r>
          </a:p>
        </p:txBody>
      </p:sp>
      <p:sp>
        <p:nvSpPr>
          <p:cNvPr id="14" name="">
            <a:extLst>
              <a:ext uri="{FF2B5EF4-FFF2-40B4-BE49-F238E27FC236}">
                <ns3:creationId id="{660ACC6E-A9E7-4418-9900-3BA95173CF8A}"/>
              </a:ext>
            </a:extLst>
          </p:cNvPr>
          <p:cNvSpPr>
            <a:spLocks noGrp="1"/>
          </p:cNvSpPr>
          <p:nvPr/>
        </p:nvSpPr>
        <p:spPr>
          <a:xfrm>
            <a:off x="685800" y="5915025"/>
            <a:ext cx="10382250" cy="4000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950" b="1">
                <a:solidFill>
                  <a:srgbClr val="ABDDD0"/>
                </a:solidFill>
                <a:latin typeface="Noto Sans KR"/>
                <a:ea typeface="Noto Sans KR"/>
                <a:cs typeface="Noto Sans KR"/>
              </a:defRPr>
            </a:pPr>
            <a:r>
              <a:t>화면 작성 8분 · 다른 사람이 결과와 이유를 찾는지 확인 4분</a:t>
            </a:r>
          </a:p>
        </p:txBody>
      </p:sp>
      <p:sp>
        <p:nvSpPr>
          <p:cNvPr id="15" name="">
            <a:extLst>
              <a:ext uri="{FF2B5EF4-FFF2-40B4-BE49-F238E27FC236}">
                <ns3:creationId id="{9B2BEB00-8295-4144-B531-92F1552E6885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B3C5CC"/>
                </a:solidFill>
                <a:latin typeface="Noto Sans KR"/>
                <a:ea typeface="Noto Sans KR"/>
                <a:cs typeface="Noto Sans KR"/>
              </a:defRPr>
            </a:pPr>
            <a:r>
              <a:t>10/30   프로젝트 기획</a:t>
            </a:r>
          </a:p>
        </p:txBody>
      </p:sp>
      <p:sp>
        <p:nvSpPr>
          <p:cNvPr id="16" name="">
            <a:extLst>
              <a:ext uri="{FF2B5EF4-FFF2-40B4-BE49-F238E27FC236}">
                <ns3:creationId id="{8C3D3B00-6D35-4FC4-8913-52F8D52F2A76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B3C5CC"/>
                </a:solidFill>
                <a:latin typeface="Consolas"/>
                <a:ea typeface="Consolas"/>
                <a:cs typeface="Consolas"/>
              </a:defRPr>
            </a:pPr>
            <a:r>
              <a:t>038</a:t>
            </a:r>
          </a:p>
        </p:txBody>
      </p:sp>
    </p:spTree>
    <p:extLst>
      <p:ext uri="{BB962C8B-B14F-4D97-AF65-F5344CB8AC3E}">
        <ns4:creationId val="232927654"/>
      </p:ext>
    </p:extLst>
  </p:cSld>
</p:sld>
</file>

<file path=ppt/slides/slide39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1" name=""/>
          <p:cNvPicPr>
            <a:picLocks noChangeAspect="1"/>
          </p:cNvPicPr>
          <p:nvPr/>
        </p:nvPicPr>
        <p:blipFill>
          <a:blip r:embed="R9440a2df76be49f4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F5EB69CA-BAEE-4236-8940-C664C7E6FFE4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3교시   풀이와 확인</a:t>
            </a:r>
          </a:p>
        </p:txBody>
      </p:sp>
      <p:sp>
        <p:nvSpPr>
          <p:cNvPr id="3" name="">
            <a:extLst>
              <a:ext uri="{FF2B5EF4-FFF2-40B4-BE49-F238E27FC236}">
                <ns3:creationId id="{E5C02F57-9AC4-4398-9B98-F9485E3CF566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화면 시안 · 검토 예</a:t>
            </a:r>
          </a:p>
        </p:txBody>
      </p:sp>
      <p:sp>
        <p:nvSpPr>
          <p:cNvPr id="4" name="">
            <a:extLst>
              <a:ext uri="{FF2B5EF4-FFF2-40B4-BE49-F238E27FC236}">
                <ns3:creationId id="{C58C79B3-644F-4B9E-96F9-878A83B629EE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9A3A026F-F48C-4A4F-A0ED-B7F86B6AB587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정상: L001, I01, returned처럼 기록을 식별할 값이 있어야 합니다.</a:t>
            </a:r>
          </a:p>
        </p:txBody>
      </p:sp>
      <p:sp>
        <p:nvSpPr>
          <p:cNvPr id="6" name="">
            <a:extLst>
              <a:ext uri="{FF2B5EF4-FFF2-40B4-BE49-F238E27FC236}">
                <ns3:creationId id="{60905A54-C172-408C-BB0E-D0DD16F650ED}"/>
              </a:ext>
            </a:extLst>
          </p:cNvPr>
          <p:cNvSpPr>
            <a:spLocks noGrp="1"/>
          </p:cNvSpPr>
          <p:nvPr/>
        </p:nvSpPr>
        <p:spPr>
          <a:xfrm>
            <a:off x="685800" y="2564130"/>
            <a:ext cx="108204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검토: 원문 상태를 유지하고 “갱신 시각 없음”을 함께 표시합니다.</a:t>
            </a:r>
          </a:p>
        </p:txBody>
      </p:sp>
      <p:sp>
        <p:nvSpPr>
          <p:cNvPr id="7" name="">
            <a:extLst>
              <a:ext uri="{FF2B5EF4-FFF2-40B4-BE49-F238E27FC236}">
                <ns3:creationId id="{7F316CD4-1B2F-453C-BE11-C24854A5351E}"/>
              </a:ext>
            </a:extLst>
          </p:cNvPr>
          <p:cNvSpPr>
            <a:spLocks noGrp="1"/>
          </p:cNvSpPr>
          <p:nvPr/>
        </p:nvSpPr>
        <p:spPr>
          <a:xfrm>
            <a:off x="685800" y="3070860"/>
            <a:ext cx="108204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실패: “대여 ID L10 중복”처럼 어떤 값이 충돌했는지 알 수 있어야 합니다.</a:t>
            </a:r>
          </a:p>
        </p:txBody>
      </p:sp>
      <p:sp>
        <p:nvSpPr>
          <p:cNvPr id="8" name="">
            <a:extLst>
              <a:ext uri="{FF2B5EF4-FFF2-40B4-BE49-F238E27FC236}">
                <ns3:creationId id="{38344FF5-475C-40D6-B419-F3F368AA7ADA}"/>
              </a:ext>
            </a:extLst>
          </p:cNvPr>
          <p:cNvSpPr>
            <a:spLocks noGrp="1"/>
          </p:cNvSpPr>
          <p:nvPr/>
        </p:nvSpPr>
        <p:spPr>
          <a:xfrm>
            <a:off x="685800" y="3577590"/>
            <a:ext cx="108204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빨간색만으로 오류를 표시하면 이유를 알 수 없습니다. 설명 글도 필요합니다.</a:t>
            </a:r>
          </a:p>
        </p:txBody>
      </p:sp>
      <p:sp>
        <p:nvSpPr>
          <p:cNvPr id="9" name="">
            <a:extLst>
              <a:ext uri="{FF2B5EF4-FFF2-40B4-BE49-F238E27FC236}">
                <ns3:creationId id="{6A98D5F3-5A1F-477B-B4C9-888ADEBBF3E0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10/30   프로젝트 기획</a:t>
            </a:r>
          </a:p>
        </p:txBody>
      </p:sp>
      <p:sp>
        <p:nvSpPr>
          <p:cNvPr id="10" name="">
            <a:extLst>
              <a:ext uri="{FF2B5EF4-FFF2-40B4-BE49-F238E27FC236}">
                <ns3:creationId id="{E50E5864-9E96-4771-A2B9-88901CD0A35E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039</a:t>
            </a:r>
          </a:p>
        </p:txBody>
      </p:sp>
    </p:spTree>
    <p:extLst>
      <p:ext uri="{BB962C8B-B14F-4D97-AF65-F5344CB8AC3E}">
        <ns4:creationId val="2051941326"/>
      </p:ext>
    </p:extLst>
  </p:cSld>
</p:sld>
</file>

<file path=ppt/slides/slide40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102733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9" name=""/>
          <p:cNvPicPr>
            <a:picLocks noChangeAspect="1"/>
          </p:cNvPicPr>
          <p:nvPr/>
        </p:nvPicPr>
        <p:blipFill>
          <a:blip r:embed="R01efedd66dfc445a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8E457B48-8A8B-49ED-B35A-EF755CCCFBAB}"/>
              </a:ext>
            </a:extLst>
          </p:cNvPr>
          <p:cNvSpPr>
            <a:spLocks noGrp="1"/>
          </p:cNvSpPr>
          <p:nvPr/>
        </p:nvSpPr>
        <p:spPr>
          <a:xfrm>
            <a:off x="685800" y="685800"/>
            <a:ext cx="8572500" cy="4476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100" b="1">
                <a:solidFill>
                  <a:srgbClr val="ABDDD0"/>
                </a:solidFill>
                <a:latin typeface="Noto Sans KR"/>
                <a:ea typeface="Noto Sans KR"/>
                <a:cs typeface="Noto Sans KR"/>
              </a:defRPr>
            </a:pPr>
            <a:r>
              <a:t>04   교시</a:t>
            </a:r>
          </a:p>
        </p:txBody>
      </p:sp>
      <p:sp>
        <p:nvSpPr>
          <p:cNvPr id="3" name="">
            <a:extLst>
              <a:ext uri="{FF2B5EF4-FFF2-40B4-BE49-F238E27FC236}">
                <ns3:creationId id="{5E0A9AA3-2E5B-4005-A85E-A75F746DE491}"/>
              </a:ext>
            </a:extLst>
          </p:cNvPr>
          <p:cNvSpPr>
            <a:spLocks noGrp="1"/>
          </p:cNvSpPr>
          <p:nvPr/>
        </p:nvSpPr>
        <p:spPr>
          <a:xfrm>
            <a:off x="685800" y="1638300"/>
            <a:ext cx="8524875" cy="16573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4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요구·시험·관찰</a:t>
            </a:r>
          </a:p>
        </p:txBody>
      </p:sp>
      <p:sp>
        <p:nvSpPr>
          <p:cNvPr id="4" name="">
            <a:extLst>
              <a:ext uri="{FF2B5EF4-FFF2-40B4-BE49-F238E27FC236}">
                <ns3:creationId id="{6545BF7D-9BD8-4948-84B4-C25A51BCA1D5}"/>
              </a:ext>
            </a:extLst>
          </p:cNvPr>
          <p:cNvSpPr>
            <a:spLocks noGrp="1"/>
          </p:cNvSpPr>
          <p:nvPr/>
        </p:nvSpPr>
        <p:spPr>
          <a:xfrm>
            <a:off x="685800" y="3724275"/>
            <a:ext cx="8001000" cy="4286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250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14:00~14:50 · 50분</a:t>
            </a:r>
          </a:p>
        </p:txBody>
      </p:sp>
      <p:sp>
        <p:nvSpPr>
          <p:cNvPr id="5" name="">
            <a:extLst>
              <a:ext uri="{FF2B5EF4-FFF2-40B4-BE49-F238E27FC236}">
                <ns3:creationId id="{D3AE15F6-AC2F-47A1-BA20-C3851F119472}"/>
              </a:ext>
            </a:extLst>
          </p:cNvPr>
          <p:cNvSpPr>
            <a:spLocks noGrp="1"/>
          </p:cNvSpPr>
          <p:nvPr/>
        </p:nvSpPr>
        <p:spPr>
          <a:xfrm>
            <a:off x="685800" y="4219575"/>
            <a:ext cx="8001000" cy="4286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250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A10~A12</a:t>
            </a:r>
          </a:p>
        </p:txBody>
      </p:sp>
      <p:sp>
        <p:nvSpPr>
          <p:cNvPr id="6" name="">
            <a:extLst>
              <a:ext uri="{FF2B5EF4-FFF2-40B4-BE49-F238E27FC236}">
                <ns3:creationId id="{BD54F6F3-345C-4068-96C2-DE73B6CB014A}"/>
              </a:ext>
            </a:extLst>
          </p:cNvPr>
          <p:cNvSpPr>
            <a:spLocks noGrp="1"/>
          </p:cNvSpPr>
          <p:nvPr/>
        </p:nvSpPr>
        <p:spPr>
          <a:xfrm>
            <a:off x="685800" y="4714875"/>
            <a:ext cx="8001000" cy="4286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250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완성할 것: 시험표와 대체 경로</a:t>
            </a:r>
          </a:p>
        </p:txBody>
      </p:sp>
      <p:sp>
        <p:nvSpPr>
          <p:cNvPr id="7" name="">
            <a:extLst>
              <a:ext uri="{FF2B5EF4-FFF2-40B4-BE49-F238E27FC236}">
                <ns3:creationId id="{D0A73374-7475-4844-B355-46CE98B00E96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B3C5CC"/>
                </a:solidFill>
                <a:latin typeface="Noto Sans KR"/>
                <a:ea typeface="Noto Sans KR"/>
                <a:cs typeface="Noto Sans KR"/>
              </a:defRPr>
            </a:pPr>
            <a:r>
              <a:t>10/30   프로젝트 기획</a:t>
            </a:r>
          </a:p>
        </p:txBody>
      </p:sp>
      <p:sp>
        <p:nvSpPr>
          <p:cNvPr id="8" name="">
            <a:extLst>
              <a:ext uri="{FF2B5EF4-FFF2-40B4-BE49-F238E27FC236}">
                <ns3:creationId id="{2A81759C-43F0-4CFD-BCD0-0E7E6D36C8FF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B3C5CC"/>
                </a:solidFill>
                <a:latin typeface="Consolas"/>
                <a:ea typeface="Consolas"/>
                <a:cs typeface="Consolas"/>
              </a:defRPr>
            </a:pPr>
            <a:r>
              <a:t>040</a:t>
            </a:r>
          </a:p>
        </p:txBody>
      </p:sp>
    </p:spTree>
    <p:extLst>
      <p:ext uri="{BB962C8B-B14F-4D97-AF65-F5344CB8AC3E}">
        <ns4:creationId val="1944356103"/>
      </p:ext>
    </p:extLst>
  </p:cSld>
</p:sld>
</file>

<file path=ppt/slides/slide41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8" name=""/>
          <p:cNvPicPr>
            <a:picLocks noChangeAspect="1"/>
          </p:cNvPicPr>
          <p:nvPr/>
        </p:nvPicPr>
        <p:blipFill>
          <a:blip r:embed="R65a1d56f72534cf8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8FF8BDBD-4452-40B0-8931-D0FFA817F7F9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4교시   자료 읽기</a:t>
            </a:r>
          </a:p>
        </p:txBody>
      </p:sp>
      <p:sp>
        <p:nvSpPr>
          <p:cNvPr id="3" name="">
            <a:extLst>
              <a:ext uri="{FF2B5EF4-FFF2-40B4-BE49-F238E27FC236}">
                <ns3:creationId id="{63E2A698-2F0E-4EC5-B6C0-105F78DEA10C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요구와 시험의 연결</a:t>
            </a:r>
          </a:p>
        </p:txBody>
      </p:sp>
      <p:sp>
        <p:nvSpPr>
          <p:cNvPr id="4" name="">
            <a:extLst>
              <a:ext uri="{FF2B5EF4-FFF2-40B4-BE49-F238E27FC236}">
                <ns3:creationId id="{61E55BFC-E840-419F-BEA1-6757EFB836A4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graphicFrame>
        <p:nvGraphicFramePr>
          <p:cNvPr id="12" name=""/>
          <p:cNvGraphicFramePr/>
          <p:nvPr/>
        </p:nvGraphicFramePr>
        <p:xfrm>
          <a:off x="685800" y="1943100"/>
          <a:ext cx="10820400" cy="2707958"/>
        </p:xfrm>
        <a:graphic>
          <a:graphicData uri="http://schemas.openxmlformats.org/drawingml/2006/table">
            <a:tbl>
              <a:tblPr firstRow="1" bandRow="0"/>
              <a:tblGrid>
                <a:gridCol w="1898316"/>
                <a:gridCol w="1898316"/>
                <a:gridCol w="3353691"/>
                <a:gridCol w="3670077"/>
              </a:tblGrid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요구</a:t>
                      </a:r>
                    </a:p>
                  </a:txBody>
                  <a:tcPr marL="142875" marR="142875" marT="85725" marB="85725" anchor="ctr">
                    <a:solidFill>
                      <a:srgbClr val="102733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시험</a:t>
                      </a:r>
                    </a:p>
                  </a:txBody>
                  <a:tcPr marL="142875" marR="142875" marT="85725" marB="85725" anchor="ctr">
                    <a:solidFill>
                      <a:srgbClr val="102733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입력</a:t>
                      </a:r>
                    </a:p>
                  </a:txBody>
                  <a:tcPr marL="142875" marR="142875" marT="85725" marB="85725" anchor="ctr">
                    <a:solidFill>
                      <a:srgbClr val="102733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기대 결과</a:t>
                      </a:r>
                    </a:p>
                  </a:txBody>
                  <a:tcPr marL="142875" marR="142875" marT="85725" marB="85725" anchor="ctr">
                    <a:solidFill>
                      <a:srgbClr val="102733"/>
                    </a:solidFill>
                  </a:tcPr>
                </a:tc>
              </a:tr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R01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T01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정상 3건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목록 3행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</a:tr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R02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T02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갱신 시각 누락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review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</a:tr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R03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T03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대여 키 중복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reject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</a:tr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R04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T04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파일 읽기 전후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원문 바이트 같음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</a:tr>
            </a:tbl>
          </a:graphicData>
        </a:graphic>
      </p:graphicFrame>
      <p:sp>
        <p:nvSpPr>
          <p:cNvPr id="6" name="">
            <a:extLst>
              <a:ext uri="{FF2B5EF4-FFF2-40B4-BE49-F238E27FC236}">
                <ns3:creationId id="{FE9A9043-DE88-410E-9F06-D05A3CEA0570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10/30   프로젝트 기획</a:t>
            </a:r>
          </a:p>
        </p:txBody>
      </p:sp>
      <p:sp>
        <p:nvSpPr>
          <p:cNvPr id="7" name="">
            <a:extLst>
              <a:ext uri="{FF2B5EF4-FFF2-40B4-BE49-F238E27FC236}">
                <ns3:creationId id="{1B895396-2B20-4B72-9CA3-2AF9CEF8FBB0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041</a:t>
            </a:r>
          </a:p>
        </p:txBody>
      </p:sp>
    </p:spTree>
    <p:extLst>
      <p:ext uri="{BB962C8B-B14F-4D97-AF65-F5344CB8AC3E}">
        <ns4:creationId val="1860834509"/>
      </p:ext>
    </p:extLst>
  </p:cSld>
</p:sld>
</file>

<file path=ppt/slides/slide42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3" name=""/>
          <p:cNvPicPr>
            <a:picLocks noChangeAspect="1"/>
          </p:cNvPicPr>
          <p:nvPr/>
        </p:nvPicPr>
        <p:blipFill>
          <a:blip r:embed="Rda3bc80c865c4c9b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0EBFF2FB-2656-437B-9851-25AD6FCC6D03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4교시   비교</a:t>
            </a:r>
          </a:p>
        </p:txBody>
      </p:sp>
      <p:sp>
        <p:nvSpPr>
          <p:cNvPr id="3" name="">
            <a:extLst>
              <a:ext uri="{FF2B5EF4-FFF2-40B4-BE49-F238E27FC236}">
                <ns3:creationId id="{9C1B0236-5E5A-4F5F-B85C-9FC78CA56893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기대 결과와 실제 관찰</a:t>
            </a:r>
          </a:p>
        </p:txBody>
      </p:sp>
      <p:sp>
        <p:nvSpPr>
          <p:cNvPr id="4" name="">
            <a:extLst>
              <a:ext uri="{FF2B5EF4-FFF2-40B4-BE49-F238E27FC236}">
                <ns3:creationId id="{D41F3025-2EA7-441A-B0FA-6A82490921DF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94836E21-ADB9-4F02-9D69-8DA5FD0BBABB}"/>
              </a:ext>
            </a:extLst>
          </p:cNvPr>
          <p:cNvSpPr>
            <a:spLocks noGrp="1"/>
          </p:cNvSpPr>
          <p:nvPr/>
        </p:nvSpPr>
        <p:spPr>
          <a:xfrm>
            <a:off x="685800" y="2009775"/>
            <a:ext cx="5048250" cy="4762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25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시험 전 기대</a:t>
            </a:r>
          </a:p>
        </p:txBody>
      </p:sp>
      <p:sp>
        <p:nvSpPr>
          <p:cNvPr id="6" name="">
            <a:extLst>
              <a:ext uri="{FF2B5EF4-FFF2-40B4-BE49-F238E27FC236}">
                <ns3:creationId id="{C24D8162-0CA2-4EA1-B8BE-407C4A23ED40}"/>
              </a:ext>
            </a:extLst>
          </p:cNvPr>
          <p:cNvSpPr>
            <a:spLocks noGrp="1"/>
          </p:cNvSpPr>
          <p:nvPr/>
        </p:nvSpPr>
        <p:spPr>
          <a:xfrm>
            <a:off x="6448425" y="2009775"/>
            <a:ext cx="5048250" cy="4762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25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시험 후 관찰</a:t>
            </a:r>
          </a:p>
        </p:txBody>
      </p:sp>
      <p:sp>
        <p:nvSpPr>
          <p:cNvPr id="7" name="">
            <a:extLst>
              <a:ext uri="{FF2B5EF4-FFF2-40B4-BE49-F238E27FC236}">
                <ns3:creationId id="{8EC7FD9C-B625-4966-A65D-9A06DEF12A51}"/>
              </a:ext>
            </a:extLst>
          </p:cNvPr>
          <p:cNvSpPr>
            <a:spLocks noGrp="1"/>
          </p:cNvSpPr>
          <p:nvPr/>
        </p:nvSpPr>
        <p:spPr>
          <a:xfrm>
            <a:off x="685800" y="2676525"/>
            <a:ext cx="5048250" cy="7715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25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어떤 입력에서 무엇이 나와야 하는지 미리 정합니다.</a:t>
            </a:r>
          </a:p>
        </p:txBody>
      </p:sp>
      <p:sp>
        <p:nvSpPr>
          <p:cNvPr id="8" name="">
            <a:extLst>
              <a:ext uri="{FF2B5EF4-FFF2-40B4-BE49-F238E27FC236}">
                <ns3:creationId id="{CBFCDB41-AD21-4DD2-9BCC-AA292E013253}"/>
              </a:ext>
            </a:extLst>
          </p:cNvPr>
          <p:cNvSpPr>
            <a:spLocks noGrp="1"/>
          </p:cNvSpPr>
          <p:nvPr/>
        </p:nvSpPr>
        <p:spPr>
          <a:xfrm>
            <a:off x="685800" y="3514725"/>
            <a:ext cx="5048250" cy="7715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25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R02의 누락 입력에는 review가 기대 결과입니다.</a:t>
            </a:r>
          </a:p>
        </p:txBody>
      </p:sp>
      <p:sp>
        <p:nvSpPr>
          <p:cNvPr id="9" name="">
            <a:extLst>
              <a:ext uri="{FF2B5EF4-FFF2-40B4-BE49-F238E27FC236}">
                <ns3:creationId id="{DBD494CF-96D1-4FA6-BCC7-F056A4C9AD26}"/>
              </a:ext>
            </a:extLst>
          </p:cNvPr>
          <p:cNvSpPr>
            <a:spLocks noGrp="1"/>
          </p:cNvSpPr>
          <p:nvPr/>
        </p:nvSpPr>
        <p:spPr>
          <a:xfrm>
            <a:off x="6448425" y="2676525"/>
            <a:ext cx="5048250" cy="7715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25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실제로 화면에 나온 값을 따로 기록합니다.</a:t>
            </a:r>
          </a:p>
        </p:txBody>
      </p:sp>
      <p:sp>
        <p:nvSpPr>
          <p:cNvPr id="10" name="">
            <a:extLst>
              <a:ext uri="{FF2B5EF4-FFF2-40B4-BE49-F238E27FC236}">
                <ns3:creationId id="{A21BB141-E442-4EE6-A4D1-FA42A4857BC4}"/>
              </a:ext>
            </a:extLst>
          </p:cNvPr>
          <p:cNvSpPr>
            <a:spLocks noGrp="1"/>
          </p:cNvSpPr>
          <p:nvPr/>
        </p:nvSpPr>
        <p:spPr>
          <a:xfrm>
            <a:off x="6448425" y="3514725"/>
            <a:ext cx="5048250" cy="7715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25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normal이 나왔다면 기대값에 맞지 않는 결과입니다.</a:t>
            </a:r>
          </a:p>
        </p:txBody>
      </p:sp>
      <p:sp>
        <p:nvSpPr>
          <p:cNvPr id="11" name="">
            <a:extLst>
              <a:ext uri="{FF2B5EF4-FFF2-40B4-BE49-F238E27FC236}">
                <ns3:creationId id="{B75B17C1-6FBA-4C62-8A47-4CA124F0A8BB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10/30   프로젝트 기획</a:t>
            </a:r>
          </a:p>
        </p:txBody>
      </p:sp>
      <p:sp>
        <p:nvSpPr>
          <p:cNvPr id="12" name="">
            <a:extLst>
              <a:ext uri="{FF2B5EF4-FFF2-40B4-BE49-F238E27FC236}">
                <ns3:creationId id="{E175695A-CAAA-4104-A00C-5E765937786B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042</a:t>
            </a:r>
          </a:p>
        </p:txBody>
      </p:sp>
    </p:spTree>
    <p:extLst>
      <p:ext uri="{BB962C8B-B14F-4D97-AF65-F5344CB8AC3E}">
        <ns4:creationId val="352006419"/>
      </p:ext>
    </p:extLst>
  </p:cSld>
</p:sld>
</file>

<file path=ppt/slides/slide43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8" name=""/>
          <p:cNvPicPr>
            <a:picLocks noChangeAspect="1"/>
          </p:cNvPicPr>
          <p:nvPr/>
        </p:nvPicPr>
        <p:blipFill>
          <a:blip r:embed="R7f2f32368a0b4e5e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4F53D1DD-EBD4-4A08-903E-8BA41E67F8BD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4교시   자료 읽기</a:t>
            </a:r>
          </a:p>
        </p:txBody>
      </p:sp>
      <p:sp>
        <p:nvSpPr>
          <p:cNvPr id="3" name="">
            <a:extLst>
              <a:ext uri="{FF2B5EF4-FFF2-40B4-BE49-F238E27FC236}">
                <ns3:creationId id="{200C5440-1149-4BD0-A9B7-F2F34A2D57B0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PASS·FAIL·NOT_RUN</a:t>
            </a:r>
          </a:p>
        </p:txBody>
      </p:sp>
      <p:sp>
        <p:nvSpPr>
          <p:cNvPr id="4" name="">
            <a:extLst>
              <a:ext uri="{FF2B5EF4-FFF2-40B4-BE49-F238E27FC236}">
                <ns3:creationId id="{2AF76DF9-8558-45D8-9F13-E62513A647B0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graphicFrame>
        <p:nvGraphicFramePr>
          <p:cNvPr id="12" name=""/>
          <p:cNvGraphicFramePr/>
          <p:nvPr/>
        </p:nvGraphicFramePr>
        <p:xfrm>
          <a:off x="685800" y="1943100"/>
          <a:ext cx="10820400" cy="2166366"/>
        </p:xfrm>
        <a:graphic>
          <a:graphicData uri="http://schemas.openxmlformats.org/drawingml/2006/table">
            <a:tbl>
              <a:tblPr firstRow="1" bandRow="0"/>
              <a:tblGrid>
                <a:gridCol w="2220781"/>
                <a:gridCol w="4141381"/>
                <a:gridCol w="4458238"/>
              </a:tblGrid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상태</a:t>
                      </a:r>
                    </a:p>
                  </a:txBody>
                  <a:tcPr marL="142875" marR="142875" marT="85725" marB="85725" anchor="ctr">
                    <a:solidFill>
                      <a:srgbClr val="102733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조건</a:t>
                      </a:r>
                    </a:p>
                  </a:txBody>
                  <a:tcPr marL="142875" marR="142875" marT="85725" marB="85725" anchor="ctr">
                    <a:solidFill>
                      <a:srgbClr val="102733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가상 예</a:t>
                      </a:r>
                    </a:p>
                  </a:txBody>
                  <a:tcPr marL="142875" marR="142875" marT="85725" marB="85725" anchor="ctr">
                    <a:solidFill>
                      <a:srgbClr val="102733"/>
                    </a:solidFill>
                  </a:tcPr>
                </a:tc>
              </a:tr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PASS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실제 결과가 기대와 같음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reject 기대, reject 관찰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</a:tr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FAIL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실제 결과가 기대와 다름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review 기대, normal 관찰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</a:tr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NOT_RUN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아직 실행 관찰이 없음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reject 기대, 관찰 없음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">
            <a:extLst>
              <a:ext uri="{FF2B5EF4-FFF2-40B4-BE49-F238E27FC236}">
                <ns3:creationId id="{9B2D5521-A26E-4821-B101-F329EB647DEE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10/30   프로젝트 기획</a:t>
            </a:r>
          </a:p>
        </p:txBody>
      </p:sp>
      <p:sp>
        <p:nvSpPr>
          <p:cNvPr id="7" name="">
            <a:extLst>
              <a:ext uri="{FF2B5EF4-FFF2-40B4-BE49-F238E27FC236}">
                <ns3:creationId id="{CDDEA29B-AC40-43E0-9665-FCA40764FE97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043</a:t>
            </a:r>
          </a:p>
        </p:txBody>
      </p:sp>
    </p:spTree>
    <p:extLst>
      <p:ext uri="{BB962C8B-B14F-4D97-AF65-F5344CB8AC3E}">
        <ns4:creationId val="1556501068"/>
      </p:ext>
    </p:extLst>
  </p:cSld>
</p:sld>
</file>

<file path=ppt/slides/slide44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2" name=""/>
          <p:cNvPicPr>
            <a:picLocks noChangeAspect="1"/>
          </p:cNvPicPr>
          <p:nvPr/>
        </p:nvPicPr>
        <p:blipFill>
          <a:blip r:embed="R0fa95da8eecf40ff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F5CDC305-4EFB-4219-89EE-251318CE43CC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4교시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564EF493-21F2-4E2B-8A11-09342DB7293A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제공 비교 코드 실행</a:t>
            </a:r>
          </a:p>
        </p:txBody>
      </p:sp>
      <p:sp>
        <p:nvSpPr>
          <p:cNvPr id="4" name="">
            <a:extLst>
              <a:ext uri="{FF2B5EF4-FFF2-40B4-BE49-F238E27FC236}">
                <ns3:creationId id="{2E2B559B-F767-4F9B-8EB7-DF58E3F85F79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8C8056FC-CBB7-4F8D-870D-7A805F3112F9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course의 PowerShell에서 아래 명령을 입력합니다.</a:t>
            </a:r>
          </a:p>
        </p:txBody>
      </p:sp>
      <p:sp>
        <p:nvSpPr>
          <p:cNvPr id="6" name="">
            <a:extLst>
              <a:ext uri="{FF2B5EF4-FFF2-40B4-BE49-F238E27FC236}">
                <ns3:creationId id="{83C65F69-1355-44B2-985A-2AF715E10FAB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python -X utf8 code/02_check_evidence.py</a:t>
            </a:r>
          </a:p>
        </p:txBody>
      </p:sp>
      <p:sp>
        <p:nvSpPr>
          <p:cNvPr id="7" name="">
            <a:extLst>
              <a:ext uri="{FF2B5EF4-FFF2-40B4-BE49-F238E27FC236}">
                <ns3:creationId id="{68588D69-0B27-49FF-91C4-C43322BECA58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이 코드는 가상의 시험 관찰 기록을 읽어 상태를 비교합니다.</a:t>
            </a:r>
          </a:p>
        </p:txBody>
      </p:sp>
      <p:sp>
        <p:nvSpPr>
          <p:cNvPr id="8" name="">
            <a:extLst>
              <a:ext uri="{FF2B5EF4-FFF2-40B4-BE49-F238E27FC236}">
                <ns3:creationId id="{DBF3950B-9AAB-4A93-964D-AEAB6B0F353F}"/>
              </a:ext>
            </a:extLst>
          </p:cNvPr>
          <p:cNvSpPr>
            <a:spLocks noGrp="1"/>
          </p:cNvSpPr>
          <p:nvPr/>
        </p:nvSpPr>
        <p:spPr>
          <a:xfrm>
            <a:off x="685800" y="361188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기획한 대여 관리 제품을 실행하거나 실물 장비를 시험하는 코드는 아닙니다.</a:t>
            </a:r>
          </a:p>
        </p:txBody>
      </p:sp>
      <p:sp>
        <p:nvSpPr>
          <p:cNvPr id="9" name="">
            <a:extLst>
              <a:ext uri="{FF2B5EF4-FFF2-40B4-BE49-F238E27FC236}">
                <ns3:creationId id="{D0136B92-FA91-459E-9D00-4F461634AD95}"/>
              </a:ext>
            </a:extLst>
          </p:cNvPr>
          <p:cNvSpPr>
            <a:spLocks noGrp="1"/>
          </p:cNvSpPr>
          <p:nvPr/>
        </p:nvSpPr>
        <p:spPr>
          <a:xfrm>
            <a:off x="685800" y="413004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data/test_observations.json을 열어 기대와 관찰 필드를 함께 확인합니다.</a:t>
            </a:r>
          </a:p>
        </p:txBody>
      </p:sp>
      <p:sp>
        <p:nvSpPr>
          <p:cNvPr id="10" name="">
            <a:extLst>
              <a:ext uri="{FF2B5EF4-FFF2-40B4-BE49-F238E27FC236}">
                <ns3:creationId id="{4AE67A18-C753-4E05-91DA-FDC5348A3EAA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10/30   프로젝트 기획</a:t>
            </a:r>
          </a:p>
        </p:txBody>
      </p:sp>
      <p:sp>
        <p:nvSpPr>
          <p:cNvPr id="11" name="">
            <a:extLst>
              <a:ext uri="{FF2B5EF4-FFF2-40B4-BE49-F238E27FC236}">
                <ns3:creationId id="{8F7E3046-A025-4FD9-94E1-0B7D3049E84E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044</a:t>
            </a:r>
          </a:p>
        </p:txBody>
      </p:sp>
    </p:spTree>
    <p:extLst>
      <p:ext uri="{BB962C8B-B14F-4D97-AF65-F5344CB8AC3E}">
        <ns4:creationId val="1473166399"/>
      </p:ext>
    </p:extLst>
  </p:cSld>
</p:sld>
</file>

<file path=ppt/slides/slide45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9" name=""/>
          <p:cNvPicPr>
            <a:picLocks noChangeAspect="1"/>
          </p:cNvPicPr>
          <p:nvPr/>
        </p:nvPicPr>
        <p:blipFill>
          <a:blip r:embed="R320803f02b4e497d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2FC254C6-6C34-4A3F-86DC-F3166B4815C8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4교시   코드와 실행</a:t>
            </a:r>
          </a:p>
        </p:txBody>
      </p:sp>
      <p:sp>
        <p:nvSpPr>
          <p:cNvPr id="3" name="">
            <a:extLst>
              <a:ext uri="{FF2B5EF4-FFF2-40B4-BE49-F238E27FC236}">
                <ns3:creationId id="{83CFE049-0728-41D0-9480-4CE00BEB689B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가상 관찰을 비교한 출력</a:t>
            </a:r>
          </a:p>
        </p:txBody>
      </p:sp>
      <p:sp>
        <p:nvSpPr>
          <p:cNvPr id="4" name="">
            <a:extLst>
              <a:ext uri="{FF2B5EF4-FFF2-40B4-BE49-F238E27FC236}">
                <ns3:creationId id="{418CAA7C-5928-483F-910D-0352D84FCA95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28DE4F74-2097-4AC9-903D-F1E4E371993A}"/>
              </a:ext>
            </a:extLst>
          </p:cNvPr>
          <p:cNvSpPr>
            <a:spLocks noGrp="1"/>
          </p:cNvSpPr>
          <p:nvPr/>
        </p:nvSpPr>
        <p:spPr>
          <a:xfrm>
            <a:off x="685800" y="1924050"/>
            <a:ext cx="10820400" cy="39433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02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제공된 비교 코드의 결과입니다.</a:t>
            </a:r>
          </a:p>
        </p:txBody>
      </p:sp>
      <p:sp>
        <p:nvSpPr>
          <p:cNvPr id="6" name="">
            <a:extLst>
              <a:ext uri="{FF2B5EF4-FFF2-40B4-BE49-F238E27FC236}">
                <ns3:creationId id="{D294EF32-412F-4E74-B138-CC2B86BCA146}"/>
              </a:ext>
            </a:extLst>
          </p:cNvPr>
          <p:cNvSpPr>
            <a:spLocks noGrp="1"/>
          </p:cNvSpPr>
          <p:nvPr/>
        </p:nvSpPr>
        <p:spPr>
          <a:xfrm>
            <a:off x="685800" y="2499360"/>
            <a:ext cx="10820400" cy="1833563"/>
          </a:xfrm>
          <a:prstGeom prst="rect">
            <a:avLst/>
          </a:prstGeom>
          <a:solidFill>
            <a:srgbClr val="102733"/>
          </a:solidFill>
          <a:ln w="0">
            <a:noFill/>
          </a:ln>
        </p:spPr>
      </p:sp>
      <p:sp>
        <p:nvSpPr>
          <p:cNvPr id="7" name="">
            <a:extLst>
              <a:ext uri="{FF2B5EF4-FFF2-40B4-BE49-F238E27FC236}">
                <ns3:creationId id="{0C25BFD3-BD3D-400E-9C11-8ABD8EBDD259}"/>
              </a:ext>
            </a:extLst>
          </p:cNvPr>
          <p:cNvSpPr>
            <a:spLocks noGrp="1"/>
          </p:cNvSpPr>
          <p:nvPr/>
        </p:nvSpPr>
        <p:spPr>
          <a:xfrm>
            <a:off x="838200" y="2651760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01</a:t>
            </a:r>
          </a:p>
        </p:txBody>
      </p:sp>
      <p:sp>
        <p:nvSpPr>
          <p:cNvPr id="8" name="">
            <a:extLst>
              <a:ext uri="{FF2B5EF4-FFF2-40B4-BE49-F238E27FC236}">
                <ns3:creationId id="{2921154E-F2BA-4010-8C9B-F41A3E47A097}"/>
              </a:ext>
            </a:extLst>
          </p:cNvPr>
          <p:cNvSpPr>
            <a:spLocks noGrp="1"/>
          </p:cNvSpPr>
          <p:nvPr/>
        </p:nvSpPr>
        <p:spPr>
          <a:xfrm>
            <a:off x="1257300" y="2623185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T01 PASS</a:t>
            </a:r>
          </a:p>
        </p:txBody>
      </p:sp>
      <p:sp>
        <p:nvSpPr>
          <p:cNvPr id="9" name="">
            <a:extLst>
              <a:ext uri="{FF2B5EF4-FFF2-40B4-BE49-F238E27FC236}">
                <ns3:creationId id="{EC8F6FDE-40C7-4190-9D5A-8FFE0408B08D}"/>
              </a:ext>
            </a:extLst>
          </p:cNvPr>
          <p:cNvSpPr>
            <a:spLocks noGrp="1"/>
          </p:cNvSpPr>
          <p:nvPr/>
        </p:nvSpPr>
        <p:spPr>
          <a:xfrm>
            <a:off x="838200" y="2961323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02</a:t>
            </a:r>
          </a:p>
        </p:txBody>
      </p:sp>
      <p:sp>
        <p:nvSpPr>
          <p:cNvPr id="10" name="">
            <a:extLst>
              <a:ext uri="{FF2B5EF4-FFF2-40B4-BE49-F238E27FC236}">
                <ns3:creationId id="{9260822A-9401-4F52-86A9-8477594542C9}"/>
              </a:ext>
            </a:extLst>
          </p:cNvPr>
          <p:cNvSpPr>
            <a:spLocks noGrp="1"/>
          </p:cNvSpPr>
          <p:nvPr/>
        </p:nvSpPr>
        <p:spPr>
          <a:xfrm>
            <a:off x="1257300" y="2932748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T02 FAIL</a:t>
            </a:r>
          </a:p>
        </p:txBody>
      </p:sp>
      <p:sp>
        <p:nvSpPr>
          <p:cNvPr id="11" name="">
            <a:extLst>
              <a:ext uri="{FF2B5EF4-FFF2-40B4-BE49-F238E27FC236}">
                <ns3:creationId id="{DBA0E788-07C5-4E02-AA04-D94069C760FF}"/>
              </a:ext>
            </a:extLst>
          </p:cNvPr>
          <p:cNvSpPr>
            <a:spLocks noGrp="1"/>
          </p:cNvSpPr>
          <p:nvPr/>
        </p:nvSpPr>
        <p:spPr>
          <a:xfrm>
            <a:off x="838200" y="3270885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03</a:t>
            </a:r>
          </a:p>
        </p:txBody>
      </p:sp>
      <p:sp>
        <p:nvSpPr>
          <p:cNvPr id="12" name="">
            <a:extLst>
              <a:ext uri="{FF2B5EF4-FFF2-40B4-BE49-F238E27FC236}">
                <ns3:creationId id="{0EF54CC7-B680-4FB4-B032-EC55D0929FF4}"/>
              </a:ext>
            </a:extLst>
          </p:cNvPr>
          <p:cNvSpPr>
            <a:spLocks noGrp="1"/>
          </p:cNvSpPr>
          <p:nvPr/>
        </p:nvSpPr>
        <p:spPr>
          <a:xfrm>
            <a:off x="1257300" y="3242310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T03 NOT_RUN</a:t>
            </a:r>
          </a:p>
        </p:txBody>
      </p:sp>
      <p:sp>
        <p:nvSpPr>
          <p:cNvPr id="13" name="">
            <a:extLst>
              <a:ext uri="{FF2B5EF4-FFF2-40B4-BE49-F238E27FC236}">
                <ns3:creationId id="{49CC9954-F31C-470C-B4C7-3525BAD5659C}"/>
              </a:ext>
            </a:extLst>
          </p:cNvPr>
          <p:cNvSpPr>
            <a:spLocks noGrp="1"/>
          </p:cNvSpPr>
          <p:nvPr/>
        </p:nvSpPr>
        <p:spPr>
          <a:xfrm>
            <a:off x="838200" y="3580448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04</a:t>
            </a:r>
          </a:p>
        </p:txBody>
      </p:sp>
      <p:sp>
        <p:nvSpPr>
          <p:cNvPr id="14" name="">
            <a:extLst>
              <a:ext uri="{FF2B5EF4-FFF2-40B4-BE49-F238E27FC236}">
                <ns3:creationId id="{81B750DD-AC07-4759-A691-AEA20BB8CEB1}"/>
              </a:ext>
            </a:extLst>
          </p:cNvPr>
          <p:cNvSpPr>
            <a:spLocks noGrp="1"/>
          </p:cNvSpPr>
          <p:nvPr/>
        </p:nvSpPr>
        <p:spPr>
          <a:xfrm>
            <a:off x="1257300" y="3551873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T04 PASS</a:t>
            </a:r>
          </a:p>
        </p:txBody>
      </p:sp>
      <p:sp>
        <p:nvSpPr>
          <p:cNvPr id="15" name="">
            <a:extLst>
              <a:ext uri="{FF2B5EF4-FFF2-40B4-BE49-F238E27FC236}">
                <ns3:creationId id="{3E1DB906-4C6F-4AD2-ADB2-72B8A4E4EC56}"/>
              </a:ext>
            </a:extLst>
          </p:cNvPr>
          <p:cNvSpPr>
            <a:spLocks noGrp="1"/>
          </p:cNvSpPr>
          <p:nvPr/>
        </p:nvSpPr>
        <p:spPr>
          <a:xfrm>
            <a:off x="838200" y="3890010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05</a:t>
            </a:r>
          </a:p>
        </p:txBody>
      </p:sp>
      <p:sp>
        <p:nvSpPr>
          <p:cNvPr id="16" name="">
            <a:extLst>
              <a:ext uri="{FF2B5EF4-FFF2-40B4-BE49-F238E27FC236}">
                <ns3:creationId id="{17FE7418-79A1-43D7-BAC3-BD213966E99E}"/>
              </a:ext>
            </a:extLst>
          </p:cNvPr>
          <p:cNvSpPr>
            <a:spLocks noGrp="1"/>
          </p:cNvSpPr>
          <p:nvPr/>
        </p:nvSpPr>
        <p:spPr>
          <a:xfrm>
            <a:off x="1257300" y="3861435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passed: 2 / 4</a:t>
            </a:r>
          </a:p>
        </p:txBody>
      </p:sp>
      <p:sp>
        <p:nvSpPr>
          <p:cNvPr id="17" name="">
            <a:extLst>
              <a:ext uri="{FF2B5EF4-FFF2-40B4-BE49-F238E27FC236}">
                <ns3:creationId id="{E04969A0-6346-4C6B-A3DE-5D50D290D020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10/30   프로젝트 기획</a:t>
            </a:r>
          </a:p>
        </p:txBody>
      </p:sp>
      <p:sp>
        <p:nvSpPr>
          <p:cNvPr id="18" name="">
            <a:extLst>
              <a:ext uri="{FF2B5EF4-FFF2-40B4-BE49-F238E27FC236}">
                <ns3:creationId id="{0F77B1C2-BC98-4045-BFC4-BF5DEAB27940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045</a:t>
            </a:r>
          </a:p>
        </p:txBody>
      </p:sp>
    </p:spTree>
    <p:extLst>
      <p:ext uri="{BB962C8B-B14F-4D97-AF65-F5344CB8AC3E}">
        <ns4:creationId val="978695522"/>
      </p:ext>
    </p:extLst>
  </p:cSld>
</p:sld>
</file>

<file path=ppt/slides/slide46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2" name=""/>
          <p:cNvPicPr>
            <a:picLocks noChangeAspect="1"/>
          </p:cNvPicPr>
          <p:nvPr/>
        </p:nvPicPr>
        <p:blipFill>
          <a:blip r:embed="Rfa892fb769144320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340F4C89-5580-4F55-A919-45468848554E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4교시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73CEE34E-DF72-42E3-9810-60E6380074C4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None과 비교 기호의 뜻</a:t>
            </a:r>
          </a:p>
        </p:txBody>
      </p:sp>
      <p:sp>
        <p:nvSpPr>
          <p:cNvPr id="4" name="">
            <a:extLst>
              <a:ext uri="{FF2B5EF4-FFF2-40B4-BE49-F238E27FC236}">
                <ns3:creationId id="{1EC85441-5A43-44B9-AF61-74CD27E209A0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90A75AE7-6CB6-4B31-B0EB-D4E2147C0876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None은 값이 없음을 나타내는 Python 값입니다. 문자열 "None"과 다릅니다.</a:t>
            </a:r>
          </a:p>
        </p:txBody>
      </p:sp>
      <p:sp>
        <p:nvSpPr>
          <p:cNvPr id="6" name="">
            <a:extLst>
              <a:ext uri="{FF2B5EF4-FFF2-40B4-BE49-F238E27FC236}">
                <ns3:creationId id="{E5317FCA-FFCB-47A2-93B8-7EAB9688F8DD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actual is None은 실제 관찰 값이 없는지 확인합니다.</a:t>
            </a:r>
          </a:p>
        </p:txBody>
      </p:sp>
      <p:sp>
        <p:nvSpPr>
          <p:cNvPr id="7" name="">
            <a:extLst>
              <a:ext uri="{FF2B5EF4-FFF2-40B4-BE49-F238E27FC236}">
                <ns3:creationId id="{7512171A-1DA6-4AF3-860C-DD95E445CE31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actual == expected는 실제 값과 기대 값이 같은지 비교합니다.</a:t>
            </a:r>
          </a:p>
        </p:txBody>
      </p:sp>
      <p:sp>
        <p:nvSpPr>
          <p:cNvPr id="8" name="">
            <a:extLst>
              <a:ext uri="{FF2B5EF4-FFF2-40B4-BE49-F238E27FC236}">
                <ns3:creationId id="{A387BA36-5633-4A87-8EAD-7C6D3238B2BE}"/>
              </a:ext>
            </a:extLst>
          </p:cNvPr>
          <p:cNvSpPr>
            <a:spLocks noGrp="1"/>
          </p:cNvSpPr>
          <p:nvPr/>
        </p:nvSpPr>
        <p:spPr>
          <a:xfrm>
            <a:off x="685800" y="361188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=는 값을 저장하고, ==는 두 값이 같은지 묻습니다.</a:t>
            </a:r>
          </a:p>
        </p:txBody>
      </p:sp>
      <p:sp>
        <p:nvSpPr>
          <p:cNvPr id="9" name="">
            <a:extLst>
              <a:ext uri="{FF2B5EF4-FFF2-40B4-BE49-F238E27FC236}">
                <ns3:creationId id="{06B3ECE2-597C-4F14-9CA5-B8D96BE82C7E}"/>
              </a:ext>
            </a:extLst>
          </p:cNvPr>
          <p:cNvSpPr>
            <a:spLocks noGrp="1"/>
          </p:cNvSpPr>
          <p:nvPr/>
        </p:nvSpPr>
        <p:spPr>
          <a:xfrm>
            <a:off x="685800" y="413004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else는 앞 조건에 해당하지 않을 때 처리할 부분입니다.</a:t>
            </a:r>
          </a:p>
        </p:txBody>
      </p:sp>
      <p:sp>
        <p:nvSpPr>
          <p:cNvPr id="10" name="">
            <a:extLst>
              <a:ext uri="{FF2B5EF4-FFF2-40B4-BE49-F238E27FC236}">
                <ns3:creationId id="{EE0D58C0-35D0-4E19-ACEF-5669083F472E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10/30   프로젝트 기획</a:t>
            </a:r>
          </a:p>
        </p:txBody>
      </p:sp>
      <p:sp>
        <p:nvSpPr>
          <p:cNvPr id="11" name="">
            <a:extLst>
              <a:ext uri="{FF2B5EF4-FFF2-40B4-BE49-F238E27FC236}">
                <ns3:creationId id="{96DEEF41-E8EB-47C9-B0D4-FA59C63DDD63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046</a:t>
            </a:r>
          </a:p>
        </p:txBody>
      </p:sp>
    </p:spTree>
    <p:extLst>
      <p:ext uri="{BB962C8B-B14F-4D97-AF65-F5344CB8AC3E}">
        <ns4:creationId val="1254394702"/>
      </p:ext>
    </p:extLst>
  </p:cSld>
</p:sld>
</file>

<file path=ppt/slides/slide47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9" name=""/>
          <p:cNvPicPr>
            <a:picLocks noChangeAspect="1"/>
          </p:cNvPicPr>
          <p:nvPr/>
        </p:nvPicPr>
        <p:blipFill>
          <a:blip r:embed="R8f6da5a7bb804678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0F5286A4-DE34-4E20-9B67-06BFD983883C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4교시   자료 읽기</a:t>
            </a:r>
          </a:p>
        </p:txBody>
      </p:sp>
      <p:sp>
        <p:nvSpPr>
          <p:cNvPr id="3" name="">
            <a:extLst>
              <a:ext uri="{FF2B5EF4-FFF2-40B4-BE49-F238E27FC236}">
                <ns3:creationId id="{9763E856-03CF-4FB1-8272-D59E7423AAB1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통과 비율의 분모</a:t>
            </a:r>
          </a:p>
        </p:txBody>
      </p:sp>
      <p:sp>
        <p:nvSpPr>
          <p:cNvPr id="4" name="">
            <a:extLst>
              <a:ext uri="{FF2B5EF4-FFF2-40B4-BE49-F238E27FC236}">
                <ns3:creationId id="{F4F7B38A-C02E-486E-8873-9C2BF3E32C79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graphicFrame>
        <p:nvGraphicFramePr>
          <p:cNvPr id="13" name=""/>
          <p:cNvGraphicFramePr/>
          <p:nvPr/>
        </p:nvGraphicFramePr>
        <p:xfrm>
          <a:off x="685800" y="1943100"/>
          <a:ext cx="10820400" cy="1624774"/>
        </p:xfrm>
        <a:graphic>
          <a:graphicData uri="http://schemas.openxmlformats.org/drawingml/2006/table">
            <a:tbl>
              <a:tblPr firstRow="1" bandRow="0"/>
              <a:tblGrid>
                <a:gridCol w="3393259"/>
                <a:gridCol w="3068559"/>
                <a:gridCol w="4358582"/>
              </a:tblGrid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구분</a:t>
                      </a:r>
                    </a:p>
                  </a:txBody>
                  <a:tcPr marL="142875" marR="142875" marT="85725" marB="85725" anchor="ctr">
                    <a:solidFill>
                      <a:srgbClr val="102733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계산</a:t>
                      </a:r>
                    </a:p>
                  </a:txBody>
                  <a:tcPr marL="142875" marR="142875" marT="85725" marB="85725" anchor="ctr">
                    <a:solidFill>
                      <a:srgbClr val="102733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뜻</a:t>
                      </a:r>
                    </a:p>
                  </a:txBody>
                  <a:tcPr marL="142875" marR="142875" marT="85725" marB="85725" anchor="ctr">
                    <a:solidFill>
                      <a:srgbClr val="102733"/>
                    </a:solidFill>
                  </a:tcPr>
                </a:tc>
              </a:tr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계획한 시험 기준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 / 4 = 50%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미실행 시험까지 포함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</a:tr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실행한 시험 기준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 / 3 ≈ 66.7%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관찰이 있는 시험만 포함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</a:tr>
            </a:tbl>
          </a:graphicData>
        </a:graphic>
      </p:graphicFrame>
      <p:sp>
        <p:nvSpPr>
          <p:cNvPr id="6" name="">
            <a:extLst>
              <a:ext uri="{FF2B5EF4-FFF2-40B4-BE49-F238E27FC236}">
                <ns3:creationId id="{9320C783-E586-4328-80EB-85432B6AAAB9}"/>
              </a:ext>
            </a:extLst>
          </p:cNvPr>
          <p:cNvSpPr>
            <a:spLocks noGrp="1"/>
          </p:cNvSpPr>
          <p:nvPr/>
        </p:nvSpPr>
        <p:spPr>
          <a:xfrm>
            <a:off x="685800" y="3720275"/>
            <a:ext cx="10820400" cy="4762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75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둘 다 시험 기록의 비율입니다. 제품 전체의 완성도를 뜻하지 않습니다.</a:t>
            </a:r>
          </a:p>
        </p:txBody>
      </p:sp>
      <p:sp>
        <p:nvSpPr>
          <p:cNvPr id="7" name="">
            <a:extLst>
              <a:ext uri="{FF2B5EF4-FFF2-40B4-BE49-F238E27FC236}">
                <ns3:creationId id="{05136E0A-8598-4EA4-B664-FB7C3FE462B3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10/30   프로젝트 기획</a:t>
            </a:r>
          </a:p>
        </p:txBody>
      </p:sp>
      <p:sp>
        <p:nvSpPr>
          <p:cNvPr id="8" name="">
            <a:extLst>
              <a:ext uri="{FF2B5EF4-FFF2-40B4-BE49-F238E27FC236}">
                <ns3:creationId id="{CF4CF427-122D-4091-A246-29025D92EE3B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047</a:t>
            </a:r>
          </a:p>
        </p:txBody>
      </p:sp>
    </p:spTree>
    <p:extLst>
      <p:ext uri="{BB962C8B-B14F-4D97-AF65-F5344CB8AC3E}">
        <ns4:creationId val="290857155"/>
      </p:ext>
    </p:extLst>
  </p:cSld>
</p:sld>
</file>

<file path=ppt/slides/slide48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102733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7" name=""/>
          <p:cNvPicPr>
            <a:picLocks noChangeAspect="1"/>
          </p:cNvPicPr>
          <p:nvPr/>
        </p:nvPicPr>
        <p:blipFill>
          <a:blip r:embed="R58a0dceb109d47f0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6903C7E2-3D17-40B9-9589-E362984A8DA7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925050" cy="6858000"/>
          </a:xfrm>
          <a:prstGeom prst="rect">
            <a:avLst/>
          </a:prstGeom>
          <a:solidFill>
            <a:srgbClr val="102733"/>
          </a:solidFill>
          <a:ln w="0">
            <a:noFill/>
          </a:ln>
        </p:spPr>
      </p:sp>
      <p:sp>
        <p:nvSpPr>
          <p:cNvPr id="3" name="">
            <a:extLst>
              <a:ext uri="{FF2B5EF4-FFF2-40B4-BE49-F238E27FC236}">
                <ns3:creationId id="{E5F3A3C9-018D-40D3-ACAC-E79BE8D9B8ED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ABDDD0"/>
                </a:solidFill>
                <a:latin typeface="Noto Sans KR"/>
                <a:ea typeface="Noto Sans KR"/>
                <a:cs typeface="Noto Sans KR"/>
              </a:defRPr>
            </a:pPr>
            <a:r>
              <a:t>4교시   직접 해 보기</a:t>
            </a:r>
          </a:p>
        </p:txBody>
      </p:sp>
      <p:sp>
        <p:nvSpPr>
          <p:cNvPr id="4" name="">
            <a:extLst>
              <a:ext uri="{FF2B5EF4-FFF2-40B4-BE49-F238E27FC236}">
                <ns3:creationId id="{3C618B61-CDFE-4F21-B3B4-25DA3572B52C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새 관찰 기록의 판정</a:t>
            </a:r>
          </a:p>
        </p:txBody>
      </p:sp>
      <p:sp>
        <p:nvSpPr>
          <p:cNvPr id="5" name="">
            <a:extLst>
              <a:ext uri="{FF2B5EF4-FFF2-40B4-BE49-F238E27FC236}">
                <ns3:creationId id="{CDF54518-3D9B-4F73-9723-6EFA45D28538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38505B"/>
          </a:solidFill>
          <a:ln w="0">
            <a:noFill/>
          </a:ln>
        </p:spPr>
      </p:sp>
      <p:sp>
        <p:nvSpPr>
          <p:cNvPr id="6" name="">
            <a:extLst>
              <a:ext uri="{FF2B5EF4-FFF2-40B4-BE49-F238E27FC236}">
                <ns3:creationId id="{2CB22077-A8BD-4170-BD9A-2A46642336C6}"/>
              </a:ext>
            </a:extLst>
          </p:cNvPr>
          <p:cNvSpPr>
            <a:spLocks noGrp="1"/>
          </p:cNvSpPr>
          <p:nvPr/>
        </p:nvSpPr>
        <p:spPr>
          <a:xfrm>
            <a:off x="685800" y="2085975"/>
            <a:ext cx="409575" cy="86106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01</a:t>
            </a:r>
          </a:p>
        </p:txBody>
      </p:sp>
      <p:sp>
        <p:nvSpPr>
          <p:cNvPr id="7" name="">
            <a:extLst>
              <a:ext uri="{FF2B5EF4-FFF2-40B4-BE49-F238E27FC236}">
                <ns3:creationId id="{95EC10BC-A59D-4F5C-8DE7-034A3DDA2A17}"/>
              </a:ext>
            </a:extLst>
          </p:cNvPr>
          <p:cNvSpPr>
            <a:spLocks noGrp="1"/>
          </p:cNvSpPr>
          <p:nvPr/>
        </p:nvSpPr>
        <p:spPr>
          <a:xfrm>
            <a:off x="1209675" y="2085975"/>
            <a:ext cx="8001000" cy="7943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기대 review·관찰 없음, 기대 reject·관찰 reject, 기대 normal·관찰 alert를 판정합니다.</a:t>
            </a:r>
          </a:p>
        </p:txBody>
      </p:sp>
      <p:sp>
        <p:nvSpPr>
          <p:cNvPr id="8" name="">
            <a:extLst>
              <a:ext uri="{FF2B5EF4-FFF2-40B4-BE49-F238E27FC236}">
                <ns3:creationId id="{AE28EF0B-F953-48EB-9305-68918819FF17}"/>
              </a:ext>
            </a:extLst>
          </p:cNvPr>
          <p:cNvSpPr>
            <a:spLocks noGrp="1"/>
          </p:cNvSpPr>
          <p:nvPr/>
        </p:nvSpPr>
        <p:spPr>
          <a:xfrm>
            <a:off x="685800" y="2947035"/>
            <a:ext cx="409575" cy="50673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02</a:t>
            </a:r>
          </a:p>
        </p:txBody>
      </p:sp>
      <p:sp>
        <p:nvSpPr>
          <p:cNvPr id="9" name="">
            <a:extLst>
              <a:ext uri="{FF2B5EF4-FFF2-40B4-BE49-F238E27FC236}">
                <ns3:creationId id="{4BD96CBD-9940-4D00-8613-52796B26ACB3}"/>
              </a:ext>
            </a:extLst>
          </p:cNvPr>
          <p:cNvSpPr>
            <a:spLocks noGrp="1"/>
          </p:cNvSpPr>
          <p:nvPr/>
        </p:nvSpPr>
        <p:spPr>
          <a:xfrm>
            <a:off x="1209675" y="2947035"/>
            <a:ext cx="80010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각 판정 옆에 실제 비교한 값을 적습니다.</a:t>
            </a:r>
          </a:p>
        </p:txBody>
      </p:sp>
      <p:sp>
        <p:nvSpPr>
          <p:cNvPr id="10" name="">
            <a:extLst>
              <a:ext uri="{FF2B5EF4-FFF2-40B4-BE49-F238E27FC236}">
                <ns3:creationId id="{EBE4549D-060F-4F3F-BDB6-225380F28BE4}"/>
              </a:ext>
            </a:extLst>
          </p:cNvPr>
          <p:cNvSpPr>
            <a:spLocks noGrp="1"/>
          </p:cNvSpPr>
          <p:nvPr/>
        </p:nvSpPr>
        <p:spPr>
          <a:xfrm>
            <a:off x="685800" y="3453765"/>
            <a:ext cx="409575" cy="86106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03</a:t>
            </a:r>
          </a:p>
        </p:txBody>
      </p:sp>
      <p:sp>
        <p:nvSpPr>
          <p:cNvPr id="11" name="">
            <a:extLst>
              <a:ext uri="{FF2B5EF4-FFF2-40B4-BE49-F238E27FC236}">
                <ns3:creationId id="{0B5FACA0-4679-4F9A-8549-9E5056918679}"/>
              </a:ext>
            </a:extLst>
          </p:cNvPr>
          <p:cNvSpPr>
            <a:spLocks noGrp="1"/>
          </p:cNvSpPr>
          <p:nvPr/>
        </p:nvSpPr>
        <p:spPr>
          <a:xfrm>
            <a:off x="1209675" y="3453765"/>
            <a:ext cx="8001000" cy="7943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통과 2·실패 1·미실행 2일 때 두 가지 통과 비율을 계산합니다.</a:t>
            </a:r>
          </a:p>
        </p:txBody>
      </p:sp>
      <p:sp>
        <p:nvSpPr>
          <p:cNvPr id="12" name="">
            <a:extLst>
              <a:ext uri="{FF2B5EF4-FFF2-40B4-BE49-F238E27FC236}">
                <ns3:creationId id="{040455B0-5D83-4BEC-9381-A4E94A2ECF0D}"/>
              </a:ext>
            </a:extLst>
          </p:cNvPr>
          <p:cNvSpPr>
            <a:spLocks noGrp="1"/>
          </p:cNvSpPr>
          <p:nvPr/>
        </p:nvSpPr>
        <p:spPr>
          <a:xfrm>
            <a:off x="685800" y="4314825"/>
            <a:ext cx="409575" cy="86106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04</a:t>
            </a:r>
          </a:p>
        </p:txBody>
      </p:sp>
      <p:sp>
        <p:nvSpPr>
          <p:cNvPr id="13" name="">
            <a:extLst>
              <a:ext uri="{FF2B5EF4-FFF2-40B4-BE49-F238E27FC236}">
                <ns3:creationId id="{FF1DB38A-3A5B-4BE7-86C2-5AC0C78DBBA0}"/>
              </a:ext>
            </a:extLst>
          </p:cNvPr>
          <p:cNvSpPr>
            <a:spLocks noGrp="1"/>
          </p:cNvSpPr>
          <p:nvPr/>
        </p:nvSpPr>
        <p:spPr>
          <a:xfrm>
            <a:off x="1209675" y="4314825"/>
            <a:ext cx="8001000" cy="7943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work에서 A10·A11으로 시작하는 .md 작성 파일에 요구·시험·입력·기대·관찰을 연결합니다.</a:t>
            </a:r>
          </a:p>
        </p:txBody>
      </p:sp>
      <p:sp>
        <p:nvSpPr>
          <p:cNvPr id="14" name="">
            <a:extLst>
              <a:ext uri="{FF2B5EF4-FFF2-40B4-BE49-F238E27FC236}">
                <ns3:creationId id="{ED45C908-FED8-42F3-B51C-F8F6394F302B}"/>
              </a:ext>
            </a:extLst>
          </p:cNvPr>
          <p:cNvSpPr>
            <a:spLocks noGrp="1"/>
          </p:cNvSpPr>
          <p:nvPr/>
        </p:nvSpPr>
        <p:spPr>
          <a:xfrm>
            <a:off x="685800" y="5915025"/>
            <a:ext cx="10382250" cy="4000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950" b="1">
                <a:solidFill>
                  <a:srgbClr val="ABDDD0"/>
                </a:solidFill>
                <a:latin typeface="Noto Sans KR"/>
                <a:ea typeface="Noto Sans KR"/>
                <a:cs typeface="Noto Sans KR"/>
              </a:defRPr>
            </a:pPr>
            <a:r>
              <a:t>판정·계산 8분 · 다른 사람의 판정 근거 비교 5분</a:t>
            </a:r>
          </a:p>
        </p:txBody>
      </p:sp>
      <p:sp>
        <p:nvSpPr>
          <p:cNvPr id="15" name="">
            <a:extLst>
              <a:ext uri="{FF2B5EF4-FFF2-40B4-BE49-F238E27FC236}">
                <ns3:creationId id="{E69F6D0B-B724-4310-BF0F-D9D04A1C3AB8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B3C5CC"/>
                </a:solidFill>
                <a:latin typeface="Noto Sans KR"/>
                <a:ea typeface="Noto Sans KR"/>
                <a:cs typeface="Noto Sans KR"/>
              </a:defRPr>
            </a:pPr>
            <a:r>
              <a:t>10/30   프로젝트 기획</a:t>
            </a:r>
          </a:p>
        </p:txBody>
      </p:sp>
      <p:sp>
        <p:nvSpPr>
          <p:cNvPr id="16" name="">
            <a:extLst>
              <a:ext uri="{FF2B5EF4-FFF2-40B4-BE49-F238E27FC236}">
                <ns3:creationId id="{2EA5686A-0E1D-483D-958B-0B484CA828FC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B3C5CC"/>
                </a:solidFill>
                <a:latin typeface="Consolas"/>
                <a:ea typeface="Consolas"/>
                <a:cs typeface="Consolas"/>
              </a:defRPr>
            </a:pPr>
            <a:r>
              <a:t>048</a:t>
            </a:r>
          </a:p>
        </p:txBody>
      </p:sp>
    </p:spTree>
    <p:extLst>
      <p:ext uri="{BB962C8B-B14F-4D97-AF65-F5344CB8AC3E}">
        <ns4:creationId val="1105240116"/>
      </p:ext>
    </p:extLst>
  </p:cSld>
</p:sld>
</file>

<file path=ppt/slides/slide49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1" name=""/>
          <p:cNvPicPr>
            <a:picLocks noChangeAspect="1"/>
          </p:cNvPicPr>
          <p:nvPr/>
        </p:nvPicPr>
        <p:blipFill>
          <a:blip r:embed="Rdfd28c64bbae47fb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45B6A509-81E0-4510-8537-4F9A2EA4D793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4교시   풀이와 확인</a:t>
            </a:r>
          </a:p>
        </p:txBody>
      </p:sp>
      <p:sp>
        <p:nvSpPr>
          <p:cNvPr id="3" name="">
            <a:extLst>
              <a:ext uri="{FF2B5EF4-FFF2-40B4-BE49-F238E27FC236}">
                <ns3:creationId id="{E8671A5A-A927-43EB-A9DC-E768DB9692C5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관찰 판정 · 풀이</a:t>
            </a:r>
          </a:p>
        </p:txBody>
      </p:sp>
      <p:sp>
        <p:nvSpPr>
          <p:cNvPr id="4" name="">
            <a:extLst>
              <a:ext uri="{FF2B5EF4-FFF2-40B4-BE49-F238E27FC236}">
                <ns3:creationId id="{E8069041-6F7A-4948-8D0A-BE4EC56EB84C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98DD517F-A11B-4BBC-AD2C-54EF70FF4DD5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세 상태는 순서대로 NOT_RUN, PASS, FAIL입니다.</a:t>
            </a:r>
          </a:p>
        </p:txBody>
      </p:sp>
      <p:sp>
        <p:nvSpPr>
          <p:cNvPr id="6" name="">
            <a:extLst>
              <a:ext uri="{FF2B5EF4-FFF2-40B4-BE49-F238E27FC236}">
                <ns3:creationId id="{B378459A-2B67-4FEC-A8FE-C13F1C365F76}"/>
              </a:ext>
            </a:extLst>
          </p:cNvPr>
          <p:cNvSpPr>
            <a:spLocks noGrp="1"/>
          </p:cNvSpPr>
          <p:nvPr/>
        </p:nvSpPr>
        <p:spPr>
          <a:xfrm>
            <a:off x="685800" y="2564130"/>
            <a:ext cx="108204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계획 대비 통과는 2/5=40%, 실행 대비 통과는 2/3≈66.7%입니다.</a:t>
            </a:r>
          </a:p>
        </p:txBody>
      </p:sp>
      <p:sp>
        <p:nvSpPr>
          <p:cNvPr id="7" name="">
            <a:extLst>
              <a:ext uri="{FF2B5EF4-FFF2-40B4-BE49-F238E27FC236}">
                <ns3:creationId id="{11979B94-2193-4599-BBBF-FFB123BBB7B1}"/>
              </a:ext>
            </a:extLst>
          </p:cNvPr>
          <p:cNvSpPr>
            <a:spLocks noGrp="1"/>
          </p:cNvSpPr>
          <p:nvPr/>
        </p:nvSpPr>
        <p:spPr>
          <a:xfrm>
            <a:off x="685800" y="3070860"/>
            <a:ext cx="108204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실패했다고 기대값을 실제 오류에 맞춰 바꾸면 요구 충족 여부를 잃습니다.</a:t>
            </a:r>
          </a:p>
        </p:txBody>
      </p:sp>
      <p:sp>
        <p:nvSpPr>
          <p:cNvPr id="8" name="">
            <a:extLst>
              <a:ext uri="{FF2B5EF4-FFF2-40B4-BE49-F238E27FC236}">
                <ns3:creationId id="{630B9916-43FC-4AEF-AF3A-33CD5EC4DD6C}"/>
              </a:ext>
            </a:extLst>
          </p:cNvPr>
          <p:cNvSpPr>
            <a:spLocks noGrp="1"/>
          </p:cNvSpPr>
          <p:nvPr/>
        </p:nvSpPr>
        <p:spPr>
          <a:xfrm>
            <a:off x="685800" y="3577590"/>
            <a:ext cx="10820400" cy="7943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가상 JSON을 review로 수정해 PASS가 나와도 실제 제품을 재시험한 것은 아닙니다.</a:t>
            </a:r>
          </a:p>
        </p:txBody>
      </p:sp>
      <p:sp>
        <p:nvSpPr>
          <p:cNvPr id="9" name="">
            <a:extLst>
              <a:ext uri="{FF2B5EF4-FFF2-40B4-BE49-F238E27FC236}">
                <ns3:creationId id="{E734808D-4147-4E85-B47A-BB9169C04BC8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10/30   프로젝트 기획</a:t>
            </a:r>
          </a:p>
        </p:txBody>
      </p:sp>
      <p:sp>
        <p:nvSpPr>
          <p:cNvPr id="10" name="">
            <a:extLst>
              <a:ext uri="{FF2B5EF4-FFF2-40B4-BE49-F238E27FC236}">
                <ns3:creationId id="{DD42B75B-1E49-42C9-827E-293D21E90F11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049</a:t>
            </a:r>
          </a:p>
        </p:txBody>
      </p:sp>
    </p:spTree>
    <p:extLst>
      <p:ext uri="{BB962C8B-B14F-4D97-AF65-F5344CB8AC3E}">
        <ns4:creationId val="1705513833"/>
      </p:ext>
    </p:extLst>
  </p:cSld>
</p:sld>
</file>

<file path=ppt/slides/slide50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9" name=""/>
          <p:cNvPicPr>
            <a:picLocks noChangeAspect="1"/>
          </p:cNvPicPr>
          <p:nvPr/>
        </p:nvPicPr>
        <p:blipFill>
          <a:blip r:embed="R6a5896b18b40401c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A6E703AD-12A4-4B49-929D-CE7A3A7308BD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4교시   자료 읽기</a:t>
            </a:r>
          </a:p>
        </p:txBody>
      </p:sp>
      <p:sp>
        <p:nvSpPr>
          <p:cNvPr id="3" name="">
            <a:extLst>
              <a:ext uri="{FF2B5EF4-FFF2-40B4-BE49-F238E27FC236}">
                <ns3:creationId id="{2A836C6F-81C4-4731-93B3-6BA7E02C5BF0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위험과 대체 경로</a:t>
            </a:r>
          </a:p>
        </p:txBody>
      </p:sp>
      <p:sp>
        <p:nvSpPr>
          <p:cNvPr id="4" name="">
            <a:extLst>
              <a:ext uri="{FF2B5EF4-FFF2-40B4-BE49-F238E27FC236}">
                <ns3:creationId id="{19214D9A-ACD2-47A0-A24F-86E9284F022B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graphicFrame>
        <p:nvGraphicFramePr>
          <p:cNvPr id="13" name=""/>
          <p:cNvGraphicFramePr/>
          <p:nvPr/>
        </p:nvGraphicFramePr>
        <p:xfrm>
          <a:off x="685800" y="1943100"/>
          <a:ext cx="10820400" cy="2166366"/>
        </p:xfrm>
        <a:graphic>
          <a:graphicData uri="http://schemas.openxmlformats.org/drawingml/2006/table">
            <a:tbl>
              <a:tblPr firstRow="1" bandRow="0"/>
              <a:tblGrid>
                <a:gridCol w="3048786"/>
                <a:gridCol w="3992337"/>
                <a:gridCol w="3779277"/>
              </a:tblGrid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위험</a:t>
                      </a:r>
                    </a:p>
                  </a:txBody>
                  <a:tcPr marL="142875" marR="142875" marT="85725" marB="85725" anchor="ctr">
                    <a:solidFill>
                      <a:srgbClr val="102733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대신 확인할 방법</a:t>
                      </a:r>
                    </a:p>
                  </a:txBody>
                  <a:tcPr marL="142875" marR="142875" marT="85725" marB="85725" anchor="ctr">
                    <a:solidFill>
                      <a:srgbClr val="102733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남길 내용</a:t>
                      </a:r>
                    </a:p>
                  </a:txBody>
                  <a:tcPr marL="142875" marR="142875" marT="85725" marB="85725" anchor="ctr">
                    <a:solidFill>
                      <a:srgbClr val="102733"/>
                    </a:solidFill>
                  </a:tcPr>
                </a:tc>
              </a:tr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Python 준비 실패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출력과 수동 비교표 읽기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직접 실행하지 못한 단계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</a:tr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장비 모델 미정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CSV로 로직 계획 확인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필요 모델·담당·조건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</a:tr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시간 부족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핵심 정상·누락·중복 시험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미실행 시험과 다음 순서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">
            <a:extLst>
              <a:ext uri="{FF2B5EF4-FFF2-40B4-BE49-F238E27FC236}">
                <ns3:creationId id="{4810DF4C-3F2A-470B-99A4-333A4F5B7AA8}"/>
              </a:ext>
            </a:extLst>
          </p:cNvPr>
          <p:cNvSpPr>
            <a:spLocks noGrp="1"/>
          </p:cNvSpPr>
          <p:nvPr/>
        </p:nvSpPr>
        <p:spPr>
          <a:xfrm>
            <a:off x="685800" y="4261866"/>
            <a:ext cx="10820400" cy="4762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75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대체 방법으로 무엇을 확인했는지 쓰고, 확인하지 못한 범위를 남깁니다.</a:t>
            </a:r>
          </a:p>
        </p:txBody>
      </p:sp>
      <p:sp>
        <p:nvSpPr>
          <p:cNvPr id="7" name="">
            <a:extLst>
              <a:ext uri="{FF2B5EF4-FFF2-40B4-BE49-F238E27FC236}">
                <ns3:creationId id="{D2313FB5-3C75-4EE9-89DB-296B4777B911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10/30   프로젝트 기획</a:t>
            </a:r>
          </a:p>
        </p:txBody>
      </p:sp>
      <p:sp>
        <p:nvSpPr>
          <p:cNvPr id="8" name="">
            <a:extLst>
              <a:ext uri="{FF2B5EF4-FFF2-40B4-BE49-F238E27FC236}">
                <ns3:creationId id="{940A2FB0-F08A-4F9B-A719-773FA1AB5880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050</a:t>
            </a:r>
          </a:p>
        </p:txBody>
      </p:sp>
    </p:spTree>
    <p:extLst>
      <p:ext uri="{BB962C8B-B14F-4D97-AF65-F5344CB8AC3E}">
        <ns4:creationId val="238487124"/>
      </p:ext>
    </p:extLst>
  </p:cSld>
</p:sld>
</file>

<file path=ppt/slides/slide51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102733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7" name=""/>
          <p:cNvPicPr>
            <a:picLocks noChangeAspect="1"/>
          </p:cNvPicPr>
          <p:nvPr/>
        </p:nvPicPr>
        <p:blipFill>
          <a:blip r:embed="R2d486e99c41c4a2a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74531EA8-6914-4EBF-A9DA-1EDA93B39E3A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925050" cy="6858000"/>
          </a:xfrm>
          <a:prstGeom prst="rect">
            <a:avLst/>
          </a:prstGeom>
          <a:solidFill>
            <a:srgbClr val="102733"/>
          </a:solidFill>
          <a:ln w="0">
            <a:noFill/>
          </a:ln>
        </p:spPr>
      </p:sp>
      <p:sp>
        <p:nvSpPr>
          <p:cNvPr id="3" name="">
            <a:extLst>
              <a:ext uri="{FF2B5EF4-FFF2-40B4-BE49-F238E27FC236}">
                <ns3:creationId id="{E949C605-30A0-4569-8902-4E2F0168F5D9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ABDDD0"/>
                </a:solidFill>
                <a:latin typeface="Noto Sans KR"/>
                <a:ea typeface="Noto Sans KR"/>
                <a:cs typeface="Noto Sans KR"/>
              </a:defRPr>
            </a:pPr>
            <a:r>
              <a:t>4교시   직접 해 보기</a:t>
            </a:r>
          </a:p>
        </p:txBody>
      </p:sp>
      <p:sp>
        <p:nvSpPr>
          <p:cNvPr id="4" name="">
            <a:extLst>
              <a:ext uri="{FF2B5EF4-FFF2-40B4-BE49-F238E27FC236}">
                <ns3:creationId id="{DA20FF83-F417-4596-8B32-B7FFE4756CBD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시험 실패의 다음 행동</a:t>
            </a:r>
          </a:p>
        </p:txBody>
      </p:sp>
      <p:sp>
        <p:nvSpPr>
          <p:cNvPr id="5" name="">
            <a:extLst>
              <a:ext uri="{FF2B5EF4-FFF2-40B4-BE49-F238E27FC236}">
                <ns3:creationId id="{2DDAEAE8-F894-4A13-9BCD-90C741ECA1C5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38505B"/>
          </a:solidFill>
          <a:ln w="0">
            <a:noFill/>
          </a:ln>
        </p:spPr>
      </p:sp>
      <p:sp>
        <p:nvSpPr>
          <p:cNvPr id="6" name="">
            <a:extLst>
              <a:ext uri="{FF2B5EF4-FFF2-40B4-BE49-F238E27FC236}">
                <ns3:creationId id="{D784FF85-964E-491C-8204-CDE019DE790F}"/>
              </a:ext>
            </a:extLst>
          </p:cNvPr>
          <p:cNvSpPr>
            <a:spLocks noGrp="1"/>
          </p:cNvSpPr>
          <p:nvPr/>
        </p:nvSpPr>
        <p:spPr>
          <a:xfrm>
            <a:off x="685800" y="2085975"/>
            <a:ext cx="409575" cy="50673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01</a:t>
            </a:r>
          </a:p>
        </p:txBody>
      </p:sp>
      <p:sp>
        <p:nvSpPr>
          <p:cNvPr id="7" name="">
            <a:extLst>
              <a:ext uri="{FF2B5EF4-FFF2-40B4-BE49-F238E27FC236}">
                <ns3:creationId id="{7C96586C-2C4B-40C7-8064-49AAEBAEF07E}"/>
              </a:ext>
            </a:extLst>
          </p:cNvPr>
          <p:cNvSpPr>
            <a:spLocks noGrp="1"/>
          </p:cNvSpPr>
          <p:nvPr/>
        </p:nvSpPr>
        <p:spPr>
          <a:xfrm>
            <a:off x="1209675" y="2085975"/>
            <a:ext cx="80010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T02가 FAIL이면 입력 파일과 실제 결과를 먼저 보존합니다.</a:t>
            </a:r>
          </a:p>
        </p:txBody>
      </p:sp>
      <p:sp>
        <p:nvSpPr>
          <p:cNvPr id="8" name="">
            <a:extLst>
              <a:ext uri="{FF2B5EF4-FFF2-40B4-BE49-F238E27FC236}">
                <ns3:creationId id="{0048D286-B543-4542-A8E2-AB3992BC1CCC}"/>
              </a:ext>
            </a:extLst>
          </p:cNvPr>
          <p:cNvSpPr>
            <a:spLocks noGrp="1"/>
          </p:cNvSpPr>
          <p:nvPr/>
        </p:nvSpPr>
        <p:spPr>
          <a:xfrm>
            <a:off x="685800" y="2592705"/>
            <a:ext cx="409575" cy="86106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02</a:t>
            </a:r>
          </a:p>
        </p:txBody>
      </p:sp>
      <p:sp>
        <p:nvSpPr>
          <p:cNvPr id="9" name="">
            <a:extLst>
              <a:ext uri="{FF2B5EF4-FFF2-40B4-BE49-F238E27FC236}">
                <ns3:creationId id="{E50127AB-7CCE-489A-BEB7-4C12658F2F39}"/>
              </a:ext>
            </a:extLst>
          </p:cNvPr>
          <p:cNvSpPr>
            <a:spLocks noGrp="1"/>
          </p:cNvSpPr>
          <p:nvPr/>
        </p:nvSpPr>
        <p:spPr>
          <a:xfrm>
            <a:off x="1209675" y="2592705"/>
            <a:ext cx="8001000" cy="7943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요구 R02와 기대값이 맞는지 확인하고, 코드에서 누락을 처리할 위치를 찾습니다.</a:t>
            </a:r>
          </a:p>
        </p:txBody>
      </p:sp>
      <p:sp>
        <p:nvSpPr>
          <p:cNvPr id="10" name="">
            <a:extLst>
              <a:ext uri="{FF2B5EF4-FFF2-40B4-BE49-F238E27FC236}">
                <ns3:creationId id="{C44C175E-786E-426B-B1B3-E62B38117F84}"/>
              </a:ext>
            </a:extLst>
          </p:cNvPr>
          <p:cNvSpPr>
            <a:spLocks noGrp="1"/>
          </p:cNvSpPr>
          <p:nvPr/>
        </p:nvSpPr>
        <p:spPr>
          <a:xfrm>
            <a:off x="685800" y="3453765"/>
            <a:ext cx="409575" cy="50673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03</a:t>
            </a:r>
          </a:p>
        </p:txBody>
      </p:sp>
      <p:sp>
        <p:nvSpPr>
          <p:cNvPr id="11" name="">
            <a:extLst>
              <a:ext uri="{FF2B5EF4-FFF2-40B4-BE49-F238E27FC236}">
                <ns3:creationId id="{7CDEBF56-9248-4B31-8272-151A88D52F86}"/>
              </a:ext>
            </a:extLst>
          </p:cNvPr>
          <p:cNvSpPr>
            <a:spLocks noGrp="1"/>
          </p:cNvSpPr>
          <p:nvPr/>
        </p:nvSpPr>
        <p:spPr>
          <a:xfrm>
            <a:off x="1209675" y="3453765"/>
            <a:ext cx="80010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수정 후 같은 입력으로 다시 시험할 계획을 씁니다.</a:t>
            </a:r>
          </a:p>
        </p:txBody>
      </p:sp>
      <p:sp>
        <p:nvSpPr>
          <p:cNvPr id="12" name="">
            <a:extLst>
              <a:ext uri="{FF2B5EF4-FFF2-40B4-BE49-F238E27FC236}">
                <ns3:creationId id="{22A0806B-C6B8-4AA1-9BAF-FB90FF2FF1A0}"/>
              </a:ext>
            </a:extLst>
          </p:cNvPr>
          <p:cNvSpPr>
            <a:spLocks noGrp="1"/>
          </p:cNvSpPr>
          <p:nvPr/>
        </p:nvSpPr>
        <p:spPr>
          <a:xfrm>
            <a:off x="685800" y="3960495"/>
            <a:ext cx="409575" cy="50673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04</a:t>
            </a:r>
          </a:p>
        </p:txBody>
      </p:sp>
      <p:sp>
        <p:nvSpPr>
          <p:cNvPr id="13" name="">
            <a:extLst>
              <a:ext uri="{FF2B5EF4-FFF2-40B4-BE49-F238E27FC236}">
                <ns3:creationId id="{4E281137-B039-476D-9930-5085D1285A02}"/>
              </a:ext>
            </a:extLst>
          </p:cNvPr>
          <p:cNvSpPr>
            <a:spLocks noGrp="1"/>
          </p:cNvSpPr>
          <p:nvPr/>
        </p:nvSpPr>
        <p:spPr>
          <a:xfrm>
            <a:off x="1209675" y="3960495"/>
            <a:ext cx="80010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장비가 필요한 시험은 필요한 조건과 담당 역할을 정합니다.</a:t>
            </a:r>
          </a:p>
        </p:txBody>
      </p:sp>
      <p:sp>
        <p:nvSpPr>
          <p:cNvPr id="14" name="">
            <a:extLst>
              <a:ext uri="{FF2B5EF4-FFF2-40B4-BE49-F238E27FC236}">
                <ns3:creationId id="{0BC60D66-2DF8-4590-ABA3-6AAA411EBE5F}"/>
              </a:ext>
            </a:extLst>
          </p:cNvPr>
          <p:cNvSpPr>
            <a:spLocks noGrp="1"/>
          </p:cNvSpPr>
          <p:nvPr/>
        </p:nvSpPr>
        <p:spPr>
          <a:xfrm>
            <a:off x="685800" y="5915025"/>
            <a:ext cx="10382250" cy="4000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950" b="1">
                <a:solidFill>
                  <a:srgbClr val="ABDDD0"/>
                </a:solidFill>
                <a:latin typeface="Noto Sans KR"/>
                <a:ea typeface="Noto Sans KR"/>
                <a:cs typeface="Noto Sans KR"/>
              </a:defRPr>
            </a:pPr>
            <a:r>
              <a:t>오류 복구 계획 6분 · 다음 사람이 따라 할 수 있는지 확인 4분</a:t>
            </a:r>
          </a:p>
        </p:txBody>
      </p:sp>
      <p:sp>
        <p:nvSpPr>
          <p:cNvPr id="15" name="">
            <a:extLst>
              <a:ext uri="{FF2B5EF4-FFF2-40B4-BE49-F238E27FC236}">
                <ns3:creationId id="{5A7F8795-4855-4817-A920-72FE5358DC0A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B3C5CC"/>
                </a:solidFill>
                <a:latin typeface="Noto Sans KR"/>
                <a:ea typeface="Noto Sans KR"/>
                <a:cs typeface="Noto Sans KR"/>
              </a:defRPr>
            </a:pPr>
            <a:r>
              <a:t>10/30   프로젝트 기획</a:t>
            </a:r>
          </a:p>
        </p:txBody>
      </p:sp>
      <p:sp>
        <p:nvSpPr>
          <p:cNvPr id="16" name="">
            <a:extLst>
              <a:ext uri="{FF2B5EF4-FFF2-40B4-BE49-F238E27FC236}">
                <ns3:creationId id="{3C0E2D25-D962-4726-A39F-781E0BD73B9A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B3C5CC"/>
                </a:solidFill>
                <a:latin typeface="Consolas"/>
                <a:ea typeface="Consolas"/>
                <a:cs typeface="Consolas"/>
              </a:defRPr>
            </a:pPr>
            <a:r>
              <a:t>051</a:t>
            </a:r>
          </a:p>
        </p:txBody>
      </p:sp>
    </p:spTree>
    <p:extLst>
      <p:ext uri="{BB962C8B-B14F-4D97-AF65-F5344CB8AC3E}">
        <ns4:creationId val="1560068206"/>
      </p:ext>
    </p:extLst>
  </p:cSld>
</p:sld>
</file>

<file path=ppt/slides/slide52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102733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9" name=""/>
          <p:cNvPicPr>
            <a:picLocks noChangeAspect="1"/>
          </p:cNvPicPr>
          <p:nvPr/>
        </p:nvPicPr>
        <p:blipFill>
          <a:blip r:embed="Rc684da4344d34b50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4FF0CF3F-F4B8-4EC0-8B87-5192809AB2DA}"/>
              </a:ext>
            </a:extLst>
          </p:cNvPr>
          <p:cNvSpPr>
            <a:spLocks noGrp="1"/>
          </p:cNvSpPr>
          <p:nvPr/>
        </p:nvSpPr>
        <p:spPr>
          <a:xfrm>
            <a:off x="685800" y="685800"/>
            <a:ext cx="8572500" cy="4476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100" b="1">
                <a:solidFill>
                  <a:srgbClr val="ABDDD0"/>
                </a:solidFill>
                <a:latin typeface="Noto Sans KR"/>
                <a:ea typeface="Noto Sans KR"/>
                <a:cs typeface="Noto Sans KR"/>
              </a:defRPr>
            </a:pPr>
            <a:r>
              <a:t>05   교시</a:t>
            </a:r>
          </a:p>
        </p:txBody>
      </p:sp>
      <p:sp>
        <p:nvSpPr>
          <p:cNvPr id="3" name="">
            <a:extLst>
              <a:ext uri="{FF2B5EF4-FFF2-40B4-BE49-F238E27FC236}">
                <ns3:creationId id="{F4F12BAA-86AF-464E-9110-1906848F564F}"/>
              </a:ext>
            </a:extLst>
          </p:cNvPr>
          <p:cNvSpPr>
            <a:spLocks noGrp="1"/>
          </p:cNvSpPr>
          <p:nvPr/>
        </p:nvSpPr>
        <p:spPr>
          <a:xfrm>
            <a:off x="685800" y="1638300"/>
            <a:ext cx="8524875" cy="16573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4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작업·선행 조건·비용</a:t>
            </a:r>
          </a:p>
        </p:txBody>
      </p:sp>
      <p:sp>
        <p:nvSpPr>
          <p:cNvPr id="4" name="">
            <a:extLst>
              <a:ext uri="{FF2B5EF4-FFF2-40B4-BE49-F238E27FC236}">
                <ns3:creationId id="{B493ADBE-98CE-4D99-AD0A-331617CCEFD1}"/>
              </a:ext>
            </a:extLst>
          </p:cNvPr>
          <p:cNvSpPr>
            <a:spLocks noGrp="1"/>
          </p:cNvSpPr>
          <p:nvPr/>
        </p:nvSpPr>
        <p:spPr>
          <a:xfrm>
            <a:off x="685800" y="3724275"/>
            <a:ext cx="8001000" cy="4286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250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15:00~15:50 · 50분</a:t>
            </a:r>
          </a:p>
        </p:txBody>
      </p:sp>
      <p:sp>
        <p:nvSpPr>
          <p:cNvPr id="5" name="">
            <a:extLst>
              <a:ext uri="{FF2B5EF4-FFF2-40B4-BE49-F238E27FC236}">
                <ns3:creationId id="{70201DC2-EB3F-46DB-BD4B-351DA4A07D04}"/>
              </a:ext>
            </a:extLst>
          </p:cNvPr>
          <p:cNvSpPr>
            <a:spLocks noGrp="1"/>
          </p:cNvSpPr>
          <p:nvPr/>
        </p:nvSpPr>
        <p:spPr>
          <a:xfrm>
            <a:off x="685800" y="4219575"/>
            <a:ext cx="8001000" cy="4286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250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A13~A15</a:t>
            </a:r>
          </a:p>
        </p:txBody>
      </p:sp>
      <p:sp>
        <p:nvSpPr>
          <p:cNvPr id="6" name="">
            <a:extLst>
              <a:ext uri="{FF2B5EF4-FFF2-40B4-BE49-F238E27FC236}">
                <ns3:creationId id="{E94BFF2C-F5A4-4A9C-BE34-A30033D76737}"/>
              </a:ext>
            </a:extLst>
          </p:cNvPr>
          <p:cNvSpPr>
            <a:spLocks noGrp="1"/>
          </p:cNvSpPr>
          <p:nvPr/>
        </p:nvSpPr>
        <p:spPr>
          <a:xfrm>
            <a:off x="685800" y="4714875"/>
            <a:ext cx="8001000" cy="4286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250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완성할 것: 작업 순서와 가정 견적</a:t>
            </a:r>
          </a:p>
        </p:txBody>
      </p:sp>
      <p:sp>
        <p:nvSpPr>
          <p:cNvPr id="7" name="">
            <a:extLst>
              <a:ext uri="{FF2B5EF4-FFF2-40B4-BE49-F238E27FC236}">
                <ns3:creationId id="{F3E0FFBA-8634-430C-9AB1-D58B3F4B09EC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B3C5CC"/>
                </a:solidFill>
                <a:latin typeface="Noto Sans KR"/>
                <a:ea typeface="Noto Sans KR"/>
                <a:cs typeface="Noto Sans KR"/>
              </a:defRPr>
            </a:pPr>
            <a:r>
              <a:t>10/30   프로젝트 기획</a:t>
            </a:r>
          </a:p>
        </p:txBody>
      </p:sp>
      <p:sp>
        <p:nvSpPr>
          <p:cNvPr id="8" name="">
            <a:extLst>
              <a:ext uri="{FF2B5EF4-FFF2-40B4-BE49-F238E27FC236}">
                <ns3:creationId id="{5E1F19E6-0EE9-4BE3-8DFE-FA0F97A436C9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B3C5CC"/>
                </a:solidFill>
                <a:latin typeface="Consolas"/>
                <a:ea typeface="Consolas"/>
                <a:cs typeface="Consolas"/>
              </a:defRPr>
            </a:pPr>
            <a:r>
              <a:t>052</a:t>
            </a:r>
          </a:p>
        </p:txBody>
      </p:sp>
    </p:spTree>
    <p:extLst>
      <p:ext uri="{BB962C8B-B14F-4D97-AF65-F5344CB8AC3E}">
        <ns4:creationId val="1004446417"/>
      </p:ext>
    </p:extLst>
  </p:cSld>
</p:sld>
</file>

<file path=ppt/slides/slide53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8" name=""/>
          <p:cNvPicPr>
            <a:picLocks noChangeAspect="1"/>
          </p:cNvPicPr>
          <p:nvPr/>
        </p:nvPicPr>
        <p:blipFill>
          <a:blip r:embed="R8c67ce63bcbe4abd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BAA18536-BAC8-45BE-A9CD-FB745FA83922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5교시   자료 읽기</a:t>
            </a:r>
          </a:p>
        </p:txBody>
      </p:sp>
      <p:sp>
        <p:nvSpPr>
          <p:cNvPr id="3" name="">
            <a:extLst>
              <a:ext uri="{FF2B5EF4-FFF2-40B4-BE49-F238E27FC236}">
                <ns3:creationId id="{B3355BCF-A0B6-428A-B259-2DB19D0AAE2B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결과물로 나눈 작업</a:t>
            </a:r>
          </a:p>
        </p:txBody>
      </p:sp>
      <p:sp>
        <p:nvSpPr>
          <p:cNvPr id="4" name="">
            <a:extLst>
              <a:ext uri="{FF2B5EF4-FFF2-40B4-BE49-F238E27FC236}">
                <ns3:creationId id="{EA7A68AF-8855-49E9-8562-52FD5B82028E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graphicFrame>
        <p:nvGraphicFramePr>
          <p:cNvPr id="12" name=""/>
          <p:cNvGraphicFramePr/>
          <p:nvPr/>
        </p:nvGraphicFramePr>
        <p:xfrm>
          <a:off x="685800" y="1943100"/>
          <a:ext cx="10820400" cy="2707958"/>
        </p:xfrm>
        <a:graphic>
          <a:graphicData uri="http://schemas.openxmlformats.org/drawingml/2006/table">
            <a:tbl>
              <a:tblPr firstRow="1" bandRow="0"/>
              <a:tblGrid>
                <a:gridCol w="1842838"/>
                <a:gridCol w="4818627"/>
                <a:gridCol w="4158934"/>
              </a:tblGrid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ID</a:t>
                      </a:r>
                    </a:p>
                  </a:txBody>
                  <a:tcPr marL="142875" marR="142875" marT="85725" marB="85725" anchor="ctr">
                    <a:solidFill>
                      <a:srgbClr val="102733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완성할 결과물</a:t>
                      </a:r>
                    </a:p>
                  </a:txBody>
                  <a:tcPr marL="142875" marR="142875" marT="85725" marB="85725" anchor="ctr">
                    <a:solidFill>
                      <a:srgbClr val="102733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먼저 필요한 작업</a:t>
                      </a:r>
                    </a:p>
                  </a:txBody>
                  <a:tcPr marL="142875" marR="142875" marT="85725" marB="85725" anchor="ctr">
                    <a:solidFill>
                      <a:srgbClr val="102733"/>
                    </a:solidFill>
                  </a:tcPr>
                </a:tc>
              </a:tr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W1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데이터 규칙과 샘플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없음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</a:tr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W2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읽기·값 검사 출력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W1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</a:tr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W3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정상·검토·실패 화면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W1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</a:tr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W4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통합 시험과 안내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W2와 W3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</a:tr>
            </a:tbl>
          </a:graphicData>
        </a:graphic>
      </p:graphicFrame>
      <p:sp>
        <p:nvSpPr>
          <p:cNvPr id="6" name="">
            <a:extLst>
              <a:ext uri="{FF2B5EF4-FFF2-40B4-BE49-F238E27FC236}">
                <ns3:creationId id="{BD450599-30F1-4A17-B511-14583C2A1132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10/30   프로젝트 기획</a:t>
            </a:r>
          </a:p>
        </p:txBody>
      </p:sp>
      <p:sp>
        <p:nvSpPr>
          <p:cNvPr id="7" name="">
            <a:extLst>
              <a:ext uri="{FF2B5EF4-FFF2-40B4-BE49-F238E27FC236}">
                <ns3:creationId id="{C185BE3B-092A-40DD-96EA-D8C07F6430AE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053</a:t>
            </a:r>
          </a:p>
        </p:txBody>
      </p:sp>
    </p:spTree>
    <p:extLst>
      <p:ext uri="{BB962C8B-B14F-4D97-AF65-F5344CB8AC3E}">
        <ns4:creationId val="1052033202"/>
      </p:ext>
    </p:extLst>
  </p:cSld>
</p:sld>
</file>

<file path=ppt/slides/slide54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2" name=""/>
          <p:cNvPicPr>
            <a:picLocks noChangeAspect="1"/>
          </p:cNvPicPr>
          <p:nvPr/>
        </p:nvPicPr>
        <p:blipFill>
          <a:blip r:embed="R193103f2d9fb469f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2F1C40DE-50CF-4A54-8DF8-1E03585FD2D3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5교시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B3687E56-9911-4AE4-B18A-36A1204AA9D3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선행 관계와 완료 조건</a:t>
            </a:r>
          </a:p>
        </p:txBody>
      </p:sp>
      <p:sp>
        <p:nvSpPr>
          <p:cNvPr id="4" name="">
            <a:extLst>
              <a:ext uri="{FF2B5EF4-FFF2-40B4-BE49-F238E27FC236}">
                <ns3:creationId id="{776E374B-942E-4553-8FAD-696D26E6D6FD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E67A0E7A-0E38-4AB2-9CB4-8E3653CD546B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선행 작업은 다음 일을 시작하기 전에 필요한 결과입니다.</a:t>
            </a:r>
          </a:p>
        </p:txBody>
      </p:sp>
      <p:sp>
        <p:nvSpPr>
          <p:cNvPr id="6" name="">
            <a:extLst>
              <a:ext uri="{FF2B5EF4-FFF2-40B4-BE49-F238E27FC236}">
                <ns3:creationId id="{E8288537-098C-40EB-894B-5A3D9257CEA1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W1의 필드와 규칙이 바뀌면 W2의 검사와 W3의 표시도 바뀔 수 있습니다.</a:t>
            </a:r>
          </a:p>
        </p:txBody>
      </p:sp>
      <p:sp>
        <p:nvSpPr>
          <p:cNvPr id="7" name="">
            <a:extLst>
              <a:ext uri="{FF2B5EF4-FFF2-40B4-BE49-F238E27FC236}">
                <ns3:creationId id="{30935DBD-32B2-4E24-8CAF-0330DE9BF14C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W2와 W3을 합치기 전에 같은 데이터 규칙을 쓰는지 확인합니다.</a:t>
            </a:r>
          </a:p>
        </p:txBody>
      </p:sp>
      <p:sp>
        <p:nvSpPr>
          <p:cNvPr id="8" name="">
            <a:extLst>
              <a:ext uri="{FF2B5EF4-FFF2-40B4-BE49-F238E27FC236}">
                <ns3:creationId id="{28CED9AA-1D14-412A-B5A4-B98AA6DE6F05}"/>
              </a:ext>
            </a:extLst>
          </p:cNvPr>
          <p:cNvSpPr>
            <a:spLocks noGrp="1"/>
          </p:cNvSpPr>
          <p:nvPr/>
        </p:nvSpPr>
        <p:spPr>
          <a:xfrm>
            <a:off x="685800" y="361188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예정 시간이 지났다는 이유만으로 완료라고 기록하지 않습니다.</a:t>
            </a:r>
          </a:p>
        </p:txBody>
      </p:sp>
      <p:sp>
        <p:nvSpPr>
          <p:cNvPr id="9" name="">
            <a:extLst>
              <a:ext uri="{FF2B5EF4-FFF2-40B4-BE49-F238E27FC236}">
                <ns3:creationId id="{DA3B615D-E7FC-4D27-8FCC-048DFD01D5A3}"/>
              </a:ext>
            </a:extLst>
          </p:cNvPr>
          <p:cNvSpPr>
            <a:spLocks noGrp="1"/>
          </p:cNvSpPr>
          <p:nvPr/>
        </p:nvSpPr>
        <p:spPr>
          <a:xfrm>
            <a:off x="685800" y="413004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샘플 승인, 정상·오류 출력, 세 상태 화면처럼 검토할 결과를 정합니다.</a:t>
            </a:r>
          </a:p>
        </p:txBody>
      </p:sp>
      <p:sp>
        <p:nvSpPr>
          <p:cNvPr id="10" name="">
            <a:extLst>
              <a:ext uri="{FF2B5EF4-FFF2-40B4-BE49-F238E27FC236}">
                <ns3:creationId id="{45A6F749-ADFF-4B29-92B3-9F6A9A114ABD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10/30   프로젝트 기획</a:t>
            </a:r>
          </a:p>
        </p:txBody>
      </p:sp>
      <p:sp>
        <p:nvSpPr>
          <p:cNvPr id="11" name="">
            <a:extLst>
              <a:ext uri="{FF2B5EF4-FFF2-40B4-BE49-F238E27FC236}">
                <ns3:creationId id="{12BD0585-00A1-4969-8B33-6BC2AE00D1D8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054</a:t>
            </a:r>
          </a:p>
        </p:txBody>
      </p:sp>
    </p:spTree>
    <p:extLst>
      <p:ext uri="{BB962C8B-B14F-4D97-AF65-F5344CB8AC3E}">
        <ns4:creationId val="363565601"/>
      </p:ext>
    </p:extLst>
  </p:cSld>
</p:sld>
</file>

<file path=ppt/slides/slide55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9" name=""/>
          <p:cNvPicPr>
            <a:picLocks noChangeAspect="1"/>
          </p:cNvPicPr>
          <p:nvPr/>
        </p:nvPicPr>
        <p:blipFill>
          <a:blip r:embed="R9fe9a1d953514cec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3851CF04-B11B-4851-AC95-B91C629384FD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5교시   자료 읽기</a:t>
            </a:r>
          </a:p>
        </p:txBody>
      </p:sp>
      <p:sp>
        <p:nvSpPr>
          <p:cNvPr id="3" name="">
            <a:extLst>
              <a:ext uri="{FF2B5EF4-FFF2-40B4-BE49-F238E27FC236}">
                <ns3:creationId id="{E9803F7A-3113-417F-B6EA-F3280DB6D2E9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작업 시간의 가정</a:t>
            </a:r>
          </a:p>
        </p:txBody>
      </p:sp>
      <p:sp>
        <p:nvSpPr>
          <p:cNvPr id="4" name="">
            <a:extLst>
              <a:ext uri="{FF2B5EF4-FFF2-40B4-BE49-F238E27FC236}">
                <ns3:creationId id="{F9FB49DE-53A3-4D3D-AC2E-0F1B5CD6A38E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graphicFrame>
        <p:nvGraphicFramePr>
          <p:cNvPr id="13" name=""/>
          <p:cNvGraphicFramePr/>
          <p:nvPr/>
        </p:nvGraphicFramePr>
        <p:xfrm>
          <a:off x="685800" y="1943100"/>
          <a:ext cx="10820400" cy="2707958"/>
        </p:xfrm>
        <a:graphic>
          <a:graphicData uri="http://schemas.openxmlformats.org/drawingml/2006/table">
            <a:tbl>
              <a:tblPr firstRow="1" bandRow="0"/>
              <a:tblGrid>
                <a:gridCol w="2271603"/>
                <a:gridCol w="2487405"/>
                <a:gridCol w="6061393"/>
              </a:tblGrid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작업</a:t>
                      </a:r>
                    </a:p>
                  </a:txBody>
                  <a:tcPr marL="142875" marR="142875" marT="85725" marB="85725" anchor="ctr">
                    <a:solidFill>
                      <a:srgbClr val="102733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시간</a:t>
                      </a:r>
                    </a:p>
                  </a:txBody>
                  <a:tcPr marL="142875" marR="142875" marT="85725" marB="85725" anchor="ctr">
                    <a:solidFill>
                      <a:srgbClr val="102733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완료 증거</a:t>
                      </a:r>
                    </a:p>
                  </a:txBody>
                  <a:tcPr marL="142875" marR="142875" marT="85725" marB="85725" anchor="ctr">
                    <a:solidFill>
                      <a:srgbClr val="102733"/>
                    </a:solidFill>
                  </a:tcPr>
                </a:tc>
              </a:tr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W1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2시간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데이터 규칙과 샘플 합의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</a:tr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W2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4시간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정상·review·reject 출력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</a:tr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W3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3시간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규칙과 맞는 세 상태 화면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</a:tr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W4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3시간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시험 기록과 README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</a:tr>
            </a:tbl>
          </a:graphicData>
        </a:graphic>
      </p:graphicFrame>
      <p:sp>
        <p:nvSpPr>
          <p:cNvPr id="6" name="">
            <a:extLst>
              <a:ext uri="{FF2B5EF4-FFF2-40B4-BE49-F238E27FC236}">
                <ns3:creationId id="{D9CEAE7B-E96B-4CED-A348-0C1B582F9A59}"/>
              </a:ext>
            </a:extLst>
          </p:cNvPr>
          <p:cNvSpPr>
            <a:spLocks noGrp="1"/>
          </p:cNvSpPr>
          <p:nvPr/>
        </p:nvSpPr>
        <p:spPr>
          <a:xfrm>
            <a:off x="685800" y="4803458"/>
            <a:ext cx="10820400" cy="4762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75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합계 12시간은 교육용 작업량 가정입니다. 실제 프로젝트 달력 일정은 따로 정합니다.</a:t>
            </a:r>
          </a:p>
        </p:txBody>
      </p:sp>
      <p:sp>
        <p:nvSpPr>
          <p:cNvPr id="7" name="">
            <a:extLst>
              <a:ext uri="{FF2B5EF4-FFF2-40B4-BE49-F238E27FC236}">
                <ns3:creationId id="{EC5816D1-8B4C-41A1-89FD-C9E38D4E5F7E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10/30   프로젝트 기획</a:t>
            </a:r>
          </a:p>
        </p:txBody>
      </p:sp>
      <p:sp>
        <p:nvSpPr>
          <p:cNvPr id="8" name="">
            <a:extLst>
              <a:ext uri="{FF2B5EF4-FFF2-40B4-BE49-F238E27FC236}">
                <ns3:creationId id="{C833CB3D-E655-4DB5-95A2-AAC35D64E1E8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055</a:t>
            </a:r>
          </a:p>
        </p:txBody>
      </p:sp>
    </p:spTree>
    <p:extLst>
      <p:ext uri="{BB962C8B-B14F-4D97-AF65-F5344CB8AC3E}">
        <ns4:creationId val="1019367471"/>
      </p:ext>
    </p:extLst>
  </p:cSld>
</p:sld>
</file>

<file path=ppt/slides/slide56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3" name=""/>
          <p:cNvPicPr>
            <a:picLocks noChangeAspect="1"/>
          </p:cNvPicPr>
          <p:nvPr/>
        </p:nvPicPr>
        <p:blipFill>
          <a:blip r:embed="R89067c14402b4376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04288579-92EA-4F4D-AD9F-0A8536FF6B4C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5교시   비교</a:t>
            </a:r>
          </a:p>
        </p:txBody>
      </p:sp>
      <p:sp>
        <p:nvSpPr>
          <p:cNvPr id="3" name="">
            <a:extLst>
              <a:ext uri="{FF2B5EF4-FFF2-40B4-BE49-F238E27FC236}">
                <ns3:creationId id="{28BB97E1-9B79-4452-9A00-D9F0B9CBE752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총 작업량과 달력 기간</a:t>
            </a:r>
          </a:p>
        </p:txBody>
      </p:sp>
      <p:sp>
        <p:nvSpPr>
          <p:cNvPr id="4" name="">
            <a:extLst>
              <a:ext uri="{FF2B5EF4-FFF2-40B4-BE49-F238E27FC236}">
                <ns3:creationId id="{124FFA58-A39D-4907-BA45-6356680C9A67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174982E3-484F-4149-B57A-8913AABBB10F}"/>
              </a:ext>
            </a:extLst>
          </p:cNvPr>
          <p:cNvSpPr>
            <a:spLocks noGrp="1"/>
          </p:cNvSpPr>
          <p:nvPr/>
        </p:nvSpPr>
        <p:spPr>
          <a:xfrm>
            <a:off x="685800" y="2009775"/>
            <a:ext cx="5048250" cy="4762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25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작업량</a:t>
            </a:r>
          </a:p>
        </p:txBody>
      </p:sp>
      <p:sp>
        <p:nvSpPr>
          <p:cNvPr id="6" name="">
            <a:extLst>
              <a:ext uri="{FF2B5EF4-FFF2-40B4-BE49-F238E27FC236}">
                <ns3:creationId id="{4141C7FE-6A79-486F-94C2-F5AE3F899439}"/>
              </a:ext>
            </a:extLst>
          </p:cNvPr>
          <p:cNvSpPr>
            <a:spLocks noGrp="1"/>
          </p:cNvSpPr>
          <p:nvPr/>
        </p:nvSpPr>
        <p:spPr>
          <a:xfrm>
            <a:off x="6448425" y="2009775"/>
            <a:ext cx="5048250" cy="4762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25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완료 날짜</a:t>
            </a:r>
          </a:p>
        </p:txBody>
      </p:sp>
      <p:sp>
        <p:nvSpPr>
          <p:cNvPr id="7" name="">
            <a:extLst>
              <a:ext uri="{FF2B5EF4-FFF2-40B4-BE49-F238E27FC236}">
                <ns3:creationId id="{0312041C-BCDA-4997-A400-508964343D1B}"/>
              </a:ext>
            </a:extLst>
          </p:cNvPr>
          <p:cNvSpPr>
            <a:spLocks noGrp="1"/>
          </p:cNvSpPr>
          <p:nvPr/>
        </p:nvSpPr>
        <p:spPr>
          <a:xfrm>
            <a:off x="685800" y="2676525"/>
            <a:ext cx="5048250" cy="7715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25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한 사람이 2+4+3+3시간 일하면 총 12시간입니다.</a:t>
            </a:r>
          </a:p>
        </p:txBody>
      </p:sp>
      <p:sp>
        <p:nvSpPr>
          <p:cNvPr id="8" name="">
            <a:extLst>
              <a:ext uri="{FF2B5EF4-FFF2-40B4-BE49-F238E27FC236}">
                <ns3:creationId id="{AF473FF4-2B66-4CA3-8E1A-666B35184EC6}"/>
              </a:ext>
            </a:extLst>
          </p:cNvPr>
          <p:cNvSpPr>
            <a:spLocks noGrp="1"/>
          </p:cNvSpPr>
          <p:nvPr/>
        </p:nvSpPr>
        <p:spPr>
          <a:xfrm>
            <a:off x="685800" y="3514725"/>
            <a:ext cx="5048250" cy="7715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25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각 작업의 결과물과 예상 시간을 합칩니다.</a:t>
            </a:r>
          </a:p>
        </p:txBody>
      </p:sp>
      <p:sp>
        <p:nvSpPr>
          <p:cNvPr id="9" name="">
            <a:extLst>
              <a:ext uri="{FF2B5EF4-FFF2-40B4-BE49-F238E27FC236}">
                <ns3:creationId id="{A53F1CB9-C510-42C5-AA86-700D1ED4DB4B}"/>
              </a:ext>
            </a:extLst>
          </p:cNvPr>
          <p:cNvSpPr>
            <a:spLocks noGrp="1"/>
          </p:cNvSpPr>
          <p:nvPr/>
        </p:nvSpPr>
        <p:spPr>
          <a:xfrm>
            <a:off x="6448425" y="2676525"/>
            <a:ext cx="5048250" cy="7715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25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선행 관계와 담당자의 가능 시간에 영향을 받습니다.</a:t>
            </a:r>
          </a:p>
        </p:txBody>
      </p:sp>
      <p:sp>
        <p:nvSpPr>
          <p:cNvPr id="10" name="">
            <a:extLst>
              <a:ext uri="{FF2B5EF4-FFF2-40B4-BE49-F238E27FC236}">
                <ns3:creationId id="{CF74961B-5367-47E9-A298-B33FF61A5A72}"/>
              </a:ext>
            </a:extLst>
          </p:cNvPr>
          <p:cNvSpPr>
            <a:spLocks noGrp="1"/>
          </p:cNvSpPr>
          <p:nvPr/>
        </p:nvSpPr>
        <p:spPr>
          <a:xfrm>
            <a:off x="6448425" y="3514725"/>
            <a:ext cx="5048250" cy="7715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25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팀원이 두 명이라고 언제나 6시간 뒤 끝나지는 않습니다.</a:t>
            </a:r>
          </a:p>
        </p:txBody>
      </p:sp>
      <p:sp>
        <p:nvSpPr>
          <p:cNvPr id="11" name="">
            <a:extLst>
              <a:ext uri="{FF2B5EF4-FFF2-40B4-BE49-F238E27FC236}">
                <ns3:creationId id="{C78FDC76-B142-421C-94FF-330BD91523DD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10/30   프로젝트 기획</a:t>
            </a:r>
          </a:p>
        </p:txBody>
      </p:sp>
      <p:sp>
        <p:nvSpPr>
          <p:cNvPr id="12" name="">
            <a:extLst>
              <a:ext uri="{FF2B5EF4-FFF2-40B4-BE49-F238E27FC236}">
                <ns3:creationId id="{28E09F1B-D0B0-4108-A6DB-D4A01B653797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056</a:t>
            </a:r>
          </a:p>
        </p:txBody>
      </p:sp>
    </p:spTree>
    <p:extLst>
      <p:ext uri="{BB962C8B-B14F-4D97-AF65-F5344CB8AC3E}">
        <ns4:creationId val="734106628"/>
      </p:ext>
    </p:extLst>
  </p:cSld>
</p:sld>
</file>

<file path=ppt/slides/slide57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22" name=""/>
          <p:cNvPicPr>
            <a:picLocks noChangeAspect="1"/>
          </p:cNvPicPr>
          <p:nvPr/>
        </p:nvPicPr>
        <p:blipFill>
          <a:blip r:embed="R31f65483f5fc44ec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839C9090-ADB5-4825-B54E-F2893ECC71B0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5교시   코드와 실행</a:t>
            </a:r>
          </a:p>
        </p:txBody>
      </p:sp>
      <p:sp>
        <p:nvSpPr>
          <p:cNvPr id="3" name="">
            <a:extLst>
              <a:ext uri="{FF2B5EF4-FFF2-40B4-BE49-F238E27FC236}">
                <ns3:creationId id="{5788A006-2F54-4869-9BB7-8A7EC1F956B1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가정 견적 · 제공된 완성 코드</a:t>
            </a:r>
          </a:p>
        </p:txBody>
      </p:sp>
      <p:sp>
        <p:nvSpPr>
          <p:cNvPr id="4" name="">
            <a:extLst>
              <a:ext uri="{FF2B5EF4-FFF2-40B4-BE49-F238E27FC236}">
                <ns3:creationId id="{D9419104-A921-4CC9-93CF-3DE2139E7208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054285E2-258D-4C21-9428-9789D4B45FD3}"/>
              </a:ext>
            </a:extLst>
          </p:cNvPr>
          <p:cNvSpPr>
            <a:spLocks noGrp="1"/>
          </p:cNvSpPr>
          <p:nvPr/>
        </p:nvSpPr>
        <p:spPr>
          <a:xfrm>
            <a:off x="685800" y="1924050"/>
            <a:ext cx="10820400" cy="2452688"/>
          </a:xfrm>
          <a:prstGeom prst="rect">
            <a:avLst/>
          </a:prstGeom>
          <a:solidFill>
            <a:srgbClr val="102733"/>
          </a:solidFill>
          <a:ln w="0">
            <a:noFill/>
          </a:ln>
        </p:spPr>
      </p:sp>
      <p:sp>
        <p:nvSpPr>
          <p:cNvPr id="6" name="">
            <a:extLst>
              <a:ext uri="{FF2B5EF4-FFF2-40B4-BE49-F238E27FC236}">
                <ns3:creationId id="{1ADCC65C-79F4-49C4-895F-038F83FFDAFB}"/>
              </a:ext>
            </a:extLst>
          </p:cNvPr>
          <p:cNvSpPr>
            <a:spLocks noGrp="1"/>
          </p:cNvSpPr>
          <p:nvPr/>
        </p:nvSpPr>
        <p:spPr>
          <a:xfrm>
            <a:off x="838200" y="2076450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01</a:t>
            </a:r>
          </a:p>
        </p:txBody>
      </p:sp>
      <p:sp>
        <p:nvSpPr>
          <p:cNvPr id="7" name="">
            <a:extLst>
              <a:ext uri="{FF2B5EF4-FFF2-40B4-BE49-F238E27FC236}">
                <ns3:creationId id="{38BD4DDD-0996-4A42-B763-223AD9D29836}"/>
              </a:ext>
            </a:extLst>
          </p:cNvPr>
          <p:cNvSpPr>
            <a:spLocks noGrp="1"/>
          </p:cNvSpPr>
          <p:nvPr/>
        </p:nvSpPr>
        <p:spPr>
          <a:xfrm>
            <a:off x="1257300" y="2047875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hours = 12</a:t>
            </a:r>
          </a:p>
        </p:txBody>
      </p:sp>
      <p:sp>
        <p:nvSpPr>
          <p:cNvPr id="8" name="">
            <a:extLst>
              <a:ext uri="{FF2B5EF4-FFF2-40B4-BE49-F238E27FC236}">
                <ns3:creationId id="{CBEBAA33-4D45-46DD-A8CB-F7BAFB08BC2A}"/>
              </a:ext>
            </a:extLst>
          </p:cNvPr>
          <p:cNvSpPr>
            <a:spLocks noGrp="1"/>
          </p:cNvSpPr>
          <p:nvPr/>
        </p:nvSpPr>
        <p:spPr>
          <a:xfrm>
            <a:off x="838200" y="2386013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02</a:t>
            </a:r>
          </a:p>
        </p:txBody>
      </p:sp>
      <p:sp>
        <p:nvSpPr>
          <p:cNvPr id="9" name="">
            <a:extLst>
              <a:ext uri="{FF2B5EF4-FFF2-40B4-BE49-F238E27FC236}">
                <ns3:creationId id="{CF7FD2EC-9FD8-4F59-A528-DA4374A096ED}"/>
              </a:ext>
            </a:extLst>
          </p:cNvPr>
          <p:cNvSpPr>
            <a:spLocks noGrp="1"/>
          </p:cNvSpPr>
          <p:nvPr/>
        </p:nvSpPr>
        <p:spPr>
          <a:xfrm>
            <a:off x="1257300" y="2357438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rate_won = 30000</a:t>
            </a:r>
          </a:p>
        </p:txBody>
      </p:sp>
      <p:sp>
        <p:nvSpPr>
          <p:cNvPr id="10" name="">
            <a:extLst>
              <a:ext uri="{FF2B5EF4-FFF2-40B4-BE49-F238E27FC236}">
                <ns3:creationId id="{BAE2A64C-BE19-4131-9E2D-D09D3C36EA5B}"/>
              </a:ext>
            </a:extLst>
          </p:cNvPr>
          <p:cNvSpPr>
            <a:spLocks noGrp="1"/>
          </p:cNvSpPr>
          <p:nvPr/>
        </p:nvSpPr>
        <p:spPr>
          <a:xfrm>
            <a:off x="838200" y="2695575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03</a:t>
            </a:r>
          </a:p>
        </p:txBody>
      </p:sp>
      <p:sp>
        <p:nvSpPr>
          <p:cNvPr id="11" name="">
            <a:extLst>
              <a:ext uri="{FF2B5EF4-FFF2-40B4-BE49-F238E27FC236}">
                <ns3:creationId id="{C2F11EA9-F8B9-4299-9564-A7EB2A7ACC5B}"/>
              </a:ext>
            </a:extLst>
          </p:cNvPr>
          <p:cNvSpPr>
            <a:spLocks noGrp="1"/>
          </p:cNvSpPr>
          <p:nvPr/>
        </p:nvSpPr>
        <p:spPr>
          <a:xfrm>
            <a:off x="1257300" y="2667000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reserve_rate = 0.20</a:t>
            </a:r>
          </a:p>
        </p:txBody>
      </p:sp>
      <p:sp>
        <p:nvSpPr>
          <p:cNvPr id="12" name="">
            <a:extLst>
              <a:ext uri="{FF2B5EF4-FFF2-40B4-BE49-F238E27FC236}">
                <ns3:creationId id="{883C355A-BB43-4E59-9B97-D6B75067F8BF}"/>
              </a:ext>
            </a:extLst>
          </p:cNvPr>
          <p:cNvSpPr>
            <a:spLocks noGrp="1"/>
          </p:cNvSpPr>
          <p:nvPr/>
        </p:nvSpPr>
        <p:spPr>
          <a:xfrm>
            <a:off x="838200" y="3005138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04</a:t>
            </a:r>
          </a:p>
        </p:txBody>
      </p:sp>
      <p:sp>
        <p:nvSpPr>
          <p:cNvPr id="13" name="">
            <a:extLst>
              <a:ext uri="{FF2B5EF4-FFF2-40B4-BE49-F238E27FC236}">
                <ns3:creationId id="{ED5B876B-4777-4449-934A-4DD74CE27EA2}"/>
              </a:ext>
            </a:extLst>
          </p:cNvPr>
          <p:cNvSpPr>
            <a:spLocks noGrp="1"/>
          </p:cNvSpPr>
          <p:nvPr/>
        </p:nvSpPr>
        <p:spPr>
          <a:xfrm>
            <a:off x="1257300" y="2976563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base_won = hours * rate_won</a:t>
            </a:r>
          </a:p>
        </p:txBody>
      </p:sp>
      <p:sp>
        <p:nvSpPr>
          <p:cNvPr id="14" name="">
            <a:extLst>
              <a:ext uri="{FF2B5EF4-FFF2-40B4-BE49-F238E27FC236}">
                <ns3:creationId id="{B89150F7-67E2-4C04-9BEF-3828CB23B564}"/>
              </a:ext>
            </a:extLst>
          </p:cNvPr>
          <p:cNvSpPr>
            <a:spLocks noGrp="1"/>
          </p:cNvSpPr>
          <p:nvPr/>
        </p:nvSpPr>
        <p:spPr>
          <a:xfrm>
            <a:off x="838200" y="3314700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05</a:t>
            </a:r>
          </a:p>
        </p:txBody>
      </p:sp>
      <p:sp>
        <p:nvSpPr>
          <p:cNvPr id="15" name="">
            <a:extLst>
              <a:ext uri="{FF2B5EF4-FFF2-40B4-BE49-F238E27FC236}">
                <ns3:creationId id="{B5352A67-BBBA-49C9-9C79-DA533549093E}"/>
              </a:ext>
            </a:extLst>
          </p:cNvPr>
          <p:cNvSpPr>
            <a:spLocks noGrp="1"/>
          </p:cNvSpPr>
          <p:nvPr/>
        </p:nvSpPr>
        <p:spPr>
          <a:xfrm>
            <a:off x="1257300" y="3286125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reserve_won = base_won * reserve_rate</a:t>
            </a:r>
          </a:p>
        </p:txBody>
      </p:sp>
      <p:sp>
        <p:nvSpPr>
          <p:cNvPr id="16" name="">
            <a:extLst>
              <a:ext uri="{FF2B5EF4-FFF2-40B4-BE49-F238E27FC236}">
                <ns3:creationId id="{EA2979B4-053C-4D9E-B925-1FC6B88BFD50}"/>
              </a:ext>
            </a:extLst>
          </p:cNvPr>
          <p:cNvSpPr>
            <a:spLocks noGrp="1"/>
          </p:cNvSpPr>
          <p:nvPr/>
        </p:nvSpPr>
        <p:spPr>
          <a:xfrm>
            <a:off x="838200" y="3624263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06</a:t>
            </a:r>
          </a:p>
        </p:txBody>
      </p:sp>
      <p:sp>
        <p:nvSpPr>
          <p:cNvPr id="17" name="">
            <a:extLst>
              <a:ext uri="{FF2B5EF4-FFF2-40B4-BE49-F238E27FC236}">
                <ns3:creationId id="{64895027-EE8B-45A5-AB85-8070F9BD2630}"/>
              </a:ext>
            </a:extLst>
          </p:cNvPr>
          <p:cNvSpPr>
            <a:spLocks noGrp="1"/>
          </p:cNvSpPr>
          <p:nvPr/>
        </p:nvSpPr>
        <p:spPr>
          <a:xfrm>
            <a:off x="1257300" y="3595688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total_won = base_won + reserve_won</a:t>
            </a:r>
          </a:p>
        </p:txBody>
      </p:sp>
      <p:sp>
        <p:nvSpPr>
          <p:cNvPr id="18" name="">
            <a:extLst>
              <a:ext uri="{FF2B5EF4-FFF2-40B4-BE49-F238E27FC236}">
                <ns3:creationId id="{8F48046D-1C46-42A6-9168-05F1D2F5EE68}"/>
              </a:ext>
            </a:extLst>
          </p:cNvPr>
          <p:cNvSpPr>
            <a:spLocks noGrp="1"/>
          </p:cNvSpPr>
          <p:nvPr/>
        </p:nvSpPr>
        <p:spPr>
          <a:xfrm>
            <a:off x="838200" y="3933825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07</a:t>
            </a:r>
          </a:p>
        </p:txBody>
      </p:sp>
      <p:sp>
        <p:nvSpPr>
          <p:cNvPr id="19" name="">
            <a:extLst>
              <a:ext uri="{FF2B5EF4-FFF2-40B4-BE49-F238E27FC236}">
                <ns3:creationId id="{F83226D4-99F2-48E6-BC47-41209DE9027D}"/>
              </a:ext>
            </a:extLst>
          </p:cNvPr>
          <p:cNvSpPr>
            <a:spLocks noGrp="1"/>
          </p:cNvSpPr>
          <p:nvPr/>
        </p:nvSpPr>
        <p:spPr>
          <a:xfrm>
            <a:off x="1257300" y="3905250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print("assumed_total_won:", round(total_won))</a:t>
            </a:r>
          </a:p>
        </p:txBody>
      </p:sp>
      <p:sp>
        <p:nvSpPr>
          <p:cNvPr id="20" name="">
            <a:extLst>
              <a:ext uri="{FF2B5EF4-FFF2-40B4-BE49-F238E27FC236}">
                <ns3:creationId id="{8C416D1E-5E0B-42EB-A58C-AD862CC05767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10/30   프로젝트 기획</a:t>
            </a:r>
          </a:p>
        </p:txBody>
      </p:sp>
      <p:sp>
        <p:nvSpPr>
          <p:cNvPr id="21" name="">
            <a:extLst>
              <a:ext uri="{FF2B5EF4-FFF2-40B4-BE49-F238E27FC236}">
                <ns3:creationId id="{D6B76073-BC2E-4FB7-8196-721B7FB23B32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057</a:t>
            </a:r>
          </a:p>
        </p:txBody>
      </p:sp>
    </p:spTree>
    <p:extLst>
      <p:ext uri="{BB962C8B-B14F-4D97-AF65-F5344CB8AC3E}">
        <ns4:creationId val="2075918552"/>
      </p:ext>
    </p:extLst>
  </p:cSld>
</p:sld>
</file>

<file path=ppt/slides/slide58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8" name=""/>
          <p:cNvPicPr>
            <a:picLocks noChangeAspect="1"/>
          </p:cNvPicPr>
          <p:nvPr/>
        </p:nvPicPr>
        <p:blipFill>
          <a:blip r:embed="R9cacca3ef8a24caf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4518BFE1-A159-4F3D-9AF2-078006320BCA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5교시   자료 읽기</a:t>
            </a:r>
          </a:p>
        </p:txBody>
      </p:sp>
      <p:sp>
        <p:nvSpPr>
          <p:cNvPr id="3" name="">
            <a:extLst>
              <a:ext uri="{FF2B5EF4-FFF2-40B4-BE49-F238E27FC236}">
                <ns3:creationId id="{F83DEF3C-B4B8-41EF-A066-8858185835DF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견적 코드 줄과 계산</a:t>
            </a:r>
          </a:p>
        </p:txBody>
      </p:sp>
      <p:sp>
        <p:nvSpPr>
          <p:cNvPr id="4" name="">
            <a:extLst>
              <a:ext uri="{FF2B5EF4-FFF2-40B4-BE49-F238E27FC236}">
                <ns3:creationId id="{0169F045-C1F9-4478-AD5D-1FA7CCC81D9C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graphicFrame>
        <p:nvGraphicFramePr>
          <p:cNvPr id="12" name=""/>
          <p:cNvGraphicFramePr/>
          <p:nvPr/>
        </p:nvGraphicFramePr>
        <p:xfrm>
          <a:off x="685800" y="1943100"/>
          <a:ext cx="10820400" cy="3249549"/>
        </p:xfrm>
        <a:graphic>
          <a:graphicData uri="http://schemas.openxmlformats.org/drawingml/2006/table">
            <a:tbl>
              <a:tblPr firstRow="1" bandRow="0"/>
              <a:tblGrid>
                <a:gridCol w="1630824"/>
                <a:gridCol w="4382551"/>
                <a:gridCol w="4807025"/>
              </a:tblGrid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줄</a:t>
                      </a:r>
                    </a:p>
                  </a:txBody>
                  <a:tcPr marL="142875" marR="142875" marT="85725" marB="85725" anchor="ctr">
                    <a:solidFill>
                      <a:srgbClr val="102733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뜻</a:t>
                      </a:r>
                    </a:p>
                  </a:txBody>
                  <a:tcPr marL="142875" marR="142875" marT="85725" marB="85725" anchor="ctr">
                    <a:solidFill>
                      <a:srgbClr val="102733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값</a:t>
                      </a:r>
                    </a:p>
                  </a:txBody>
                  <a:tcPr marL="142875" marR="142875" marT="85725" marB="85725" anchor="ctr">
                    <a:solidFill>
                      <a:srgbClr val="102733"/>
                    </a:solidFill>
                  </a:tcPr>
                </a:tc>
              </a:tr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1~3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시간·시급·여유 비율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12 / 30000 / 0.20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</a:tr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시간 × 시급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360000원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</a:tr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5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기본 비용 × 여유 비율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72000원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</a:tr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6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기본 비용 + 여유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432000원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</a:tr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7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이름과 반올림한 합계 출력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assumed_total_won: 432000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">
            <a:extLst>
              <a:ext uri="{FF2B5EF4-FFF2-40B4-BE49-F238E27FC236}">
                <ns3:creationId id="{0602A10F-B4D8-42C4-B50B-9EBF8DFD9F04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10/30   프로젝트 기획</a:t>
            </a:r>
          </a:p>
        </p:txBody>
      </p:sp>
      <p:sp>
        <p:nvSpPr>
          <p:cNvPr id="7" name="">
            <a:extLst>
              <a:ext uri="{FF2B5EF4-FFF2-40B4-BE49-F238E27FC236}">
                <ns3:creationId id="{D660D884-10D9-4860-8F25-D3421F6EA725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058</a:t>
            </a:r>
          </a:p>
        </p:txBody>
      </p:sp>
    </p:spTree>
    <p:extLst>
      <p:ext uri="{BB962C8B-B14F-4D97-AF65-F5344CB8AC3E}">
        <ns4:creationId val="1144114728"/>
      </p:ext>
    </p:extLst>
  </p:cSld>
</p:sld>
</file>

<file path=ppt/slides/slide59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2" name=""/>
          <p:cNvPicPr>
            <a:picLocks noChangeAspect="1"/>
          </p:cNvPicPr>
          <p:nvPr/>
        </p:nvPicPr>
        <p:blipFill>
          <a:blip r:embed="R40e338731ad144b9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CEE2AAF6-D936-488D-8E6D-34B29083073B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5교시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C9DF6DFB-E431-40A9-84E8-A666ED7B1180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견적 코드 복사·저장·실행</a:t>
            </a:r>
          </a:p>
        </p:txBody>
      </p:sp>
      <p:sp>
        <p:nvSpPr>
          <p:cNvPr id="4" name="">
            <a:extLst>
              <a:ext uri="{FF2B5EF4-FFF2-40B4-BE49-F238E27FC236}">
                <ns3:creationId id="{E2E23A3A-23EE-404A-832A-FFED1F02A1ED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D90F465E-0D89-4A2D-B5D1-D452A7A8D1C3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code/03_estimate.py를 work/03_estimate.py로 복사합니다.</a:t>
            </a:r>
          </a:p>
        </p:txBody>
      </p:sp>
      <p:sp>
        <p:nvSpPr>
          <p:cNvPr id="6" name="">
            <a:extLst>
              <a:ext uri="{FF2B5EF4-FFF2-40B4-BE49-F238E27FC236}">
                <ns3:creationId id="{CE1F6B4B-EBC7-42F0-8577-274BC72BB449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편집기로 work 파일을 열어 hours = 12를 확인합니다.</a:t>
            </a:r>
          </a:p>
        </p:txBody>
      </p:sp>
      <p:sp>
        <p:nvSpPr>
          <p:cNvPr id="7" name="">
            <a:extLst>
              <a:ext uri="{FF2B5EF4-FFF2-40B4-BE49-F238E27FC236}">
                <ns3:creationId id="{F97A4F35-DDB4-484E-95FD-98417B94D3DB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course 위치에서 python -X utf8 work/03_estimate.py를 실행합니다.</a:t>
            </a:r>
          </a:p>
        </p:txBody>
      </p:sp>
      <p:sp>
        <p:nvSpPr>
          <p:cNvPr id="8" name="">
            <a:extLst>
              <a:ext uri="{FF2B5EF4-FFF2-40B4-BE49-F238E27FC236}">
                <ns3:creationId id="{EE90EDAC-D02E-435D-A461-FFD2BB6760A0}"/>
              </a:ext>
            </a:extLst>
          </p:cNvPr>
          <p:cNvSpPr>
            <a:spLocks noGrp="1"/>
          </p:cNvSpPr>
          <p:nvPr/>
        </p:nvSpPr>
        <p:spPr>
          <a:xfrm>
            <a:off x="685800" y="3611880"/>
            <a:ext cx="10820400" cy="81724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출력은 assumed_total_won: 432000입니다. 실제 계약 가격이 아닌 계산 연습입니다.</a:t>
            </a:r>
          </a:p>
        </p:txBody>
      </p:sp>
      <p:sp>
        <p:nvSpPr>
          <p:cNvPr id="9" name="">
            <a:extLst>
              <a:ext uri="{FF2B5EF4-FFF2-40B4-BE49-F238E27FC236}">
                <ns3:creationId id="{9FE8706B-BAE6-454B-BEFB-2340A585D530}"/>
              </a:ext>
            </a:extLst>
          </p:cNvPr>
          <p:cNvSpPr>
            <a:spLocks noGrp="1"/>
          </p:cNvSpPr>
          <p:nvPr/>
        </p:nvSpPr>
        <p:spPr>
          <a:xfrm>
            <a:off x="685800" y="44958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Python 실행이 안 되면 12×30000×1.20을 손으로 계산해 비교합니다.</a:t>
            </a:r>
          </a:p>
        </p:txBody>
      </p:sp>
      <p:sp>
        <p:nvSpPr>
          <p:cNvPr id="10" name="">
            <a:extLst>
              <a:ext uri="{FF2B5EF4-FFF2-40B4-BE49-F238E27FC236}">
                <ns3:creationId id="{4E40752F-8D7F-491D-B939-6C0509AC90D8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10/30   프로젝트 기획</a:t>
            </a:r>
          </a:p>
        </p:txBody>
      </p:sp>
      <p:sp>
        <p:nvSpPr>
          <p:cNvPr id="11" name="">
            <a:extLst>
              <a:ext uri="{FF2B5EF4-FFF2-40B4-BE49-F238E27FC236}">
                <ns3:creationId id="{B8D9111D-2EB4-4EE3-AD01-9FBA007DF543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059</a:t>
            </a:r>
          </a:p>
        </p:txBody>
      </p:sp>
    </p:spTree>
    <p:extLst>
      <p:ext uri="{BB962C8B-B14F-4D97-AF65-F5344CB8AC3E}">
        <ns4:creationId val="1484061903"/>
      </p:ext>
    </p:extLst>
  </p:cSld>
</p:sld>
</file>

<file path=ppt/slides/slide60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102733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7" name=""/>
          <p:cNvPicPr>
            <a:picLocks noChangeAspect="1"/>
          </p:cNvPicPr>
          <p:nvPr/>
        </p:nvPicPr>
        <p:blipFill>
          <a:blip r:embed="R5f3519d1f6624563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8A95E6B8-8565-45FC-BB8D-BBD32F6EB02A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925050" cy="6858000"/>
          </a:xfrm>
          <a:prstGeom prst="rect">
            <a:avLst/>
          </a:prstGeom>
          <a:solidFill>
            <a:srgbClr val="102733"/>
          </a:solidFill>
          <a:ln w="0">
            <a:noFill/>
          </a:ln>
        </p:spPr>
      </p:sp>
      <p:sp>
        <p:nvSpPr>
          <p:cNvPr id="3" name="">
            <a:extLst>
              <a:ext uri="{FF2B5EF4-FFF2-40B4-BE49-F238E27FC236}">
                <ns3:creationId id="{075BA596-7154-46AD-9388-B97FB32EB504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ABDDD0"/>
                </a:solidFill>
                <a:latin typeface="Noto Sans KR"/>
                <a:ea typeface="Noto Sans KR"/>
                <a:cs typeface="Noto Sans KR"/>
              </a:defRPr>
            </a:pPr>
            <a:r>
              <a:t>5교시   직접 해 보기</a:t>
            </a:r>
          </a:p>
        </p:txBody>
      </p:sp>
      <p:sp>
        <p:nvSpPr>
          <p:cNvPr id="4" name="">
            <a:extLst>
              <a:ext uri="{FF2B5EF4-FFF2-40B4-BE49-F238E27FC236}">
                <ns3:creationId id="{DD2E3B8D-A205-4196-85E6-313D0B5C3D9F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새 조건의 견적</a:t>
            </a:r>
          </a:p>
        </p:txBody>
      </p:sp>
      <p:sp>
        <p:nvSpPr>
          <p:cNvPr id="5" name="">
            <a:extLst>
              <a:ext uri="{FF2B5EF4-FFF2-40B4-BE49-F238E27FC236}">
                <ns3:creationId id="{B8EAFBA3-D410-4E4C-BC6A-9DB58653A90E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38505B"/>
          </a:solidFill>
          <a:ln w="0">
            <a:noFill/>
          </a:ln>
        </p:spPr>
      </p:sp>
      <p:sp>
        <p:nvSpPr>
          <p:cNvPr id="6" name="">
            <a:extLst>
              <a:ext uri="{FF2B5EF4-FFF2-40B4-BE49-F238E27FC236}">
                <ns3:creationId id="{7810E6DB-F8C5-474C-8137-6EDEE2B96B13}"/>
              </a:ext>
            </a:extLst>
          </p:cNvPr>
          <p:cNvSpPr>
            <a:spLocks noGrp="1"/>
          </p:cNvSpPr>
          <p:nvPr/>
        </p:nvSpPr>
        <p:spPr>
          <a:xfrm>
            <a:off x="685800" y="2085975"/>
            <a:ext cx="409575" cy="86106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01</a:t>
            </a:r>
          </a:p>
        </p:txBody>
      </p:sp>
      <p:sp>
        <p:nvSpPr>
          <p:cNvPr id="7" name="">
            <a:extLst>
              <a:ext uri="{FF2B5EF4-FFF2-40B4-BE49-F238E27FC236}">
                <ns3:creationId id="{92907E69-CED1-4B5C-A2D1-69937FD59220}"/>
              </a:ext>
            </a:extLst>
          </p:cNvPr>
          <p:cNvSpPr>
            <a:spLocks noGrp="1"/>
          </p:cNvSpPr>
          <p:nvPr/>
        </p:nvSpPr>
        <p:spPr>
          <a:xfrm>
            <a:off x="1209675" y="2085975"/>
            <a:ext cx="8001000" cy="7943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8시간, 시간당 25,000원, 여유 15%의 기본 비용·여유·합계를 계산합니다.</a:t>
            </a:r>
          </a:p>
        </p:txBody>
      </p:sp>
      <p:sp>
        <p:nvSpPr>
          <p:cNvPr id="8" name="">
            <a:extLst>
              <a:ext uri="{FF2B5EF4-FFF2-40B4-BE49-F238E27FC236}">
                <ns3:creationId id="{23263E9E-466C-4F5F-AA22-0B195A60380F}"/>
              </a:ext>
            </a:extLst>
          </p:cNvPr>
          <p:cNvSpPr>
            <a:spLocks noGrp="1"/>
          </p:cNvSpPr>
          <p:nvPr/>
        </p:nvSpPr>
        <p:spPr>
          <a:xfrm>
            <a:off x="685800" y="2947035"/>
            <a:ext cx="409575" cy="86106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02</a:t>
            </a:r>
          </a:p>
        </p:txBody>
      </p:sp>
      <p:sp>
        <p:nvSpPr>
          <p:cNvPr id="9" name="">
            <a:extLst>
              <a:ext uri="{FF2B5EF4-FFF2-40B4-BE49-F238E27FC236}">
                <ns3:creationId id="{26DABB8E-58FE-4606-BC33-0077D42EE15D}"/>
              </a:ext>
            </a:extLst>
          </p:cNvPr>
          <p:cNvSpPr>
            <a:spLocks noGrp="1"/>
          </p:cNvSpPr>
          <p:nvPr/>
        </p:nvSpPr>
        <p:spPr>
          <a:xfrm>
            <a:off x="1209675" y="2947035"/>
            <a:ext cx="8001000" cy="7943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다음에는 제공 코드의 hours만 8로 바꾸고 예상 출력부터 씁니다.</a:t>
            </a:r>
          </a:p>
        </p:txBody>
      </p:sp>
      <p:sp>
        <p:nvSpPr>
          <p:cNvPr id="10" name="">
            <a:extLst>
              <a:ext uri="{FF2B5EF4-FFF2-40B4-BE49-F238E27FC236}">
                <ns3:creationId id="{E7ABB065-F1AA-48E9-B014-DD22B8511C93}"/>
              </a:ext>
            </a:extLst>
          </p:cNvPr>
          <p:cNvSpPr>
            <a:spLocks noGrp="1"/>
          </p:cNvSpPr>
          <p:nvPr/>
        </p:nvSpPr>
        <p:spPr>
          <a:xfrm>
            <a:off x="685800" y="3808095"/>
            <a:ext cx="409575" cy="86106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03</a:t>
            </a:r>
          </a:p>
        </p:txBody>
      </p:sp>
      <p:sp>
        <p:nvSpPr>
          <p:cNvPr id="11" name="">
            <a:extLst>
              <a:ext uri="{FF2B5EF4-FFF2-40B4-BE49-F238E27FC236}">
                <ns3:creationId id="{F50BFAF4-A904-4162-A264-353E50ECBA49}"/>
              </a:ext>
            </a:extLst>
          </p:cNvPr>
          <p:cNvSpPr>
            <a:spLocks noGrp="1"/>
          </p:cNvSpPr>
          <p:nvPr/>
        </p:nvSpPr>
        <p:spPr>
          <a:xfrm>
            <a:off x="1209675" y="3808095"/>
            <a:ext cx="8001000" cy="7943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저장 후 실행해 계산 결과를 비교합니다. 두 문제의 조건이 같은가요?</a:t>
            </a:r>
          </a:p>
        </p:txBody>
      </p:sp>
      <p:sp>
        <p:nvSpPr>
          <p:cNvPr id="12" name="">
            <a:extLst>
              <a:ext uri="{FF2B5EF4-FFF2-40B4-BE49-F238E27FC236}">
                <ns3:creationId id="{E8007BD1-D7AB-4C85-8CE3-7081CAA4796B}"/>
              </a:ext>
            </a:extLst>
          </p:cNvPr>
          <p:cNvSpPr>
            <a:spLocks noGrp="1"/>
          </p:cNvSpPr>
          <p:nvPr/>
        </p:nvSpPr>
        <p:spPr>
          <a:xfrm>
            <a:off x="685800" y="4669155"/>
            <a:ext cx="409575" cy="86106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04</a:t>
            </a:r>
          </a:p>
        </p:txBody>
      </p:sp>
      <p:sp>
        <p:nvSpPr>
          <p:cNvPr id="13" name="">
            <a:extLst>
              <a:ext uri="{FF2B5EF4-FFF2-40B4-BE49-F238E27FC236}">
                <ns3:creationId id="{C49D2758-7D20-4784-B482-FB06C80002ED}"/>
              </a:ext>
            </a:extLst>
          </p:cNvPr>
          <p:cNvSpPr>
            <a:spLocks noGrp="1"/>
          </p:cNvSpPr>
          <p:nvPr/>
        </p:nvSpPr>
        <p:spPr>
          <a:xfrm>
            <a:off x="1209675" y="4669155"/>
            <a:ext cx="8001000" cy="7943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장비·서버·API·세금의 포함 여부와 기능 추가 시 고칠 항목을 씁니다.</a:t>
            </a:r>
          </a:p>
        </p:txBody>
      </p:sp>
      <p:sp>
        <p:nvSpPr>
          <p:cNvPr id="14" name="">
            <a:extLst>
              <a:ext uri="{FF2B5EF4-FFF2-40B4-BE49-F238E27FC236}">
                <ns3:creationId id="{814B3EB0-E4F9-4D2E-8E4A-5EE215A58BC5}"/>
              </a:ext>
            </a:extLst>
          </p:cNvPr>
          <p:cNvSpPr>
            <a:spLocks noGrp="1"/>
          </p:cNvSpPr>
          <p:nvPr/>
        </p:nvSpPr>
        <p:spPr>
          <a:xfrm>
            <a:off x="685800" y="5915025"/>
            <a:ext cx="10382250" cy="4000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950" b="1">
                <a:solidFill>
                  <a:srgbClr val="ABDDD0"/>
                </a:solidFill>
                <a:latin typeface="Noto Sans KR"/>
                <a:ea typeface="Noto Sans KR"/>
                <a:cs typeface="Noto Sans KR"/>
              </a:defRPr>
            </a:pPr>
            <a:r>
              <a:t>계산·수정·실행 8분 · 조건과 결과 비교 5분</a:t>
            </a:r>
          </a:p>
        </p:txBody>
      </p:sp>
      <p:sp>
        <p:nvSpPr>
          <p:cNvPr id="15" name="">
            <a:extLst>
              <a:ext uri="{FF2B5EF4-FFF2-40B4-BE49-F238E27FC236}">
                <ns3:creationId id="{B8BC047E-DAD1-4D3F-95A9-4B1CBC12FBB8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B3C5CC"/>
                </a:solidFill>
                <a:latin typeface="Noto Sans KR"/>
                <a:ea typeface="Noto Sans KR"/>
                <a:cs typeface="Noto Sans KR"/>
              </a:defRPr>
            </a:pPr>
            <a:r>
              <a:t>10/30   프로젝트 기획</a:t>
            </a:r>
          </a:p>
        </p:txBody>
      </p:sp>
      <p:sp>
        <p:nvSpPr>
          <p:cNvPr id="16" name="">
            <a:extLst>
              <a:ext uri="{FF2B5EF4-FFF2-40B4-BE49-F238E27FC236}">
                <ns3:creationId id="{30D2E6A1-E7D0-4201-B69C-71F1E504E852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B3C5CC"/>
                </a:solidFill>
                <a:latin typeface="Consolas"/>
                <a:ea typeface="Consolas"/>
                <a:cs typeface="Consolas"/>
              </a:defRPr>
            </a:pPr>
            <a:r>
              <a:t>060</a:t>
            </a:r>
          </a:p>
        </p:txBody>
      </p:sp>
    </p:spTree>
    <p:extLst>
      <p:ext uri="{BB962C8B-B14F-4D97-AF65-F5344CB8AC3E}">
        <ns4:creationId val="1523075212"/>
      </p:ext>
    </p:extLst>
  </p:cSld>
</p:sld>
</file>

<file path=ppt/slides/slide61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2" name=""/>
          <p:cNvPicPr>
            <a:picLocks noChangeAspect="1"/>
          </p:cNvPicPr>
          <p:nvPr/>
        </p:nvPicPr>
        <p:blipFill>
          <a:blip r:embed="R72dc6535f63d4da4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BCF5F832-10FD-4971-BD88-6C92117D67FA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5교시   풀이와 확인</a:t>
            </a:r>
          </a:p>
        </p:txBody>
      </p:sp>
      <p:sp>
        <p:nvSpPr>
          <p:cNvPr id="3" name="">
            <a:extLst>
              <a:ext uri="{FF2B5EF4-FFF2-40B4-BE49-F238E27FC236}">
                <ns3:creationId id="{F53930BE-5FCE-4468-ABD2-C35B79A9AB76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두 견적 문제 · 풀이</a:t>
            </a:r>
          </a:p>
        </p:txBody>
      </p:sp>
      <p:sp>
        <p:nvSpPr>
          <p:cNvPr id="4" name="">
            <a:extLst>
              <a:ext uri="{FF2B5EF4-FFF2-40B4-BE49-F238E27FC236}">
                <ns3:creationId id="{D381A022-403E-41FD-9B4D-2800E98177A8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225A68C9-64ED-4506-8531-BABF73DB0C90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새 조건은 8×25000=200000원, 여유 30000원, 합계 230000원입니다.</a:t>
            </a:r>
          </a:p>
        </p:txBody>
      </p:sp>
      <p:sp>
        <p:nvSpPr>
          <p:cNvPr id="6" name="">
            <a:extLst>
              <a:ext uri="{FF2B5EF4-FFF2-40B4-BE49-F238E27FC236}">
                <ns3:creationId id="{9FCC0CFC-D1FA-44B8-B773-85E8C82C393B}"/>
              </a:ext>
            </a:extLst>
          </p:cNvPr>
          <p:cNvSpPr>
            <a:spLocks noGrp="1"/>
          </p:cNvSpPr>
          <p:nvPr/>
        </p:nvSpPr>
        <p:spPr>
          <a:xfrm>
            <a:off x="685800" y="2564130"/>
            <a:ext cx="108204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hours만 8로 바꾸면 시급 30000원과 여유 20%가 유지됩니다.</a:t>
            </a:r>
          </a:p>
        </p:txBody>
      </p:sp>
      <p:sp>
        <p:nvSpPr>
          <p:cNvPr id="7" name="">
            <a:extLst>
              <a:ext uri="{FF2B5EF4-FFF2-40B4-BE49-F238E27FC236}">
                <ns3:creationId id="{9DE66C49-B636-41F3-8884-0CEA8162BF15}"/>
              </a:ext>
            </a:extLst>
          </p:cNvPr>
          <p:cNvSpPr>
            <a:spLocks noGrp="1"/>
          </p:cNvSpPr>
          <p:nvPr/>
        </p:nvSpPr>
        <p:spPr>
          <a:xfrm>
            <a:off x="685800" y="3070860"/>
            <a:ext cx="108204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따라서 240000 + 48000 = 288000원이 나옵니다.</a:t>
            </a:r>
          </a:p>
        </p:txBody>
      </p:sp>
      <p:sp>
        <p:nvSpPr>
          <p:cNvPr id="8" name="">
            <a:extLst>
              <a:ext uri="{FF2B5EF4-FFF2-40B4-BE49-F238E27FC236}">
                <ns3:creationId id="{7CFABE5A-D291-4444-A47C-0E7FE300E04D}"/>
              </a:ext>
            </a:extLst>
          </p:cNvPr>
          <p:cNvSpPr>
            <a:spLocks noGrp="1"/>
          </p:cNvSpPr>
          <p:nvPr/>
        </p:nvSpPr>
        <p:spPr>
          <a:xfrm>
            <a:off x="685800" y="3577590"/>
            <a:ext cx="108204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20%는 코드에서 0.20입니다. 20을 넣으면 여유가 기본 비용의 20배가 됩니다.</a:t>
            </a:r>
          </a:p>
        </p:txBody>
      </p:sp>
      <p:sp>
        <p:nvSpPr>
          <p:cNvPr id="9" name="">
            <a:extLst>
              <a:ext uri="{FF2B5EF4-FFF2-40B4-BE49-F238E27FC236}">
                <ns3:creationId id="{48395B29-B912-41C5-AFB1-FB01E3AF1585}"/>
              </a:ext>
            </a:extLst>
          </p:cNvPr>
          <p:cNvSpPr>
            <a:spLocks noGrp="1"/>
          </p:cNvSpPr>
          <p:nvPr/>
        </p:nvSpPr>
        <p:spPr>
          <a:xfrm>
            <a:off x="685800" y="4084320"/>
            <a:ext cx="108204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조건이 다른 두 결과를 계산 오류로 단정하지 않습니다.</a:t>
            </a:r>
          </a:p>
        </p:txBody>
      </p:sp>
      <p:sp>
        <p:nvSpPr>
          <p:cNvPr id="10" name="">
            <a:extLst>
              <a:ext uri="{FF2B5EF4-FFF2-40B4-BE49-F238E27FC236}">
                <ns3:creationId id="{4348C19D-7284-4349-A660-DABCCAEC2AFA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10/30   프로젝트 기획</a:t>
            </a:r>
          </a:p>
        </p:txBody>
      </p:sp>
      <p:sp>
        <p:nvSpPr>
          <p:cNvPr id="11" name="">
            <a:extLst>
              <a:ext uri="{FF2B5EF4-FFF2-40B4-BE49-F238E27FC236}">
                <ns3:creationId id="{B2D98965-7236-441B-8F8A-DE78BA281332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061</a:t>
            </a:r>
          </a:p>
        </p:txBody>
      </p:sp>
    </p:spTree>
    <p:extLst>
      <p:ext uri="{BB962C8B-B14F-4D97-AF65-F5344CB8AC3E}">
        <ns4:creationId val="350807852"/>
      </p:ext>
    </p:extLst>
  </p:cSld>
</p:sld>
</file>

<file path=ppt/slides/slide62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102733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7" name=""/>
          <p:cNvPicPr>
            <a:picLocks noChangeAspect="1"/>
          </p:cNvPicPr>
          <p:nvPr/>
        </p:nvPicPr>
        <p:blipFill>
          <a:blip r:embed="Rdcc2a15af1874cba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D14876C1-DE79-4369-859A-D2986983061E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925050" cy="6858000"/>
          </a:xfrm>
          <a:prstGeom prst="rect">
            <a:avLst/>
          </a:prstGeom>
          <a:solidFill>
            <a:srgbClr val="102733"/>
          </a:solidFill>
          <a:ln w="0">
            <a:noFill/>
          </a:ln>
        </p:spPr>
      </p:sp>
      <p:sp>
        <p:nvSpPr>
          <p:cNvPr id="3" name="">
            <a:extLst>
              <a:ext uri="{FF2B5EF4-FFF2-40B4-BE49-F238E27FC236}">
                <ns3:creationId id="{11A728A7-0ECF-44CA-B16D-DAEF70A98C90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ABDDD0"/>
                </a:solidFill>
                <a:latin typeface="Noto Sans KR"/>
                <a:ea typeface="Noto Sans KR"/>
                <a:cs typeface="Noto Sans KR"/>
              </a:defRPr>
            </a:pPr>
            <a:r>
              <a:t>5교시   직접 해 보기</a:t>
            </a:r>
          </a:p>
        </p:txBody>
      </p:sp>
      <p:sp>
        <p:nvSpPr>
          <p:cNvPr id="4" name="">
            <a:extLst>
              <a:ext uri="{FF2B5EF4-FFF2-40B4-BE49-F238E27FC236}">
                <ns3:creationId id="{E21A4498-B291-447C-8952-D7E9A989C17C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작업과 평가 근거 작성</a:t>
            </a:r>
          </a:p>
        </p:txBody>
      </p:sp>
      <p:sp>
        <p:nvSpPr>
          <p:cNvPr id="5" name="">
            <a:extLst>
              <a:ext uri="{FF2B5EF4-FFF2-40B4-BE49-F238E27FC236}">
                <ns3:creationId id="{BE159831-9EE4-47FA-936F-4E961E0D8D04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38505B"/>
          </a:solidFill>
          <a:ln w="0">
            <a:noFill/>
          </a:ln>
        </p:spPr>
      </p:sp>
      <p:sp>
        <p:nvSpPr>
          <p:cNvPr id="6" name="">
            <a:extLst>
              <a:ext uri="{FF2B5EF4-FFF2-40B4-BE49-F238E27FC236}">
                <ns3:creationId id="{1247986E-F70C-4B17-97C6-25CEDC569D9B}"/>
              </a:ext>
            </a:extLst>
          </p:cNvPr>
          <p:cNvSpPr>
            <a:spLocks noGrp="1"/>
          </p:cNvSpPr>
          <p:nvPr/>
        </p:nvSpPr>
        <p:spPr>
          <a:xfrm>
            <a:off x="685800" y="2085975"/>
            <a:ext cx="409575" cy="86106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01</a:t>
            </a:r>
          </a:p>
        </p:txBody>
      </p:sp>
      <p:sp>
        <p:nvSpPr>
          <p:cNvPr id="7" name="">
            <a:extLst>
              <a:ext uri="{FF2B5EF4-FFF2-40B4-BE49-F238E27FC236}">
                <ns3:creationId id="{8D03E9E0-7A87-4EB1-AE57-D16FBD99D526}"/>
              </a:ext>
            </a:extLst>
          </p:cNvPr>
          <p:cNvSpPr>
            <a:spLocks noGrp="1"/>
          </p:cNvSpPr>
          <p:nvPr/>
        </p:nvSpPr>
        <p:spPr>
          <a:xfrm>
            <a:off x="1209675" y="2085975"/>
            <a:ext cx="8001000" cy="7943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work에서 A13·A14으로 시작하는 .md 작성 파일에 결과물·선행 작업·담당 역할을 적습니다.</a:t>
            </a:r>
          </a:p>
        </p:txBody>
      </p:sp>
      <p:sp>
        <p:nvSpPr>
          <p:cNvPr id="8" name="">
            <a:extLst>
              <a:ext uri="{FF2B5EF4-FFF2-40B4-BE49-F238E27FC236}">
                <ns3:creationId id="{A8F51E34-CEFC-4384-A0B6-F9067C9C0159}"/>
              </a:ext>
            </a:extLst>
          </p:cNvPr>
          <p:cNvSpPr>
            <a:spLocks noGrp="1"/>
          </p:cNvSpPr>
          <p:nvPr/>
        </p:nvSpPr>
        <p:spPr>
          <a:xfrm>
            <a:off x="685800" y="2947035"/>
            <a:ext cx="409575" cy="86106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02</a:t>
            </a:r>
          </a:p>
        </p:txBody>
      </p:sp>
      <p:sp>
        <p:nvSpPr>
          <p:cNvPr id="9" name="">
            <a:extLst>
              <a:ext uri="{FF2B5EF4-FFF2-40B4-BE49-F238E27FC236}">
                <ns3:creationId id="{32842BAA-1EE8-4E8B-8C07-002D2A6D5FC5}"/>
              </a:ext>
            </a:extLst>
          </p:cNvPr>
          <p:cNvSpPr>
            <a:spLocks noGrp="1"/>
          </p:cNvSpPr>
          <p:nvPr/>
        </p:nvSpPr>
        <p:spPr>
          <a:xfrm>
            <a:off x="1209675" y="2947035"/>
            <a:ext cx="8001000" cy="7943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A15 평가표의 문제·범위·데이터·검증·실행 계획에 근거 위치를 씁니다.</a:t>
            </a:r>
          </a:p>
        </p:txBody>
      </p:sp>
      <p:sp>
        <p:nvSpPr>
          <p:cNvPr id="10" name="">
            <a:extLst>
              <a:ext uri="{FF2B5EF4-FFF2-40B4-BE49-F238E27FC236}">
                <ns3:creationId id="{C3C87028-4CD3-4057-A2CC-DA771CAC3820}"/>
              </a:ext>
            </a:extLst>
          </p:cNvPr>
          <p:cNvSpPr>
            <a:spLocks noGrp="1"/>
          </p:cNvSpPr>
          <p:nvPr/>
        </p:nvSpPr>
        <p:spPr>
          <a:xfrm>
            <a:off x="685800" y="3808095"/>
            <a:ext cx="409575" cy="86106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03</a:t>
            </a:r>
          </a:p>
        </p:txBody>
      </p:sp>
      <p:sp>
        <p:nvSpPr>
          <p:cNvPr id="11" name="">
            <a:extLst>
              <a:ext uri="{FF2B5EF4-FFF2-40B4-BE49-F238E27FC236}">
                <ns3:creationId id="{C0CFC8F3-5F40-4753-9574-185B6CA32221}"/>
              </a:ext>
            </a:extLst>
          </p:cNvPr>
          <p:cNvSpPr>
            <a:spLocks noGrp="1"/>
          </p:cNvSpPr>
          <p:nvPr/>
        </p:nvSpPr>
        <p:spPr>
          <a:xfrm>
            <a:off x="1209675" y="3808095"/>
            <a:ext cx="8001000" cy="7943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각 기준에 0·10·20점 중 하나를 주고, 가장 먼저 고칠 내용을 정합니다.</a:t>
            </a:r>
          </a:p>
        </p:txBody>
      </p:sp>
      <p:sp>
        <p:nvSpPr>
          <p:cNvPr id="12" name="">
            <a:extLst>
              <a:ext uri="{FF2B5EF4-FFF2-40B4-BE49-F238E27FC236}">
                <ns3:creationId id="{14FB715F-8195-4D51-982D-8CE3B624D9CE}"/>
              </a:ext>
            </a:extLst>
          </p:cNvPr>
          <p:cNvSpPr>
            <a:spLocks noGrp="1"/>
          </p:cNvSpPr>
          <p:nvPr/>
        </p:nvSpPr>
        <p:spPr>
          <a:xfrm>
            <a:off x="685800" y="4669155"/>
            <a:ext cx="409575" cy="50673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04</a:t>
            </a:r>
          </a:p>
        </p:txBody>
      </p:sp>
      <p:sp>
        <p:nvSpPr>
          <p:cNvPr id="13" name="">
            <a:extLst>
              <a:ext uri="{FF2B5EF4-FFF2-40B4-BE49-F238E27FC236}">
                <ns3:creationId id="{EBA6C7B9-7C79-45B4-85EF-169F25FB49DC}"/>
              </a:ext>
            </a:extLst>
          </p:cNvPr>
          <p:cNvSpPr>
            <a:spLocks noGrp="1"/>
          </p:cNvSpPr>
          <p:nvPr/>
        </p:nvSpPr>
        <p:spPr>
          <a:xfrm>
            <a:off x="1209675" y="4669155"/>
            <a:ext cx="80010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부족한 근거를 보완한 뒤 점수와 변경 이유를 함께 남깁니다.</a:t>
            </a:r>
          </a:p>
        </p:txBody>
      </p:sp>
      <p:sp>
        <p:nvSpPr>
          <p:cNvPr id="14" name="">
            <a:extLst>
              <a:ext uri="{FF2B5EF4-FFF2-40B4-BE49-F238E27FC236}">
                <ns3:creationId id="{82045779-7E9C-4567-AA2A-91831BE30883}"/>
              </a:ext>
            </a:extLst>
          </p:cNvPr>
          <p:cNvSpPr>
            <a:spLocks noGrp="1"/>
          </p:cNvSpPr>
          <p:nvPr/>
        </p:nvSpPr>
        <p:spPr>
          <a:xfrm>
            <a:off x="685800" y="5915025"/>
            <a:ext cx="10382250" cy="4000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950" b="1">
                <a:solidFill>
                  <a:srgbClr val="ABDDD0"/>
                </a:solidFill>
                <a:latin typeface="Noto Sans KR"/>
                <a:ea typeface="Noto Sans KR"/>
                <a:cs typeface="Noto Sans KR"/>
              </a:defRPr>
            </a:pPr>
            <a:r>
              <a:t>작업·평가 작성 7분 · 완료 증거를 서로 검토 5분</a:t>
            </a:r>
          </a:p>
        </p:txBody>
      </p:sp>
      <p:sp>
        <p:nvSpPr>
          <p:cNvPr id="15" name="">
            <a:extLst>
              <a:ext uri="{FF2B5EF4-FFF2-40B4-BE49-F238E27FC236}">
                <ns3:creationId id="{F8EA5DB6-42CD-49BD-9594-F865DD92AC15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B3C5CC"/>
                </a:solidFill>
                <a:latin typeface="Noto Sans KR"/>
                <a:ea typeface="Noto Sans KR"/>
                <a:cs typeface="Noto Sans KR"/>
              </a:defRPr>
            </a:pPr>
            <a:r>
              <a:t>10/30   프로젝트 기획</a:t>
            </a:r>
          </a:p>
        </p:txBody>
      </p:sp>
      <p:sp>
        <p:nvSpPr>
          <p:cNvPr id="16" name="">
            <a:extLst>
              <a:ext uri="{FF2B5EF4-FFF2-40B4-BE49-F238E27FC236}">
                <ns3:creationId id="{983592B4-B153-4AEE-AD48-FE52019FFAB3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B3C5CC"/>
                </a:solidFill>
                <a:latin typeface="Consolas"/>
                <a:ea typeface="Consolas"/>
                <a:cs typeface="Consolas"/>
              </a:defRPr>
            </a:pPr>
            <a:r>
              <a:t>062</a:t>
            </a:r>
          </a:p>
        </p:txBody>
      </p:sp>
    </p:spTree>
    <p:extLst>
      <p:ext uri="{BB962C8B-B14F-4D97-AF65-F5344CB8AC3E}">
        <ns4:creationId val="1126448921"/>
      </p:ext>
    </p:extLst>
  </p:cSld>
</p:sld>
</file>

<file path=ppt/slides/slide63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1" name=""/>
          <p:cNvPicPr>
            <a:picLocks noChangeAspect="1"/>
          </p:cNvPicPr>
          <p:nvPr/>
        </p:nvPicPr>
        <p:blipFill>
          <a:blip r:embed="R0f82f66ae2484b15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F07DF534-F38E-46C4-94EA-65CE1EF55858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5교시   풀이와 확인</a:t>
            </a:r>
          </a:p>
        </p:txBody>
      </p:sp>
      <p:sp>
        <p:nvSpPr>
          <p:cNvPr id="3" name="">
            <a:extLst>
              <a:ext uri="{FF2B5EF4-FFF2-40B4-BE49-F238E27FC236}">
                <ns3:creationId id="{36EFFF53-297F-4EEB-8970-771C5BFDD50C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작업 계획 검토 · 예</a:t>
            </a:r>
          </a:p>
        </p:txBody>
      </p:sp>
      <p:sp>
        <p:nvSpPr>
          <p:cNvPr id="4" name="">
            <a:extLst>
              <a:ext uri="{FF2B5EF4-FFF2-40B4-BE49-F238E27FC236}">
                <ns3:creationId id="{A69C67C9-8372-4550-9D52-BC9056BE7193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7AF935D4-C5B3-4850-B970-0D0ED016782D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7943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W2 완료 조건은 “4시간 작업함”보다 “정상·누락·중복 결과 확인”이 구체적입니다.</a:t>
            </a:r>
          </a:p>
        </p:txBody>
      </p:sp>
      <p:sp>
        <p:nvSpPr>
          <p:cNvPr id="6" name="">
            <a:extLst>
              <a:ext uri="{FF2B5EF4-FFF2-40B4-BE49-F238E27FC236}">
                <ns3:creationId id="{B8A6C504-64F0-4F62-975E-E2693A63EBDC}"/>
              </a:ext>
            </a:extLst>
          </p:cNvPr>
          <p:cNvSpPr>
            <a:spLocks noGrp="1"/>
          </p:cNvSpPr>
          <p:nvPr/>
        </p:nvSpPr>
        <p:spPr>
          <a:xfrm>
            <a:off x="685800" y="2918460"/>
            <a:ext cx="108204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W3은 화면 이름만 있고 필드가 없으면 데이터와 화면의 연결이 부족합니다.</a:t>
            </a:r>
          </a:p>
        </p:txBody>
      </p:sp>
      <p:sp>
        <p:nvSpPr>
          <p:cNvPr id="7" name="">
            <a:extLst>
              <a:ext uri="{FF2B5EF4-FFF2-40B4-BE49-F238E27FC236}">
                <ns3:creationId id="{8BCB5B81-491E-4760-BC6C-D5E15B2AEA75}"/>
              </a:ext>
            </a:extLst>
          </p:cNvPr>
          <p:cNvSpPr>
            <a:spLocks noGrp="1"/>
          </p:cNvSpPr>
          <p:nvPr/>
        </p:nvSpPr>
        <p:spPr>
          <a:xfrm>
            <a:off x="685800" y="3425190"/>
            <a:ext cx="108204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한 사람이 여러 역할을 맡아도 역할별 결과와 선행 작업을 적을 수 있습니다.</a:t>
            </a:r>
          </a:p>
        </p:txBody>
      </p:sp>
      <p:sp>
        <p:nvSpPr>
          <p:cNvPr id="8" name="">
            <a:extLst>
              <a:ext uri="{FF2B5EF4-FFF2-40B4-BE49-F238E27FC236}">
                <ns3:creationId id="{2CD56E58-E594-4551-BB06-5EB5793D3979}"/>
              </a:ext>
            </a:extLst>
          </p:cNvPr>
          <p:cNvSpPr>
            <a:spLocks noGrp="1"/>
          </p:cNvSpPr>
          <p:nvPr/>
        </p:nvSpPr>
        <p:spPr>
          <a:xfrm>
            <a:off x="685800" y="3931920"/>
            <a:ext cx="10820400" cy="7943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5개 기준을 각각 20점으로 보면 합계는 100점입니다. 근거 없이 점수만 쓰지 않습니다.</a:t>
            </a:r>
          </a:p>
        </p:txBody>
      </p:sp>
      <p:sp>
        <p:nvSpPr>
          <p:cNvPr id="9" name="">
            <a:extLst>
              <a:ext uri="{FF2B5EF4-FFF2-40B4-BE49-F238E27FC236}">
                <ns3:creationId id="{ADC999A9-304A-48F2-9184-09047F7ED135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10/30   프로젝트 기획</a:t>
            </a:r>
          </a:p>
        </p:txBody>
      </p:sp>
      <p:sp>
        <p:nvSpPr>
          <p:cNvPr id="10" name="">
            <a:extLst>
              <a:ext uri="{FF2B5EF4-FFF2-40B4-BE49-F238E27FC236}">
                <ns3:creationId id="{218734FE-50EC-49F3-BA0E-0F3384E3DF8F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063</a:t>
            </a:r>
          </a:p>
        </p:txBody>
      </p:sp>
    </p:spTree>
    <p:extLst>
      <p:ext uri="{BB962C8B-B14F-4D97-AF65-F5344CB8AC3E}">
        <ns4:creationId val="7766447"/>
      </p:ext>
    </p:extLst>
  </p:cSld>
</p:sld>
</file>

<file path=ppt/slides/slide64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102733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9" name=""/>
          <p:cNvPicPr>
            <a:picLocks noChangeAspect="1"/>
          </p:cNvPicPr>
          <p:nvPr/>
        </p:nvPicPr>
        <p:blipFill>
          <a:blip r:embed="R06770e73cc954887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7188037E-3233-4415-BFE9-BFCB746A748F}"/>
              </a:ext>
            </a:extLst>
          </p:cNvPr>
          <p:cNvSpPr>
            <a:spLocks noGrp="1"/>
          </p:cNvSpPr>
          <p:nvPr/>
        </p:nvSpPr>
        <p:spPr>
          <a:xfrm>
            <a:off x="685800" y="685800"/>
            <a:ext cx="8572500" cy="4476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100" b="1">
                <a:solidFill>
                  <a:srgbClr val="ABDDD0"/>
                </a:solidFill>
                <a:latin typeface="Noto Sans KR"/>
                <a:ea typeface="Noto Sans KR"/>
                <a:cs typeface="Noto Sans KR"/>
              </a:defRPr>
            </a:pPr>
            <a:r>
              <a:t>06   교시</a:t>
            </a:r>
          </a:p>
        </p:txBody>
      </p:sp>
      <p:sp>
        <p:nvSpPr>
          <p:cNvPr id="3" name="">
            <a:extLst>
              <a:ext uri="{FF2B5EF4-FFF2-40B4-BE49-F238E27FC236}">
                <ns3:creationId id="{2A62F268-6FEE-4BFC-B562-19B26E0B696D}"/>
              </a:ext>
            </a:extLst>
          </p:cNvPr>
          <p:cNvSpPr>
            <a:spLocks noGrp="1"/>
          </p:cNvSpPr>
          <p:nvPr/>
        </p:nvSpPr>
        <p:spPr>
          <a:xfrm>
            <a:off x="685800" y="1638300"/>
            <a:ext cx="8524875" cy="16573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4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기획 통합·발표·수정</a:t>
            </a:r>
          </a:p>
        </p:txBody>
      </p:sp>
      <p:sp>
        <p:nvSpPr>
          <p:cNvPr id="4" name="">
            <a:extLst>
              <a:ext uri="{FF2B5EF4-FFF2-40B4-BE49-F238E27FC236}">
                <ns3:creationId id="{08F22CF5-F805-4A80-8307-FD64EF9BD7B9}"/>
              </a:ext>
            </a:extLst>
          </p:cNvPr>
          <p:cNvSpPr>
            <a:spLocks noGrp="1"/>
          </p:cNvSpPr>
          <p:nvPr/>
        </p:nvSpPr>
        <p:spPr>
          <a:xfrm>
            <a:off x="685800" y="3724275"/>
            <a:ext cx="8001000" cy="4286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250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16:00~16:50 · 50분</a:t>
            </a:r>
          </a:p>
        </p:txBody>
      </p:sp>
      <p:sp>
        <p:nvSpPr>
          <p:cNvPr id="5" name="">
            <a:extLst>
              <a:ext uri="{FF2B5EF4-FFF2-40B4-BE49-F238E27FC236}">
                <ns3:creationId id="{F7966AED-9A9A-4E3E-BA03-D7C30D083C62}"/>
              </a:ext>
            </a:extLst>
          </p:cNvPr>
          <p:cNvSpPr>
            <a:spLocks noGrp="1"/>
          </p:cNvSpPr>
          <p:nvPr/>
        </p:nvSpPr>
        <p:spPr>
          <a:xfrm>
            <a:off x="685800" y="4219575"/>
            <a:ext cx="8001000" cy="4286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250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A16~A18</a:t>
            </a:r>
          </a:p>
        </p:txBody>
      </p:sp>
      <p:sp>
        <p:nvSpPr>
          <p:cNvPr id="6" name="">
            <a:extLst>
              <a:ext uri="{FF2B5EF4-FFF2-40B4-BE49-F238E27FC236}">
                <ns3:creationId id="{D03C5A19-C09B-4F01-B642-F2C4149192AD}"/>
              </a:ext>
            </a:extLst>
          </p:cNvPr>
          <p:cNvSpPr>
            <a:spLocks noGrp="1"/>
          </p:cNvSpPr>
          <p:nvPr/>
        </p:nvSpPr>
        <p:spPr>
          <a:xfrm>
            <a:off x="685800" y="4714875"/>
            <a:ext cx="8001000" cy="4286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250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완성할 것: 한 장 기획서와 변경 이력</a:t>
            </a:r>
          </a:p>
        </p:txBody>
      </p:sp>
      <p:sp>
        <p:nvSpPr>
          <p:cNvPr id="7" name="">
            <a:extLst>
              <a:ext uri="{FF2B5EF4-FFF2-40B4-BE49-F238E27FC236}">
                <ns3:creationId id="{6CDBD836-5E80-4891-A2AD-811BA4101B2F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B3C5CC"/>
                </a:solidFill>
                <a:latin typeface="Noto Sans KR"/>
                <a:ea typeface="Noto Sans KR"/>
                <a:cs typeface="Noto Sans KR"/>
              </a:defRPr>
            </a:pPr>
            <a:r>
              <a:t>10/30   프로젝트 기획</a:t>
            </a:r>
          </a:p>
        </p:txBody>
      </p:sp>
      <p:sp>
        <p:nvSpPr>
          <p:cNvPr id="8" name="">
            <a:extLst>
              <a:ext uri="{FF2B5EF4-FFF2-40B4-BE49-F238E27FC236}">
                <ns3:creationId id="{092F6668-5699-49BF-BC40-F8506FDD2DAB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B3C5CC"/>
                </a:solidFill>
                <a:latin typeface="Consolas"/>
                <a:ea typeface="Consolas"/>
                <a:cs typeface="Consolas"/>
              </a:defRPr>
            </a:pPr>
            <a:r>
              <a:t>064</a:t>
            </a:r>
          </a:p>
        </p:txBody>
      </p:sp>
    </p:spTree>
    <p:extLst>
      <p:ext uri="{BB962C8B-B14F-4D97-AF65-F5344CB8AC3E}">
        <ns4:creationId val="848752099"/>
      </p:ext>
    </p:extLst>
  </p:cSld>
</p:sld>
</file>

<file path=ppt/slides/slide65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8" name=""/>
          <p:cNvPicPr>
            <a:picLocks noChangeAspect="1"/>
          </p:cNvPicPr>
          <p:nvPr/>
        </p:nvPicPr>
        <p:blipFill>
          <a:blip r:embed="Rb661dbb6dec84408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A3E71130-0CDF-4D5B-B09A-EB609D519A2D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6교시   자료 읽기</a:t>
            </a:r>
          </a:p>
        </p:txBody>
      </p:sp>
      <p:sp>
        <p:nvSpPr>
          <p:cNvPr id="3" name="">
            <a:extLst>
              <a:ext uri="{FF2B5EF4-FFF2-40B4-BE49-F238E27FC236}">
                <ns3:creationId id="{D43306B2-1D24-446C-8346-00AD336E1878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기획서의 연결 관계</a:t>
            </a:r>
          </a:p>
        </p:txBody>
      </p:sp>
      <p:sp>
        <p:nvSpPr>
          <p:cNvPr id="4" name="">
            <a:extLst>
              <a:ext uri="{FF2B5EF4-FFF2-40B4-BE49-F238E27FC236}">
                <ns3:creationId id="{43616A2D-46C5-46DC-BA6E-06BFBFA18002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graphicFrame>
        <p:nvGraphicFramePr>
          <p:cNvPr id="12" name=""/>
          <p:cNvGraphicFramePr/>
          <p:nvPr/>
        </p:nvGraphicFramePr>
        <p:xfrm>
          <a:off x="685800" y="1943100"/>
          <a:ext cx="10820400" cy="3249549"/>
        </p:xfrm>
        <a:graphic>
          <a:graphicData uri="http://schemas.openxmlformats.org/drawingml/2006/table">
            <a:tbl>
              <a:tblPr firstRow="1" bandRow="0"/>
              <a:tblGrid>
                <a:gridCol w="2869396"/>
                <a:gridCol w="4597204"/>
                <a:gridCol w="3353799"/>
              </a:tblGrid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항목</a:t>
                      </a:r>
                    </a:p>
                  </a:txBody>
                  <a:tcPr marL="142875" marR="142875" marT="85725" marB="85725" anchor="ctr">
                    <a:solidFill>
                      <a:srgbClr val="102733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완성 예</a:t>
                      </a:r>
                    </a:p>
                  </a:txBody>
                  <a:tcPr marL="142875" marR="142875" marT="85725" marB="85725" anchor="ctr">
                    <a:solidFill>
                      <a:srgbClr val="102733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연결할 근거</a:t>
                      </a:r>
                    </a:p>
                  </a:txBody>
                  <a:tcPr marL="142875" marR="142875" marT="85725" marB="85725" anchor="ctr">
                    <a:solidFill>
                      <a:srgbClr val="102733"/>
                    </a:solidFill>
                  </a:tcPr>
                </a:tc>
              </a:tr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사용자 문제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마감 담당자의 검색 지연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E01·E02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</a:tr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작은 범위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CSV 검사와 미확인 목록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포함·제외 기능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</a:tr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요구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누락이면 review와 이유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R02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</a:tr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시험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누락 CSV로 결과 확인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T02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</a:tr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작업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검사 코드와 화면 통합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W2·W3·W4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">
            <a:extLst>
              <a:ext uri="{FF2B5EF4-FFF2-40B4-BE49-F238E27FC236}">
                <ns3:creationId id="{025F34CE-C739-4F7A-90CA-BF51E73334D3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10/30   프로젝트 기획</a:t>
            </a:r>
          </a:p>
        </p:txBody>
      </p:sp>
      <p:sp>
        <p:nvSpPr>
          <p:cNvPr id="7" name="">
            <a:extLst>
              <a:ext uri="{FF2B5EF4-FFF2-40B4-BE49-F238E27FC236}">
                <ns3:creationId id="{BA1D1650-52B4-480E-85F6-BA3CD9D509BF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065</a:t>
            </a:r>
          </a:p>
        </p:txBody>
      </p:sp>
    </p:spTree>
    <p:extLst>
      <p:ext uri="{BB962C8B-B14F-4D97-AF65-F5344CB8AC3E}">
        <ns4:creationId val="820798467"/>
      </p:ext>
    </p:extLst>
  </p:cSld>
</p:sld>
</file>

<file path=ppt/slides/slide66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2" name=""/>
          <p:cNvPicPr>
            <a:picLocks noChangeAspect="1"/>
          </p:cNvPicPr>
          <p:nvPr/>
        </p:nvPicPr>
        <p:blipFill>
          <a:blip r:embed="R534fb4c228df41b4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6143968D-372B-42A7-91F8-18A620E11EE2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6교시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E34CED1C-4CA0-482E-A32A-2B0CB4AAF8E9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한 장 기획서 · 완성 예 1</a:t>
            </a:r>
          </a:p>
        </p:txBody>
      </p:sp>
      <p:sp>
        <p:nvSpPr>
          <p:cNvPr id="4" name="">
            <a:extLst>
              <a:ext uri="{FF2B5EF4-FFF2-40B4-BE49-F238E27FC236}">
                <ns3:creationId id="{77E0591E-CA0E-451C-987B-54BA0D675068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002CA74D-55CE-4080-9BFC-D9154989389E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사용자: 마감 담당자. 문제: 미확인 대여를 찾으려고 전체 기록을 다시 읽음.</a:t>
            </a:r>
          </a:p>
        </p:txBody>
      </p:sp>
      <p:sp>
        <p:nvSpPr>
          <p:cNvPr id="6" name="">
            <a:extLst>
              <a:ext uri="{FF2B5EF4-FFF2-40B4-BE49-F238E27FC236}">
                <ns3:creationId id="{D4C3972F-6103-4CCD-AA6B-D962FB096FCF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근거: 가상 E01·E02. 목표: 미확인 목록으로 검색을 돕는 첫 버전.</a:t>
            </a:r>
          </a:p>
        </p:txBody>
      </p:sp>
      <p:sp>
        <p:nvSpPr>
          <p:cNvPr id="7" name="">
            <a:extLst>
              <a:ext uri="{FF2B5EF4-FFF2-40B4-BE49-F238E27FC236}">
                <ns3:creationId id="{D6C32EEF-E73B-499C-8AA9-DA70E772A025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범위: CSV 읽기·검사·목록. 제외: 카메라·자동 잠금·외부 메시지.</a:t>
            </a:r>
          </a:p>
        </p:txBody>
      </p:sp>
      <p:sp>
        <p:nvSpPr>
          <p:cNvPr id="8" name="">
            <a:extLst>
              <a:ext uri="{FF2B5EF4-FFF2-40B4-BE49-F238E27FC236}">
                <ns3:creationId id="{7F760E14-6C0E-409D-984D-7DCB15B041E4}"/>
              </a:ext>
            </a:extLst>
          </p:cNvPr>
          <p:cNvSpPr>
            <a:spLocks noGrp="1"/>
          </p:cNvSpPr>
          <p:nvPr/>
        </p:nvSpPr>
        <p:spPr>
          <a:xfrm>
            <a:off x="685800" y="361188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데이터: loan_id를 키로 사용. 누락은 review, 중복 키는 reject.</a:t>
            </a:r>
          </a:p>
        </p:txBody>
      </p:sp>
      <p:sp>
        <p:nvSpPr>
          <p:cNvPr id="9" name="">
            <a:extLst>
              <a:ext uri="{FF2B5EF4-FFF2-40B4-BE49-F238E27FC236}">
                <ns3:creationId id="{6C6561FA-F6B8-4692-9F61-C883A434006E}"/>
              </a:ext>
            </a:extLst>
          </p:cNvPr>
          <p:cNvSpPr>
            <a:spLocks noGrp="1"/>
          </p:cNvSpPr>
          <p:nvPr/>
        </p:nvSpPr>
        <p:spPr>
          <a:xfrm>
            <a:off x="685800" y="413004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실제 확인 시간 감소는 제품 구현 후 같은 조건에서 측정합니다.</a:t>
            </a:r>
          </a:p>
        </p:txBody>
      </p:sp>
      <p:sp>
        <p:nvSpPr>
          <p:cNvPr id="10" name="">
            <a:extLst>
              <a:ext uri="{FF2B5EF4-FFF2-40B4-BE49-F238E27FC236}">
                <ns3:creationId id="{955124A6-27B1-4A39-A006-CA3E9B71E58A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10/30   프로젝트 기획</a:t>
            </a:r>
          </a:p>
        </p:txBody>
      </p:sp>
      <p:sp>
        <p:nvSpPr>
          <p:cNvPr id="11" name="">
            <a:extLst>
              <a:ext uri="{FF2B5EF4-FFF2-40B4-BE49-F238E27FC236}">
                <ns3:creationId id="{175CE455-9EF5-4F50-B4B1-A53E82217761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066</a:t>
            </a:r>
          </a:p>
        </p:txBody>
      </p:sp>
    </p:spTree>
    <p:extLst>
      <p:ext uri="{BB962C8B-B14F-4D97-AF65-F5344CB8AC3E}">
        <ns4:creationId val="290738726"/>
      </p:ext>
    </p:extLst>
  </p:cSld>
</p:sld>
</file>

<file path=ppt/slides/slide67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2" name=""/>
          <p:cNvPicPr>
            <a:picLocks noChangeAspect="1"/>
          </p:cNvPicPr>
          <p:nvPr/>
        </p:nvPicPr>
        <p:blipFill>
          <a:blip r:embed="R3a6e0044d10b467f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287E4D7F-071B-4ED6-A472-86C51D9E2321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6교시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1F44DC07-CB54-4E92-AC79-602144BF275E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한 장 기획서 · 완성 예 2</a:t>
            </a:r>
          </a:p>
        </p:txBody>
      </p:sp>
      <p:sp>
        <p:nvSpPr>
          <p:cNvPr id="4" name="">
            <a:extLst>
              <a:ext uri="{FF2B5EF4-FFF2-40B4-BE49-F238E27FC236}">
                <ns3:creationId id="{EC110350-2A55-4629-9D16-3CE811726024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DFB1A40D-9489-4807-A804-0D4051F3A191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시험: R01~R04를 T01~T04에 연결해 입력·기대·관찰을 기록합니다.</a:t>
            </a:r>
          </a:p>
        </p:txBody>
      </p:sp>
      <p:sp>
        <p:nvSpPr>
          <p:cNvPr id="6" name="">
            <a:extLst>
              <a:ext uri="{FF2B5EF4-FFF2-40B4-BE49-F238E27FC236}">
                <ns3:creationId id="{6672BD0F-266A-4E41-9AE8-63CB2AC535F4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계획: W1 합의 후 W2·W3, 둘이 준비되면 W4에서 통합합니다.</a:t>
            </a:r>
          </a:p>
        </p:txBody>
      </p:sp>
      <p:sp>
        <p:nvSpPr>
          <p:cNvPr id="7" name="">
            <a:extLst>
              <a:ext uri="{FF2B5EF4-FFF2-40B4-BE49-F238E27FC236}">
                <ns3:creationId id="{8BF3C267-D2AE-41B9-AECF-BBD35DA8682D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비용: 가정 12시간·시급 30000원·여유 20%로 432000원.</a:t>
            </a:r>
          </a:p>
        </p:txBody>
      </p:sp>
      <p:sp>
        <p:nvSpPr>
          <p:cNvPr id="8" name="">
            <a:extLst>
              <a:ext uri="{FF2B5EF4-FFF2-40B4-BE49-F238E27FC236}">
                <ns3:creationId id="{9F03B867-49EA-4D2C-BB7F-B7C94B0BBE52}"/>
              </a:ext>
            </a:extLst>
          </p:cNvPr>
          <p:cNvSpPr>
            <a:spLocks noGrp="1"/>
          </p:cNvSpPr>
          <p:nvPr/>
        </p:nvSpPr>
        <p:spPr>
          <a:xfrm>
            <a:off x="685800" y="361188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위험: 장비 미정. 첫 버전은 CSV로 확인하며 실제 장비 시험은 별도로 남깁니다.</a:t>
            </a:r>
          </a:p>
        </p:txBody>
      </p:sp>
      <p:sp>
        <p:nvSpPr>
          <p:cNvPr id="9" name="">
            <a:extLst>
              <a:ext uri="{FF2B5EF4-FFF2-40B4-BE49-F238E27FC236}">
                <ns3:creationId id="{2EEAA543-1398-4978-B81B-A83A1ECECC03}"/>
              </a:ext>
            </a:extLst>
          </p:cNvPr>
          <p:cNvSpPr>
            <a:spLocks noGrp="1"/>
          </p:cNvSpPr>
          <p:nvPr/>
        </p:nvSpPr>
        <p:spPr>
          <a:xfrm>
            <a:off x="685800" y="413004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질문: 실제 사용 절차, 지연 원인, 필요한 필드, 적용 장소를 확인합니다.</a:t>
            </a:r>
          </a:p>
        </p:txBody>
      </p:sp>
      <p:sp>
        <p:nvSpPr>
          <p:cNvPr id="10" name="">
            <a:extLst>
              <a:ext uri="{FF2B5EF4-FFF2-40B4-BE49-F238E27FC236}">
                <ns3:creationId id="{ADFC49D0-19FD-4B59-A717-1A8D7FADF508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10/30   프로젝트 기획</a:t>
            </a:r>
          </a:p>
        </p:txBody>
      </p:sp>
      <p:sp>
        <p:nvSpPr>
          <p:cNvPr id="11" name="">
            <a:extLst>
              <a:ext uri="{FF2B5EF4-FFF2-40B4-BE49-F238E27FC236}">
                <ns3:creationId id="{C7DA6155-BB97-46DE-9F3E-CA8CB00325D0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067</a:t>
            </a:r>
          </a:p>
        </p:txBody>
      </p:sp>
    </p:spTree>
    <p:extLst>
      <p:ext uri="{BB962C8B-B14F-4D97-AF65-F5344CB8AC3E}">
        <ns4:creationId val="1556568570"/>
      </p:ext>
    </p:extLst>
  </p:cSld>
</p:sld>
</file>

<file path=ppt/slides/slide68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102733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7" name=""/>
          <p:cNvPicPr>
            <a:picLocks noChangeAspect="1"/>
          </p:cNvPicPr>
          <p:nvPr/>
        </p:nvPicPr>
        <p:blipFill>
          <a:blip r:embed="R9f01b088e59f417c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06749B34-2CED-4A5E-8258-1C90C66EF488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925050" cy="6858000"/>
          </a:xfrm>
          <a:prstGeom prst="rect">
            <a:avLst/>
          </a:prstGeom>
          <a:solidFill>
            <a:srgbClr val="102733"/>
          </a:solidFill>
          <a:ln w="0">
            <a:noFill/>
          </a:ln>
        </p:spPr>
      </p:sp>
      <p:sp>
        <p:nvSpPr>
          <p:cNvPr id="3" name="">
            <a:extLst>
              <a:ext uri="{FF2B5EF4-FFF2-40B4-BE49-F238E27FC236}">
                <ns3:creationId id="{D98A1EE6-231F-448A-A68A-A0B4CA4DD215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ABDDD0"/>
                </a:solidFill>
                <a:latin typeface="Noto Sans KR"/>
                <a:ea typeface="Noto Sans KR"/>
                <a:cs typeface="Noto Sans KR"/>
              </a:defRPr>
            </a:pPr>
            <a:r>
              <a:t>6교시   직접 해 보기</a:t>
            </a:r>
          </a:p>
        </p:txBody>
      </p:sp>
      <p:sp>
        <p:nvSpPr>
          <p:cNvPr id="4" name="">
            <a:extLst>
              <a:ext uri="{FF2B5EF4-FFF2-40B4-BE49-F238E27FC236}">
                <ns3:creationId id="{852D76A8-32DA-43B3-A900-1658EBCE0DBF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기획서 통합과 교차 확인</a:t>
            </a:r>
          </a:p>
        </p:txBody>
      </p:sp>
      <p:sp>
        <p:nvSpPr>
          <p:cNvPr id="5" name="">
            <a:extLst>
              <a:ext uri="{FF2B5EF4-FFF2-40B4-BE49-F238E27FC236}">
                <ns3:creationId id="{0FD50603-0A78-4AF7-9BAA-ED1AAC8E29AD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38505B"/>
          </a:solidFill>
          <a:ln w="0">
            <a:noFill/>
          </a:ln>
        </p:spPr>
      </p:sp>
      <p:sp>
        <p:nvSpPr>
          <p:cNvPr id="6" name="">
            <a:extLst>
              <a:ext uri="{FF2B5EF4-FFF2-40B4-BE49-F238E27FC236}">
                <ns3:creationId id="{43913E71-507B-4D78-9C01-A0713E725A01}"/>
              </a:ext>
            </a:extLst>
          </p:cNvPr>
          <p:cNvSpPr>
            <a:spLocks noGrp="1"/>
          </p:cNvSpPr>
          <p:nvPr/>
        </p:nvSpPr>
        <p:spPr>
          <a:xfrm>
            <a:off x="685800" y="2085975"/>
            <a:ext cx="409575" cy="86106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01</a:t>
            </a:r>
          </a:p>
        </p:txBody>
      </p:sp>
      <p:sp>
        <p:nvSpPr>
          <p:cNvPr id="7" name="">
            <a:extLst>
              <a:ext uri="{FF2B5EF4-FFF2-40B4-BE49-F238E27FC236}">
                <ns3:creationId id="{62FA5257-09C7-4E3C-A4AF-9E3BF587B48C}"/>
              </a:ext>
            </a:extLst>
          </p:cNvPr>
          <p:cNvSpPr>
            <a:spLocks noGrp="1"/>
          </p:cNvSpPr>
          <p:nvPr/>
        </p:nvSpPr>
        <p:spPr>
          <a:xfrm>
            <a:off x="1209675" y="2085975"/>
            <a:ext cx="8001000" cy="7943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work/project-charter.md에 앞선 교시 결과를 통합합니다.</a:t>
            </a:r>
          </a:p>
        </p:txBody>
      </p:sp>
      <p:sp>
        <p:nvSpPr>
          <p:cNvPr id="8" name="">
            <a:extLst>
              <a:ext uri="{FF2B5EF4-FFF2-40B4-BE49-F238E27FC236}">
                <ns3:creationId id="{37A9D89A-435A-4D27-8473-C7A907DF3DAE}"/>
              </a:ext>
            </a:extLst>
          </p:cNvPr>
          <p:cNvSpPr>
            <a:spLocks noGrp="1"/>
          </p:cNvSpPr>
          <p:nvPr/>
        </p:nvSpPr>
        <p:spPr>
          <a:xfrm>
            <a:off x="685800" y="2947035"/>
            <a:ext cx="409575" cy="86106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02</a:t>
            </a:r>
          </a:p>
        </p:txBody>
      </p:sp>
      <p:sp>
        <p:nvSpPr>
          <p:cNvPr id="9" name="">
            <a:extLst>
              <a:ext uri="{FF2B5EF4-FFF2-40B4-BE49-F238E27FC236}">
                <ns3:creationId id="{CFBB22D9-538A-48BB-A35E-5256A459C5C9}"/>
              </a:ext>
            </a:extLst>
          </p:cNvPr>
          <p:cNvSpPr>
            <a:spLocks noGrp="1"/>
          </p:cNvSpPr>
          <p:nvPr/>
        </p:nvSpPr>
        <p:spPr>
          <a:xfrm>
            <a:off x="1209675" y="2947035"/>
            <a:ext cx="8001000" cy="7943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문제·범위·데이터·요구·시험·작업·비용·위험·질문을 포함합니다.</a:t>
            </a:r>
          </a:p>
        </p:txBody>
      </p:sp>
      <p:sp>
        <p:nvSpPr>
          <p:cNvPr id="10" name="">
            <a:extLst>
              <a:ext uri="{FF2B5EF4-FFF2-40B4-BE49-F238E27FC236}">
                <ns3:creationId id="{8EA393B4-8A73-413A-8F5F-4B860F1BA2BB}"/>
              </a:ext>
            </a:extLst>
          </p:cNvPr>
          <p:cNvSpPr>
            <a:spLocks noGrp="1"/>
          </p:cNvSpPr>
          <p:nvPr/>
        </p:nvSpPr>
        <p:spPr>
          <a:xfrm>
            <a:off x="685800" y="3808095"/>
            <a:ext cx="409575" cy="86106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03</a:t>
            </a:r>
          </a:p>
        </p:txBody>
      </p:sp>
      <p:sp>
        <p:nvSpPr>
          <p:cNvPr id="11" name="">
            <a:extLst>
              <a:ext uri="{FF2B5EF4-FFF2-40B4-BE49-F238E27FC236}">
                <ns3:creationId id="{CE8EAEC1-9A94-4D4D-983E-7AAB77349231}"/>
              </a:ext>
            </a:extLst>
          </p:cNvPr>
          <p:cNvSpPr>
            <a:spLocks noGrp="1"/>
          </p:cNvSpPr>
          <p:nvPr/>
        </p:nvSpPr>
        <p:spPr>
          <a:xfrm>
            <a:off x="1209675" y="3808095"/>
            <a:ext cx="8001000" cy="7943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R02의 입력과 T02의 입력, 견적과 작업 시간, 화면과 데이터 필드를 비교합니다.</a:t>
            </a:r>
          </a:p>
        </p:txBody>
      </p:sp>
      <p:sp>
        <p:nvSpPr>
          <p:cNvPr id="12" name="">
            <a:extLst>
              <a:ext uri="{FF2B5EF4-FFF2-40B4-BE49-F238E27FC236}">
                <ns3:creationId id="{86F303E8-1F06-4679-898F-3F9CA0C387CD}"/>
              </a:ext>
            </a:extLst>
          </p:cNvPr>
          <p:cNvSpPr>
            <a:spLocks noGrp="1"/>
          </p:cNvSpPr>
          <p:nvPr/>
        </p:nvSpPr>
        <p:spPr>
          <a:xfrm>
            <a:off x="685800" y="4669155"/>
            <a:ext cx="409575" cy="86106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04</a:t>
            </a:r>
          </a:p>
        </p:txBody>
      </p:sp>
      <p:sp>
        <p:nvSpPr>
          <p:cNvPr id="13" name="">
            <a:extLst>
              <a:ext uri="{FF2B5EF4-FFF2-40B4-BE49-F238E27FC236}">
                <ns3:creationId id="{B6065D83-CF6C-4C07-A38D-218D635196F3}"/>
              </a:ext>
            </a:extLst>
          </p:cNvPr>
          <p:cNvSpPr>
            <a:spLocks noGrp="1"/>
          </p:cNvSpPr>
          <p:nvPr/>
        </p:nvSpPr>
        <p:spPr>
          <a:xfrm>
            <a:off x="1209675" y="4669155"/>
            <a:ext cx="8001000" cy="7943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원문에서 알 수 없는 조건은 가정이나 확인할 질문으로 표시합니다.</a:t>
            </a:r>
          </a:p>
        </p:txBody>
      </p:sp>
      <p:sp>
        <p:nvSpPr>
          <p:cNvPr id="14" name="">
            <a:extLst>
              <a:ext uri="{FF2B5EF4-FFF2-40B4-BE49-F238E27FC236}">
                <ns3:creationId id="{76FC2102-4810-483C-B5F9-D6782B71B919}"/>
              </a:ext>
            </a:extLst>
          </p:cNvPr>
          <p:cNvSpPr>
            <a:spLocks noGrp="1"/>
          </p:cNvSpPr>
          <p:nvPr/>
        </p:nvSpPr>
        <p:spPr>
          <a:xfrm>
            <a:off x="685800" y="5915025"/>
            <a:ext cx="10382250" cy="4000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950" b="1">
                <a:solidFill>
                  <a:srgbClr val="ABDDD0"/>
                </a:solidFill>
                <a:latin typeface="Noto Sans KR"/>
                <a:ea typeface="Noto Sans KR"/>
                <a:cs typeface="Noto Sans KR"/>
              </a:defRPr>
            </a:pPr>
            <a:r>
              <a:t>기획서 작성 12분 · 연결된 ID와 값 검토 6분</a:t>
            </a:r>
          </a:p>
        </p:txBody>
      </p:sp>
      <p:sp>
        <p:nvSpPr>
          <p:cNvPr id="15" name="">
            <a:extLst>
              <a:ext uri="{FF2B5EF4-FFF2-40B4-BE49-F238E27FC236}">
                <ns3:creationId id="{9BE82543-C126-4CDF-84D1-BC880325ACA5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B3C5CC"/>
                </a:solidFill>
                <a:latin typeface="Noto Sans KR"/>
                <a:ea typeface="Noto Sans KR"/>
                <a:cs typeface="Noto Sans KR"/>
              </a:defRPr>
            </a:pPr>
            <a:r>
              <a:t>10/30   프로젝트 기획</a:t>
            </a:r>
          </a:p>
        </p:txBody>
      </p:sp>
      <p:sp>
        <p:nvSpPr>
          <p:cNvPr id="16" name="">
            <a:extLst>
              <a:ext uri="{FF2B5EF4-FFF2-40B4-BE49-F238E27FC236}">
                <ns3:creationId id="{E88497CA-3E06-43F3-A8FD-8197FD301C76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B3C5CC"/>
                </a:solidFill>
                <a:latin typeface="Consolas"/>
                <a:ea typeface="Consolas"/>
                <a:cs typeface="Consolas"/>
              </a:defRPr>
            </a:pPr>
            <a:r>
              <a:t>068</a:t>
            </a:r>
          </a:p>
        </p:txBody>
      </p:sp>
    </p:spTree>
    <p:extLst>
      <p:ext uri="{BB962C8B-B14F-4D97-AF65-F5344CB8AC3E}">
        <ns4:creationId val="1805304651"/>
      </p:ext>
    </p:extLst>
  </p:cSld>
</p:sld>
</file>

<file path=ppt/slides/slide69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2" name=""/>
          <p:cNvPicPr>
            <a:picLocks noChangeAspect="1"/>
          </p:cNvPicPr>
          <p:nvPr/>
        </p:nvPicPr>
        <p:blipFill>
          <a:blip r:embed="Rca7d8c9e1a374e87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15821E69-9893-4163-8305-6BF4E0828A93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6교시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1EF04BB4-FD58-44F0-83B1-DB17AD769A17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2분 발표의 내용</a:t>
            </a:r>
          </a:p>
        </p:txBody>
      </p:sp>
      <p:sp>
        <p:nvSpPr>
          <p:cNvPr id="4" name="">
            <a:extLst>
              <a:ext uri="{FF2B5EF4-FFF2-40B4-BE49-F238E27FC236}">
                <ns3:creationId id="{EBF8DEA9-08C6-4CC6-9286-6DD265CC8D8C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626C8579-3C27-4435-AD35-8379525EB4CA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사용자와 불편을 설명하고 가상 근거임을 밝힙니다.</a:t>
            </a:r>
          </a:p>
        </p:txBody>
      </p:sp>
      <p:sp>
        <p:nvSpPr>
          <p:cNvPr id="6" name="">
            <a:extLst>
              <a:ext uri="{FF2B5EF4-FFF2-40B4-BE49-F238E27FC236}">
                <ns3:creationId id="{26165468-B0D9-44AC-A1E0-A0DCCF77273E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사용할 입력과 보여 줄 결과를 실제 샘플로 설명합니다.</a:t>
            </a:r>
          </a:p>
        </p:txBody>
      </p:sp>
      <p:sp>
        <p:nvSpPr>
          <p:cNvPr id="7" name="">
            <a:extLst>
              <a:ext uri="{FF2B5EF4-FFF2-40B4-BE49-F238E27FC236}">
                <ns3:creationId id="{4C8FC8D5-362A-4A24-A44E-1FFF90BD7EB3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누락·중복에 대한 요구와 시험 방법 하나를 제시합니다.</a:t>
            </a:r>
          </a:p>
        </p:txBody>
      </p:sp>
      <p:sp>
        <p:nvSpPr>
          <p:cNvPr id="8" name="">
            <a:extLst>
              <a:ext uri="{FF2B5EF4-FFF2-40B4-BE49-F238E27FC236}">
                <ns3:creationId id="{BBE92420-6729-45EF-B76B-23E3D12D833C}"/>
              </a:ext>
            </a:extLst>
          </p:cNvPr>
          <p:cNvSpPr>
            <a:spLocks noGrp="1"/>
          </p:cNvSpPr>
          <p:nvPr/>
        </p:nvSpPr>
        <p:spPr>
          <a:xfrm>
            <a:off x="685800" y="361188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작은 범위와 아직 모르는 조건, 다음 확인 질문을 말합니다.</a:t>
            </a:r>
          </a:p>
        </p:txBody>
      </p:sp>
      <p:sp>
        <p:nvSpPr>
          <p:cNvPr id="9" name="">
            <a:extLst>
              <a:ext uri="{FF2B5EF4-FFF2-40B4-BE49-F238E27FC236}">
                <ns3:creationId id="{C7104AA0-FBF2-4097-B40D-D9E85BE81DF1}"/>
              </a:ext>
            </a:extLst>
          </p:cNvPr>
          <p:cNvSpPr>
            <a:spLocks noGrp="1"/>
          </p:cNvSpPr>
          <p:nvPr/>
        </p:nvSpPr>
        <p:spPr>
          <a:xfrm>
            <a:off x="685800" y="413004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측정하지 않은 효과를 “확인 시간이 줄었다”라고 발표하지 않습니다.</a:t>
            </a:r>
          </a:p>
        </p:txBody>
      </p:sp>
      <p:sp>
        <p:nvSpPr>
          <p:cNvPr id="10" name="">
            <a:extLst>
              <a:ext uri="{FF2B5EF4-FFF2-40B4-BE49-F238E27FC236}">
                <ns3:creationId id="{6496BFFE-F1E1-4FF7-B088-02DE5C0ED653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10/30   프로젝트 기획</a:t>
            </a:r>
          </a:p>
        </p:txBody>
      </p:sp>
      <p:sp>
        <p:nvSpPr>
          <p:cNvPr id="11" name="">
            <a:extLst>
              <a:ext uri="{FF2B5EF4-FFF2-40B4-BE49-F238E27FC236}">
                <ns3:creationId id="{08A7847E-D4ED-45B8-A3F6-4A2477BBD506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069</a:t>
            </a:r>
          </a:p>
        </p:txBody>
      </p:sp>
    </p:spTree>
    <p:extLst>
      <p:ext uri="{BB962C8B-B14F-4D97-AF65-F5344CB8AC3E}">
        <ns4:creationId val="2095982742"/>
      </p:ext>
    </p:extLst>
  </p:cSld>
</p:sld>
</file>

<file path=ppt/slides/slide70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102733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7" name=""/>
          <p:cNvPicPr>
            <a:picLocks noChangeAspect="1"/>
          </p:cNvPicPr>
          <p:nvPr/>
        </p:nvPicPr>
        <p:blipFill>
          <a:blip r:embed="R42b92ac671b84a94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494CB1D3-117D-4A7C-A673-232408EE3BB3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925050" cy="6858000"/>
          </a:xfrm>
          <a:prstGeom prst="rect">
            <a:avLst/>
          </a:prstGeom>
          <a:solidFill>
            <a:srgbClr val="102733"/>
          </a:solidFill>
          <a:ln w="0">
            <a:noFill/>
          </a:ln>
        </p:spPr>
      </p:sp>
      <p:sp>
        <p:nvSpPr>
          <p:cNvPr id="3" name="">
            <a:extLst>
              <a:ext uri="{FF2B5EF4-FFF2-40B4-BE49-F238E27FC236}">
                <ns3:creationId id="{31BDC9E1-F9E0-4BC7-8323-C94EB293E1D0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ABDDD0"/>
                </a:solidFill>
                <a:latin typeface="Noto Sans KR"/>
                <a:ea typeface="Noto Sans KR"/>
                <a:cs typeface="Noto Sans KR"/>
              </a:defRPr>
            </a:pPr>
            <a:r>
              <a:t>6교시   직접 해 보기</a:t>
            </a:r>
          </a:p>
        </p:txBody>
      </p:sp>
      <p:sp>
        <p:nvSpPr>
          <p:cNvPr id="4" name="">
            <a:extLst>
              <a:ext uri="{FF2B5EF4-FFF2-40B4-BE49-F238E27FC236}">
                <ns3:creationId id="{20A6A8AE-BFBB-49AC-857A-251634AC0AE0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발표와 동료 질문</a:t>
            </a:r>
          </a:p>
        </p:txBody>
      </p:sp>
      <p:sp>
        <p:nvSpPr>
          <p:cNvPr id="5" name="">
            <a:extLst>
              <a:ext uri="{FF2B5EF4-FFF2-40B4-BE49-F238E27FC236}">
                <ns3:creationId id="{7FEBC4A7-AC45-44B8-B708-FB8B8C0DBDBD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38505B"/>
          </a:solidFill>
          <a:ln w="0">
            <a:noFill/>
          </a:ln>
        </p:spPr>
      </p:sp>
      <p:sp>
        <p:nvSpPr>
          <p:cNvPr id="6" name="">
            <a:extLst>
              <a:ext uri="{FF2B5EF4-FFF2-40B4-BE49-F238E27FC236}">
                <ns3:creationId id="{9E5F59BC-E206-4A22-9C03-161B9BF9F639}"/>
              </a:ext>
            </a:extLst>
          </p:cNvPr>
          <p:cNvSpPr>
            <a:spLocks noGrp="1"/>
          </p:cNvSpPr>
          <p:nvPr/>
        </p:nvSpPr>
        <p:spPr>
          <a:xfrm>
            <a:off x="685800" y="2085975"/>
            <a:ext cx="409575" cy="50673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01</a:t>
            </a:r>
          </a:p>
        </p:txBody>
      </p:sp>
      <p:sp>
        <p:nvSpPr>
          <p:cNvPr id="7" name="">
            <a:extLst>
              <a:ext uri="{FF2B5EF4-FFF2-40B4-BE49-F238E27FC236}">
                <ns3:creationId id="{B80DFCB0-198E-43BA-9D2B-D8C3406EE237}"/>
              </a:ext>
            </a:extLst>
          </p:cNvPr>
          <p:cNvSpPr>
            <a:spLocks noGrp="1"/>
          </p:cNvSpPr>
          <p:nvPr/>
        </p:nvSpPr>
        <p:spPr>
          <a:xfrm>
            <a:off x="1209675" y="2085975"/>
            <a:ext cx="80010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작성한 기획서를 보며 2분 동안 문제와 결과를 설명합니다.</a:t>
            </a:r>
          </a:p>
        </p:txBody>
      </p:sp>
      <p:sp>
        <p:nvSpPr>
          <p:cNvPr id="8" name="">
            <a:extLst>
              <a:ext uri="{FF2B5EF4-FFF2-40B4-BE49-F238E27FC236}">
                <ns3:creationId id="{941BB8A6-0F2B-4B18-96C9-9AEFF8619B4A}"/>
              </a:ext>
            </a:extLst>
          </p:cNvPr>
          <p:cNvSpPr>
            <a:spLocks noGrp="1"/>
          </p:cNvSpPr>
          <p:nvPr/>
        </p:nvSpPr>
        <p:spPr>
          <a:xfrm>
            <a:off x="685800" y="2592705"/>
            <a:ext cx="409575" cy="86106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02</a:t>
            </a:r>
          </a:p>
        </p:txBody>
      </p:sp>
      <p:sp>
        <p:nvSpPr>
          <p:cNvPr id="9" name="">
            <a:extLst>
              <a:ext uri="{FF2B5EF4-FFF2-40B4-BE49-F238E27FC236}">
                <ns3:creationId id="{8F4226E7-6D62-49B4-BA87-47321778D2D3}"/>
              </a:ext>
            </a:extLst>
          </p:cNvPr>
          <p:cNvSpPr>
            <a:spLocks noGrp="1"/>
          </p:cNvSpPr>
          <p:nvPr/>
        </p:nvSpPr>
        <p:spPr>
          <a:xfrm>
            <a:off x="1209675" y="2592705"/>
            <a:ext cx="8001000" cy="7943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듣는 사람은 “그 결과를 어떤 입력으로 시험하나요?”를 묻습니다.</a:t>
            </a:r>
          </a:p>
        </p:txBody>
      </p:sp>
      <p:sp>
        <p:nvSpPr>
          <p:cNvPr id="10" name="">
            <a:extLst>
              <a:ext uri="{FF2B5EF4-FFF2-40B4-BE49-F238E27FC236}">
                <ns3:creationId id="{2815F36B-B2BA-4A27-9F84-FA6D5682B60D}"/>
              </a:ext>
            </a:extLst>
          </p:cNvPr>
          <p:cNvSpPr>
            <a:spLocks noGrp="1"/>
          </p:cNvSpPr>
          <p:nvPr/>
        </p:nvSpPr>
        <p:spPr>
          <a:xfrm>
            <a:off x="685800" y="3453765"/>
            <a:ext cx="409575" cy="86106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03</a:t>
            </a:r>
          </a:p>
        </p:txBody>
      </p:sp>
      <p:sp>
        <p:nvSpPr>
          <p:cNvPr id="11" name="">
            <a:extLst>
              <a:ext uri="{FF2B5EF4-FFF2-40B4-BE49-F238E27FC236}">
                <ns3:creationId id="{FEF52B8F-BC61-421F-B7E2-6E30C211F2CD}"/>
              </a:ext>
            </a:extLst>
          </p:cNvPr>
          <p:cNvSpPr>
            <a:spLocks noGrp="1"/>
          </p:cNvSpPr>
          <p:nvPr/>
        </p:nvSpPr>
        <p:spPr>
          <a:xfrm>
            <a:off x="1209675" y="3453765"/>
            <a:ext cx="8001000" cy="7943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답변이 기획서의 요구·시험·데이터에 실제로 있는지 함께 찾습니다.</a:t>
            </a:r>
          </a:p>
        </p:txBody>
      </p:sp>
      <p:sp>
        <p:nvSpPr>
          <p:cNvPr id="12" name="">
            <a:extLst>
              <a:ext uri="{FF2B5EF4-FFF2-40B4-BE49-F238E27FC236}">
                <ns3:creationId id="{69D15F03-66F6-45EA-8BC4-235D5E0B5164}"/>
              </a:ext>
            </a:extLst>
          </p:cNvPr>
          <p:cNvSpPr>
            <a:spLocks noGrp="1"/>
          </p:cNvSpPr>
          <p:nvPr/>
        </p:nvSpPr>
        <p:spPr>
          <a:xfrm>
            <a:off x="685800" y="4314825"/>
            <a:ext cx="409575" cy="50673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04</a:t>
            </a:r>
          </a:p>
        </p:txBody>
      </p:sp>
      <p:sp>
        <p:nvSpPr>
          <p:cNvPr id="13" name="">
            <a:extLst>
              <a:ext uri="{FF2B5EF4-FFF2-40B4-BE49-F238E27FC236}">
                <ns3:creationId id="{BD6588B4-A54C-474F-A59B-8569DE49BEF1}"/>
              </a:ext>
            </a:extLst>
          </p:cNvPr>
          <p:cNvSpPr>
            <a:spLocks noGrp="1"/>
          </p:cNvSpPr>
          <p:nvPr/>
        </p:nvSpPr>
        <p:spPr>
          <a:xfrm>
            <a:off x="1209675" y="4314825"/>
            <a:ext cx="80010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질문 두 개와 수정할 문장 한 개를 A17 작성칸에 남깁니다.</a:t>
            </a:r>
          </a:p>
        </p:txBody>
      </p:sp>
      <p:sp>
        <p:nvSpPr>
          <p:cNvPr id="14" name="">
            <a:extLst>
              <a:ext uri="{FF2B5EF4-FFF2-40B4-BE49-F238E27FC236}">
                <ns3:creationId id="{392F853E-D182-4979-9B1E-26BE66D030CC}"/>
              </a:ext>
            </a:extLst>
          </p:cNvPr>
          <p:cNvSpPr>
            <a:spLocks noGrp="1"/>
          </p:cNvSpPr>
          <p:nvPr/>
        </p:nvSpPr>
        <p:spPr>
          <a:xfrm>
            <a:off x="685800" y="5915025"/>
            <a:ext cx="10382250" cy="4000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950" b="1">
                <a:solidFill>
                  <a:srgbClr val="ABDDD0"/>
                </a:solidFill>
                <a:latin typeface="Noto Sans KR"/>
                <a:ea typeface="Noto Sans KR"/>
                <a:cs typeface="Noto Sans KR"/>
              </a:defRPr>
            </a:pPr>
            <a:r>
              <a:t>발표·질문 8분 · 답변에 사용한 근거 위치 기록</a:t>
            </a:r>
          </a:p>
        </p:txBody>
      </p:sp>
      <p:sp>
        <p:nvSpPr>
          <p:cNvPr id="15" name="">
            <a:extLst>
              <a:ext uri="{FF2B5EF4-FFF2-40B4-BE49-F238E27FC236}">
                <ns3:creationId id="{040042C7-33B7-462D-A330-54011DA33DD0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B3C5CC"/>
                </a:solidFill>
                <a:latin typeface="Noto Sans KR"/>
                <a:ea typeface="Noto Sans KR"/>
                <a:cs typeface="Noto Sans KR"/>
              </a:defRPr>
            </a:pPr>
            <a:r>
              <a:t>10/30   프로젝트 기획</a:t>
            </a:r>
          </a:p>
        </p:txBody>
      </p:sp>
      <p:sp>
        <p:nvSpPr>
          <p:cNvPr id="16" name="">
            <a:extLst>
              <a:ext uri="{FF2B5EF4-FFF2-40B4-BE49-F238E27FC236}">
                <ns3:creationId id="{A42DB5C9-E236-468A-BC83-94212ABC4D9D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B3C5CC"/>
                </a:solidFill>
                <a:latin typeface="Consolas"/>
                <a:ea typeface="Consolas"/>
                <a:cs typeface="Consolas"/>
              </a:defRPr>
            </a:pPr>
            <a:r>
              <a:t>070</a:t>
            </a:r>
          </a:p>
        </p:txBody>
      </p:sp>
    </p:spTree>
    <p:extLst>
      <p:ext uri="{BB962C8B-B14F-4D97-AF65-F5344CB8AC3E}">
        <ns4:creationId val="187145528"/>
      </p:ext>
    </p:extLst>
  </p:cSld>
</p:sld>
</file>

<file path=ppt/slides/slide71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102733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7" name=""/>
          <p:cNvPicPr>
            <a:picLocks noChangeAspect="1"/>
          </p:cNvPicPr>
          <p:nvPr/>
        </p:nvPicPr>
        <p:blipFill>
          <a:blip r:embed="Rd07eee52caa74bcd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B445E1B3-C971-49BF-9C25-9C27D7DC2393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925050" cy="6858000"/>
          </a:xfrm>
          <a:prstGeom prst="rect">
            <a:avLst/>
          </a:prstGeom>
          <a:solidFill>
            <a:srgbClr val="102733"/>
          </a:solidFill>
          <a:ln w="0">
            <a:noFill/>
          </a:ln>
        </p:spPr>
      </p:sp>
      <p:sp>
        <p:nvSpPr>
          <p:cNvPr id="3" name="">
            <a:extLst>
              <a:ext uri="{FF2B5EF4-FFF2-40B4-BE49-F238E27FC236}">
                <ns3:creationId id="{592C0B37-CD23-43F5-9749-BDCEEC4A1F67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ABDDD0"/>
                </a:solidFill>
                <a:latin typeface="Noto Sans KR"/>
                <a:ea typeface="Noto Sans KR"/>
                <a:cs typeface="Noto Sans KR"/>
              </a:defRPr>
            </a:pPr>
            <a:r>
              <a:t>6교시   직접 해 보기</a:t>
            </a:r>
          </a:p>
        </p:txBody>
      </p:sp>
      <p:sp>
        <p:nvSpPr>
          <p:cNvPr id="4" name="">
            <a:extLst>
              <a:ext uri="{FF2B5EF4-FFF2-40B4-BE49-F238E27FC236}">
                <ns3:creationId id="{6A1F3F21-44BA-4F32-AB1F-0C499C3333F3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변경 요청의 영향</a:t>
            </a:r>
          </a:p>
        </p:txBody>
      </p:sp>
      <p:sp>
        <p:nvSpPr>
          <p:cNvPr id="5" name="">
            <a:extLst>
              <a:ext uri="{FF2B5EF4-FFF2-40B4-BE49-F238E27FC236}">
                <ns3:creationId id="{B58AA9B1-EF6A-4205-B70F-65676B344EF4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38505B"/>
          </a:solidFill>
          <a:ln w="0">
            <a:noFill/>
          </a:ln>
        </p:spPr>
      </p:sp>
      <p:sp>
        <p:nvSpPr>
          <p:cNvPr id="6" name="">
            <a:extLst>
              <a:ext uri="{FF2B5EF4-FFF2-40B4-BE49-F238E27FC236}">
                <ns3:creationId id="{621601BD-6608-4510-BD7A-27F3C2C56B36}"/>
              </a:ext>
            </a:extLst>
          </p:cNvPr>
          <p:cNvSpPr>
            <a:spLocks noGrp="1"/>
          </p:cNvSpPr>
          <p:nvPr/>
        </p:nvSpPr>
        <p:spPr>
          <a:xfrm>
            <a:off x="685800" y="2085975"/>
            <a:ext cx="409575" cy="86106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01</a:t>
            </a:r>
          </a:p>
        </p:txBody>
      </p:sp>
      <p:sp>
        <p:nvSpPr>
          <p:cNvPr id="7" name="">
            <a:extLst>
              <a:ext uri="{FF2B5EF4-FFF2-40B4-BE49-F238E27FC236}">
                <ns3:creationId id="{1ACE10C5-D6A9-491E-B493-E09EDCBFEE9F}"/>
              </a:ext>
            </a:extLst>
          </p:cNvPr>
          <p:cNvSpPr>
            <a:spLocks noGrp="1"/>
          </p:cNvSpPr>
          <p:nvPr/>
        </p:nvSpPr>
        <p:spPr>
          <a:xfrm>
            <a:off x="1209675" y="2085975"/>
            <a:ext cx="8001000" cy="7943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범위에서 카메라를 제외했지만 예산에는 구매, 시험표에는 실물 PASS가 있습니다.</a:t>
            </a:r>
          </a:p>
        </p:txBody>
      </p:sp>
      <p:sp>
        <p:nvSpPr>
          <p:cNvPr id="8" name="">
            <a:extLst>
              <a:ext uri="{FF2B5EF4-FFF2-40B4-BE49-F238E27FC236}">
                <ns3:creationId id="{3BE60B76-FA21-4E08-923A-10ACEE866F7A}"/>
              </a:ext>
            </a:extLst>
          </p:cNvPr>
          <p:cNvSpPr>
            <a:spLocks noGrp="1"/>
          </p:cNvSpPr>
          <p:nvPr/>
        </p:nvSpPr>
        <p:spPr>
          <a:xfrm>
            <a:off x="685800" y="2947035"/>
            <a:ext cx="409575" cy="50673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02</a:t>
            </a:r>
          </a:p>
        </p:txBody>
      </p:sp>
      <p:sp>
        <p:nvSpPr>
          <p:cNvPr id="9" name="">
            <a:extLst>
              <a:ext uri="{FF2B5EF4-FFF2-40B4-BE49-F238E27FC236}">
                <ns3:creationId id="{86A3D78C-C96E-4AEC-A84D-D1FC6C02D56B}"/>
              </a:ext>
            </a:extLst>
          </p:cNvPr>
          <p:cNvSpPr>
            <a:spLocks noGrp="1"/>
          </p:cNvSpPr>
          <p:nvPr/>
        </p:nvSpPr>
        <p:spPr>
          <a:xfrm>
            <a:off x="1209675" y="2947035"/>
            <a:ext cx="80010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고칠 문서와 남겨야 할 시험 상태를 적습니다.</a:t>
            </a:r>
          </a:p>
        </p:txBody>
      </p:sp>
      <p:sp>
        <p:nvSpPr>
          <p:cNvPr id="10" name="">
            <a:extLst>
              <a:ext uri="{FF2B5EF4-FFF2-40B4-BE49-F238E27FC236}">
                <ns3:creationId id="{EF47F28C-1D7A-4180-AAB0-05F47EA5D726}"/>
              </a:ext>
            </a:extLst>
          </p:cNvPr>
          <p:cNvSpPr>
            <a:spLocks noGrp="1"/>
          </p:cNvSpPr>
          <p:nvPr/>
        </p:nvSpPr>
        <p:spPr>
          <a:xfrm>
            <a:off x="685800" y="3453765"/>
            <a:ext cx="409575" cy="86106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03</a:t>
            </a:r>
          </a:p>
        </p:txBody>
      </p:sp>
      <p:sp>
        <p:nvSpPr>
          <p:cNvPr id="11" name="">
            <a:extLst>
              <a:ext uri="{FF2B5EF4-FFF2-40B4-BE49-F238E27FC236}">
                <ns3:creationId id="{CBAAD185-7D76-4F88-B07C-900ECFA91D63}"/>
              </a:ext>
            </a:extLst>
          </p:cNvPr>
          <p:cNvSpPr>
            <a:spLocks noGrp="1"/>
          </p:cNvSpPr>
          <p:nvPr/>
        </p:nvSpPr>
        <p:spPr>
          <a:xfrm>
            <a:off x="1209675" y="3453765"/>
            <a:ext cx="8001000" cy="7943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자동 잠금 추가 요청이 들어오면 필요한 조건과 영향 문서를 정합니다.</a:t>
            </a:r>
          </a:p>
        </p:txBody>
      </p:sp>
      <p:sp>
        <p:nvSpPr>
          <p:cNvPr id="12" name="">
            <a:extLst>
              <a:ext uri="{FF2B5EF4-FFF2-40B4-BE49-F238E27FC236}">
                <ns3:creationId id="{5D9EAC80-39C6-40C9-BEB2-87E88AAD2017}"/>
              </a:ext>
            </a:extLst>
          </p:cNvPr>
          <p:cNvSpPr>
            <a:spLocks noGrp="1"/>
          </p:cNvSpPr>
          <p:nvPr/>
        </p:nvSpPr>
        <p:spPr>
          <a:xfrm>
            <a:off x="685800" y="4314825"/>
            <a:ext cx="409575" cy="86106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04</a:t>
            </a:r>
          </a:p>
        </p:txBody>
      </p:sp>
      <p:sp>
        <p:nvSpPr>
          <p:cNvPr id="13" name="">
            <a:extLst>
              <a:ext uri="{FF2B5EF4-FFF2-40B4-BE49-F238E27FC236}">
                <ns3:creationId id="{EC67A055-528D-4601-9616-6C8E89264CC6}"/>
              </a:ext>
            </a:extLst>
          </p:cNvPr>
          <p:cNvSpPr>
            <a:spLocks noGrp="1"/>
          </p:cNvSpPr>
          <p:nvPr/>
        </p:nvSpPr>
        <p:spPr>
          <a:xfrm>
            <a:off x="1209675" y="4314825"/>
            <a:ext cx="8001000" cy="7943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변경 전·후·이유·관련 ID·담당 역할을 A18 변경 이력에 씁니다.</a:t>
            </a:r>
          </a:p>
        </p:txBody>
      </p:sp>
      <p:sp>
        <p:nvSpPr>
          <p:cNvPr id="14" name="">
            <a:extLst>
              <a:ext uri="{FF2B5EF4-FFF2-40B4-BE49-F238E27FC236}">
                <ns3:creationId id="{E0FE27DC-28F6-45FA-9843-4B0920076EC3}"/>
              </a:ext>
            </a:extLst>
          </p:cNvPr>
          <p:cNvSpPr>
            <a:spLocks noGrp="1"/>
          </p:cNvSpPr>
          <p:nvPr/>
        </p:nvSpPr>
        <p:spPr>
          <a:xfrm>
            <a:off x="685800" y="5915025"/>
            <a:ext cx="10382250" cy="4000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950" b="1">
                <a:solidFill>
                  <a:srgbClr val="ABDDD0"/>
                </a:solidFill>
                <a:latin typeface="Noto Sans KR"/>
                <a:ea typeface="Noto Sans KR"/>
                <a:cs typeface="Noto Sans KR"/>
              </a:defRPr>
            </a:pPr>
            <a:r>
              <a:t>변경 영향 작성 7분 · 문서 간 모순 점검 4분</a:t>
            </a:r>
          </a:p>
        </p:txBody>
      </p:sp>
      <p:sp>
        <p:nvSpPr>
          <p:cNvPr id="15" name="">
            <a:extLst>
              <a:ext uri="{FF2B5EF4-FFF2-40B4-BE49-F238E27FC236}">
                <ns3:creationId id="{1166EDC6-8D0A-4994-AF74-FA0BC0707E21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B3C5CC"/>
                </a:solidFill>
                <a:latin typeface="Noto Sans KR"/>
                <a:ea typeface="Noto Sans KR"/>
                <a:cs typeface="Noto Sans KR"/>
              </a:defRPr>
            </a:pPr>
            <a:r>
              <a:t>10/30   프로젝트 기획</a:t>
            </a:r>
          </a:p>
        </p:txBody>
      </p:sp>
      <p:sp>
        <p:nvSpPr>
          <p:cNvPr id="16" name="">
            <a:extLst>
              <a:ext uri="{FF2B5EF4-FFF2-40B4-BE49-F238E27FC236}">
                <ns3:creationId id="{A9BB867C-3E2A-4A88-BD44-5F566A2FA6D1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B3C5CC"/>
                </a:solidFill>
                <a:latin typeface="Consolas"/>
                <a:ea typeface="Consolas"/>
                <a:cs typeface="Consolas"/>
              </a:defRPr>
            </a:pPr>
            <a:r>
              <a:t>071</a:t>
            </a:r>
          </a:p>
        </p:txBody>
      </p:sp>
    </p:spTree>
    <p:extLst>
      <p:ext uri="{BB962C8B-B14F-4D97-AF65-F5344CB8AC3E}">
        <ns4:creationId val="1356061517"/>
      </p:ext>
    </p:extLst>
  </p:cSld>
</p:sld>
</file>

<file path=ppt/slides/slide72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2" name=""/>
          <p:cNvPicPr>
            <a:picLocks noChangeAspect="1"/>
          </p:cNvPicPr>
          <p:nvPr/>
        </p:nvPicPr>
        <p:blipFill>
          <a:blip r:embed="Rdf1166959749480e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F9F0CDC7-2284-4DEF-B21A-D8CF9F86DC48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6교시   풀이와 확인</a:t>
            </a:r>
          </a:p>
        </p:txBody>
      </p:sp>
      <p:sp>
        <p:nvSpPr>
          <p:cNvPr id="3" name="">
            <a:extLst>
              <a:ext uri="{FF2B5EF4-FFF2-40B4-BE49-F238E27FC236}">
                <ns3:creationId id="{9F08450E-7C1B-429F-8DB4-BB4F31F6D8E4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변경 요청 · 풀이</a:t>
            </a:r>
          </a:p>
        </p:txBody>
      </p:sp>
      <p:sp>
        <p:nvSpPr>
          <p:cNvPr id="4" name="">
            <a:extLst>
              <a:ext uri="{FF2B5EF4-FFF2-40B4-BE49-F238E27FC236}">
                <ns3:creationId id="{02E630B1-C545-4605-9CD7-3E3ED48C6627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8463F7EB-C320-42C9-9B66-8942893A74B4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카메라 제외를 기능 목록·예산·시험표·위험 목록에 모두 반영합니다.</a:t>
            </a:r>
          </a:p>
        </p:txBody>
      </p:sp>
      <p:sp>
        <p:nvSpPr>
          <p:cNvPr id="6" name="">
            <a:extLst>
              <a:ext uri="{FF2B5EF4-FFF2-40B4-BE49-F238E27FC236}">
                <ns3:creationId id="{BE34F828-D7A1-43BF-8381-87CE10F4C7DA}"/>
              </a:ext>
            </a:extLst>
          </p:cNvPr>
          <p:cNvSpPr>
            <a:spLocks noGrp="1"/>
          </p:cNvSpPr>
          <p:nvPr/>
        </p:nvSpPr>
        <p:spPr>
          <a:xfrm>
            <a:off x="685800" y="2564130"/>
            <a:ext cx="108204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카메라 시험을 하지 않았다면 실제 관찰 없음과 NOT_RUN을 기록합니다.</a:t>
            </a:r>
          </a:p>
        </p:txBody>
      </p:sp>
      <p:sp>
        <p:nvSpPr>
          <p:cNvPr id="7" name="">
            <a:extLst>
              <a:ext uri="{FF2B5EF4-FFF2-40B4-BE49-F238E27FC236}">
                <ns3:creationId id="{9CF656C0-F301-4E24-B9F0-DDFDA32BC01B}"/>
              </a:ext>
            </a:extLst>
          </p:cNvPr>
          <p:cNvSpPr>
            <a:spLocks noGrp="1"/>
          </p:cNvSpPr>
          <p:nvPr/>
        </p:nvSpPr>
        <p:spPr>
          <a:xfrm>
            <a:off x="685800" y="3070860"/>
            <a:ext cx="108204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자동 잠금은 장비와 안전 조건, 실패 처리, 시험, 시간과 비용을 재검토해야 합니다.</a:t>
            </a:r>
          </a:p>
        </p:txBody>
      </p:sp>
      <p:sp>
        <p:nvSpPr>
          <p:cNvPr id="8" name="">
            <a:extLst>
              <a:ext uri="{FF2B5EF4-FFF2-40B4-BE49-F238E27FC236}">
                <ns3:creationId id="{2C9AF7AE-0C2D-40E8-AD81-1D5BB981E62F}"/>
              </a:ext>
            </a:extLst>
          </p:cNvPr>
          <p:cNvSpPr>
            <a:spLocks noGrp="1"/>
          </p:cNvSpPr>
          <p:nvPr/>
        </p:nvSpPr>
        <p:spPr>
          <a:xfrm>
            <a:off x="685800" y="3577590"/>
            <a:ext cx="108204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발표 문장만 고치면 시험표와 견적에 이전 조건이 남을 수 있습니다.</a:t>
            </a:r>
          </a:p>
        </p:txBody>
      </p:sp>
      <p:sp>
        <p:nvSpPr>
          <p:cNvPr id="9" name="">
            <a:extLst>
              <a:ext uri="{FF2B5EF4-FFF2-40B4-BE49-F238E27FC236}">
                <ns3:creationId id="{BB6C9AD5-7C1B-4532-963D-67BE76C2259C}"/>
              </a:ext>
            </a:extLst>
          </p:cNvPr>
          <p:cNvSpPr>
            <a:spLocks noGrp="1"/>
          </p:cNvSpPr>
          <p:nvPr/>
        </p:nvSpPr>
        <p:spPr>
          <a:xfrm>
            <a:off x="685800" y="4084320"/>
            <a:ext cx="10820400" cy="7943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변경 이력에 영향을 받은 요구·시험·작업 ID를 남기면 다음 사람이 찾을 수 있습니다.</a:t>
            </a:r>
          </a:p>
        </p:txBody>
      </p:sp>
      <p:sp>
        <p:nvSpPr>
          <p:cNvPr id="10" name="">
            <a:extLst>
              <a:ext uri="{FF2B5EF4-FFF2-40B4-BE49-F238E27FC236}">
                <ns3:creationId id="{8CA8E00B-3316-4E15-9957-57BE8A3C94A8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10/30   프로젝트 기획</a:t>
            </a:r>
          </a:p>
        </p:txBody>
      </p:sp>
      <p:sp>
        <p:nvSpPr>
          <p:cNvPr id="11" name="">
            <a:extLst>
              <a:ext uri="{FF2B5EF4-FFF2-40B4-BE49-F238E27FC236}">
                <ns3:creationId id="{8BE6EFC8-0DC4-4042-B64E-C5AF8128CA10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072</a:t>
            </a:r>
          </a:p>
        </p:txBody>
      </p:sp>
    </p:spTree>
    <p:extLst>
      <p:ext uri="{BB962C8B-B14F-4D97-AF65-F5344CB8AC3E}">
        <ns4:creationId val="293789332"/>
      </p:ext>
    </p:extLst>
  </p:cSld>
</p:sld>
</file>

<file path=ppt/slides/slide73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8" name=""/>
          <p:cNvPicPr>
            <a:picLocks noChangeAspect="1"/>
          </p:cNvPicPr>
          <p:nvPr/>
        </p:nvPicPr>
        <p:blipFill>
          <a:blip r:embed="Re0d899baf85144cd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D662500E-8B1E-4A04-9C08-D8DD811BC271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6교시   자료 읽기</a:t>
            </a:r>
          </a:p>
        </p:txBody>
      </p:sp>
      <p:sp>
        <p:nvSpPr>
          <p:cNvPr id="3" name="">
            <a:extLst>
              <a:ext uri="{FF2B5EF4-FFF2-40B4-BE49-F238E27FC236}">
                <ns3:creationId id="{9313A2EA-B5C2-43F1-AEC4-14BBD9640526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저장과 인수인계</a:t>
            </a:r>
          </a:p>
        </p:txBody>
      </p:sp>
      <p:sp>
        <p:nvSpPr>
          <p:cNvPr id="4" name="">
            <a:extLst>
              <a:ext uri="{FF2B5EF4-FFF2-40B4-BE49-F238E27FC236}">
                <ns3:creationId id="{4380976F-A445-45C4-951B-B61FF5C11077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graphicFrame>
        <p:nvGraphicFramePr>
          <p:cNvPr id="12" name=""/>
          <p:cNvGraphicFramePr/>
          <p:nvPr/>
        </p:nvGraphicFramePr>
        <p:xfrm>
          <a:off x="685800" y="1943100"/>
          <a:ext cx="10820400" cy="3249549"/>
        </p:xfrm>
        <a:graphic>
          <a:graphicData uri="http://schemas.openxmlformats.org/drawingml/2006/table">
            <a:tbl>
              <a:tblPr firstRow="1" bandRow="0"/>
              <a:tblGrid>
                <a:gridCol w="3871074"/>
                <a:gridCol w="6949326"/>
              </a:tblGrid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남길 자료</a:t>
                      </a:r>
                    </a:p>
                  </a:txBody>
                  <a:tcPr marL="142875" marR="142875" marT="85725" marB="85725" anchor="ctr">
                    <a:solidFill>
                      <a:srgbClr val="102733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다음 사람이 확인할 내용</a:t>
                      </a:r>
                    </a:p>
                  </a:txBody>
                  <a:tcPr marL="142875" marR="142875" marT="85725" marB="85725" anchor="ctr">
                    <a:solidFill>
                      <a:srgbClr val="102733"/>
                    </a:solidFill>
                  </a:tcPr>
                </a:tc>
              </a:tr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기획서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사용자·문제·범위·가정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</a:tr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데이터 규칙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키·허용값·누락·중복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</a:tr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요구·시험표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입력·기대·관찰·미실행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</a:tr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작업·견적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선행 조건·시간·포함 비용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</a:tr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변경 이력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변경 이유·관련 ID·남은 질문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">
            <a:extLst>
              <a:ext uri="{FF2B5EF4-FFF2-40B4-BE49-F238E27FC236}">
                <ns3:creationId id="{C464B55B-1E05-4540-83D7-26D94C53BA28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10/30   프로젝트 기획</a:t>
            </a:r>
          </a:p>
        </p:txBody>
      </p:sp>
      <p:sp>
        <p:nvSpPr>
          <p:cNvPr id="7" name="">
            <a:extLst>
              <a:ext uri="{FF2B5EF4-FFF2-40B4-BE49-F238E27FC236}">
                <ns3:creationId id="{50A44604-4637-4E65-898B-C16E1EB11D44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073</a:t>
            </a:r>
          </a:p>
        </p:txBody>
      </p:sp>
    </p:spTree>
    <p:extLst>
      <p:ext uri="{BB962C8B-B14F-4D97-AF65-F5344CB8AC3E}">
        <ns4:creationId val="1404134181"/>
      </p:ext>
    </p:extLst>
  </p:cSld>
</p:sld>
</file>

<file path=ppt/slides/slide74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2" name=""/>
          <p:cNvPicPr>
            <a:picLocks noChangeAspect="1"/>
          </p:cNvPicPr>
          <p:nvPr/>
        </p:nvPicPr>
        <p:blipFill>
          <a:blip r:embed="Rd4adb1603665460c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B2CF1B1A-ECCB-4AFC-8330-D70DD85F5D48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6교시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17CF2212-3B73-47EB-AB1D-BB03A71FFB08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제출 전 확인</a:t>
            </a:r>
          </a:p>
        </p:txBody>
      </p:sp>
      <p:sp>
        <p:nvSpPr>
          <p:cNvPr id="4" name="">
            <a:extLst>
              <a:ext uri="{FF2B5EF4-FFF2-40B4-BE49-F238E27FC236}">
                <ns3:creationId id="{19077E13-B698-4299-A216-5822A232F3CB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A4731F9A-C0AE-44D0-B952-D271B15C7D68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work의 기획서와 작성칸, 수정한 Python 파일을 저장합니다.</a:t>
            </a:r>
          </a:p>
        </p:txBody>
      </p:sp>
      <p:sp>
        <p:nvSpPr>
          <p:cNvPr id="6" name="">
            <a:extLst>
              <a:ext uri="{FF2B5EF4-FFF2-40B4-BE49-F238E27FC236}">
                <ns3:creationId id="{7C3E6D17-71EE-4FF0-ACCB-2273BC6F66C6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파일을 다시 열어 내용과 이름·확장자가 맞는지 확인합니다.</a:t>
            </a:r>
          </a:p>
        </p:txBody>
      </p:sp>
      <p:sp>
        <p:nvSpPr>
          <p:cNvPr id="7" name="">
            <a:extLst>
              <a:ext uri="{FF2B5EF4-FFF2-40B4-BE49-F238E27FC236}">
                <ns3:creationId id="{B7D00F4A-5204-44B9-B75E-56F9B9EFC827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직접 실행한 결과와 제공된 결과로 비교한 내용을 구분합니다.</a:t>
            </a:r>
          </a:p>
        </p:txBody>
      </p:sp>
      <p:sp>
        <p:nvSpPr>
          <p:cNvPr id="8" name="">
            <a:extLst>
              <a:ext uri="{FF2B5EF4-FFF2-40B4-BE49-F238E27FC236}">
                <ns3:creationId id="{B1A4BD44-7316-42E8-8183-3DDF20082481}"/>
              </a:ext>
            </a:extLst>
          </p:cNvPr>
          <p:cNvSpPr>
            <a:spLocks noGrp="1"/>
          </p:cNvSpPr>
          <p:nvPr/>
        </p:nvSpPr>
        <p:spPr>
          <a:xfrm>
            <a:off x="685800" y="361188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실제 제품 개발·사용자 시험·장비 성능 시험에서 남은 작업을 적습니다.</a:t>
            </a:r>
          </a:p>
        </p:txBody>
      </p:sp>
      <p:sp>
        <p:nvSpPr>
          <p:cNvPr id="9" name="">
            <a:extLst>
              <a:ext uri="{FF2B5EF4-FFF2-40B4-BE49-F238E27FC236}">
                <ns3:creationId id="{D935C6D3-7DFC-4026-A1B1-21E4F80F6EDC}"/>
              </a:ext>
            </a:extLst>
          </p:cNvPr>
          <p:cNvSpPr>
            <a:spLocks noGrp="1"/>
          </p:cNvSpPr>
          <p:nvPr/>
        </p:nvSpPr>
        <p:spPr>
          <a:xfrm>
            <a:off x="685800" y="413004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다음 사람이 course에서 어떤 명령을 실행할지 설명해 보세요.</a:t>
            </a:r>
          </a:p>
        </p:txBody>
      </p:sp>
      <p:sp>
        <p:nvSpPr>
          <p:cNvPr id="10" name="">
            <a:extLst>
              <a:ext uri="{FF2B5EF4-FFF2-40B4-BE49-F238E27FC236}">
                <ns3:creationId id="{36AE9EB9-B6E6-41FB-8376-5E8972044307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10/30   프로젝트 기획</a:t>
            </a:r>
          </a:p>
        </p:txBody>
      </p:sp>
      <p:sp>
        <p:nvSpPr>
          <p:cNvPr id="11" name="">
            <a:extLst>
              <a:ext uri="{FF2B5EF4-FFF2-40B4-BE49-F238E27FC236}">
                <ns3:creationId id="{BB83C17F-8EB6-47B3-A80E-B96A71ADB574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074</a:t>
            </a:r>
          </a:p>
        </p:txBody>
      </p:sp>
    </p:spTree>
    <p:extLst>
      <p:ext uri="{BB962C8B-B14F-4D97-AF65-F5344CB8AC3E}">
        <ns4:creationId val="6212740"/>
      </p:ext>
    </p:extLst>
  </p:cSld>
</p:sld>
</file>

<file path=ppt/slides/slide75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1" name=""/>
          <p:cNvPicPr>
            <a:picLocks noChangeAspect="1"/>
          </p:cNvPicPr>
          <p:nvPr/>
        </p:nvPicPr>
        <p:blipFill>
          <a:blip r:embed="R8f737b15c7f44b08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51709286-1C7C-4CCB-BDCB-A2ACFF662700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6교시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ADB3F552-C869-46EC-98B2-05D816B3D209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Python 계산 코드 참고</a:t>
            </a:r>
          </a:p>
        </p:txBody>
      </p:sp>
      <p:sp>
        <p:nvSpPr>
          <p:cNvPr id="4" name="">
            <a:extLst>
              <a:ext uri="{FF2B5EF4-FFF2-40B4-BE49-F238E27FC236}">
                <ns3:creationId id="{7390CB2A-F35A-444D-BA9F-10D36952E921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11DB47CE-F958-4453-ABE3-043C64835FB3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리스트는 값을 순서대로 담고, for는 값을 하나씩 꺼내 반복합니다.</a:t>
            </a:r>
          </a:p>
        </p:txBody>
      </p:sp>
      <p:sp>
        <p:nvSpPr>
          <p:cNvPr id="6" name="">
            <a:extLst>
              <a:ext uri="{FF2B5EF4-FFF2-40B4-BE49-F238E27FC236}">
                <ns3:creationId id="{900E5890-601E-4A1A-9332-064C144CEDE6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본 수업의 점수·비용 계산 예를 더 읽고 싶을 때 참고할 공식 문서입니다.</a:t>
            </a:r>
          </a:p>
        </p:txBody>
      </p:sp>
      <p:sp>
        <p:nvSpPr>
          <p:cNvPr id="7" name="">
            <a:extLst>
              <a:ext uri="{FF2B5EF4-FFF2-40B4-BE49-F238E27FC236}">
                <ns3:creationId id="{7678AA60-981C-43C2-B250-3AE0D0EF5FAF}"/>
              </a:ext>
            </a:extLst>
          </p:cNvPr>
          <p:cNvSpPr>
            <a:spLocks noGrp="1"/>
          </p:cNvSpPr>
          <p:nvPr/>
        </p:nvSpPr>
        <p:spPr>
          <a:xfrm>
            <a:off x="685800" y="5562600"/>
            <a:ext cx="10820400" cy="3524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95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rPr u="sng">
                <a:hlinkClick r:id="rIdLink1"/>
              </a:rPr>
              <a:t>Python 공식 문서 · 리스트</a:t>
            </a:r>
          </a:p>
        </p:txBody>
      </p:sp>
      <p:sp>
        <p:nvSpPr>
          <p:cNvPr id="8" name="">
            <a:extLst>
              <a:ext uri="{FF2B5EF4-FFF2-40B4-BE49-F238E27FC236}">
                <ns3:creationId id="{F04C5062-F161-41DB-B8CD-0C273E936186}"/>
              </a:ext>
            </a:extLst>
          </p:cNvPr>
          <p:cNvSpPr>
            <a:spLocks noGrp="1"/>
          </p:cNvSpPr>
          <p:nvPr/>
        </p:nvSpPr>
        <p:spPr>
          <a:xfrm>
            <a:off x="685800" y="5953125"/>
            <a:ext cx="10820400" cy="3333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725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rPr u="sng">
                <a:hlinkClick r:id="rIdLink2"/>
              </a:rPr>
              <a:t>https://docs.python.org/3/tutorial/introduction.html#lists</a:t>
            </a:r>
          </a:p>
        </p:txBody>
      </p:sp>
      <p:sp>
        <p:nvSpPr>
          <p:cNvPr id="9" name="">
            <a:extLst>
              <a:ext uri="{FF2B5EF4-FFF2-40B4-BE49-F238E27FC236}">
                <ns3:creationId id="{AD3D001C-2D70-4D51-A26C-39CBF5443253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10/30   프로젝트 기획</a:t>
            </a:r>
          </a:p>
        </p:txBody>
      </p:sp>
      <p:sp>
        <p:nvSpPr>
          <p:cNvPr id="10" name="">
            <a:extLst>
              <a:ext uri="{FF2B5EF4-FFF2-40B4-BE49-F238E27FC236}">
                <ns3:creationId id="{520A9EFF-8090-498F-A97A-E67B24DC97D0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075</a:t>
            </a:r>
          </a:p>
        </p:txBody>
      </p:sp>
    </p:spTree>
    <p:extLst>
      <p:ext uri="{BB962C8B-B14F-4D97-AF65-F5344CB8AC3E}">
        <ns4:creationId val="1552743454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title>Presentation</dc:title>
  <dcterms:created xsi:type="dcterms:W3CDTF">2026-10-05T08:06:43.3890000Z</dcterms:created>
  <dcterms:modified xsi:type="dcterms:W3CDTF">2026-10-05T08:06:43.3890000Z</dcterms:modified>
</cp:coreProperties>
</file>